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30" r:id="rId2"/>
    <p:sldId id="331" r:id="rId3"/>
    <p:sldId id="348" r:id="rId4"/>
    <p:sldId id="341" r:id="rId5"/>
    <p:sldId id="342" r:id="rId6"/>
    <p:sldId id="340" r:id="rId7"/>
    <p:sldId id="336" r:id="rId8"/>
    <p:sldId id="327" r:id="rId9"/>
    <p:sldId id="323" r:id="rId10"/>
    <p:sldId id="345" r:id="rId11"/>
    <p:sldId id="329" r:id="rId12"/>
    <p:sldId id="337" r:id="rId13"/>
    <p:sldId id="346" r:id="rId14"/>
    <p:sldId id="347" r:id="rId15"/>
    <p:sldId id="344" r:id="rId1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7943" autoAdjust="0"/>
  </p:normalViewPr>
  <p:slideViewPr>
    <p:cSldViewPr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8" d="100"/>
        <a:sy n="68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Modifiez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E15FF-063F-4203-BE52-931FB0795EBF}" type="datetimeFigureOut">
              <a:rPr lang="fr-BE" smtClean="0"/>
              <a:t>22-10-18</a:t>
            </a:fld>
            <a:endParaRPr lang="fr-BE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A214F4D9-99F9-413D-854F-FCD8B989B1AA}" type="slidenum">
              <a:rPr lang="fr-BE" smtClean="0"/>
              <a:t>‹N°›</a:t>
            </a:fld>
            <a:endParaRPr lang="fr-BE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E15FF-063F-4203-BE52-931FB0795EBF}" type="datetimeFigureOut">
              <a:rPr lang="fr-BE" smtClean="0"/>
              <a:t>22-10-18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A214F4D9-99F9-413D-854F-FCD8B989B1AA}" type="slidenum">
              <a:rPr lang="fr-BE" smtClean="0"/>
              <a:t>‹N°›</a:t>
            </a:fld>
            <a:endParaRPr lang="fr-BE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E15FF-063F-4203-BE52-931FB0795EBF}" type="datetimeFigureOut">
              <a:rPr lang="fr-BE" smtClean="0"/>
              <a:t>22-10-18</a:t>
            </a:fld>
            <a:endParaRPr lang="fr-BE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A214F4D9-99F9-413D-854F-FCD8B989B1AA}" type="slidenum">
              <a:rPr lang="fr-BE" smtClean="0"/>
              <a:t>‹N°›</a:t>
            </a:fld>
            <a:endParaRPr lang="fr-BE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8CEE15FF-063F-4203-BE52-931FB0795EBF}" type="datetimeFigureOut">
              <a:rPr lang="fr-BE" smtClean="0"/>
              <a:t>22-10-18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F4D9-99F9-413D-854F-FCD8B989B1AA}" type="slidenum">
              <a:rPr lang="fr-BE" smtClean="0"/>
              <a:t>‹N°›</a:t>
            </a:fld>
            <a:endParaRPr lang="fr-BE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E15FF-063F-4203-BE52-931FB0795EBF}" type="datetimeFigureOut">
              <a:rPr lang="fr-BE" smtClean="0"/>
              <a:t>22-10-18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fr-BE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A214F4D9-99F9-413D-854F-FCD8B989B1AA}" type="slidenum">
              <a:rPr lang="fr-BE" smtClean="0"/>
              <a:t>‹N°›</a:t>
            </a:fld>
            <a:endParaRPr lang="fr-BE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E15FF-063F-4203-BE52-931FB0795EBF}" type="datetimeFigureOut">
              <a:rPr lang="fr-BE" smtClean="0"/>
              <a:t>22-10-18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A214F4D9-99F9-413D-854F-FCD8B989B1AA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E15FF-063F-4203-BE52-931FB0795EBF}" type="datetimeFigureOut">
              <a:rPr lang="fr-BE" smtClean="0"/>
              <a:t>22-10-18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214F4D9-99F9-413D-854F-FCD8B989B1AA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A214F4D9-99F9-413D-854F-FCD8B989B1AA}" type="slidenum">
              <a:rPr lang="fr-BE" smtClean="0"/>
              <a:t>‹N°›</a:t>
            </a:fld>
            <a:endParaRPr lang="fr-BE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E15FF-063F-4203-BE52-931FB0795EBF}" type="datetimeFigureOut">
              <a:rPr lang="fr-BE" smtClean="0"/>
              <a:t>22-10-18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fr-B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A214F4D9-99F9-413D-854F-FCD8B989B1AA}" type="slidenum">
              <a:rPr lang="fr-BE" smtClean="0"/>
              <a:t>‹N°›</a:t>
            </a:fld>
            <a:endParaRPr lang="fr-BE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8CEE15FF-063F-4203-BE52-931FB0795EBF}" type="datetimeFigureOut">
              <a:rPr lang="fr-BE" smtClean="0"/>
              <a:t>22-10-18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E15FF-063F-4203-BE52-931FB0795EBF}" type="datetimeFigureOut">
              <a:rPr lang="fr-BE" smtClean="0"/>
              <a:t>22-10-18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F4D9-99F9-413D-854F-FCD8B989B1AA}" type="slidenum">
              <a:rPr lang="fr-BE" smtClean="0"/>
              <a:t>‹N°›</a:t>
            </a:fld>
            <a:endParaRPr lang="fr-B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A214F4D9-99F9-413D-854F-FCD8B989B1AA}" type="slidenum">
              <a:rPr lang="fr-BE" smtClean="0"/>
              <a:t>‹N°›</a:t>
            </a:fld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E15FF-063F-4203-BE52-931FB0795EBF}" type="datetimeFigureOut">
              <a:rPr lang="fr-BE" smtClean="0"/>
              <a:t>22-10-18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8CEE15FF-063F-4203-BE52-931FB0795EBF}" type="datetimeFigureOut">
              <a:rPr lang="fr-BE" smtClean="0"/>
              <a:t>22-10-18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fr-BE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A214F4D9-99F9-413D-854F-FCD8B989B1AA}" type="slidenum">
              <a:rPr lang="fr-BE" smtClean="0"/>
              <a:t>‹N°›</a:t>
            </a:fld>
            <a:endParaRPr lang="fr-BE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Modifiez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youtube.com/watch?v=lWdrZ2BXxS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youtube.com/watch?v=lWdrZ2BXxS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4"/>
          <p:cNvSpPr txBox="1">
            <a:spLocks/>
          </p:cNvSpPr>
          <p:nvPr/>
        </p:nvSpPr>
        <p:spPr>
          <a:xfrm>
            <a:off x="143508" y="3170932"/>
            <a:ext cx="7200800" cy="546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indent="0" algn="ctr" defTabSz="914400" rtl="0" eaLnBrk="1" latinLnBrk="0" hangingPunct="1">
              <a:buNone/>
              <a:defRPr sz="4000" b="1" kern="1200" baseline="0">
                <a:solidFill>
                  <a:srgbClr val="004E9C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BE" dirty="0" smtClean="0"/>
              <a:t>LFRAN 1201</a:t>
            </a:r>
            <a:endParaRPr lang="fr-BE" dirty="0"/>
          </a:p>
        </p:txBody>
      </p:sp>
      <p:sp>
        <p:nvSpPr>
          <p:cNvPr id="7" name="Espace réservé du texte 14"/>
          <p:cNvSpPr txBox="1">
            <a:spLocks/>
          </p:cNvSpPr>
          <p:nvPr/>
        </p:nvSpPr>
        <p:spPr>
          <a:xfrm>
            <a:off x="2555776" y="3841438"/>
            <a:ext cx="4680520" cy="546100"/>
          </a:xfrm>
          <a:prstGeom prst="rect">
            <a:avLst/>
          </a:prstGeom>
        </p:spPr>
        <p:txBody>
          <a:bodyPr/>
          <a:lstStyle>
            <a:lvl1pPr marL="0" indent="0" algn="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b="0" kern="1200" baseline="0">
                <a:solidFill>
                  <a:srgbClr val="004E9C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dirty="0" smtClean="0"/>
              <a:t>Vivre en kot</a:t>
            </a:r>
          </a:p>
          <a:p>
            <a:r>
              <a:rPr lang="fr-BE" dirty="0" smtClean="0"/>
              <a:t>Cohabiter et inviter</a:t>
            </a:r>
            <a:endParaRPr lang="fr-BE" dirty="0"/>
          </a:p>
        </p:txBody>
      </p:sp>
      <p:pic>
        <p:nvPicPr>
          <p:cNvPr id="1026" name="Picture 2" descr="logo ILV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68660"/>
            <a:ext cx="756084" cy="67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riend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708920"/>
            <a:ext cx="3624421" cy="2734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57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BE" dirty="0" smtClean="0">
                <a:solidFill>
                  <a:schemeClr val="bg1"/>
                </a:solidFill>
              </a:rPr>
              <a:t>Au programme</a:t>
            </a:r>
            <a:endParaRPr lang="fr-BE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 smtClean="0">
                <a:solidFill>
                  <a:srgbClr val="0070C0"/>
                </a:solidFill>
              </a:rPr>
              <a:t>Dialogue 1</a:t>
            </a:r>
          </a:p>
          <a:p>
            <a:endParaRPr lang="fr-BE" dirty="0" smtClean="0">
              <a:solidFill>
                <a:srgbClr val="0070C0"/>
              </a:solidFill>
            </a:endParaRPr>
          </a:p>
          <a:p>
            <a:r>
              <a:rPr lang="fr-BE" dirty="0" smtClean="0">
                <a:solidFill>
                  <a:srgbClr val="0070C0"/>
                </a:solidFill>
              </a:rPr>
              <a:t>Grammaire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>
                <a:solidFill>
                  <a:srgbClr val="0070C0"/>
                </a:solidFill>
              </a:rPr>
              <a:t>le masculin et le féminin des noms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 smtClean="0">
                <a:solidFill>
                  <a:srgbClr val="0070C0"/>
                </a:solidFill>
              </a:rPr>
              <a:t>« chez moi, toi, soi, … </a:t>
            </a:r>
          </a:p>
          <a:p>
            <a:endParaRPr lang="fr-BE" dirty="0" smtClean="0">
              <a:solidFill>
                <a:srgbClr val="0070C0"/>
              </a:solidFill>
            </a:endParaRPr>
          </a:p>
          <a:p>
            <a:r>
              <a:rPr lang="fr-BE" dirty="0" smtClean="0">
                <a:solidFill>
                  <a:srgbClr val="0070C0"/>
                </a:solidFill>
              </a:rPr>
              <a:t>Lire</a:t>
            </a:r>
            <a:endParaRPr lang="fr-BE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fr-BE" dirty="0" smtClean="0">
                <a:solidFill>
                  <a:srgbClr val="0070C0"/>
                </a:solidFill>
              </a:rPr>
              <a:t>Messages d’invitation</a:t>
            </a:r>
            <a:endParaRPr lang="fr-BE" dirty="0" smtClean="0">
              <a:solidFill>
                <a:srgbClr val="0070C0"/>
              </a:solidFill>
            </a:endParaRP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549060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dirty="0">
                <a:solidFill>
                  <a:srgbClr val="004E9C"/>
                </a:solidFill>
              </a:rPr>
              <a:t>peinture, problème, </a:t>
            </a:r>
            <a:endParaRPr lang="fr-FR" dirty="0" smtClean="0">
              <a:solidFill>
                <a:srgbClr val="004E9C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FR" dirty="0" smtClean="0">
                <a:solidFill>
                  <a:srgbClr val="004E9C"/>
                </a:solidFill>
              </a:rPr>
              <a:t>couleur</a:t>
            </a:r>
            <a:r>
              <a:rPr lang="fr-FR" dirty="0">
                <a:solidFill>
                  <a:srgbClr val="004E9C"/>
                </a:solidFill>
              </a:rPr>
              <a:t>, appartement, </a:t>
            </a:r>
            <a:endParaRPr lang="fr-FR" dirty="0" smtClean="0">
              <a:solidFill>
                <a:srgbClr val="004E9C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FR" dirty="0" smtClean="0">
                <a:solidFill>
                  <a:srgbClr val="004E9C"/>
                </a:solidFill>
              </a:rPr>
              <a:t>étage, </a:t>
            </a:r>
            <a:r>
              <a:rPr lang="fr-FR" dirty="0">
                <a:solidFill>
                  <a:srgbClr val="004E9C"/>
                </a:solidFill>
              </a:rPr>
              <a:t>château, lavabo, </a:t>
            </a:r>
            <a:endParaRPr lang="fr-FR" dirty="0" smtClean="0">
              <a:solidFill>
                <a:srgbClr val="004E9C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FR" dirty="0" smtClean="0">
                <a:solidFill>
                  <a:srgbClr val="004E9C"/>
                </a:solidFill>
              </a:rPr>
              <a:t>bureau</a:t>
            </a:r>
            <a:r>
              <a:rPr lang="fr-FR" dirty="0">
                <a:solidFill>
                  <a:srgbClr val="004E9C"/>
                </a:solidFill>
              </a:rPr>
              <a:t>, toilettes, garage, </a:t>
            </a:r>
            <a:endParaRPr lang="fr-FR" dirty="0" smtClean="0">
              <a:solidFill>
                <a:srgbClr val="004E9C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FR" dirty="0" smtClean="0">
                <a:solidFill>
                  <a:srgbClr val="004E9C"/>
                </a:solidFill>
              </a:rPr>
              <a:t>tablette</a:t>
            </a:r>
            <a:r>
              <a:rPr lang="fr-FR" dirty="0">
                <a:solidFill>
                  <a:srgbClr val="004E9C"/>
                </a:solidFill>
              </a:rPr>
              <a:t>, télévision, ordinateur, </a:t>
            </a:r>
            <a:endParaRPr lang="fr-FR" dirty="0" smtClean="0">
              <a:solidFill>
                <a:srgbClr val="004E9C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FR" dirty="0" smtClean="0">
                <a:solidFill>
                  <a:srgbClr val="004E9C"/>
                </a:solidFill>
              </a:rPr>
              <a:t>salade</a:t>
            </a:r>
            <a:r>
              <a:rPr lang="fr-FR" dirty="0">
                <a:solidFill>
                  <a:srgbClr val="004E9C"/>
                </a:solidFill>
              </a:rPr>
              <a:t>, souris, chien</a:t>
            </a:r>
            <a:endParaRPr lang="fr-BE" dirty="0">
              <a:solidFill>
                <a:srgbClr val="004E9C"/>
              </a:solidFill>
            </a:endParaRPr>
          </a:p>
        </p:txBody>
      </p:sp>
      <p:sp>
        <p:nvSpPr>
          <p:cNvPr id="4" name="Titre 7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BE" dirty="0" smtClean="0">
                <a:solidFill>
                  <a:schemeClr val="bg1"/>
                </a:solidFill>
              </a:rPr>
              <a:t>Masculin ou féminin ?</a:t>
            </a:r>
            <a:endParaRPr lang="fr-BE" dirty="0">
              <a:solidFill>
                <a:srgbClr val="004E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84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 smtClean="0"/>
              <a:t>Grammaire : noms  masculins  ou féminins ?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BE" dirty="0" smtClean="0"/>
              <a:t>Masculin</a:t>
            </a:r>
          </a:p>
          <a:p>
            <a:endParaRPr lang="fr-BE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BE" dirty="0" smtClean="0"/>
              <a:t>Féminin</a:t>
            </a:r>
          </a:p>
          <a:p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844824"/>
            <a:ext cx="2520280" cy="4427518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1794483"/>
            <a:ext cx="3554301" cy="447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304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Grammaire pp. 24-25, n°1 à 4 </a:t>
            </a:r>
            <a:endParaRPr lang="fr-BE" dirty="0"/>
          </a:p>
        </p:txBody>
      </p:sp>
      <p:pic>
        <p:nvPicPr>
          <p:cNvPr id="4" name="Espace réservé du contenu 3"/>
          <p:cNvPicPr>
            <a:picLocks noGrp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907704" y="1700808"/>
            <a:ext cx="5256584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41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Grammaire : les pronoms toniques (69)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498848" cy="4681728"/>
          </a:xfrm>
        </p:spPr>
        <p:txBody>
          <a:bodyPr>
            <a:normAutofit lnSpcReduction="10000"/>
          </a:bodyPr>
          <a:lstStyle/>
          <a:p>
            <a:r>
              <a:rPr lang="fr-BE" dirty="0" smtClean="0"/>
              <a:t>Tu viens </a:t>
            </a:r>
            <a:r>
              <a:rPr lang="fr-BE" dirty="0" smtClean="0">
                <a:solidFill>
                  <a:srgbClr val="00B050"/>
                </a:solidFill>
              </a:rPr>
              <a:t>chez</a:t>
            </a:r>
            <a:r>
              <a:rPr lang="fr-BE" dirty="0" smtClean="0"/>
              <a:t> </a:t>
            </a:r>
            <a:r>
              <a:rPr lang="fr-BE" dirty="0" smtClean="0">
                <a:solidFill>
                  <a:srgbClr val="FF0000"/>
                </a:solidFill>
              </a:rPr>
              <a:t>moi</a:t>
            </a:r>
            <a:r>
              <a:rPr lang="fr-BE" dirty="0" smtClean="0"/>
              <a:t> ce soir ?</a:t>
            </a:r>
          </a:p>
          <a:p>
            <a:r>
              <a:rPr lang="fr-BE" dirty="0" smtClean="0"/>
              <a:t>J’habite à LLN, </a:t>
            </a:r>
            <a:r>
              <a:rPr lang="fr-BE" dirty="0" smtClean="0">
                <a:solidFill>
                  <a:srgbClr val="00B050"/>
                </a:solidFill>
              </a:rPr>
              <a:t>et</a:t>
            </a:r>
            <a:r>
              <a:rPr lang="fr-BE" dirty="0" smtClean="0"/>
              <a:t> </a:t>
            </a:r>
            <a:r>
              <a:rPr lang="fr-BE" dirty="0" smtClean="0">
                <a:solidFill>
                  <a:srgbClr val="FF0000"/>
                </a:solidFill>
              </a:rPr>
              <a:t>toi</a:t>
            </a:r>
            <a:r>
              <a:rPr lang="fr-BE" dirty="0" smtClean="0"/>
              <a:t> ?</a:t>
            </a:r>
          </a:p>
          <a:p>
            <a:r>
              <a:rPr lang="fr-BE" dirty="0" smtClean="0"/>
              <a:t>Elle habite </a:t>
            </a:r>
            <a:r>
              <a:rPr lang="fr-BE" dirty="0" smtClean="0">
                <a:solidFill>
                  <a:srgbClr val="00B050"/>
                </a:solidFill>
              </a:rPr>
              <a:t>avec</a:t>
            </a:r>
            <a:r>
              <a:rPr lang="fr-BE" dirty="0" smtClean="0"/>
              <a:t> </a:t>
            </a:r>
            <a:r>
              <a:rPr lang="fr-BE" dirty="0" smtClean="0">
                <a:solidFill>
                  <a:srgbClr val="FF0000"/>
                </a:solidFill>
              </a:rPr>
              <a:t>lui</a:t>
            </a:r>
            <a:r>
              <a:rPr lang="fr-BE" dirty="0" smtClean="0"/>
              <a:t>.</a:t>
            </a:r>
          </a:p>
          <a:p>
            <a:r>
              <a:rPr lang="fr-BE" dirty="0" smtClean="0"/>
              <a:t>Je pense </a:t>
            </a:r>
            <a:r>
              <a:rPr lang="fr-BE" dirty="0" smtClean="0">
                <a:solidFill>
                  <a:srgbClr val="00B050"/>
                </a:solidFill>
              </a:rPr>
              <a:t>à</a:t>
            </a:r>
            <a:r>
              <a:rPr lang="fr-BE" dirty="0" smtClean="0"/>
              <a:t> </a:t>
            </a:r>
            <a:r>
              <a:rPr lang="fr-BE" dirty="0" smtClean="0">
                <a:solidFill>
                  <a:srgbClr val="FF0000"/>
                </a:solidFill>
              </a:rPr>
              <a:t>elle</a:t>
            </a:r>
            <a:r>
              <a:rPr lang="fr-BE" dirty="0" smtClean="0"/>
              <a:t>.</a:t>
            </a:r>
          </a:p>
          <a:p>
            <a:r>
              <a:rPr lang="fr-BE" dirty="0" smtClean="0"/>
              <a:t>On est si bien </a:t>
            </a:r>
            <a:r>
              <a:rPr lang="fr-BE" dirty="0" smtClean="0">
                <a:solidFill>
                  <a:srgbClr val="00B050"/>
                </a:solidFill>
              </a:rPr>
              <a:t>chez</a:t>
            </a:r>
            <a:r>
              <a:rPr lang="fr-BE" dirty="0" smtClean="0"/>
              <a:t> </a:t>
            </a:r>
            <a:r>
              <a:rPr lang="fr-BE" dirty="0" smtClean="0">
                <a:solidFill>
                  <a:srgbClr val="FF0000"/>
                </a:solidFill>
              </a:rPr>
              <a:t>soi</a:t>
            </a:r>
            <a:r>
              <a:rPr lang="fr-BE" dirty="0" smtClean="0"/>
              <a:t> !</a:t>
            </a:r>
          </a:p>
          <a:p>
            <a:r>
              <a:rPr lang="fr-BE" dirty="0" smtClean="0"/>
              <a:t>Ne fais pas une fête </a:t>
            </a:r>
            <a:r>
              <a:rPr lang="fr-BE" dirty="0" smtClean="0">
                <a:solidFill>
                  <a:srgbClr val="00B050"/>
                </a:solidFill>
              </a:rPr>
              <a:t>sans</a:t>
            </a:r>
            <a:r>
              <a:rPr lang="fr-BE" dirty="0" smtClean="0"/>
              <a:t> </a:t>
            </a:r>
            <a:r>
              <a:rPr lang="fr-BE" dirty="0" smtClean="0">
                <a:solidFill>
                  <a:srgbClr val="FF0000"/>
                </a:solidFill>
              </a:rPr>
              <a:t>nous</a:t>
            </a:r>
            <a:r>
              <a:rPr lang="fr-BE" dirty="0" smtClean="0"/>
              <a:t> !</a:t>
            </a:r>
          </a:p>
          <a:p>
            <a:pPr algn="just"/>
            <a:r>
              <a:rPr lang="fr-BE" dirty="0" smtClean="0"/>
              <a:t>J’aime habiter au centre. </a:t>
            </a:r>
            <a:r>
              <a:rPr lang="fr-BE" dirty="0" smtClean="0">
                <a:solidFill>
                  <a:srgbClr val="00B050"/>
                </a:solidFill>
              </a:rPr>
              <a:t>Pas</a:t>
            </a:r>
            <a:r>
              <a:rPr lang="fr-BE" dirty="0" smtClean="0"/>
              <a:t> </a:t>
            </a:r>
            <a:r>
              <a:rPr lang="fr-BE" dirty="0" smtClean="0">
                <a:solidFill>
                  <a:srgbClr val="FF0000"/>
                </a:solidFill>
              </a:rPr>
              <a:t>vous</a:t>
            </a:r>
            <a:r>
              <a:rPr lang="fr-BE" dirty="0" smtClean="0"/>
              <a:t> ?</a:t>
            </a:r>
            <a:r>
              <a:rPr lang="fr-BE" dirty="0"/>
              <a:t> </a:t>
            </a:r>
            <a:endParaRPr lang="fr-BE" dirty="0" smtClean="0"/>
          </a:p>
          <a:p>
            <a:pPr algn="just"/>
            <a:r>
              <a:rPr lang="fr-BE" dirty="0" smtClean="0"/>
              <a:t>Il </a:t>
            </a:r>
            <a:r>
              <a:rPr lang="fr-BE" dirty="0"/>
              <a:t>y a une place </a:t>
            </a:r>
            <a:r>
              <a:rPr lang="fr-BE" dirty="0">
                <a:solidFill>
                  <a:srgbClr val="00B050"/>
                </a:solidFill>
              </a:rPr>
              <a:t>à côté </a:t>
            </a:r>
            <a:r>
              <a:rPr lang="fr-BE" dirty="0" smtClean="0">
                <a:solidFill>
                  <a:srgbClr val="00B050"/>
                </a:solidFill>
              </a:rPr>
              <a:t>d’</a:t>
            </a:r>
            <a:r>
              <a:rPr lang="fr-BE" dirty="0" smtClean="0">
                <a:solidFill>
                  <a:srgbClr val="FF0000"/>
                </a:solidFill>
              </a:rPr>
              <a:t>eux</a:t>
            </a:r>
            <a:r>
              <a:rPr lang="fr-BE" dirty="0" smtClean="0"/>
              <a:t> ?</a:t>
            </a:r>
          </a:p>
          <a:p>
            <a:pPr algn="just"/>
            <a:r>
              <a:rPr lang="fr-BE" dirty="0" smtClean="0">
                <a:solidFill>
                  <a:srgbClr val="00B050"/>
                </a:solidFill>
              </a:rPr>
              <a:t>Ce sont </a:t>
            </a:r>
            <a:r>
              <a:rPr lang="fr-BE" dirty="0" smtClean="0">
                <a:solidFill>
                  <a:srgbClr val="FF0000"/>
                </a:solidFill>
              </a:rPr>
              <a:t>elles </a:t>
            </a:r>
            <a:r>
              <a:rPr lang="fr-BE" dirty="0" smtClean="0"/>
              <a:t>qui invitent.</a:t>
            </a:r>
            <a:endParaRPr lang="fr-BE" dirty="0"/>
          </a:p>
          <a:p>
            <a:pPr algn="just"/>
            <a:endParaRPr lang="fr-BE" dirty="0"/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01991903"/>
              </p:ext>
            </p:extLst>
          </p:nvPr>
        </p:nvGraphicFramePr>
        <p:xfrm>
          <a:off x="4797552" y="1556792"/>
          <a:ext cx="4038600" cy="387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5232">
                <a:tc>
                  <a:txBody>
                    <a:bodyPr/>
                    <a:lstStyle/>
                    <a:p>
                      <a:r>
                        <a:rPr lang="fr-BE" dirty="0" smtClean="0"/>
                        <a:t>Sujets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 smtClean="0"/>
                        <a:t>Toniques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BE" dirty="0" smtClean="0"/>
                        <a:t>Je 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dirty="0" smtClean="0"/>
                        <a:t>Tu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dirty="0" smtClean="0"/>
                        <a:t>Il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dirty="0" smtClean="0"/>
                        <a:t>Elle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dirty="0" smtClean="0"/>
                        <a:t>On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dirty="0" smtClean="0"/>
                        <a:t>Nous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dirty="0" smtClean="0"/>
                        <a:t>Vous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dirty="0" smtClean="0"/>
                        <a:t>Ils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dirty="0" smtClean="0"/>
                        <a:t>Elles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7121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Cohabiter : mise en route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BE" dirty="0" smtClean="0"/>
              <a:t>Vivez-vous en kot communautaire ?</a:t>
            </a:r>
          </a:p>
          <a:p>
            <a:endParaRPr lang="fr-BE" dirty="0" smtClean="0"/>
          </a:p>
          <a:p>
            <a:r>
              <a:rPr lang="fr-BE" dirty="0" smtClean="0"/>
              <a:t>Vivez-vous à plusieurs ?</a:t>
            </a:r>
          </a:p>
          <a:p>
            <a:endParaRPr lang="fr-BE" dirty="0" smtClean="0"/>
          </a:p>
          <a:p>
            <a:r>
              <a:rPr lang="fr-BE" dirty="0" smtClean="0"/>
              <a:t>Est-il facile de vivre :</a:t>
            </a:r>
          </a:p>
          <a:p>
            <a:pPr marL="985838" indent="-273050">
              <a:buFont typeface="Wingdings" panose="05000000000000000000" pitchFamily="2" charset="2"/>
              <a:buChar char="q"/>
            </a:pPr>
            <a:r>
              <a:rPr lang="fr-BE" dirty="0" smtClean="0"/>
              <a:t> En </a:t>
            </a:r>
            <a:r>
              <a:rPr lang="fr-BE" dirty="0"/>
              <a:t>famille ?</a:t>
            </a:r>
          </a:p>
          <a:p>
            <a:pPr marL="985838" indent="-273050">
              <a:buFont typeface="Wingdings" panose="05000000000000000000" pitchFamily="2" charset="2"/>
              <a:buChar char="q"/>
            </a:pPr>
            <a:r>
              <a:rPr lang="fr-BE" dirty="0" smtClean="0"/>
              <a:t> Entre </a:t>
            </a:r>
            <a:r>
              <a:rPr lang="fr-BE" dirty="0"/>
              <a:t>amis ?</a:t>
            </a:r>
          </a:p>
          <a:p>
            <a:pPr marL="985838" indent="-273050">
              <a:buFont typeface="Wingdings" panose="05000000000000000000" pitchFamily="2" charset="2"/>
              <a:buChar char="q"/>
            </a:pPr>
            <a:r>
              <a:rPr lang="fr-BE" dirty="0" smtClean="0"/>
              <a:t> En couple  ?</a:t>
            </a:r>
          </a:p>
          <a:p>
            <a:pPr marL="712788" indent="0">
              <a:buNone/>
            </a:pPr>
            <a:endParaRPr lang="fr-BE" dirty="0" smtClean="0"/>
          </a:p>
        </p:txBody>
      </p:sp>
    </p:spTree>
    <p:extLst>
      <p:ext uri="{BB962C8B-B14F-4D97-AF65-F5344CB8AC3E}">
        <p14:creationId xmlns:p14="http://schemas.microsoft.com/office/powerpoint/2010/main" val="2391965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i="1" dirty="0"/>
              <a:t>Il y a une fille qui habite chez  moi</a:t>
            </a:r>
            <a:endParaRPr lang="fr-BE" dirty="0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01752" y="2348880"/>
            <a:ext cx="4246802" cy="3384375"/>
          </a:xfrm>
          <a:prstGeom prst="rect">
            <a:avLst/>
          </a:prstGeom>
        </p:spPr>
      </p:pic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fr-BE" sz="3200" dirty="0" smtClean="0"/>
          </a:p>
          <a:p>
            <a:pPr marL="0" indent="0">
              <a:buNone/>
            </a:pPr>
            <a:r>
              <a:rPr lang="fr-BE" sz="3200" dirty="0" err="1" smtClean="0"/>
              <a:t>Bénabar</a:t>
            </a:r>
            <a:endParaRPr lang="fr-BE" sz="3200" dirty="0" smtClean="0"/>
          </a:p>
          <a:p>
            <a:endParaRPr lang="fr-BE" dirty="0"/>
          </a:p>
          <a:p>
            <a:r>
              <a:rPr lang="fr-BE" dirty="0"/>
              <a:t>Né en  1969 près de Paris</a:t>
            </a:r>
          </a:p>
          <a:p>
            <a:r>
              <a:rPr lang="fr-BE" dirty="0" smtClean="0"/>
              <a:t>Chanteur et acteur français</a:t>
            </a:r>
            <a:endParaRPr lang="fr-BE" dirty="0"/>
          </a:p>
          <a:p>
            <a:r>
              <a:rPr lang="fr-BE" dirty="0"/>
              <a:t>Petits évènements de la vie de tous les jours</a:t>
            </a:r>
          </a:p>
          <a:p>
            <a:r>
              <a:rPr lang="fr-BE" dirty="0" smtClean="0"/>
              <a:t>Chansons critiques sur </a:t>
            </a:r>
            <a:r>
              <a:rPr lang="fr-BE" dirty="0"/>
              <a:t>l’économie mondiale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878273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i="1" dirty="0" smtClean="0">
                <a:hlinkClick r:id="rId2"/>
              </a:rPr>
              <a:t>Il y a une fille qui habite chez  moi</a:t>
            </a:r>
            <a:r>
              <a:rPr lang="fr-BE" i="1" dirty="0" smtClean="0"/>
              <a:t> (67)</a:t>
            </a:r>
            <a:endParaRPr lang="fr-BE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dirty="0" smtClean="0"/>
              <a:t>D’après le titre, qui est la fille qui habite chez lui 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BE" dirty="0"/>
              <a:t> </a:t>
            </a:r>
            <a:r>
              <a:rPr lang="fr-BE" dirty="0" smtClean="0"/>
              <a:t>C’est une inconnue.</a:t>
            </a:r>
          </a:p>
          <a:p>
            <a:pPr marL="0" indent="0">
              <a:buNone/>
            </a:pPr>
            <a:r>
              <a:rPr lang="fr-BE" dirty="0" smtClean="0"/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BE" dirty="0" smtClean="0"/>
              <a:t> C’est sa sœur.</a:t>
            </a:r>
          </a:p>
          <a:p>
            <a:pPr>
              <a:buFont typeface="Wingdings" panose="05000000000000000000" pitchFamily="2" charset="2"/>
              <a:buChar char="q"/>
            </a:pPr>
            <a:endParaRPr lang="fr-BE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fr-BE" dirty="0" smtClean="0"/>
              <a:t> C’est une amie.</a:t>
            </a:r>
          </a:p>
          <a:p>
            <a:pPr>
              <a:buFont typeface="Wingdings" panose="05000000000000000000" pitchFamily="2" charset="2"/>
              <a:buChar char="q"/>
            </a:pPr>
            <a:endParaRPr lang="fr-BE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fr-BE" dirty="0" smtClean="0"/>
              <a:t> C’est son amoureuse.</a:t>
            </a:r>
          </a:p>
          <a:p>
            <a:pPr>
              <a:buFont typeface="Wingdings" panose="05000000000000000000" pitchFamily="2" charset="2"/>
              <a:buChar char="q"/>
            </a:pPr>
            <a:endParaRPr lang="fr-BE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28" y="2060448"/>
            <a:ext cx="1571625" cy="17526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2" y="4070223"/>
            <a:ext cx="2219325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208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i="1" dirty="0" smtClean="0">
                <a:hlinkClick r:id="rId2"/>
              </a:rPr>
              <a:t>Il y a une fille qui habite chez  moi</a:t>
            </a:r>
            <a:r>
              <a:rPr lang="fr-BE" i="1" dirty="0" smtClean="0"/>
              <a:t> (67)</a:t>
            </a:r>
            <a:endParaRPr lang="fr-BE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dirty="0" smtClean="0"/>
              <a:t>D’après le titre, qui est la fille qui habite chez lui 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BE" dirty="0"/>
              <a:t> </a:t>
            </a:r>
            <a:r>
              <a:rPr lang="fr-BE" dirty="0" smtClean="0"/>
              <a:t>C’est une inconnue.</a:t>
            </a:r>
          </a:p>
          <a:p>
            <a:pPr marL="0" indent="0">
              <a:buNone/>
            </a:pPr>
            <a:r>
              <a:rPr lang="fr-BE" dirty="0" smtClean="0"/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BE" dirty="0" smtClean="0"/>
              <a:t> C’est sa sœur.</a:t>
            </a:r>
          </a:p>
          <a:p>
            <a:pPr>
              <a:buFont typeface="Wingdings" panose="05000000000000000000" pitchFamily="2" charset="2"/>
              <a:buChar char="q"/>
            </a:pPr>
            <a:endParaRPr lang="fr-BE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fr-BE" dirty="0" smtClean="0"/>
              <a:t> C’est une amie.</a:t>
            </a:r>
          </a:p>
          <a:p>
            <a:pPr>
              <a:buFont typeface="Wingdings" panose="05000000000000000000" pitchFamily="2" charset="2"/>
              <a:buChar char="q"/>
            </a:pPr>
            <a:endParaRPr lang="fr-BE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fr-BE" dirty="0" smtClean="0"/>
              <a:t> </a:t>
            </a:r>
            <a:r>
              <a:rPr lang="fr-BE" dirty="0" smtClean="0">
                <a:solidFill>
                  <a:srgbClr val="00B050"/>
                </a:solidFill>
              </a:rPr>
              <a:t>C’est son amoureuse.</a:t>
            </a:r>
          </a:p>
          <a:p>
            <a:pPr>
              <a:buFont typeface="Wingdings" panose="05000000000000000000" pitchFamily="2" charset="2"/>
              <a:buChar char="q"/>
            </a:pPr>
            <a:endParaRPr lang="fr-BE" dirty="0">
              <a:solidFill>
                <a:srgbClr val="00B050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28" y="2060448"/>
            <a:ext cx="1571625" cy="17526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2" y="4070223"/>
            <a:ext cx="2219325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32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Associez l’image au mot (67)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3334144" cy="4681728"/>
          </a:xfrm>
        </p:spPr>
        <p:txBody>
          <a:bodyPr/>
          <a:lstStyle/>
          <a:p>
            <a:r>
              <a:rPr lang="fr-BE" dirty="0" smtClean="0"/>
              <a:t>Célibataire</a:t>
            </a:r>
          </a:p>
          <a:p>
            <a:r>
              <a:rPr lang="fr-BE" dirty="0" smtClean="0"/>
              <a:t>Un indice</a:t>
            </a:r>
          </a:p>
          <a:p>
            <a:r>
              <a:rPr lang="fr-BE" dirty="0" smtClean="0"/>
              <a:t>Un sèche-cheveux</a:t>
            </a:r>
          </a:p>
          <a:p>
            <a:r>
              <a:rPr lang="fr-BE" dirty="0" smtClean="0"/>
              <a:t>Une robe à fleurs</a:t>
            </a:r>
          </a:p>
          <a:p>
            <a:r>
              <a:rPr lang="fr-BE" dirty="0" smtClean="0"/>
              <a:t>se lever tard</a:t>
            </a:r>
          </a:p>
          <a:p>
            <a:r>
              <a:rPr lang="fr-BE" dirty="0" smtClean="0"/>
              <a:t>Un cauchemar</a:t>
            </a:r>
          </a:p>
          <a:p>
            <a:r>
              <a:rPr lang="fr-BE" dirty="0" smtClean="0"/>
              <a:t>Se plaindre</a:t>
            </a:r>
          </a:p>
          <a:p>
            <a:r>
              <a:rPr lang="fr-BE" dirty="0" smtClean="0"/>
              <a:t>Le loyer</a:t>
            </a:r>
          </a:p>
          <a:p>
            <a:r>
              <a:rPr lang="fr-BE" dirty="0" smtClean="0"/>
              <a:t>Faire la vaisselle</a:t>
            </a:r>
          </a:p>
          <a:p>
            <a:r>
              <a:rPr lang="fr-BE" dirty="0" smtClean="0"/>
              <a:t>Faire le ménage</a:t>
            </a:r>
            <a:endParaRPr lang="fr-BE" dirty="0"/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484341" y="4259558"/>
            <a:ext cx="1147738" cy="88393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318" y="4729353"/>
            <a:ext cx="762000" cy="1323975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1239" y="4756708"/>
            <a:ext cx="1204913" cy="1314451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7389" y="1390895"/>
            <a:ext cx="828675" cy="1314450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514" y="1456630"/>
            <a:ext cx="2298228" cy="1436393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6736" y="2996050"/>
            <a:ext cx="1964432" cy="1512389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6422" y="4908155"/>
            <a:ext cx="1185313" cy="1338257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4725" y="3091825"/>
            <a:ext cx="2946678" cy="1466081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07936" y="1462536"/>
            <a:ext cx="2241228" cy="1390129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35828" y="4671204"/>
            <a:ext cx="1756577" cy="161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79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Solutions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3334144" cy="4681728"/>
          </a:xfrm>
        </p:spPr>
        <p:txBody>
          <a:bodyPr/>
          <a:lstStyle/>
          <a:p>
            <a:r>
              <a:rPr lang="fr-BE" dirty="0" smtClean="0"/>
              <a:t>1A. Célibataire</a:t>
            </a:r>
          </a:p>
          <a:p>
            <a:endParaRPr lang="fr-BE" dirty="0" smtClean="0"/>
          </a:p>
          <a:p>
            <a:r>
              <a:rPr lang="fr-BE" dirty="0" smtClean="0"/>
              <a:t>2. C. Une robe à fleurs</a:t>
            </a:r>
          </a:p>
          <a:p>
            <a:r>
              <a:rPr lang="fr-BE" dirty="0" smtClean="0"/>
              <a:t>3. A. passait du temps avec des amis</a:t>
            </a:r>
          </a:p>
          <a:p>
            <a:endParaRPr lang="fr-BE" dirty="0" smtClean="0"/>
          </a:p>
          <a:p>
            <a:r>
              <a:rPr lang="fr-BE" dirty="0" smtClean="0"/>
              <a:t>4. B. Un cauchemar</a:t>
            </a:r>
          </a:p>
          <a:p>
            <a:endParaRPr lang="fr-BE" dirty="0" smtClean="0"/>
          </a:p>
          <a:p>
            <a:r>
              <a:rPr lang="fr-BE" dirty="0" smtClean="0"/>
              <a:t>5. A. Le loyer</a:t>
            </a:r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918107" y="1408695"/>
            <a:ext cx="1147738" cy="883930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393" y="1887100"/>
            <a:ext cx="828675" cy="1314450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0044" y="2446424"/>
            <a:ext cx="2298228" cy="1436393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2957" y="3801711"/>
            <a:ext cx="1964432" cy="1512389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9474" y="4941168"/>
            <a:ext cx="2946678" cy="146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987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Lire un message (p. 70)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01752" y="1556792"/>
            <a:ext cx="4038600" cy="4681728"/>
          </a:xfrm>
        </p:spPr>
        <p:txBody>
          <a:bodyPr/>
          <a:lstStyle/>
          <a:p>
            <a:r>
              <a:rPr lang="fr-BE" dirty="0" smtClean="0"/>
              <a:t>Qui invite ?</a:t>
            </a:r>
          </a:p>
          <a:p>
            <a:pPr marL="0" indent="0">
              <a:buNone/>
            </a:pPr>
            <a:endParaRPr lang="fr-BE" dirty="0" smtClean="0"/>
          </a:p>
          <a:p>
            <a:r>
              <a:rPr lang="fr-BE" dirty="0" smtClean="0"/>
              <a:t>Qui est invité ?</a:t>
            </a:r>
          </a:p>
          <a:p>
            <a:pPr marL="0" indent="0">
              <a:buNone/>
            </a:pPr>
            <a:endParaRPr lang="fr-BE" dirty="0" smtClean="0"/>
          </a:p>
          <a:p>
            <a:r>
              <a:rPr lang="fr-BE" dirty="0" smtClean="0"/>
              <a:t>Quand ?</a:t>
            </a:r>
          </a:p>
          <a:p>
            <a:pPr marL="0" indent="0">
              <a:buNone/>
            </a:pPr>
            <a:endParaRPr lang="fr-BE" dirty="0" smtClean="0"/>
          </a:p>
          <a:p>
            <a:r>
              <a:rPr lang="fr-BE" dirty="0" smtClean="0"/>
              <a:t>Où ? </a:t>
            </a:r>
          </a:p>
          <a:p>
            <a:pPr marL="0" indent="0">
              <a:buNone/>
            </a:pPr>
            <a:endParaRPr lang="fr-BE" dirty="0" smtClean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BE" dirty="0"/>
              <a:t>Qui invite ?</a:t>
            </a:r>
          </a:p>
          <a:p>
            <a:pPr marL="0" indent="0">
              <a:buNone/>
            </a:pPr>
            <a:endParaRPr lang="fr-BE" dirty="0" smtClean="0"/>
          </a:p>
          <a:p>
            <a:r>
              <a:rPr lang="fr-BE" dirty="0" smtClean="0"/>
              <a:t>Qui </a:t>
            </a:r>
            <a:r>
              <a:rPr lang="fr-BE" dirty="0"/>
              <a:t>est invité ?</a:t>
            </a:r>
          </a:p>
          <a:p>
            <a:pPr marL="0" indent="0">
              <a:buNone/>
            </a:pPr>
            <a:endParaRPr lang="fr-BE" dirty="0" smtClean="0"/>
          </a:p>
          <a:p>
            <a:r>
              <a:rPr lang="fr-BE" dirty="0" smtClean="0"/>
              <a:t>Quand </a:t>
            </a:r>
            <a:r>
              <a:rPr lang="fr-BE" dirty="0"/>
              <a:t>?</a:t>
            </a:r>
          </a:p>
          <a:p>
            <a:pPr marL="0" indent="0">
              <a:buNone/>
            </a:pPr>
            <a:endParaRPr lang="fr-BE" dirty="0" smtClean="0"/>
          </a:p>
          <a:p>
            <a:r>
              <a:rPr lang="fr-BE" dirty="0" smtClean="0"/>
              <a:t>Où </a:t>
            </a:r>
            <a:r>
              <a:rPr lang="fr-BE" dirty="0"/>
              <a:t>? </a:t>
            </a:r>
          </a:p>
          <a:p>
            <a:pPr marL="0" indent="0">
              <a:buNone/>
            </a:pPr>
            <a:endParaRPr lang="fr-BE" dirty="0" smtClean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854932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Lire un message (p. 70)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BE" dirty="0" smtClean="0"/>
              <a:t>Qui invite ?</a:t>
            </a:r>
          </a:p>
          <a:p>
            <a:pPr marL="0" indent="0">
              <a:buNone/>
            </a:pPr>
            <a:r>
              <a:rPr lang="fr-BE" dirty="0" smtClean="0"/>
              <a:t>Les voisins</a:t>
            </a:r>
          </a:p>
          <a:p>
            <a:r>
              <a:rPr lang="fr-BE" dirty="0" smtClean="0"/>
              <a:t>Qui est invité ?</a:t>
            </a:r>
          </a:p>
          <a:p>
            <a:pPr marL="0" indent="0">
              <a:buNone/>
            </a:pPr>
            <a:r>
              <a:rPr lang="fr-BE" dirty="0" smtClean="0"/>
              <a:t>Une demoiselle</a:t>
            </a:r>
          </a:p>
          <a:p>
            <a:r>
              <a:rPr lang="fr-BE" dirty="0" smtClean="0"/>
              <a:t>Quand ?</a:t>
            </a:r>
          </a:p>
          <a:p>
            <a:pPr marL="0" indent="0">
              <a:buNone/>
            </a:pPr>
            <a:r>
              <a:rPr lang="fr-BE" dirty="0" smtClean="0"/>
              <a:t>Samedi 25 à 19 h 30</a:t>
            </a:r>
          </a:p>
          <a:p>
            <a:r>
              <a:rPr lang="fr-BE" dirty="0" smtClean="0"/>
              <a:t>Où ? </a:t>
            </a:r>
          </a:p>
          <a:p>
            <a:pPr marL="0" indent="0">
              <a:buNone/>
            </a:pPr>
            <a:r>
              <a:rPr lang="fr-BE" dirty="0" smtClean="0"/>
              <a:t>Dans l’appartement du 2e</a:t>
            </a:r>
            <a:endParaRPr lang="fr-BE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BE" dirty="0"/>
              <a:t>Qui invite ?</a:t>
            </a:r>
          </a:p>
          <a:p>
            <a:pPr marL="0" indent="0">
              <a:buNone/>
            </a:pPr>
            <a:r>
              <a:rPr lang="fr-BE" dirty="0" err="1" smtClean="0"/>
              <a:t>Stef</a:t>
            </a:r>
            <a:endParaRPr lang="fr-BE" dirty="0"/>
          </a:p>
          <a:p>
            <a:r>
              <a:rPr lang="fr-BE" dirty="0"/>
              <a:t>Qui est invité ?</a:t>
            </a:r>
          </a:p>
          <a:p>
            <a:pPr marL="0" indent="0">
              <a:buNone/>
            </a:pPr>
            <a:r>
              <a:rPr lang="fr-BE" dirty="0" smtClean="0"/>
              <a:t>Nadia</a:t>
            </a:r>
            <a:endParaRPr lang="fr-BE" dirty="0"/>
          </a:p>
          <a:p>
            <a:r>
              <a:rPr lang="fr-BE" dirty="0"/>
              <a:t>Quand ?</a:t>
            </a:r>
          </a:p>
          <a:p>
            <a:pPr marL="0" indent="0">
              <a:buNone/>
            </a:pPr>
            <a:r>
              <a:rPr lang="fr-BE" dirty="0"/>
              <a:t>Samedi </a:t>
            </a:r>
            <a:r>
              <a:rPr lang="fr-BE" dirty="0" smtClean="0"/>
              <a:t>prochain </a:t>
            </a:r>
            <a:r>
              <a:rPr lang="fr-BE" dirty="0"/>
              <a:t>à </a:t>
            </a:r>
            <a:r>
              <a:rPr lang="fr-BE" dirty="0" smtClean="0"/>
              <a:t>20 </a:t>
            </a:r>
            <a:r>
              <a:rPr lang="fr-BE" dirty="0"/>
              <a:t>h </a:t>
            </a:r>
            <a:endParaRPr lang="fr-BE" dirty="0" smtClean="0"/>
          </a:p>
          <a:p>
            <a:r>
              <a:rPr lang="fr-BE" dirty="0" smtClean="0"/>
              <a:t>Où </a:t>
            </a:r>
            <a:r>
              <a:rPr lang="fr-BE" dirty="0"/>
              <a:t>? </a:t>
            </a:r>
          </a:p>
          <a:p>
            <a:pPr marL="0" indent="0">
              <a:buNone/>
            </a:pPr>
            <a:r>
              <a:rPr lang="fr-BE" dirty="0"/>
              <a:t>Dans </a:t>
            </a:r>
            <a:r>
              <a:rPr lang="fr-BE" dirty="0" smtClean="0"/>
              <a:t>le nouvel appartement 20 rue </a:t>
            </a:r>
            <a:r>
              <a:rPr lang="fr-BE" dirty="0" err="1" smtClean="0"/>
              <a:t>Arger</a:t>
            </a:r>
            <a:endParaRPr lang="fr-BE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982281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fr-BE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fr-BE" dirty="0">
              <a:solidFill>
                <a:srgbClr val="FF0000"/>
              </a:solidFill>
            </a:endParaRPr>
          </a:p>
          <a:p>
            <a:r>
              <a:rPr lang="fr-BE" dirty="0" smtClean="0">
                <a:solidFill>
                  <a:srgbClr val="0070C0"/>
                </a:solidFill>
              </a:rPr>
              <a:t>Lire : syllabus p. 68</a:t>
            </a:r>
          </a:p>
          <a:p>
            <a:r>
              <a:rPr lang="fr-BE" dirty="0" smtClean="0">
                <a:solidFill>
                  <a:srgbClr val="0070C0"/>
                </a:solidFill>
              </a:rPr>
              <a:t>Grammaire : les  pronoms toniques p. 133 n° 2, 3, 4 </a:t>
            </a:r>
          </a:p>
          <a:p>
            <a:r>
              <a:rPr lang="fr-BE" dirty="0" smtClean="0">
                <a:solidFill>
                  <a:srgbClr val="0070C0"/>
                </a:solidFill>
              </a:rPr>
              <a:t>et le genre   p. 25 n°5.</a:t>
            </a:r>
          </a:p>
          <a:p>
            <a:r>
              <a:rPr lang="fr-BE" dirty="0" smtClean="0">
                <a:solidFill>
                  <a:srgbClr val="0070C0"/>
                </a:solidFill>
              </a:rPr>
              <a:t>Tests en ligne</a:t>
            </a:r>
          </a:p>
          <a:p>
            <a:endParaRPr lang="fr-BE" dirty="0">
              <a:solidFill>
                <a:srgbClr val="FF0000"/>
              </a:solidFill>
            </a:endParaRPr>
          </a:p>
        </p:txBody>
      </p:sp>
      <p:sp>
        <p:nvSpPr>
          <p:cNvPr id="5" name="Titre 7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BE" dirty="0" smtClean="0">
                <a:solidFill>
                  <a:schemeClr val="bg1"/>
                </a:solidFill>
              </a:rPr>
              <a:t>Devoirs pour le prochain cours</a:t>
            </a:r>
            <a:endParaRPr lang="fr-BE" dirty="0">
              <a:solidFill>
                <a:srgbClr val="004E9C"/>
              </a:solidFill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26" y="2569684"/>
            <a:ext cx="4136517" cy="258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401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Civil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1562</TotalTime>
  <Words>501</Words>
  <Application>Microsoft Office PowerPoint</Application>
  <PresentationFormat>Affichage à l'écran (4:3)</PresentationFormat>
  <Paragraphs>137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Arial</vt:lpstr>
      <vt:lpstr>Arial Unicode MS</vt:lpstr>
      <vt:lpstr>Georgia</vt:lpstr>
      <vt:lpstr>Wingdings</vt:lpstr>
      <vt:lpstr>Wingdings 2</vt:lpstr>
      <vt:lpstr>Civil</vt:lpstr>
      <vt:lpstr>Présentation PowerPoint</vt:lpstr>
      <vt:lpstr>Au programme</vt:lpstr>
      <vt:lpstr>Masculin ou féminin ?</vt:lpstr>
      <vt:lpstr>Grammaire : noms  masculins  ou féminins ?</vt:lpstr>
      <vt:lpstr>Grammaire pp. 24-25, n°1 à 4 </vt:lpstr>
      <vt:lpstr>Grammaire : les pronoms toniques (69)</vt:lpstr>
      <vt:lpstr>Cohabiter : mise en route</vt:lpstr>
      <vt:lpstr>Il y a une fille qui habite chez  moi</vt:lpstr>
      <vt:lpstr>Il y a une fille qui habite chez  moi (67)</vt:lpstr>
      <vt:lpstr>Il y a une fille qui habite chez  moi (67)</vt:lpstr>
      <vt:lpstr>Associez l’image au mot (67)</vt:lpstr>
      <vt:lpstr>Solutions</vt:lpstr>
      <vt:lpstr>Lire un message (p. 70)</vt:lpstr>
      <vt:lpstr>Lire un message (p. 70)</vt:lpstr>
      <vt:lpstr>Devoirs pour le prochain cours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LFRAN 1201</dc:title>
  <dc:creator>Vincianne Hermant</dc:creator>
  <cp:lastModifiedBy>Geneviève Briet</cp:lastModifiedBy>
  <cp:revision>126</cp:revision>
  <dcterms:created xsi:type="dcterms:W3CDTF">2014-01-27T09:34:17Z</dcterms:created>
  <dcterms:modified xsi:type="dcterms:W3CDTF">2018-10-22T06:49:43Z</dcterms:modified>
</cp:coreProperties>
</file>