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2" r:id="rId2"/>
    <p:sldId id="453" r:id="rId3"/>
    <p:sldId id="423" r:id="rId4"/>
    <p:sldId id="448" r:id="rId5"/>
    <p:sldId id="432" r:id="rId6"/>
    <p:sldId id="401" r:id="rId7"/>
    <p:sldId id="447" r:id="rId8"/>
    <p:sldId id="452" r:id="rId9"/>
    <p:sldId id="450" r:id="rId10"/>
    <p:sldId id="434" r:id="rId11"/>
    <p:sldId id="451" r:id="rId12"/>
    <p:sldId id="436" r:id="rId13"/>
    <p:sldId id="445" r:id="rId14"/>
    <p:sldId id="439" r:id="rId15"/>
    <p:sldId id="444" r:id="rId16"/>
    <p:sldId id="421" r:id="rId1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">
          <p15:clr>
            <a:srgbClr val="A4A3A4"/>
          </p15:clr>
        </p15:guide>
        <p15:guide id="2" pos="108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E9C"/>
    <a:srgbClr val="FF43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Style à thème 2 - Accentuation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541" autoAdjust="0"/>
  </p:normalViewPr>
  <p:slideViewPr>
    <p:cSldViewPr>
      <p:cViewPr varScale="1">
        <p:scale>
          <a:sx n="51" d="100"/>
          <a:sy n="51" d="100"/>
        </p:scale>
        <p:origin x="413" y="38"/>
      </p:cViewPr>
      <p:guideLst>
        <p:guide orient="horz" pos="232"/>
        <p:guide pos="10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624CF7-B24C-43AB-9221-4F9C711EC6C4}" type="datetimeFigureOut">
              <a:rPr lang="fr-BE" smtClean="0"/>
              <a:t>08-10-18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8409C5-C297-47E6-A3B8-E4B08377745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50917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4744B-ADE4-420F-AB0A-F10EEF06F18C}" type="datetimeFigureOut">
              <a:rPr lang="fr-BE" smtClean="0"/>
              <a:t>08-10-18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88FD-337F-4A84-85E4-DD87472935A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84885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4744B-ADE4-420F-AB0A-F10EEF06F18C}" type="datetimeFigureOut">
              <a:rPr lang="fr-BE" smtClean="0"/>
              <a:t>08-10-18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88FD-337F-4A84-85E4-DD87472935A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39911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4744B-ADE4-420F-AB0A-F10EEF06F18C}" type="datetimeFigureOut">
              <a:rPr lang="fr-BE" smtClean="0"/>
              <a:t>08-10-18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88FD-337F-4A84-85E4-DD87472935A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26749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4744B-ADE4-420F-AB0A-F10EEF06F18C}" type="datetimeFigureOut">
              <a:rPr lang="fr-BE" smtClean="0"/>
              <a:t>08-10-18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88FD-337F-4A84-85E4-DD87472935A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64686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4744B-ADE4-420F-AB0A-F10EEF06F18C}" type="datetimeFigureOut">
              <a:rPr lang="fr-BE" smtClean="0"/>
              <a:t>08-10-18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88FD-337F-4A84-85E4-DD87472935A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2878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4744B-ADE4-420F-AB0A-F10EEF06F18C}" type="datetimeFigureOut">
              <a:rPr lang="fr-BE" smtClean="0"/>
              <a:t>08-10-18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88FD-337F-4A84-85E4-DD87472935A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23126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4744B-ADE4-420F-AB0A-F10EEF06F18C}" type="datetimeFigureOut">
              <a:rPr lang="fr-BE" smtClean="0"/>
              <a:t>08-10-18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88FD-337F-4A84-85E4-DD87472935A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36803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4744B-ADE4-420F-AB0A-F10EEF06F18C}" type="datetimeFigureOut">
              <a:rPr lang="fr-BE" smtClean="0"/>
              <a:t>08-10-18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88FD-337F-4A84-85E4-DD87472935A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24411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4744B-ADE4-420F-AB0A-F10EEF06F18C}" type="datetimeFigureOut">
              <a:rPr lang="fr-BE" smtClean="0"/>
              <a:t>08-10-18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88FD-337F-4A84-85E4-DD87472935A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87774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4744B-ADE4-420F-AB0A-F10EEF06F18C}" type="datetimeFigureOut">
              <a:rPr lang="fr-BE" smtClean="0"/>
              <a:t>08-10-18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88FD-337F-4A84-85E4-DD87472935A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42585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4744B-ADE4-420F-AB0A-F10EEF06F18C}" type="datetimeFigureOut">
              <a:rPr lang="fr-BE" smtClean="0"/>
              <a:t>08-10-18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88FD-337F-4A84-85E4-DD87472935A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04932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4744B-ADE4-420F-AB0A-F10EEF06F18C}" type="datetimeFigureOut">
              <a:rPr lang="fr-BE" smtClean="0"/>
              <a:t>08-10-18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688FD-337F-4A84-85E4-DD87472935A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44082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enseigner.tv5monde.com/collection/ici-ensemble?field_theme_tid=All&amp;field_niveau_tid=All&amp;sort_by=field_date_programmation_value&amp;page=1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oodleucl.uclouvain.be/course/view.php?id=2213&amp;section=1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4"/>
          <p:cNvSpPr txBox="1">
            <a:spLocks/>
          </p:cNvSpPr>
          <p:nvPr/>
        </p:nvSpPr>
        <p:spPr>
          <a:xfrm>
            <a:off x="143508" y="3170932"/>
            <a:ext cx="7200800" cy="546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indent="0" algn="ctr" defTabSz="914400" rtl="0" eaLnBrk="1" latinLnBrk="0" hangingPunct="1">
              <a:buNone/>
              <a:defRPr sz="4000" b="1" kern="1200" baseline="0">
                <a:solidFill>
                  <a:srgbClr val="004E9C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BE" dirty="0" smtClean="0"/>
              <a:t>LFRAN 1201</a:t>
            </a:r>
            <a:endParaRPr lang="fr-BE" dirty="0"/>
          </a:p>
        </p:txBody>
      </p:sp>
      <p:sp>
        <p:nvSpPr>
          <p:cNvPr id="7" name="Espace réservé du texte 14"/>
          <p:cNvSpPr txBox="1">
            <a:spLocks/>
          </p:cNvSpPr>
          <p:nvPr/>
        </p:nvSpPr>
        <p:spPr>
          <a:xfrm>
            <a:off x="2555776" y="3841438"/>
            <a:ext cx="4680520" cy="546100"/>
          </a:xfrm>
          <a:prstGeom prst="rect">
            <a:avLst/>
          </a:prstGeom>
        </p:spPr>
        <p:txBody>
          <a:bodyPr/>
          <a:lstStyle>
            <a:lvl1pPr marL="0" indent="0" algn="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b="0" kern="1200" baseline="0">
                <a:solidFill>
                  <a:srgbClr val="004E9C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dirty="0" smtClean="0"/>
              <a:t>Se distraire</a:t>
            </a:r>
          </a:p>
          <a:p>
            <a:pPr algn="l"/>
            <a:endParaRPr lang="fr-BE" dirty="0"/>
          </a:p>
          <a:p>
            <a:pPr algn="l">
              <a:tabLst>
                <a:tab pos="4486275" algn="l"/>
              </a:tabLst>
            </a:pPr>
            <a:r>
              <a:rPr lang="fr-BE" dirty="0" smtClean="0"/>
              <a:t>Demander, donner une information</a:t>
            </a:r>
          </a:p>
          <a:p>
            <a:r>
              <a:rPr lang="fr-BE" dirty="0" smtClean="0"/>
              <a:t>Planifier un projet</a:t>
            </a:r>
            <a:endParaRPr lang="fr-BE" dirty="0"/>
          </a:p>
        </p:txBody>
      </p:sp>
      <p:pic>
        <p:nvPicPr>
          <p:cNvPr id="1026" name="Picture 2" descr="logo ILV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68660"/>
            <a:ext cx="756084" cy="67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596" y="1514356"/>
            <a:ext cx="3716596" cy="285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236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BE" dirty="0" smtClean="0"/>
              <a:t>Agenda 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 smtClean="0"/>
              <a:t>Parler : fixer rendez-vous</a:t>
            </a:r>
          </a:p>
          <a:p>
            <a:r>
              <a:rPr lang="fr-BE" dirty="0" smtClean="0"/>
              <a:t>Corriger le devoir (écouter)</a:t>
            </a:r>
          </a:p>
          <a:p>
            <a:r>
              <a:rPr lang="fr-BE" dirty="0" smtClean="0"/>
              <a:t>Instructions : « Dico perso », « Écrire 1 »</a:t>
            </a:r>
          </a:p>
          <a:p>
            <a:r>
              <a:rPr lang="fr-BE" dirty="0" smtClean="0"/>
              <a:t>Grammaire : les 2 temps du futur</a:t>
            </a:r>
          </a:p>
          <a:p>
            <a:r>
              <a:rPr lang="fr-BE" dirty="0" smtClean="0"/>
              <a:t>Parler : au salon du tourisme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89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BE" dirty="0" smtClean="0"/>
              <a:t>Contrat personnel</a:t>
            </a:r>
            <a:endParaRPr lang="fr-BE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fr-BE" dirty="0" smtClean="0">
              <a:solidFill>
                <a:srgbClr val="004E9C"/>
              </a:solidFill>
            </a:endParaRPr>
          </a:p>
          <a:p>
            <a:r>
              <a:rPr lang="fr-BE" sz="3200" dirty="0" smtClean="0">
                <a:solidFill>
                  <a:srgbClr val="004E9C"/>
                </a:solidFill>
              </a:rPr>
              <a:t>Syllabus p. 15 et 17</a:t>
            </a:r>
          </a:p>
          <a:p>
            <a:r>
              <a:rPr lang="fr-BE" sz="3200" dirty="0" smtClean="0">
                <a:solidFill>
                  <a:srgbClr val="004E9C"/>
                </a:solidFill>
              </a:rPr>
              <a:t>Donner la p. 17 au professeur</a:t>
            </a:r>
          </a:p>
          <a:p>
            <a:endParaRPr lang="fr-BE" dirty="0">
              <a:solidFill>
                <a:srgbClr val="004E9C"/>
              </a:solidFill>
            </a:endParaRPr>
          </a:p>
          <a:p>
            <a:endParaRPr lang="fr-BE" dirty="0" smtClean="0"/>
          </a:p>
          <a:p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56" y="2024844"/>
            <a:ext cx="3606887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964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BE" dirty="0" smtClean="0"/>
              <a:t>Parler : fixer un rendez-vous</a:t>
            </a:r>
            <a:endParaRPr lang="fr-BE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fr-BE" dirty="0" smtClean="0">
              <a:solidFill>
                <a:srgbClr val="004E9C"/>
              </a:solidFill>
            </a:endParaRPr>
          </a:p>
          <a:p>
            <a:r>
              <a:rPr lang="fr-BE" sz="3200" dirty="0" smtClean="0">
                <a:solidFill>
                  <a:srgbClr val="004E9C"/>
                </a:solidFill>
              </a:rPr>
              <a:t>Proposer une activité à quelques collègues de la table</a:t>
            </a:r>
          </a:p>
          <a:p>
            <a:r>
              <a:rPr lang="fr-BE" sz="3200" dirty="0" smtClean="0">
                <a:solidFill>
                  <a:srgbClr val="004E9C"/>
                </a:solidFill>
              </a:rPr>
              <a:t>Utiliser le conditionnel</a:t>
            </a:r>
          </a:p>
          <a:p>
            <a:r>
              <a:rPr lang="fr-BE" sz="3200" dirty="0" smtClean="0">
                <a:solidFill>
                  <a:srgbClr val="FF0000"/>
                </a:solidFill>
              </a:rPr>
              <a:t>Infinitif + ais, ais, ait</a:t>
            </a:r>
          </a:p>
          <a:p>
            <a:r>
              <a:rPr lang="fr-BE" sz="3200" dirty="0" smtClean="0">
                <a:solidFill>
                  <a:srgbClr val="FF0000"/>
                </a:solidFill>
              </a:rPr>
              <a:t>Ions, </a:t>
            </a:r>
            <a:r>
              <a:rPr lang="fr-BE" sz="3200" dirty="0" err="1" smtClean="0">
                <a:solidFill>
                  <a:srgbClr val="FF0000"/>
                </a:solidFill>
              </a:rPr>
              <a:t>iez</a:t>
            </a:r>
            <a:r>
              <a:rPr lang="fr-BE" sz="3200" dirty="0" smtClean="0">
                <a:solidFill>
                  <a:srgbClr val="FF0000"/>
                </a:solidFill>
              </a:rPr>
              <a:t>, aient</a:t>
            </a:r>
          </a:p>
          <a:p>
            <a:endParaRPr lang="fr-BE" dirty="0">
              <a:solidFill>
                <a:srgbClr val="004E9C"/>
              </a:solidFill>
            </a:endParaRPr>
          </a:p>
          <a:p>
            <a:endParaRPr lang="fr-BE" dirty="0" smtClean="0"/>
          </a:p>
          <a:p>
            <a:endParaRPr lang="fr-BE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4290667"/>
            <a:ext cx="4038600" cy="1200535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952836"/>
            <a:ext cx="390525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32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BE" dirty="0" smtClean="0">
                <a:solidFill>
                  <a:schemeClr val="bg1"/>
                </a:solidFill>
                <a:hlinkClick r:id="rId2"/>
              </a:rPr>
              <a:t>C’est par où  la culture? </a:t>
            </a:r>
            <a:r>
              <a:rPr lang="fr-BE" dirty="0" smtClean="0"/>
              <a:t>(p.52)</a:t>
            </a:r>
            <a:endParaRPr lang="fr-BE" dirty="0"/>
          </a:p>
        </p:txBody>
      </p:sp>
      <p:pic>
        <p:nvPicPr>
          <p:cNvPr id="9" name="Espace réservé du contenu 8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067944" y="1600200"/>
            <a:ext cx="2290494" cy="4525963"/>
          </a:xfrm>
          <a:prstGeom prst="rect">
            <a:avLst/>
          </a:prstGeom>
        </p:spPr>
      </p:pic>
      <p:pic>
        <p:nvPicPr>
          <p:cNvPr id="8" name="Espace réservé du contenu 7"/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1281864" y="1600200"/>
            <a:ext cx="2389271" cy="4525963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4705" y="1600200"/>
            <a:ext cx="2236465" cy="3016932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4705" y="4610383"/>
            <a:ext cx="2426496" cy="151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900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ogo ILV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68660"/>
            <a:ext cx="756084" cy="67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re 7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BE" dirty="0">
                <a:solidFill>
                  <a:schemeClr val="bg1"/>
                </a:solidFill>
              </a:rPr>
              <a:t>D</a:t>
            </a:r>
            <a:r>
              <a:rPr lang="fr-BE" dirty="0" smtClean="0">
                <a:solidFill>
                  <a:schemeClr val="bg1"/>
                </a:solidFill>
              </a:rPr>
              <a:t>ialogue 1 : rythme et mélodie</a:t>
            </a:r>
            <a:endParaRPr lang="fr-BE" dirty="0">
              <a:solidFill>
                <a:schemeClr val="bg1"/>
              </a:solidFill>
            </a:endParaRPr>
          </a:p>
        </p:txBody>
      </p:sp>
      <p:sp>
        <p:nvSpPr>
          <p:cNvPr id="9" name="Espace réservé du contenu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-457200">
              <a:buFontTx/>
              <a:buChar char="-"/>
            </a:pPr>
            <a:endParaRPr lang="fr-BE" dirty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r>
              <a:rPr lang="fr-BE" dirty="0" smtClean="0">
                <a:solidFill>
                  <a:srgbClr val="004E9C"/>
                </a:solidFill>
              </a:rPr>
              <a:t>Partenaire = OK ?</a:t>
            </a:r>
          </a:p>
          <a:p>
            <a:pPr marL="457200" lvl="1" indent="-457200">
              <a:buFontTx/>
              <a:buChar char="-"/>
            </a:pPr>
            <a:r>
              <a:rPr lang="fr-BE" dirty="0" smtClean="0">
                <a:solidFill>
                  <a:srgbClr val="004E9C"/>
                </a:solidFill>
              </a:rPr>
              <a:t>À deux, </a:t>
            </a:r>
            <a:r>
              <a:rPr lang="fr-BE" sz="3200" b="1" dirty="0" smtClean="0">
                <a:solidFill>
                  <a:srgbClr val="004E9C"/>
                </a:solidFill>
              </a:rPr>
              <a:t>mémoriser</a:t>
            </a:r>
            <a:r>
              <a:rPr lang="fr-BE" dirty="0" smtClean="0">
                <a:solidFill>
                  <a:srgbClr val="004E9C"/>
                </a:solidFill>
              </a:rPr>
              <a:t> un dialogue</a:t>
            </a:r>
          </a:p>
          <a:p>
            <a:pPr marL="457200" lvl="1" indent="-457200">
              <a:buFontTx/>
              <a:buChar char="-"/>
            </a:pPr>
            <a:r>
              <a:rPr lang="fr-BE" dirty="0" smtClean="0">
                <a:solidFill>
                  <a:srgbClr val="004E9C"/>
                </a:solidFill>
              </a:rPr>
              <a:t>S’inscrire sur </a:t>
            </a:r>
            <a:r>
              <a:rPr lang="fr-BE" dirty="0" smtClean="0">
                <a:solidFill>
                  <a:srgbClr val="004E9C"/>
                </a:solidFill>
                <a:hlinkClick r:id="rId3"/>
              </a:rPr>
              <a:t>Moodle</a:t>
            </a:r>
            <a:r>
              <a:rPr lang="fr-BE" dirty="0" smtClean="0">
                <a:solidFill>
                  <a:srgbClr val="004E9C"/>
                </a:solidFill>
              </a:rPr>
              <a:t> (9 choix) : </a:t>
            </a:r>
            <a:r>
              <a:rPr lang="fr-BE" dirty="0" smtClean="0">
                <a:solidFill>
                  <a:srgbClr val="FF0000"/>
                </a:solidFill>
              </a:rPr>
              <a:t>Préparer un dialogue à deux</a:t>
            </a:r>
          </a:p>
          <a:p>
            <a:pPr marL="457200" lvl="1" indent="-457200">
              <a:buFontTx/>
              <a:buChar char="-"/>
            </a:pPr>
            <a:r>
              <a:rPr lang="fr-BE" dirty="0" smtClean="0">
                <a:solidFill>
                  <a:srgbClr val="004E9C"/>
                </a:solidFill>
              </a:rPr>
              <a:t>Ecouter l’audio pour </a:t>
            </a:r>
            <a:r>
              <a:rPr lang="fr-BE" dirty="0" smtClean="0">
                <a:solidFill>
                  <a:srgbClr val="C00000"/>
                </a:solidFill>
              </a:rPr>
              <a:t>mémoriser l’intonation et le rythme</a:t>
            </a:r>
            <a:r>
              <a:rPr lang="fr-BE" dirty="0" smtClean="0">
                <a:solidFill>
                  <a:srgbClr val="004E9C"/>
                </a:solidFill>
              </a:rPr>
              <a:t>, après lire le texte et l’étudier.</a:t>
            </a:r>
          </a:p>
          <a:p>
            <a:pPr marL="457200" lvl="1" indent="-457200">
              <a:buFontTx/>
              <a:buChar char="-"/>
            </a:pPr>
            <a:r>
              <a:rPr lang="fr-BE" dirty="0" smtClean="0">
                <a:solidFill>
                  <a:srgbClr val="004E9C"/>
                </a:solidFill>
              </a:rPr>
              <a:t>Certification :  5/100</a:t>
            </a: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914400" lvl="1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514350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0" indent="0">
              <a:buNone/>
            </a:pPr>
            <a:endParaRPr lang="fr-BE" dirty="0" smtClean="0">
              <a:solidFill>
                <a:srgbClr val="004E9C"/>
              </a:solidFill>
            </a:endParaRPr>
          </a:p>
          <a:p>
            <a:pPr marL="914400" lvl="1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914400" lvl="1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514350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914400" lvl="1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514350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514350" indent="-514350">
              <a:buAutoNum type="arabicPeriod"/>
            </a:pPr>
            <a:endParaRPr lang="fr-BE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546" y="4545124"/>
            <a:ext cx="2625806" cy="200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806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BE" dirty="0" smtClean="0"/>
              <a:t>Dico perso (syllabus  p. 183)</a:t>
            </a:r>
            <a:endParaRPr lang="fr-BE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fr-BE" dirty="0" smtClean="0">
              <a:solidFill>
                <a:srgbClr val="004E9C"/>
              </a:solidFill>
            </a:endParaRPr>
          </a:p>
          <a:p>
            <a:r>
              <a:rPr lang="fr-BE" sz="3200" dirty="0" smtClean="0">
                <a:solidFill>
                  <a:srgbClr val="004E9C"/>
                </a:solidFill>
              </a:rPr>
              <a:t>Sélectionner 10 mots nouveaux et les </a:t>
            </a:r>
            <a:r>
              <a:rPr lang="fr-BE" sz="3200" dirty="0" smtClean="0">
                <a:solidFill>
                  <a:srgbClr val="FF0000"/>
                </a:solidFill>
              </a:rPr>
              <a:t>intégrer dans une phrase</a:t>
            </a:r>
            <a:r>
              <a:rPr lang="fr-BE" sz="3200" dirty="0" smtClean="0">
                <a:solidFill>
                  <a:srgbClr val="004E9C"/>
                </a:solidFill>
              </a:rPr>
              <a:t>.</a:t>
            </a:r>
          </a:p>
          <a:p>
            <a:r>
              <a:rPr lang="fr-BE" sz="3200" dirty="0" smtClean="0">
                <a:solidFill>
                  <a:srgbClr val="004E9C"/>
                </a:solidFill>
              </a:rPr>
              <a:t>Utilité : dictionnaire pour </a:t>
            </a:r>
            <a:r>
              <a:rPr lang="fr-BE" sz="3200" dirty="0" smtClean="0">
                <a:solidFill>
                  <a:srgbClr val="FF0000"/>
                </a:solidFill>
              </a:rPr>
              <a:t>l’examen écrit </a:t>
            </a:r>
            <a:r>
              <a:rPr lang="fr-BE" sz="3200" dirty="0" smtClean="0">
                <a:solidFill>
                  <a:srgbClr val="004E9C"/>
                </a:solidFill>
              </a:rPr>
              <a:t>(partie « écrire »)</a:t>
            </a:r>
          </a:p>
          <a:p>
            <a:endParaRPr lang="fr-BE" dirty="0">
              <a:solidFill>
                <a:srgbClr val="004E9C"/>
              </a:solidFill>
            </a:endParaRPr>
          </a:p>
          <a:p>
            <a:endParaRPr lang="fr-BE" dirty="0" smtClean="0"/>
          </a:p>
          <a:p>
            <a:endParaRPr lang="fr-BE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62723"/>
            <a:ext cx="3790176" cy="440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633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BE" dirty="0" smtClean="0"/>
              <a:t>Ecrire 1 (syllabus p. 167)</a:t>
            </a:r>
            <a:endParaRPr lang="en-US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42975" y="2796381"/>
            <a:ext cx="3067050" cy="2133600"/>
          </a:xfrm>
          <a:prstGeom prst="rect">
            <a:avLst/>
          </a:prstGeom>
        </p:spPr>
      </p:pic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fr-BE" smtClean="0"/>
          </a:p>
          <a:p>
            <a:r>
              <a:rPr lang="fr-BE" smtClean="0"/>
              <a:t>Ecrire </a:t>
            </a:r>
            <a:r>
              <a:rPr lang="fr-BE" dirty="0"/>
              <a:t>un message.</a:t>
            </a:r>
          </a:p>
          <a:p>
            <a:r>
              <a:rPr lang="fr-BE" dirty="0"/>
              <a:t>Se présenter pour trouver un partenaire de </a:t>
            </a:r>
            <a:r>
              <a:rPr lang="fr-BE" dirty="0" smtClean="0"/>
              <a:t>tandem</a:t>
            </a:r>
          </a:p>
          <a:p>
            <a:r>
              <a:rPr lang="fr-BE" dirty="0" smtClean="0"/>
              <a:t>Contenu précis et description de l’évaluation p. 167</a:t>
            </a:r>
          </a:p>
          <a:p>
            <a:r>
              <a:rPr lang="fr-BE" dirty="0" smtClean="0">
                <a:solidFill>
                  <a:srgbClr val="FF0000"/>
                </a:solidFill>
              </a:rPr>
              <a:t>Apporter le texte et la p. 167.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248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BE" dirty="0" smtClean="0"/>
              <a:t>Classez les différentes phrases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 smtClean="0"/>
              <a:t>                         + </a:t>
            </a:r>
            <a:endParaRPr lang="en-US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/>
          </a:bodyPr>
          <a:lstStyle/>
          <a:p>
            <a:r>
              <a:rPr lang="fr-BE" dirty="0" smtClean="0"/>
              <a:t>                    + ai, as, a, </a:t>
            </a:r>
            <a:r>
              <a:rPr lang="fr-BE" dirty="0" err="1" smtClean="0"/>
              <a:t>ons</a:t>
            </a:r>
            <a:r>
              <a:rPr lang="fr-BE" dirty="0" smtClean="0"/>
              <a:t>, </a:t>
            </a:r>
            <a:r>
              <a:rPr lang="fr-BE" dirty="0" err="1" smtClean="0"/>
              <a:t>ez</a:t>
            </a:r>
            <a:r>
              <a:rPr lang="fr-BE" dirty="0" smtClean="0"/>
              <a:t>, ont</a:t>
            </a:r>
            <a:endParaRPr lang="en-US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957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BE" dirty="0" smtClean="0"/>
              <a:t>Grammaire : le futur proche</a:t>
            </a:r>
            <a:endParaRPr lang="fr-BE" dirty="0"/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dirty="0">
                <a:solidFill>
                  <a:srgbClr val="004E9C"/>
                </a:solidFill>
              </a:rPr>
              <a:t>Qu’est-ce que tu </a:t>
            </a:r>
            <a:r>
              <a:rPr lang="fr-BE" dirty="0">
                <a:solidFill>
                  <a:srgbClr val="00B050"/>
                </a:solidFill>
              </a:rPr>
              <a:t>vas faire </a:t>
            </a:r>
            <a:r>
              <a:rPr lang="fr-BE" dirty="0"/>
              <a:t/>
            </a:r>
            <a:br>
              <a:rPr lang="fr-BE" dirty="0"/>
            </a:br>
            <a:r>
              <a:rPr lang="fr-BE" dirty="0">
                <a:solidFill>
                  <a:srgbClr val="004E9C"/>
                </a:solidFill>
              </a:rPr>
              <a:t>le </a:t>
            </a:r>
            <a:r>
              <a:rPr lang="fr-BE" dirty="0" smtClean="0">
                <a:solidFill>
                  <a:srgbClr val="004E9C"/>
                </a:solidFill>
              </a:rPr>
              <a:t>weekend </a:t>
            </a:r>
            <a:r>
              <a:rPr lang="fr-BE" dirty="0">
                <a:solidFill>
                  <a:srgbClr val="004E9C"/>
                </a:solidFill>
              </a:rPr>
              <a:t>prochain </a:t>
            </a:r>
            <a:r>
              <a:rPr lang="fr-BE" dirty="0" smtClean="0">
                <a:solidFill>
                  <a:srgbClr val="004E9C"/>
                </a:solidFill>
              </a:rPr>
              <a:t>?</a:t>
            </a:r>
          </a:p>
          <a:p>
            <a:r>
              <a:rPr lang="fr-BE" dirty="0" smtClean="0">
                <a:solidFill>
                  <a:srgbClr val="004E9C"/>
                </a:solidFill>
              </a:rPr>
              <a:t>Futur immédiat</a:t>
            </a:r>
          </a:p>
          <a:p>
            <a:r>
              <a:rPr lang="fr-BE" dirty="0" smtClean="0">
                <a:solidFill>
                  <a:srgbClr val="004E9C"/>
                </a:solidFill>
              </a:rPr>
              <a:t>Conversation : parler d’un </a:t>
            </a:r>
          </a:p>
          <a:p>
            <a:pPr marL="0" indent="0">
              <a:buNone/>
            </a:pPr>
            <a:endParaRPr lang="fr-BE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fr-BE" dirty="0" smtClean="0">
                <a:solidFill>
                  <a:srgbClr val="C00000"/>
                </a:solidFill>
              </a:rPr>
              <a:t>Changement</a:t>
            </a:r>
          </a:p>
          <a:p>
            <a:pPr marL="0" indent="0">
              <a:buNone/>
            </a:pPr>
            <a:r>
              <a:rPr lang="fr-BE" dirty="0" smtClean="0">
                <a:solidFill>
                  <a:srgbClr val="004E9C"/>
                </a:solidFill>
              </a:rPr>
              <a:t>GPF p. 166, p. 167 n° 1 et 3, p. 171 n°4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1880828"/>
            <a:ext cx="268605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312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BE" dirty="0" smtClean="0"/>
              <a:t>Parler</a:t>
            </a:r>
            <a:endParaRPr lang="en-US" dirty="0"/>
          </a:p>
        </p:txBody>
      </p:sp>
      <p:pic>
        <p:nvPicPr>
          <p:cNvPr id="4" name="Espace réservé du contenu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8115" y="1916832"/>
            <a:ext cx="3887769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187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space réservé du contenu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1620" y="2708920"/>
            <a:ext cx="7282994" cy="3636404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636" y="-243408"/>
            <a:ext cx="4169137" cy="233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050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fr-BE" dirty="0" smtClean="0"/>
              <a:t>Grammaire : le futur simple</a:t>
            </a:r>
            <a:endParaRPr lang="fr-BE" dirty="0"/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 dirty="0">
              <a:solidFill>
                <a:srgbClr val="004E9C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600200"/>
            <a:ext cx="7287422" cy="489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307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BE" dirty="0" smtClean="0"/>
              <a:t>Exercices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 smtClean="0">
                <a:solidFill>
                  <a:srgbClr val="004E9C"/>
                </a:solidFill>
              </a:rPr>
              <a:t>Conjuguez les verbes irréguliers au futur simple (liste p. 57 du syllabus) avec un dé </a:t>
            </a:r>
            <a:endParaRPr lang="fr-BE" dirty="0">
              <a:solidFill>
                <a:srgbClr val="004E9C"/>
              </a:solidFill>
            </a:endParaRPr>
          </a:p>
          <a:p>
            <a:endParaRPr lang="fr-FR" dirty="0" smtClean="0">
              <a:solidFill>
                <a:srgbClr val="004E9C"/>
              </a:solidFill>
            </a:endParaRPr>
          </a:p>
          <a:p>
            <a:endParaRPr lang="fr-BE" dirty="0" smtClean="0">
              <a:solidFill>
                <a:srgbClr val="004E9C"/>
              </a:solidFill>
            </a:endParaRPr>
          </a:p>
          <a:p>
            <a:r>
              <a:rPr lang="fr-BE" dirty="0" smtClean="0">
                <a:solidFill>
                  <a:srgbClr val="004E9C"/>
                </a:solidFill>
              </a:rPr>
              <a:t>GPF p. 224, 225 n°1, 227 n°3, 4.</a:t>
            </a:r>
            <a:endParaRPr lang="fr-BE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308" y="2744924"/>
            <a:ext cx="936104" cy="85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981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ogo ILV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68660"/>
            <a:ext cx="756084" cy="67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re 7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fr-FR" sz="3200" dirty="0" smtClean="0"/>
              <a:t>Au salon du tourisme</a:t>
            </a:r>
            <a:endParaRPr lang="fr-BE" sz="3200" dirty="0"/>
          </a:p>
        </p:txBody>
      </p:sp>
      <p:sp>
        <p:nvSpPr>
          <p:cNvPr id="9" name="Espace réservé du contenu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-457200">
              <a:buFontTx/>
              <a:buChar char="-"/>
            </a:pPr>
            <a:endParaRPr lang="fr-BE" dirty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457200" lvl="1" indent="-457200">
              <a:buFontTx/>
              <a:buChar char="-"/>
            </a:pPr>
            <a:endParaRPr lang="fr-BE" dirty="0" smtClean="0">
              <a:solidFill>
                <a:srgbClr val="004E9C"/>
              </a:solidFill>
            </a:endParaRPr>
          </a:p>
          <a:p>
            <a:pPr marL="914400" lvl="1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514350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0" indent="0">
              <a:buNone/>
            </a:pPr>
            <a:endParaRPr lang="fr-BE" dirty="0" smtClean="0">
              <a:solidFill>
                <a:srgbClr val="004E9C"/>
              </a:solidFill>
            </a:endParaRPr>
          </a:p>
          <a:p>
            <a:pPr marL="914400" lvl="1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914400" lvl="1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514350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914400" lvl="1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514350" indent="-514350">
              <a:buAutoNum type="arabicPeriod"/>
            </a:pPr>
            <a:endParaRPr lang="fr-BE" dirty="0" smtClean="0">
              <a:solidFill>
                <a:srgbClr val="004E9C"/>
              </a:solidFill>
            </a:endParaRPr>
          </a:p>
          <a:p>
            <a:pPr marL="514350" indent="-514350">
              <a:buAutoNum type="arabicPeriod"/>
            </a:pPr>
            <a:endParaRPr lang="fr-BE" dirty="0"/>
          </a:p>
        </p:txBody>
      </p:sp>
      <p:sp>
        <p:nvSpPr>
          <p:cNvPr id="2" name="ZoneTexte 1"/>
          <p:cNvSpPr txBox="1"/>
          <p:nvPr/>
        </p:nvSpPr>
        <p:spPr>
          <a:xfrm>
            <a:off x="845119" y="1907520"/>
            <a:ext cx="784887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dirty="0" smtClean="0">
                <a:solidFill>
                  <a:srgbClr val="FF0000"/>
                </a:solidFill>
              </a:rPr>
              <a:t>Syllabus pp. 53-54</a:t>
            </a:r>
          </a:p>
          <a:p>
            <a:r>
              <a:rPr lang="fr-BE" sz="2800" dirty="0" smtClean="0">
                <a:solidFill>
                  <a:srgbClr val="004E9C"/>
                </a:solidFill>
              </a:rPr>
              <a:t>Un groupe = les touristes</a:t>
            </a:r>
          </a:p>
          <a:p>
            <a:r>
              <a:rPr lang="fr-BE" sz="2800" dirty="0" smtClean="0">
                <a:solidFill>
                  <a:srgbClr val="004E9C"/>
                </a:solidFill>
              </a:rPr>
              <a:t>Décrire les vacances idéales</a:t>
            </a:r>
          </a:p>
          <a:p>
            <a:r>
              <a:rPr lang="fr-BE" sz="2800" dirty="0" smtClean="0">
                <a:solidFill>
                  <a:srgbClr val="004E9C"/>
                </a:solidFill>
              </a:rPr>
              <a:t>Consulter tous les offices de tourisme</a:t>
            </a:r>
          </a:p>
          <a:p>
            <a:endParaRPr lang="fr-BE" sz="2800" dirty="0" smtClean="0">
              <a:solidFill>
                <a:srgbClr val="004E9C"/>
              </a:solidFill>
            </a:endParaRPr>
          </a:p>
          <a:p>
            <a:r>
              <a:rPr lang="fr-BE" sz="2800" dirty="0" smtClean="0">
                <a:solidFill>
                  <a:srgbClr val="004E9C"/>
                </a:solidFill>
              </a:rPr>
              <a:t>Un groupe = les employés de l’office du tourisme</a:t>
            </a:r>
          </a:p>
          <a:p>
            <a:r>
              <a:rPr lang="fr-BE" sz="2800" dirty="0" smtClean="0">
                <a:solidFill>
                  <a:srgbClr val="004E9C"/>
                </a:solidFill>
              </a:rPr>
              <a:t>Imaginer les meilleures activités de son pays</a:t>
            </a:r>
          </a:p>
          <a:p>
            <a:endParaRPr lang="fr-BE" sz="2800" dirty="0">
              <a:solidFill>
                <a:srgbClr val="004E9C"/>
              </a:solidFill>
            </a:endParaRPr>
          </a:p>
          <a:p>
            <a:r>
              <a:rPr lang="fr-BE" sz="2800" dirty="0" smtClean="0">
                <a:solidFill>
                  <a:srgbClr val="FF0000"/>
                </a:solidFill>
              </a:rPr>
              <a:t>Quelle est la destination préférée par les touristes ?</a:t>
            </a:r>
            <a:endParaRPr lang="fr-BE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458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fr-BE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BE" dirty="0" smtClean="0">
                <a:solidFill>
                  <a:srgbClr val="004E9C"/>
                </a:solidFill>
              </a:rPr>
              <a:t>Étudier le futur simple (syllabus pp 150-151, et GPF pp. 224-227)</a:t>
            </a:r>
          </a:p>
          <a:p>
            <a:r>
              <a:rPr lang="fr-BE" dirty="0" smtClean="0">
                <a:solidFill>
                  <a:srgbClr val="004E9C"/>
                </a:solidFill>
              </a:rPr>
              <a:t>Faire les tests sur Moodle</a:t>
            </a:r>
          </a:p>
          <a:p>
            <a:r>
              <a:rPr lang="fr-BE" dirty="0">
                <a:solidFill>
                  <a:srgbClr val="004E9C"/>
                </a:solidFill>
              </a:rPr>
              <a:t>« Écrire 1 » : </a:t>
            </a:r>
            <a:r>
              <a:rPr lang="fr-BE" dirty="0">
                <a:solidFill>
                  <a:srgbClr val="FF0000"/>
                </a:solidFill>
              </a:rPr>
              <a:t>apporter aussi la p. 167)</a:t>
            </a:r>
          </a:p>
          <a:p>
            <a:r>
              <a:rPr lang="fr-BE" dirty="0" smtClean="0">
                <a:solidFill>
                  <a:srgbClr val="004E9C"/>
                </a:solidFill>
              </a:rPr>
              <a:t>Compléter le Dico perso Unité 1. p. 183</a:t>
            </a:r>
          </a:p>
        </p:txBody>
      </p:sp>
      <p:sp>
        <p:nvSpPr>
          <p:cNvPr id="5" name="Titre 7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fr-BE" dirty="0" smtClean="0">
                <a:solidFill>
                  <a:schemeClr val="bg1"/>
                </a:solidFill>
              </a:rPr>
              <a:t>Devoirs pour le prochain cours</a:t>
            </a:r>
            <a:endParaRPr lang="fr-BE" dirty="0">
              <a:solidFill>
                <a:srgbClr val="004E9C"/>
              </a:solidFill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26" y="2569684"/>
            <a:ext cx="4136517" cy="258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082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3768</TotalTime>
  <Words>334</Words>
  <Application>Microsoft Office PowerPoint</Application>
  <PresentationFormat>Affichage à l'écran (4:3)</PresentationFormat>
  <Paragraphs>102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Arial Unicode MS</vt:lpstr>
      <vt:lpstr>Calibri</vt:lpstr>
      <vt:lpstr>Thème Office</vt:lpstr>
      <vt:lpstr>Présentation PowerPoint</vt:lpstr>
      <vt:lpstr>Agenda </vt:lpstr>
      <vt:lpstr>Contrat personnel</vt:lpstr>
      <vt:lpstr>Parler : fixer un rendez-vous</vt:lpstr>
      <vt:lpstr>C’est par où  la culture? (p.52)</vt:lpstr>
      <vt:lpstr>Dialogue 1 : rythme et mélodie</vt:lpstr>
      <vt:lpstr>Dico perso (syllabus  p. 183)</vt:lpstr>
      <vt:lpstr>Ecrire 1 (syllabus p. 167)</vt:lpstr>
      <vt:lpstr>Classez les différentes phrases</vt:lpstr>
      <vt:lpstr>Grammaire : le futur proche</vt:lpstr>
      <vt:lpstr>Parler</vt:lpstr>
      <vt:lpstr>Présentation PowerPoint</vt:lpstr>
      <vt:lpstr>Grammaire : le futur simple</vt:lpstr>
      <vt:lpstr>Exercices</vt:lpstr>
      <vt:lpstr>Au salon du tourisme</vt:lpstr>
      <vt:lpstr>Devoirs pour le prochain cours</vt:lpstr>
    </vt:vector>
  </TitlesOfParts>
  <Company>Université catholique de Louvain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SIWS</dc:creator>
  <cp:lastModifiedBy>Geneviève Briet</cp:lastModifiedBy>
  <cp:revision>558</cp:revision>
  <dcterms:created xsi:type="dcterms:W3CDTF">2014-01-20T08:37:34Z</dcterms:created>
  <dcterms:modified xsi:type="dcterms:W3CDTF">2018-10-08T09:00:43Z</dcterms:modified>
</cp:coreProperties>
</file>