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sldIdLst>
    <p:sldId id="256" r:id="rId2"/>
    <p:sldId id="283" r:id="rId3"/>
    <p:sldId id="284" r:id="rId4"/>
    <p:sldId id="301" r:id="rId5"/>
    <p:sldId id="302" r:id="rId6"/>
    <p:sldId id="304" r:id="rId7"/>
    <p:sldId id="309" r:id="rId8"/>
    <p:sldId id="305" r:id="rId9"/>
    <p:sldId id="307" r:id="rId10"/>
    <p:sldId id="308" r:id="rId11"/>
    <p:sldId id="285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2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8" d="100"/>
        <a:sy n="108" d="100"/>
      </p:scale>
      <p:origin x="0" y="-438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fr-FR" smtClean="0"/>
              <a:t>Modifier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10/2/2018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10/2/2018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10/2/2018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10/2/2018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10/2/2018</a:t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10/2/2018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10/2/2018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10/2/2018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10/2/2018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10/2/2018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10/2/2018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586B75A-687E-405C-8A0B-8D00578BA2C3}" type="datetimeFigureOut">
              <a:rPr lang="en-US" dirty="0"/>
              <a:pPr/>
              <a:t>10/2/2018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://ainsivalavieilv.blogspot.be/" TargetMode="Externa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136591" y="1554480"/>
            <a:ext cx="7315200" cy="3255264"/>
          </a:xfrm>
        </p:spPr>
        <p:txBody>
          <a:bodyPr>
            <a:normAutofit/>
          </a:bodyPr>
          <a:lstStyle/>
          <a:p>
            <a:r>
              <a:rPr lang="fr-BE" dirty="0" smtClean="0"/>
              <a:t>LFRAN 1201 </a:t>
            </a:r>
            <a:br>
              <a:rPr lang="fr-BE" dirty="0" smtClean="0"/>
            </a:br>
            <a:r>
              <a:rPr lang="fr-BE" dirty="0" smtClean="0"/>
              <a:t>Se distraire : </a:t>
            </a:r>
            <a:r>
              <a:rPr lang="fr-BE" dirty="0" smtClean="0"/>
              <a:t>apprécier</a:t>
            </a:r>
            <a:r>
              <a:rPr lang="fr-BE" dirty="0" smtClean="0"/>
              <a:t/>
            </a:r>
            <a:br>
              <a:rPr lang="fr-BE" dirty="0" smtClean="0"/>
            </a:br>
            <a:endParaRPr lang="fr-BE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136591" y="4920996"/>
            <a:ext cx="7315200" cy="914400"/>
          </a:xfrm>
        </p:spPr>
        <p:txBody>
          <a:bodyPr>
            <a:noAutofit/>
          </a:bodyPr>
          <a:lstStyle/>
          <a:p>
            <a:r>
              <a:rPr lang="fr-BE" sz="1800" dirty="0" smtClean="0"/>
              <a:t>Cours 3</a:t>
            </a:r>
            <a:endParaRPr lang="fr-BE" sz="1800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2472" y="1770888"/>
            <a:ext cx="1402080" cy="1941848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8069" y="4553712"/>
            <a:ext cx="1396483" cy="1281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950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 smtClean="0"/>
              <a:t>Programme</a:t>
            </a:r>
            <a:endParaRPr lang="fr-BE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BE" sz="2800" dirty="0" smtClean="0"/>
              <a:t>1. Echauffement : </a:t>
            </a:r>
            <a:r>
              <a:rPr lang="fr-BE" sz="2800" dirty="0" smtClean="0"/>
              <a:t>  »Je viens de/ … et je vais …»</a:t>
            </a:r>
            <a:endParaRPr lang="fr-BE" sz="2800" dirty="0" smtClean="0"/>
          </a:p>
          <a:p>
            <a:r>
              <a:rPr lang="fr-BE" sz="2800" dirty="0" smtClean="0"/>
              <a:t>2. </a:t>
            </a:r>
            <a:r>
              <a:rPr lang="fr-BE" sz="2800" dirty="0" smtClean="0"/>
              <a:t>Parler : présenter famille, ami, paysage</a:t>
            </a:r>
            <a:endParaRPr lang="fr-BE" sz="2800" dirty="0" smtClean="0"/>
          </a:p>
          <a:p>
            <a:r>
              <a:rPr lang="fr-BE" sz="2800" dirty="0" smtClean="0"/>
              <a:t>3</a:t>
            </a:r>
            <a:r>
              <a:rPr lang="fr-BE" sz="2800" dirty="0" smtClean="0"/>
              <a:t>. Ecouter : exprimer une  appréciation</a:t>
            </a:r>
          </a:p>
          <a:p>
            <a:r>
              <a:rPr lang="fr-BE" sz="2800" dirty="0" smtClean="0"/>
              <a:t>4. </a:t>
            </a:r>
            <a:r>
              <a:rPr lang="fr-BE" sz="2800" dirty="0" smtClean="0"/>
              <a:t>Dossier TV5MONDE, visite, contrat pour le cours</a:t>
            </a:r>
          </a:p>
          <a:p>
            <a:r>
              <a:rPr lang="fr-BE" sz="2800" dirty="0" smtClean="0"/>
              <a:t>5. Prononciation (alphabet phonétique)</a:t>
            </a:r>
            <a:endParaRPr lang="fr-BE" sz="2800" dirty="0" smtClean="0"/>
          </a:p>
          <a:p>
            <a:r>
              <a:rPr lang="fr-BE" sz="2800" dirty="0" smtClean="0"/>
              <a:t>6. </a:t>
            </a:r>
            <a:r>
              <a:rPr lang="fr-BE" sz="2800" dirty="0"/>
              <a:t>Vocabulaire : activités préférées</a:t>
            </a:r>
            <a:endParaRPr lang="fr-BE" sz="2800" dirty="0" smtClean="0"/>
          </a:p>
        </p:txBody>
      </p:sp>
    </p:spTree>
    <p:extLst>
      <p:ext uri="{BB962C8B-B14F-4D97-AF65-F5344CB8AC3E}">
        <p14:creationId xmlns:p14="http://schemas.microsoft.com/office/powerpoint/2010/main" val="2340841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 smtClean="0"/>
              <a:t>Grammaire : </a:t>
            </a:r>
            <a:br>
              <a:rPr lang="fr-BE" dirty="0" smtClean="0"/>
            </a:br>
            <a:r>
              <a:rPr lang="fr-BE" sz="2800" i="1" dirty="0" smtClean="0"/>
              <a:t>prépositions + pays ou villes</a:t>
            </a:r>
            <a:endParaRPr lang="fr-BE" sz="2800" i="1" dirty="0"/>
          </a:p>
        </p:txBody>
      </p:sp>
      <p:pic>
        <p:nvPicPr>
          <p:cNvPr id="6" name="Espace réservé du contenu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68763" y="1214437"/>
            <a:ext cx="6915150" cy="4419600"/>
          </a:xfrm>
          <a:prstGeom prst="rect">
            <a:avLst/>
          </a:prstGeom>
        </p:spPr>
      </p:pic>
      <p:sp>
        <p:nvSpPr>
          <p:cNvPr id="7" name="ZoneTexte 6"/>
          <p:cNvSpPr txBox="1"/>
          <p:nvPr/>
        </p:nvSpPr>
        <p:spPr>
          <a:xfrm>
            <a:off x="4191000" y="438150"/>
            <a:ext cx="4838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dirty="0" smtClean="0"/>
              <a:t>GPF pp. 44-45</a:t>
            </a:r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1995272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Exprimer une appréciation</a:t>
            </a: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7224" y="1124445"/>
            <a:ext cx="5964575" cy="5276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17545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 smtClean="0"/>
              <a:t>Classez les appréciations</a:t>
            </a:r>
            <a:endParaRPr lang="fr-BE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3299" y="2000250"/>
            <a:ext cx="8497083" cy="3588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65188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 smtClean="0"/>
              <a:t>Faites la playlist de notre groupe</a:t>
            </a:r>
            <a:endParaRPr lang="fr-BE" dirty="0"/>
          </a:p>
        </p:txBody>
      </p:sp>
      <p:sp>
        <p:nvSpPr>
          <p:cNvPr id="3" name="Rectangle 2"/>
          <p:cNvSpPr/>
          <p:nvPr/>
        </p:nvSpPr>
        <p:spPr>
          <a:xfrm>
            <a:off x="3981450" y="733246"/>
            <a:ext cx="6838950" cy="61247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spcAft>
                <a:spcPts val="0"/>
              </a:spcAft>
              <a:buFont typeface="Wingdings" panose="05000000000000000000" pitchFamily="2" charset="2"/>
              <a:buChar char=""/>
            </a:pPr>
            <a:r>
              <a:rPr lang="fr-BE" sz="28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Faites des groupes de </a:t>
            </a:r>
            <a:r>
              <a:rPr lang="fr-BE" sz="28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3 </a:t>
            </a:r>
            <a:r>
              <a:rPr lang="fr-BE" sz="28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ou </a:t>
            </a:r>
            <a:r>
              <a:rPr lang="fr-BE" sz="28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4 personnes, </a:t>
            </a:r>
            <a:r>
              <a:rPr lang="fr-BE" sz="28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par affinités et gouts musicaux.</a:t>
            </a:r>
            <a:endParaRPr lang="fr-BE" sz="3200" dirty="0">
              <a:latin typeface="CG Times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spcAft>
                <a:spcPts val="0"/>
              </a:spcAft>
              <a:buFont typeface="Wingdings" panose="05000000000000000000" pitchFamily="2" charset="2"/>
              <a:buChar char=""/>
            </a:pPr>
            <a:r>
              <a:rPr lang="fr-BE" sz="28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Préparez votre petite présentation en quelques minutes. </a:t>
            </a:r>
            <a:endParaRPr lang="fr-BE" sz="3200" dirty="0">
              <a:latin typeface="CG Times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fr-BE" sz="28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Présentez votre chanteur, votre chanteuse ou votre groupe préféré.</a:t>
            </a:r>
            <a:endParaRPr lang="fr-BE" sz="3200" dirty="0">
              <a:latin typeface="CG Times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fr-BE" sz="28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Donnez son nom, son style, un de ses instruments et la chanson que vous préférez.</a:t>
            </a:r>
            <a:endParaRPr lang="fr-BE" sz="3200" dirty="0">
              <a:latin typeface="CG Times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fr-BE" sz="28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Fredonnez (la </a:t>
            </a:r>
            <a:r>
              <a:rPr lang="fr-BE" sz="28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</a:t>
            </a:r>
            <a:r>
              <a:rPr lang="fr-BE" sz="28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BE" sz="28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</a:t>
            </a:r>
            <a:r>
              <a:rPr lang="fr-BE" sz="28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), chantez ou dansez sur votre chanson préférée.</a:t>
            </a:r>
            <a:endParaRPr lang="fr-BE" sz="3200" dirty="0">
              <a:latin typeface="CG Times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spcAft>
                <a:spcPts val="0"/>
              </a:spcAft>
              <a:buFont typeface="Wingdings" panose="05000000000000000000" pitchFamily="2" charset="2"/>
              <a:buChar char=""/>
            </a:pPr>
            <a:r>
              <a:rPr lang="fr-BE" sz="28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Vous pouvez filmer votre présentation pour la publier sur </a:t>
            </a:r>
            <a:r>
              <a:rPr lang="fr-BE" sz="2800" u="sng" dirty="0">
                <a:solidFill>
                  <a:srgbClr val="56C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http://ainsivalavieilv.blogspot.be/</a:t>
            </a:r>
            <a:endParaRPr lang="fr-BE" sz="3200" dirty="0">
              <a:effectLst/>
              <a:latin typeface="CG Times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13954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logo ILV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7608" y="368660"/>
            <a:ext cx="756084" cy="6780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itre 7"/>
          <p:cNvSpPr>
            <a:spLocks noGrp="1"/>
          </p:cNvSpPr>
          <p:nvPr>
            <p:ph type="title"/>
          </p:nvPr>
        </p:nvSpPr>
        <p:spPr/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fr-BE" dirty="0" smtClean="0">
                <a:solidFill>
                  <a:schemeClr val="bg1"/>
                </a:solidFill>
              </a:rPr>
              <a:t>Quelles sont vos 3 activités préférées ?</a:t>
            </a:r>
            <a:endParaRPr lang="fr-BE" dirty="0">
              <a:solidFill>
                <a:schemeClr val="bg1"/>
              </a:solidFill>
            </a:endParaRPr>
          </a:p>
        </p:txBody>
      </p:sp>
      <p:sp>
        <p:nvSpPr>
          <p:cNvPr id="9" name="Espace réservé du contenu 8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lvl="1" indent="-457200">
              <a:buFontTx/>
              <a:buChar char="-"/>
            </a:pPr>
            <a:endParaRPr lang="fr-BE" dirty="0">
              <a:solidFill>
                <a:srgbClr val="004E9C"/>
              </a:solidFill>
            </a:endParaRPr>
          </a:p>
          <a:p>
            <a:pPr marL="457200" lvl="1" indent="-457200">
              <a:buFontTx/>
              <a:buChar char="-"/>
            </a:pPr>
            <a:endParaRPr lang="fr-BE" dirty="0" smtClean="0">
              <a:solidFill>
                <a:srgbClr val="004E9C"/>
              </a:solidFill>
            </a:endParaRPr>
          </a:p>
          <a:p>
            <a:pPr marL="457200" lvl="1" indent="-457200">
              <a:buFontTx/>
              <a:buChar char="-"/>
            </a:pPr>
            <a:endParaRPr lang="fr-BE" dirty="0" smtClean="0">
              <a:solidFill>
                <a:srgbClr val="004E9C"/>
              </a:solidFill>
            </a:endParaRPr>
          </a:p>
          <a:p>
            <a:pPr marL="457200" lvl="1" indent="-457200">
              <a:buFontTx/>
              <a:buChar char="-"/>
            </a:pPr>
            <a:endParaRPr lang="fr-BE" dirty="0" smtClean="0">
              <a:solidFill>
                <a:srgbClr val="004E9C"/>
              </a:solidFill>
            </a:endParaRPr>
          </a:p>
          <a:p>
            <a:pPr marL="457200" lvl="1" indent="-457200">
              <a:buFontTx/>
              <a:buChar char="-"/>
            </a:pPr>
            <a:endParaRPr lang="fr-BE" dirty="0" smtClean="0">
              <a:solidFill>
                <a:srgbClr val="004E9C"/>
              </a:solidFill>
            </a:endParaRPr>
          </a:p>
          <a:p>
            <a:pPr marL="457200" lvl="1" indent="-457200">
              <a:buFontTx/>
              <a:buChar char="-"/>
            </a:pPr>
            <a:endParaRPr lang="fr-BE" dirty="0" smtClean="0">
              <a:solidFill>
                <a:srgbClr val="004E9C"/>
              </a:solidFill>
            </a:endParaRPr>
          </a:p>
          <a:p>
            <a:pPr marL="457200" lvl="1" indent="-457200">
              <a:buFontTx/>
              <a:buChar char="-"/>
            </a:pPr>
            <a:endParaRPr lang="fr-BE" dirty="0" smtClean="0">
              <a:solidFill>
                <a:srgbClr val="004E9C"/>
              </a:solidFill>
            </a:endParaRPr>
          </a:p>
          <a:p>
            <a:pPr marL="457200" lvl="1" indent="-457200">
              <a:buFontTx/>
              <a:buChar char="-"/>
            </a:pPr>
            <a:endParaRPr lang="fr-BE" dirty="0" smtClean="0">
              <a:solidFill>
                <a:srgbClr val="004E9C"/>
              </a:solidFill>
            </a:endParaRPr>
          </a:p>
          <a:p>
            <a:pPr marL="914400" lvl="1" indent="-514350">
              <a:buAutoNum type="arabicPeriod"/>
            </a:pPr>
            <a:endParaRPr lang="fr-BE" dirty="0" smtClean="0">
              <a:solidFill>
                <a:srgbClr val="004E9C"/>
              </a:solidFill>
            </a:endParaRPr>
          </a:p>
          <a:p>
            <a:pPr marL="514350" indent="-514350">
              <a:buAutoNum type="arabicPeriod"/>
            </a:pPr>
            <a:endParaRPr lang="fr-BE" dirty="0" smtClean="0">
              <a:solidFill>
                <a:srgbClr val="004E9C"/>
              </a:solidFill>
            </a:endParaRPr>
          </a:p>
          <a:p>
            <a:pPr marL="0" indent="0">
              <a:buNone/>
            </a:pPr>
            <a:endParaRPr lang="fr-BE" dirty="0" smtClean="0">
              <a:solidFill>
                <a:srgbClr val="004E9C"/>
              </a:solidFill>
            </a:endParaRPr>
          </a:p>
          <a:p>
            <a:pPr marL="914400" lvl="1" indent="-514350">
              <a:buAutoNum type="arabicPeriod"/>
            </a:pPr>
            <a:endParaRPr lang="fr-BE" dirty="0" smtClean="0">
              <a:solidFill>
                <a:srgbClr val="004E9C"/>
              </a:solidFill>
            </a:endParaRPr>
          </a:p>
          <a:p>
            <a:pPr marL="914400" lvl="1" indent="-514350">
              <a:buAutoNum type="arabicPeriod"/>
            </a:pPr>
            <a:endParaRPr lang="fr-BE" dirty="0" smtClean="0">
              <a:solidFill>
                <a:srgbClr val="004E9C"/>
              </a:solidFill>
            </a:endParaRPr>
          </a:p>
          <a:p>
            <a:pPr marL="514350" indent="-514350">
              <a:buAutoNum type="arabicPeriod"/>
            </a:pPr>
            <a:endParaRPr lang="fr-BE" dirty="0" smtClean="0">
              <a:solidFill>
                <a:srgbClr val="004E9C"/>
              </a:solidFill>
            </a:endParaRPr>
          </a:p>
          <a:p>
            <a:pPr marL="914400" lvl="1" indent="-514350">
              <a:buAutoNum type="arabicPeriod"/>
            </a:pPr>
            <a:endParaRPr lang="fr-BE" dirty="0" smtClean="0">
              <a:solidFill>
                <a:srgbClr val="004E9C"/>
              </a:solidFill>
            </a:endParaRPr>
          </a:p>
          <a:p>
            <a:pPr marL="514350" indent="-514350">
              <a:buAutoNum type="arabicPeriod"/>
            </a:pPr>
            <a:endParaRPr lang="fr-BE" dirty="0" smtClean="0">
              <a:solidFill>
                <a:srgbClr val="004E9C"/>
              </a:solidFill>
            </a:endParaRPr>
          </a:p>
          <a:p>
            <a:pPr marL="514350" indent="-514350">
              <a:buAutoNum type="arabicPeriod"/>
            </a:pPr>
            <a:endParaRPr lang="fr-BE" dirty="0"/>
          </a:p>
        </p:txBody>
      </p:sp>
      <p:sp>
        <p:nvSpPr>
          <p:cNvPr id="2" name="ZoneTexte 1"/>
          <p:cNvSpPr txBox="1"/>
          <p:nvPr/>
        </p:nvSpPr>
        <p:spPr>
          <a:xfrm>
            <a:off x="3869268" y="2132856"/>
            <a:ext cx="779158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3200" dirty="0">
                <a:solidFill>
                  <a:srgbClr val="004E9C"/>
                </a:solidFill>
              </a:rPr>
              <a:t>Interrogez votre partenaire et répondez à ses affirmations.</a:t>
            </a:r>
          </a:p>
        </p:txBody>
      </p:sp>
    </p:spTree>
    <p:extLst>
      <p:ext uri="{BB962C8B-B14F-4D97-AF65-F5344CB8AC3E}">
        <p14:creationId xmlns:p14="http://schemas.microsoft.com/office/powerpoint/2010/main" val="36893565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logo ILV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7608" y="368660"/>
            <a:ext cx="756084" cy="6780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itre 7"/>
          <p:cNvSpPr>
            <a:spLocks noGrp="1"/>
          </p:cNvSpPr>
          <p:nvPr>
            <p:ph type="title"/>
          </p:nvPr>
        </p:nvSpPr>
        <p:spPr/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fr-BE" dirty="0" smtClean="0">
                <a:solidFill>
                  <a:schemeClr val="bg1"/>
                </a:solidFill>
              </a:rPr>
              <a:t>Quelles sont vos 3 activités préférées ?</a:t>
            </a:r>
            <a:endParaRPr lang="fr-BE" dirty="0">
              <a:solidFill>
                <a:schemeClr val="bg1"/>
              </a:solidFill>
            </a:endParaRPr>
          </a:p>
        </p:txBody>
      </p:sp>
      <p:sp>
        <p:nvSpPr>
          <p:cNvPr id="9" name="Espace réservé du contenu 8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lvl="1" indent="-457200">
              <a:buFontTx/>
              <a:buChar char="-"/>
            </a:pPr>
            <a:endParaRPr lang="fr-BE" dirty="0">
              <a:solidFill>
                <a:srgbClr val="004E9C"/>
              </a:solidFill>
            </a:endParaRPr>
          </a:p>
          <a:p>
            <a:pPr marL="457200" lvl="1" indent="-457200">
              <a:buFontTx/>
              <a:buChar char="-"/>
            </a:pPr>
            <a:endParaRPr lang="fr-BE" dirty="0" smtClean="0">
              <a:solidFill>
                <a:srgbClr val="004E9C"/>
              </a:solidFill>
            </a:endParaRPr>
          </a:p>
          <a:p>
            <a:pPr marL="457200" lvl="1" indent="-457200">
              <a:buFontTx/>
              <a:buChar char="-"/>
            </a:pPr>
            <a:endParaRPr lang="fr-BE" dirty="0" smtClean="0">
              <a:solidFill>
                <a:srgbClr val="004E9C"/>
              </a:solidFill>
            </a:endParaRPr>
          </a:p>
          <a:p>
            <a:pPr marL="457200" lvl="1" indent="-457200">
              <a:buFontTx/>
              <a:buChar char="-"/>
            </a:pPr>
            <a:endParaRPr lang="fr-BE" dirty="0" smtClean="0">
              <a:solidFill>
                <a:srgbClr val="004E9C"/>
              </a:solidFill>
            </a:endParaRPr>
          </a:p>
          <a:p>
            <a:pPr marL="457200" lvl="1" indent="-457200">
              <a:buFontTx/>
              <a:buChar char="-"/>
            </a:pPr>
            <a:endParaRPr lang="fr-BE" dirty="0" smtClean="0">
              <a:solidFill>
                <a:srgbClr val="004E9C"/>
              </a:solidFill>
            </a:endParaRPr>
          </a:p>
          <a:p>
            <a:pPr marL="457200" lvl="1" indent="-457200">
              <a:buFontTx/>
              <a:buChar char="-"/>
            </a:pPr>
            <a:endParaRPr lang="fr-BE" dirty="0" smtClean="0">
              <a:solidFill>
                <a:srgbClr val="004E9C"/>
              </a:solidFill>
            </a:endParaRPr>
          </a:p>
          <a:p>
            <a:pPr marL="457200" lvl="1" indent="-457200">
              <a:buFontTx/>
              <a:buChar char="-"/>
            </a:pPr>
            <a:endParaRPr lang="fr-BE" dirty="0" smtClean="0">
              <a:solidFill>
                <a:srgbClr val="004E9C"/>
              </a:solidFill>
            </a:endParaRPr>
          </a:p>
          <a:p>
            <a:pPr marL="457200" lvl="1" indent="-457200">
              <a:buFontTx/>
              <a:buChar char="-"/>
            </a:pPr>
            <a:endParaRPr lang="fr-BE" dirty="0" smtClean="0">
              <a:solidFill>
                <a:srgbClr val="004E9C"/>
              </a:solidFill>
            </a:endParaRPr>
          </a:p>
          <a:p>
            <a:pPr marL="914400" lvl="1" indent="-514350">
              <a:buAutoNum type="arabicPeriod"/>
            </a:pPr>
            <a:endParaRPr lang="fr-BE" dirty="0" smtClean="0">
              <a:solidFill>
                <a:srgbClr val="004E9C"/>
              </a:solidFill>
            </a:endParaRPr>
          </a:p>
          <a:p>
            <a:pPr marL="514350" indent="-514350">
              <a:buAutoNum type="arabicPeriod"/>
            </a:pPr>
            <a:endParaRPr lang="fr-BE" dirty="0" smtClean="0">
              <a:solidFill>
                <a:srgbClr val="004E9C"/>
              </a:solidFill>
            </a:endParaRPr>
          </a:p>
          <a:p>
            <a:pPr marL="0" indent="0">
              <a:buNone/>
            </a:pPr>
            <a:endParaRPr lang="fr-BE" dirty="0" smtClean="0">
              <a:solidFill>
                <a:srgbClr val="004E9C"/>
              </a:solidFill>
            </a:endParaRPr>
          </a:p>
          <a:p>
            <a:pPr marL="914400" lvl="1" indent="-514350">
              <a:buAutoNum type="arabicPeriod"/>
            </a:pPr>
            <a:endParaRPr lang="fr-BE" dirty="0" smtClean="0">
              <a:solidFill>
                <a:srgbClr val="004E9C"/>
              </a:solidFill>
            </a:endParaRPr>
          </a:p>
          <a:p>
            <a:pPr marL="914400" lvl="1" indent="-514350">
              <a:buAutoNum type="arabicPeriod"/>
            </a:pPr>
            <a:endParaRPr lang="fr-BE" dirty="0" smtClean="0">
              <a:solidFill>
                <a:srgbClr val="004E9C"/>
              </a:solidFill>
            </a:endParaRPr>
          </a:p>
          <a:p>
            <a:pPr marL="514350" indent="-514350">
              <a:buAutoNum type="arabicPeriod"/>
            </a:pPr>
            <a:endParaRPr lang="fr-BE" dirty="0" smtClean="0">
              <a:solidFill>
                <a:srgbClr val="004E9C"/>
              </a:solidFill>
            </a:endParaRPr>
          </a:p>
          <a:p>
            <a:pPr marL="914400" lvl="1" indent="-514350">
              <a:buAutoNum type="arabicPeriod"/>
            </a:pPr>
            <a:endParaRPr lang="fr-BE" dirty="0" smtClean="0">
              <a:solidFill>
                <a:srgbClr val="004E9C"/>
              </a:solidFill>
            </a:endParaRPr>
          </a:p>
          <a:p>
            <a:pPr marL="514350" indent="-514350">
              <a:buAutoNum type="arabicPeriod"/>
            </a:pPr>
            <a:endParaRPr lang="fr-BE" dirty="0" smtClean="0">
              <a:solidFill>
                <a:srgbClr val="004E9C"/>
              </a:solidFill>
            </a:endParaRPr>
          </a:p>
          <a:p>
            <a:pPr marL="514350" indent="-514350">
              <a:buAutoNum type="arabicPeriod"/>
            </a:pPr>
            <a:endParaRPr lang="fr-BE" dirty="0"/>
          </a:p>
        </p:txBody>
      </p:sp>
      <p:pic>
        <p:nvPicPr>
          <p:cNvPr id="5" name="Image 4"/>
          <p:cNvPicPr/>
          <p:nvPr/>
        </p:nvPicPr>
        <p:blipFill>
          <a:blip r:embed="rId3"/>
          <a:stretch>
            <a:fillRect/>
          </a:stretch>
        </p:blipFill>
        <p:spPr>
          <a:xfrm>
            <a:off x="4350482" y="707698"/>
            <a:ext cx="6088918" cy="5521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06729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fr-BE" dirty="0" smtClean="0"/>
              <a:t>Comment répondre ?</a:t>
            </a:r>
            <a:endParaRPr lang="fr-BE" dirty="0"/>
          </a:p>
        </p:txBody>
      </p:sp>
      <p:pic>
        <p:nvPicPr>
          <p:cNvPr id="5" name="Espace réservé du contenu 4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3779520" y="2405555"/>
            <a:ext cx="4038600" cy="2762855"/>
          </a:xfrm>
          <a:prstGeom prst="rect">
            <a:avLst/>
          </a:prstGeom>
        </p:spPr>
      </p:pic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7818120" y="1554480"/>
            <a:ext cx="3474720" cy="5120640"/>
          </a:xfrm>
        </p:spPr>
        <p:txBody>
          <a:bodyPr>
            <a:normAutofit/>
          </a:bodyPr>
          <a:lstStyle/>
          <a:p>
            <a:endParaRPr lang="fr-BE" dirty="0" smtClean="0">
              <a:solidFill>
                <a:srgbClr val="004E9C"/>
              </a:solidFill>
            </a:endParaRPr>
          </a:p>
          <a:p>
            <a:r>
              <a:rPr lang="fr-BE" sz="3200" dirty="0">
                <a:solidFill>
                  <a:srgbClr val="004E9C"/>
                </a:solidFill>
              </a:rPr>
              <a:t>Oui </a:t>
            </a:r>
          </a:p>
          <a:p>
            <a:r>
              <a:rPr lang="fr-BE" sz="3200" dirty="0">
                <a:solidFill>
                  <a:srgbClr val="FF0000"/>
                </a:solidFill>
              </a:rPr>
              <a:t>Non  </a:t>
            </a:r>
          </a:p>
          <a:p>
            <a:r>
              <a:rPr lang="fr-BE" sz="3200" dirty="0">
                <a:solidFill>
                  <a:srgbClr val="004E9C"/>
                </a:solidFill>
              </a:rPr>
              <a:t>Moi aussi</a:t>
            </a:r>
          </a:p>
          <a:p>
            <a:r>
              <a:rPr lang="fr-BE" sz="3200" dirty="0">
                <a:solidFill>
                  <a:srgbClr val="FF0000"/>
                </a:solidFill>
              </a:rPr>
              <a:t>Moi non plus</a:t>
            </a:r>
          </a:p>
          <a:p>
            <a:r>
              <a:rPr lang="fr-BE" sz="3200" dirty="0">
                <a:solidFill>
                  <a:srgbClr val="004E9C"/>
                </a:solidFill>
              </a:rPr>
              <a:t>Si</a:t>
            </a:r>
          </a:p>
          <a:p>
            <a:endParaRPr lang="fr-BE" dirty="0">
              <a:solidFill>
                <a:srgbClr val="004E9C"/>
              </a:solidFill>
            </a:endParaRPr>
          </a:p>
          <a:p>
            <a:endParaRPr lang="fr-BE" dirty="0" smtClean="0"/>
          </a:p>
          <a:p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2047799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fr-BE" dirty="0" smtClean="0"/>
              <a:t>Comment répondre ? (GPF 18)</a:t>
            </a:r>
            <a:endParaRPr lang="fr-BE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926810" y="1771651"/>
            <a:ext cx="2674640" cy="4525963"/>
          </a:xfrm>
        </p:spPr>
        <p:txBody>
          <a:bodyPr>
            <a:normAutofit/>
          </a:bodyPr>
          <a:lstStyle/>
          <a:p>
            <a:endParaRPr lang="fr-BE" dirty="0" smtClean="0">
              <a:solidFill>
                <a:srgbClr val="004E9C"/>
              </a:solidFill>
            </a:endParaRPr>
          </a:p>
          <a:p>
            <a:r>
              <a:rPr lang="fr-BE" sz="3200" dirty="0">
                <a:solidFill>
                  <a:srgbClr val="004E9C"/>
                </a:solidFill>
              </a:rPr>
              <a:t>Oui </a:t>
            </a:r>
          </a:p>
          <a:p>
            <a:r>
              <a:rPr lang="fr-BE" sz="3200" dirty="0">
                <a:solidFill>
                  <a:srgbClr val="004E9C"/>
                </a:solidFill>
              </a:rPr>
              <a:t>Moi aussi</a:t>
            </a:r>
          </a:p>
          <a:p>
            <a:r>
              <a:rPr lang="fr-BE" sz="3200" dirty="0">
                <a:solidFill>
                  <a:srgbClr val="004E9C"/>
                </a:solidFill>
              </a:rPr>
              <a:t>Si</a:t>
            </a:r>
          </a:p>
          <a:p>
            <a:r>
              <a:rPr lang="fr-BE" sz="3200" dirty="0">
                <a:solidFill>
                  <a:srgbClr val="FF0000"/>
                </a:solidFill>
              </a:rPr>
              <a:t>Non  </a:t>
            </a:r>
          </a:p>
          <a:p>
            <a:r>
              <a:rPr lang="fr-BE" sz="3200" dirty="0" smtClean="0">
                <a:solidFill>
                  <a:srgbClr val="FF0000"/>
                </a:solidFill>
              </a:rPr>
              <a:t>Pas … chaque jour !</a:t>
            </a:r>
            <a:endParaRPr lang="fr-BE" sz="3200" dirty="0">
              <a:solidFill>
                <a:srgbClr val="FF0000"/>
              </a:solidFill>
            </a:endParaRPr>
          </a:p>
          <a:p>
            <a:r>
              <a:rPr lang="fr-BE" sz="3200" dirty="0">
                <a:solidFill>
                  <a:srgbClr val="FF0000"/>
                </a:solidFill>
              </a:rPr>
              <a:t>Moi non plus</a:t>
            </a:r>
          </a:p>
          <a:p>
            <a:endParaRPr lang="fr-BE" dirty="0">
              <a:solidFill>
                <a:srgbClr val="004E9C"/>
              </a:solidFill>
            </a:endParaRPr>
          </a:p>
          <a:p>
            <a:endParaRPr lang="fr-BE" dirty="0" smtClean="0"/>
          </a:p>
          <a:p>
            <a:endParaRPr lang="fr-BE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3515866" y="1600201"/>
            <a:ext cx="5410944" cy="4525963"/>
          </a:xfrm>
        </p:spPr>
        <p:txBody>
          <a:bodyPr/>
          <a:lstStyle/>
          <a:p>
            <a:pPr lvl="3"/>
            <a:endParaRPr lang="fr-BE" dirty="0" smtClean="0"/>
          </a:p>
          <a:p>
            <a:r>
              <a:rPr lang="fr-BE" sz="3200" dirty="0">
                <a:solidFill>
                  <a:srgbClr val="004E9C"/>
                </a:solidFill>
              </a:rPr>
              <a:t>Tu aimes le tennis ?</a:t>
            </a:r>
          </a:p>
          <a:p>
            <a:r>
              <a:rPr lang="fr-BE" sz="3200" dirty="0">
                <a:solidFill>
                  <a:srgbClr val="004E9C"/>
                </a:solidFill>
              </a:rPr>
              <a:t>J’aime le tennis.</a:t>
            </a:r>
          </a:p>
          <a:p>
            <a:r>
              <a:rPr lang="fr-BE" sz="3200" dirty="0">
                <a:solidFill>
                  <a:srgbClr val="004E9C"/>
                </a:solidFill>
              </a:rPr>
              <a:t>Tu n’aimes pas le tennis ?</a:t>
            </a:r>
          </a:p>
          <a:p>
            <a:r>
              <a:rPr lang="fr-BE" sz="3200" dirty="0">
                <a:solidFill>
                  <a:srgbClr val="004E9C"/>
                </a:solidFill>
              </a:rPr>
              <a:t>Tu (n’) aimes (pas) le tennis ?</a:t>
            </a:r>
          </a:p>
          <a:p>
            <a:r>
              <a:rPr lang="fr-BE" sz="3200" dirty="0">
                <a:solidFill>
                  <a:srgbClr val="004E9C"/>
                </a:solidFill>
              </a:rPr>
              <a:t>Tu joues chaque semaine ?</a:t>
            </a:r>
          </a:p>
          <a:p>
            <a:endParaRPr lang="fr-BE" sz="3200" dirty="0" smtClean="0">
              <a:solidFill>
                <a:srgbClr val="004E9C"/>
              </a:solidFill>
            </a:endParaRPr>
          </a:p>
          <a:p>
            <a:r>
              <a:rPr lang="fr-BE" sz="3200" dirty="0" smtClean="0">
                <a:solidFill>
                  <a:srgbClr val="004E9C"/>
                </a:solidFill>
              </a:rPr>
              <a:t>Je </a:t>
            </a:r>
            <a:r>
              <a:rPr lang="fr-BE" sz="3200" dirty="0">
                <a:solidFill>
                  <a:srgbClr val="004E9C"/>
                </a:solidFill>
              </a:rPr>
              <a:t>n’aime pas le tennis.</a:t>
            </a:r>
          </a:p>
          <a:p>
            <a:endParaRPr lang="fr-BE" dirty="0" smtClean="0"/>
          </a:p>
          <a:p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33705726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 smtClean="0"/>
              <a:t>Devoir :</a:t>
            </a:r>
            <a:br>
              <a:rPr lang="fr-BE" dirty="0" smtClean="0"/>
            </a:br>
            <a:r>
              <a:rPr lang="fr-BE" sz="2800" i="1" dirty="0" smtClean="0"/>
              <a:t>pour le prochain cours</a:t>
            </a:r>
            <a:endParaRPr lang="fr-BE" dirty="0"/>
          </a:p>
        </p:txBody>
      </p:sp>
      <p:sp>
        <p:nvSpPr>
          <p:cNvPr id="3" name="ZoneTexte 2"/>
          <p:cNvSpPr txBox="1"/>
          <p:nvPr/>
        </p:nvSpPr>
        <p:spPr>
          <a:xfrm>
            <a:off x="3981450" y="838200"/>
            <a:ext cx="7248525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fr-BE" sz="2400" dirty="0"/>
              <a:t>Avoir le syllabus et la grammaire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fr-BE" sz="2400" dirty="0"/>
              <a:t>Étudier le féminin des adjectifs, syllabus </a:t>
            </a:r>
            <a:r>
              <a:rPr lang="fr-BE" sz="2400" dirty="0" smtClean="0"/>
              <a:t>et </a:t>
            </a:r>
            <a:r>
              <a:rPr lang="fr-BE" sz="2400" i="1" dirty="0" smtClean="0"/>
              <a:t>Grammaire </a:t>
            </a:r>
            <a:r>
              <a:rPr lang="fr-BE" sz="2400" i="1" dirty="0"/>
              <a:t>progressive </a:t>
            </a:r>
            <a:r>
              <a:rPr lang="fr-BE" sz="2400" dirty="0"/>
              <a:t>pp. 12-13, exercices sur Moodle.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fr-BE" sz="2400" dirty="0"/>
              <a:t>Etudier : c’est / il est (GPF 32-35) et les prépositions devant les pays et les villes (GPF </a:t>
            </a:r>
            <a:r>
              <a:rPr lang="fr-BE" sz="2400" dirty="0" smtClean="0"/>
              <a:t>44-45</a:t>
            </a:r>
            <a:r>
              <a:rPr lang="fr-BE" sz="2400" dirty="0"/>
              <a:t>)  : test sur </a:t>
            </a:r>
            <a:r>
              <a:rPr lang="fr-BE" sz="2400" dirty="0" smtClean="0"/>
              <a:t>Moodle</a:t>
            </a:r>
            <a:endParaRPr lang="fr-BE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fr-BE" sz="2400" dirty="0"/>
              <a:t>Préparer le dialogue 1 avec son partenaire à présenter </a:t>
            </a:r>
            <a:r>
              <a:rPr lang="fr-BE" sz="2400" dirty="0" smtClean="0"/>
              <a:t>la semaine du 15 octobre.</a:t>
            </a:r>
            <a:endParaRPr lang="fr-BE" sz="2400" dirty="0"/>
          </a:p>
          <a:p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5410176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adre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Cadre</Template>
  <TotalTime>7371</TotalTime>
  <Words>224</Words>
  <Application>Microsoft Office PowerPoint</Application>
  <PresentationFormat>Grand écran</PresentationFormat>
  <Paragraphs>83</Paragraphs>
  <Slides>11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20" baseType="lpstr">
      <vt:lpstr>Arial</vt:lpstr>
      <vt:lpstr>Calibri</vt:lpstr>
      <vt:lpstr>CG Times</vt:lpstr>
      <vt:lpstr>Corbel</vt:lpstr>
      <vt:lpstr>Courier New</vt:lpstr>
      <vt:lpstr>Times New Roman</vt:lpstr>
      <vt:lpstr>Wingdings</vt:lpstr>
      <vt:lpstr>Wingdings 2</vt:lpstr>
      <vt:lpstr>Cadre</vt:lpstr>
      <vt:lpstr>LFRAN 1201  Se distraire : apprécier </vt:lpstr>
      <vt:lpstr>Programme</vt:lpstr>
      <vt:lpstr>Grammaire :  prépositions + pays ou villes</vt:lpstr>
      <vt:lpstr>Exprimer une appréciation</vt:lpstr>
      <vt:lpstr>Classez les appréciations</vt:lpstr>
      <vt:lpstr>Faites la playlist de notre groupe</vt:lpstr>
      <vt:lpstr>Quelles sont vos 3 activités préférées ?</vt:lpstr>
      <vt:lpstr>Quelles sont vos 3 activités préférées ?</vt:lpstr>
      <vt:lpstr>Comment répondre ?</vt:lpstr>
      <vt:lpstr>Comment répondre ? (GPF 18)</vt:lpstr>
      <vt:lpstr>Devoir : pour le prochain cours</vt:lpstr>
    </vt:vector>
  </TitlesOfParts>
  <Company>Université Catholique de Louvain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 parcours d’auto-apprentissage guidé de la prononciation du FLE sur Moodle</dc:title>
  <dc:creator>Emmanuelle Rassart</dc:creator>
  <cp:lastModifiedBy>Geneviève Briet</cp:lastModifiedBy>
  <cp:revision>66</cp:revision>
  <dcterms:created xsi:type="dcterms:W3CDTF">2017-04-11T07:12:59Z</dcterms:created>
  <dcterms:modified xsi:type="dcterms:W3CDTF">2018-10-02T15:46:55Z</dcterms:modified>
</cp:coreProperties>
</file>