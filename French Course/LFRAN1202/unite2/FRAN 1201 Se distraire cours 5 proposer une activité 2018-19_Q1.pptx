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2" r:id="rId2"/>
    <p:sldId id="405" r:id="rId3"/>
    <p:sldId id="428" r:id="rId4"/>
    <p:sldId id="401" r:id="rId5"/>
    <p:sldId id="423" r:id="rId6"/>
    <p:sldId id="432" r:id="rId7"/>
    <p:sldId id="431" r:id="rId8"/>
    <p:sldId id="442" r:id="rId9"/>
    <p:sldId id="443" r:id="rId10"/>
    <p:sldId id="434" r:id="rId11"/>
    <p:sldId id="440" r:id="rId12"/>
    <p:sldId id="436" r:id="rId13"/>
    <p:sldId id="435" r:id="rId14"/>
    <p:sldId id="441" r:id="rId15"/>
    <p:sldId id="446" r:id="rId16"/>
    <p:sldId id="447" r:id="rId17"/>
    <p:sldId id="437" r:id="rId18"/>
    <p:sldId id="448" r:id="rId19"/>
    <p:sldId id="421" r:id="rId2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pos="10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C"/>
    <a:srgbClr val="FF4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41" autoAdjust="0"/>
  </p:normalViewPr>
  <p:slideViewPr>
    <p:cSldViewPr>
      <p:cViewPr varScale="1">
        <p:scale>
          <a:sx n="51" d="100"/>
          <a:sy n="51" d="100"/>
        </p:scale>
        <p:origin x="446" y="38"/>
      </p:cViewPr>
      <p:guideLst>
        <p:guide orient="horz" pos="232"/>
        <p:guide pos="1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24CF7-B24C-43AB-9221-4F9C711EC6C4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409C5-C297-47E6-A3B8-E4B08377745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091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8488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991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2674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6468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287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2312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680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2441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8777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258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0493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4408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enseigner.tv5monde.com/fle/cest-par-ou-la-culture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4"/>
          <p:cNvSpPr txBox="1">
            <a:spLocks/>
          </p:cNvSpPr>
          <p:nvPr/>
        </p:nvSpPr>
        <p:spPr>
          <a:xfrm>
            <a:off x="143508" y="3170932"/>
            <a:ext cx="7200800" cy="546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indent="0" algn="ctr" defTabSz="914400" rtl="0" eaLnBrk="1" latinLnBrk="0" hangingPunct="1">
              <a:buNone/>
              <a:defRPr sz="4000" b="1" kern="1200" baseline="0">
                <a:solidFill>
                  <a:srgbClr val="004E9C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BE" dirty="0" smtClean="0"/>
              <a:t>LFRAN 1201</a:t>
            </a:r>
            <a:endParaRPr lang="fr-BE" dirty="0"/>
          </a:p>
        </p:txBody>
      </p:sp>
      <p:sp>
        <p:nvSpPr>
          <p:cNvPr id="7" name="Espace réservé du texte 14"/>
          <p:cNvSpPr txBox="1">
            <a:spLocks/>
          </p:cNvSpPr>
          <p:nvPr/>
        </p:nvSpPr>
        <p:spPr>
          <a:xfrm>
            <a:off x="2555776" y="3841438"/>
            <a:ext cx="4680520" cy="546100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b="0" kern="1200" baseline="0">
                <a:solidFill>
                  <a:srgbClr val="004E9C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dirty="0" smtClean="0"/>
              <a:t>Se distraire</a:t>
            </a:r>
          </a:p>
          <a:p>
            <a:r>
              <a:rPr lang="fr-BE" dirty="0" smtClean="0"/>
              <a:t>Proposer une activité</a:t>
            </a:r>
            <a:endParaRPr lang="fr-BE" dirty="0"/>
          </a:p>
        </p:txBody>
      </p:sp>
      <p:pic>
        <p:nvPicPr>
          <p:cNvPr id="1026" name="Picture 2" descr="logo IL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68660"/>
            <a:ext cx="756084" cy="67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2132856"/>
            <a:ext cx="3716596" cy="285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3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Rappel de grammaire</a:t>
            </a:r>
            <a:endParaRPr lang="fr-BE" dirty="0">
              <a:solidFill>
                <a:srgbClr val="004E9C"/>
              </a:solidFill>
            </a:endParaRP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1" indent="-514350">
              <a:buFont typeface="+mj-lt"/>
              <a:buAutoNum type="alphaUcPeriod"/>
            </a:pPr>
            <a:r>
              <a:rPr lang="fr-BE" dirty="0" smtClean="0">
                <a:solidFill>
                  <a:srgbClr val="004E9C"/>
                </a:solidFill>
              </a:rPr>
              <a:t>Vous recevez une  carte avec un adjectif au masculin ou au féminin.</a:t>
            </a:r>
          </a:p>
          <a:p>
            <a:pPr marL="514350" lvl="1" indent="-514350">
              <a:buFont typeface="+mj-lt"/>
              <a:buAutoNum type="alphaUcPeriod"/>
            </a:pPr>
            <a:r>
              <a:rPr lang="fr-BE" dirty="0" smtClean="0">
                <a:solidFill>
                  <a:srgbClr val="004E9C"/>
                </a:solidFill>
              </a:rPr>
              <a:t>Trouvez votre partenaire qui a le même adjectif, mais au féminin ou au masculin.</a:t>
            </a:r>
            <a:endParaRPr lang="fr-BE" dirty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753035"/>
            <a:ext cx="3368727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5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Rappel de grammaire</a:t>
            </a:r>
            <a:endParaRPr lang="fr-BE" dirty="0">
              <a:solidFill>
                <a:srgbClr val="004E9C"/>
              </a:solidFill>
            </a:endParaRP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fr-BE" dirty="0" smtClean="0">
                <a:solidFill>
                  <a:srgbClr val="FF0000"/>
                </a:solidFill>
              </a:rPr>
              <a:t>Ne montrez pas votre carte ! Réfléchissez  pour trouver la forme complémentaire.</a:t>
            </a:r>
          </a:p>
          <a:p>
            <a:pPr marL="514350" indent="-514350">
              <a:buAutoNum type="arabicPeriod"/>
            </a:pPr>
            <a:r>
              <a:rPr lang="fr-BE" dirty="0" smtClean="0">
                <a:solidFill>
                  <a:srgbClr val="FF0000"/>
                </a:solidFill>
              </a:rPr>
              <a:t>Demandez : « Est-ce que tu as l’adjectif ‘… ’</a:t>
            </a: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FF0000"/>
              </a:solidFill>
            </a:endParaRPr>
          </a:p>
          <a:p>
            <a:pPr marL="514350" indent="-514350">
              <a:buAutoNum type="arabicPeriod"/>
            </a:pPr>
            <a:endParaRPr lang="fr-BE" dirty="0">
              <a:solidFill>
                <a:srgbClr val="FF0000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FF0000"/>
              </a:solidFill>
            </a:endParaRPr>
          </a:p>
          <a:p>
            <a:pPr marL="514350" indent="-514350">
              <a:buAutoNum type="arabicPeriod"/>
            </a:pPr>
            <a:endParaRPr lang="fr-BE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3853269"/>
            <a:ext cx="2504036" cy="227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0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IL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68660"/>
            <a:ext cx="756084" cy="67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>
                <a:solidFill>
                  <a:schemeClr val="bg1"/>
                </a:solidFill>
              </a:rPr>
              <a:t>Rappel : les activités de loisirs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Tx/>
              <a:buChar char="-"/>
            </a:pPr>
            <a:endParaRPr lang="fr-BE" dirty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0" indent="0">
              <a:buNone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/>
          </a:p>
        </p:txBody>
      </p:sp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159732" y="1736812"/>
            <a:ext cx="4308152" cy="48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0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Comment répondre ?</a:t>
            </a:r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2481754"/>
            <a:ext cx="4038600" cy="2762855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fr-BE" dirty="0" smtClean="0">
              <a:solidFill>
                <a:srgbClr val="004E9C"/>
              </a:solidFill>
            </a:endParaRPr>
          </a:p>
          <a:p>
            <a:r>
              <a:rPr lang="fr-BE" sz="3200" dirty="0" smtClean="0">
                <a:solidFill>
                  <a:srgbClr val="004E9C"/>
                </a:solidFill>
              </a:rPr>
              <a:t>Oui </a:t>
            </a:r>
          </a:p>
          <a:p>
            <a:r>
              <a:rPr lang="fr-BE" sz="3200" dirty="0" smtClean="0">
                <a:solidFill>
                  <a:srgbClr val="FF0000"/>
                </a:solidFill>
              </a:rPr>
              <a:t>Non  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Moi aussi</a:t>
            </a:r>
          </a:p>
          <a:p>
            <a:r>
              <a:rPr lang="fr-BE" sz="3200" dirty="0" smtClean="0">
                <a:solidFill>
                  <a:srgbClr val="FF0000"/>
                </a:solidFill>
              </a:rPr>
              <a:t>Moi non plus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Si</a:t>
            </a:r>
          </a:p>
          <a:p>
            <a:endParaRPr lang="fr-BE" dirty="0">
              <a:solidFill>
                <a:srgbClr val="004E9C"/>
              </a:solidFill>
            </a:endParaRPr>
          </a:p>
          <a:p>
            <a:endParaRPr lang="fr-BE" dirty="0" smtClean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4196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Comment répondre ? (GPF 18)</a:t>
            </a:r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12160" y="1600200"/>
            <a:ext cx="2674640" cy="4525963"/>
          </a:xfrm>
        </p:spPr>
        <p:txBody>
          <a:bodyPr>
            <a:normAutofit/>
          </a:bodyPr>
          <a:lstStyle/>
          <a:p>
            <a:endParaRPr lang="fr-BE" dirty="0" smtClean="0">
              <a:solidFill>
                <a:srgbClr val="004E9C"/>
              </a:solidFill>
            </a:endParaRPr>
          </a:p>
          <a:p>
            <a:r>
              <a:rPr lang="fr-BE" sz="3200" dirty="0" smtClean="0">
                <a:solidFill>
                  <a:srgbClr val="004E9C"/>
                </a:solidFill>
              </a:rPr>
              <a:t>Oui </a:t>
            </a:r>
          </a:p>
          <a:p>
            <a:r>
              <a:rPr lang="fr-BE" sz="3200" dirty="0">
                <a:solidFill>
                  <a:srgbClr val="004E9C"/>
                </a:solidFill>
              </a:rPr>
              <a:t>Moi aussi</a:t>
            </a:r>
          </a:p>
          <a:p>
            <a:r>
              <a:rPr lang="fr-BE" sz="3200" dirty="0">
                <a:solidFill>
                  <a:srgbClr val="004E9C"/>
                </a:solidFill>
              </a:rPr>
              <a:t>Si</a:t>
            </a:r>
          </a:p>
          <a:p>
            <a:r>
              <a:rPr lang="fr-BE" sz="3200" dirty="0" smtClean="0">
                <a:solidFill>
                  <a:srgbClr val="FF0000"/>
                </a:solidFill>
              </a:rPr>
              <a:t>Non  </a:t>
            </a:r>
          </a:p>
          <a:p>
            <a:r>
              <a:rPr lang="fr-BE" sz="3200" dirty="0" smtClean="0">
                <a:solidFill>
                  <a:srgbClr val="FF0000"/>
                </a:solidFill>
              </a:rPr>
              <a:t>Pas</a:t>
            </a:r>
          </a:p>
          <a:p>
            <a:r>
              <a:rPr lang="fr-BE" sz="3200" dirty="0" smtClean="0">
                <a:solidFill>
                  <a:srgbClr val="FF0000"/>
                </a:solidFill>
              </a:rPr>
              <a:t>Moi non plus</a:t>
            </a:r>
          </a:p>
          <a:p>
            <a:endParaRPr lang="fr-BE" dirty="0">
              <a:solidFill>
                <a:srgbClr val="004E9C"/>
              </a:solidFill>
            </a:endParaRPr>
          </a:p>
          <a:p>
            <a:endParaRPr lang="fr-BE" dirty="0" smtClean="0"/>
          </a:p>
          <a:p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410944" cy="4525963"/>
          </a:xfrm>
        </p:spPr>
        <p:txBody>
          <a:bodyPr/>
          <a:lstStyle/>
          <a:p>
            <a:endParaRPr lang="fr-BE" dirty="0" smtClean="0"/>
          </a:p>
          <a:p>
            <a:r>
              <a:rPr lang="fr-BE" sz="3200" dirty="0" smtClean="0">
                <a:solidFill>
                  <a:srgbClr val="004E9C"/>
                </a:solidFill>
              </a:rPr>
              <a:t>Tu aimes le tennis ?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J’aime le tennis.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Tu n’aimes pas le tennis ?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Tu (n’) aimes (pas) le tennis ?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Tu joues chaque semaine ?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Je n’aime pas le tennis.</a:t>
            </a:r>
          </a:p>
          <a:p>
            <a:endParaRPr lang="fr-BE" dirty="0" smtClean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9390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W:\Documents\Cours\1201\grammaire A2\activites1.loisirs marion charreau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21765" y="-886142"/>
            <a:ext cx="6300470" cy="8630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503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BE" dirty="0" smtClean="0"/>
              <a:t>Faire du, jouer à, jouer de, </a:t>
            </a:r>
            <a:br>
              <a:rPr lang="fr-BE" dirty="0" smtClean="0"/>
            </a:br>
            <a:r>
              <a:rPr lang="fr-BE" dirty="0" smtClean="0"/>
              <a:t>aimer /pratiquer</a:t>
            </a:r>
            <a:endParaRPr lang="en-US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108163"/>
              </p:ext>
            </p:extLst>
          </p:nvPr>
        </p:nvGraphicFramePr>
        <p:xfrm>
          <a:off x="367190" y="2965037"/>
          <a:ext cx="8255260" cy="3558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060">
                  <a:extLst>
                    <a:ext uri="{9D8B030D-6E8A-4147-A177-3AD203B41FA5}">
                      <a16:colId xmlns:a16="http://schemas.microsoft.com/office/drawing/2014/main" val="219998057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11701430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60693504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294067298"/>
                    </a:ext>
                  </a:extLst>
                </a:gridCol>
              </a:tblGrid>
              <a:tr h="907365">
                <a:tc>
                  <a:txBody>
                    <a:bodyPr/>
                    <a:lstStyle/>
                    <a:p>
                      <a:r>
                        <a:rPr lang="fr-BE" sz="2800" dirty="0" smtClean="0"/>
                        <a:t>Faire du, de la</a:t>
                      </a:r>
                      <a:r>
                        <a:rPr lang="fr-BE" sz="2800" baseline="0" dirty="0" smtClean="0"/>
                        <a:t>, de l’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smtClean="0"/>
                        <a:t>Jouer à ,</a:t>
                      </a:r>
                      <a:r>
                        <a:rPr lang="fr-BE" sz="2800" baseline="0" dirty="0" smtClean="0"/>
                        <a:t> au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smtClean="0"/>
                        <a:t>Jouer de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smtClean="0"/>
                        <a:t>Aimer/</a:t>
                      </a:r>
                    </a:p>
                    <a:p>
                      <a:r>
                        <a:rPr lang="fr-BE" sz="2800" dirty="0" smtClean="0"/>
                        <a:t>pratiquer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160822"/>
                  </a:ext>
                </a:extLst>
              </a:tr>
              <a:tr h="261362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010762"/>
                  </a:ext>
                </a:extLst>
              </a:tr>
            </a:tbl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457200" y="1772816"/>
            <a:ext cx="8075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 smtClean="0"/>
              <a:t>Par table, trouver une ou deux activités de loisirs pour chaque colonne.</a:t>
            </a:r>
          </a:p>
          <a:p>
            <a:r>
              <a:rPr lang="fr-BE" sz="2400" dirty="0" smtClean="0"/>
              <a:t>Aide : syllabus pp. 46-48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027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Proposer une activité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4037" y="1691481"/>
            <a:ext cx="549592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09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/>
              <a:t>Ça te dirait, ça te plairait, …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35" y="2564904"/>
            <a:ext cx="8597129" cy="228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1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Le temps des diplomates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>
                <a:solidFill>
                  <a:srgbClr val="002060"/>
                </a:solidFill>
              </a:rPr>
              <a:t>Est-ce que tu aime</a:t>
            </a:r>
            <a:r>
              <a:rPr lang="fr-BE" dirty="0" smtClean="0">
                <a:solidFill>
                  <a:srgbClr val="FF0000"/>
                </a:solidFill>
              </a:rPr>
              <a:t>rais</a:t>
            </a:r>
            <a:r>
              <a:rPr lang="fr-BE" dirty="0" smtClean="0">
                <a:solidFill>
                  <a:srgbClr val="002060"/>
                </a:solidFill>
              </a:rPr>
              <a:t> </a:t>
            </a:r>
            <a:r>
              <a:rPr lang="fr-BE" dirty="0">
                <a:solidFill>
                  <a:srgbClr val="002060"/>
                </a:solidFill>
              </a:rPr>
              <a:t>+ infinitif</a:t>
            </a:r>
            <a:r>
              <a:rPr lang="fr-BE" dirty="0" smtClean="0">
                <a:solidFill>
                  <a:srgbClr val="002060"/>
                </a:solidFill>
              </a:rPr>
              <a:t> ?</a:t>
            </a:r>
          </a:p>
          <a:p>
            <a:r>
              <a:rPr lang="fr-BE" dirty="0" smtClean="0">
                <a:solidFill>
                  <a:srgbClr val="002060"/>
                </a:solidFill>
              </a:rPr>
              <a:t>Est-ce que tu voud</a:t>
            </a:r>
            <a:r>
              <a:rPr lang="fr-BE" dirty="0" smtClean="0">
                <a:solidFill>
                  <a:srgbClr val="FF0000"/>
                </a:solidFill>
              </a:rPr>
              <a:t>rais</a:t>
            </a:r>
            <a:r>
              <a:rPr lang="fr-BE" dirty="0" smtClean="0">
                <a:solidFill>
                  <a:srgbClr val="002060"/>
                </a:solidFill>
              </a:rPr>
              <a:t> + infinitif</a:t>
            </a:r>
          </a:p>
          <a:p>
            <a:r>
              <a:rPr lang="fr-BE" dirty="0" smtClean="0">
                <a:solidFill>
                  <a:srgbClr val="002060"/>
                </a:solidFill>
              </a:rPr>
              <a:t>Ça te di</a:t>
            </a:r>
            <a:r>
              <a:rPr lang="fr-BE" dirty="0" smtClean="0">
                <a:solidFill>
                  <a:srgbClr val="FF0000"/>
                </a:solidFill>
              </a:rPr>
              <a:t>rait</a:t>
            </a:r>
            <a:r>
              <a:rPr lang="fr-BE" dirty="0" smtClean="0">
                <a:solidFill>
                  <a:srgbClr val="002060"/>
                </a:solidFill>
              </a:rPr>
              <a:t> de </a:t>
            </a:r>
            <a:r>
              <a:rPr lang="fr-BE" dirty="0">
                <a:solidFill>
                  <a:srgbClr val="002060"/>
                </a:solidFill>
              </a:rPr>
              <a:t>+ infinitif …</a:t>
            </a:r>
            <a:endParaRPr lang="fr-BE" dirty="0" smtClean="0">
              <a:solidFill>
                <a:srgbClr val="002060"/>
              </a:solidFill>
            </a:endParaRPr>
          </a:p>
          <a:p>
            <a:r>
              <a:rPr lang="fr-BE" dirty="0" smtClean="0">
                <a:solidFill>
                  <a:srgbClr val="002060"/>
                </a:solidFill>
              </a:rPr>
              <a:t>Ça te plai</a:t>
            </a:r>
            <a:r>
              <a:rPr lang="fr-BE" dirty="0" smtClean="0">
                <a:solidFill>
                  <a:srgbClr val="FF0000"/>
                </a:solidFill>
              </a:rPr>
              <a:t>rait</a:t>
            </a:r>
            <a:r>
              <a:rPr lang="fr-BE" dirty="0" smtClean="0">
                <a:solidFill>
                  <a:srgbClr val="002060"/>
                </a:solidFill>
              </a:rPr>
              <a:t> </a:t>
            </a:r>
            <a:r>
              <a:rPr lang="fr-BE" dirty="0">
                <a:solidFill>
                  <a:srgbClr val="002060"/>
                </a:solidFill>
              </a:rPr>
              <a:t>+ infinitif …</a:t>
            </a:r>
            <a:endParaRPr lang="fr-BE" dirty="0" smtClean="0">
              <a:solidFill>
                <a:srgbClr val="002060"/>
              </a:solidFill>
            </a:endParaRPr>
          </a:p>
          <a:p>
            <a:r>
              <a:rPr lang="fr-BE" dirty="0" smtClean="0">
                <a:solidFill>
                  <a:srgbClr val="002060"/>
                </a:solidFill>
              </a:rPr>
              <a:t>Tu au</a:t>
            </a:r>
            <a:r>
              <a:rPr lang="fr-BE" dirty="0" smtClean="0">
                <a:solidFill>
                  <a:srgbClr val="FF0000"/>
                </a:solidFill>
              </a:rPr>
              <a:t>rais</a:t>
            </a:r>
            <a:r>
              <a:rPr lang="fr-BE" dirty="0" smtClean="0">
                <a:solidFill>
                  <a:srgbClr val="002060"/>
                </a:solidFill>
              </a:rPr>
              <a:t> envie de </a:t>
            </a:r>
            <a:r>
              <a:rPr lang="fr-BE" dirty="0">
                <a:solidFill>
                  <a:srgbClr val="002060"/>
                </a:solidFill>
              </a:rPr>
              <a:t>+ infinitif …</a:t>
            </a:r>
            <a:endParaRPr lang="fr-BE" dirty="0" smtClean="0">
              <a:solidFill>
                <a:srgbClr val="002060"/>
              </a:solidFill>
            </a:endParaRPr>
          </a:p>
          <a:p>
            <a:endParaRPr lang="fr-BE" dirty="0">
              <a:solidFill>
                <a:srgbClr val="002060"/>
              </a:solidFill>
            </a:endParaRPr>
          </a:p>
          <a:p>
            <a:r>
              <a:rPr lang="fr-BE" dirty="0" smtClean="0">
                <a:solidFill>
                  <a:srgbClr val="002060"/>
                </a:solidFill>
              </a:rPr>
              <a:t>INFINITIF + </a:t>
            </a:r>
            <a:r>
              <a:rPr lang="fr-BE" dirty="0" smtClean="0">
                <a:solidFill>
                  <a:srgbClr val="FF0000"/>
                </a:solidFill>
              </a:rPr>
              <a:t>ais, ais, ait </a:t>
            </a:r>
            <a:r>
              <a:rPr lang="fr-BE" dirty="0" smtClean="0">
                <a:solidFill>
                  <a:srgbClr val="002060"/>
                </a:solidFill>
              </a:rPr>
              <a:t>/ </a:t>
            </a:r>
            <a:r>
              <a:rPr lang="fr-BE" dirty="0" smtClean="0">
                <a:solidFill>
                  <a:srgbClr val="FF0000"/>
                </a:solidFill>
              </a:rPr>
              <a:t>ions, </a:t>
            </a:r>
            <a:r>
              <a:rPr lang="fr-BE" dirty="0" err="1" smtClean="0">
                <a:solidFill>
                  <a:srgbClr val="FF0000"/>
                </a:solidFill>
              </a:rPr>
              <a:t>iez</a:t>
            </a:r>
            <a:r>
              <a:rPr lang="fr-BE" dirty="0" smtClean="0">
                <a:solidFill>
                  <a:srgbClr val="FF0000"/>
                </a:solidFill>
              </a:rPr>
              <a:t>, aient</a:t>
            </a:r>
            <a:endParaRPr lang="fr-B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475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1242" y="1600200"/>
            <a:ext cx="4863046" cy="4846392"/>
          </a:xfrm>
          <a:prstGeom prst="rect">
            <a:avLst/>
          </a:prstGeom>
        </p:spPr>
      </p:pic>
      <p:sp>
        <p:nvSpPr>
          <p:cNvPr id="5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Le temps des diplomates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0805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 smtClean="0">
                <a:solidFill>
                  <a:srgbClr val="004E9C"/>
                </a:solidFill>
              </a:rPr>
              <a:t>Mémoriser  :  avoir, venir, pouvoir, vouloir</a:t>
            </a:r>
          </a:p>
          <a:p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91" y="2642102"/>
            <a:ext cx="8535410" cy="3479403"/>
          </a:xfrm>
          <a:prstGeom prst="rect">
            <a:avLst/>
          </a:prstGeom>
        </p:spPr>
      </p:pic>
      <p:sp>
        <p:nvSpPr>
          <p:cNvPr id="5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Le conditionnel (GPF p.  136)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6070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 smtClean="0">
                <a:solidFill>
                  <a:srgbClr val="004E9C"/>
                </a:solidFill>
              </a:rPr>
              <a:t>Conjuguez au conditionnel :</a:t>
            </a:r>
          </a:p>
          <a:p>
            <a:r>
              <a:rPr lang="fr-BE" dirty="0" smtClean="0"/>
              <a:t>Cela te (dire) …. de ...</a:t>
            </a:r>
          </a:p>
          <a:p>
            <a:r>
              <a:rPr lang="fr-BE" dirty="0" smtClean="0"/>
              <a:t>Est-ce que tu (aimer) ….</a:t>
            </a:r>
          </a:p>
          <a:p>
            <a:r>
              <a:rPr lang="fr-BE" dirty="0"/>
              <a:t>Est-ce que tu </a:t>
            </a:r>
            <a:r>
              <a:rPr lang="fr-BE" dirty="0" smtClean="0"/>
              <a:t>(avoir envie) </a:t>
            </a:r>
            <a:r>
              <a:rPr lang="fr-BE" dirty="0"/>
              <a:t>….. de </a:t>
            </a:r>
            <a:r>
              <a:rPr lang="fr-BE" dirty="0" smtClean="0"/>
              <a:t>….</a:t>
            </a:r>
          </a:p>
          <a:p>
            <a:r>
              <a:rPr lang="fr-BE" dirty="0"/>
              <a:t>Est-ce que tu </a:t>
            </a:r>
            <a:r>
              <a:rPr lang="fr-BE" dirty="0" smtClean="0"/>
              <a:t>(vouloir) </a:t>
            </a:r>
            <a:r>
              <a:rPr lang="fr-BE" dirty="0"/>
              <a:t>….. </a:t>
            </a:r>
            <a:endParaRPr lang="fr-BE" dirty="0" smtClean="0"/>
          </a:p>
          <a:p>
            <a:r>
              <a:rPr lang="fr-BE" dirty="0"/>
              <a:t>Est-ce que tu </a:t>
            </a:r>
            <a:r>
              <a:rPr lang="fr-BE" dirty="0" smtClean="0"/>
              <a:t>(pouvoir</a:t>
            </a:r>
            <a:r>
              <a:rPr lang="fr-BE" dirty="0"/>
              <a:t>) ….. </a:t>
            </a:r>
          </a:p>
          <a:p>
            <a:endParaRPr lang="fr-BE" dirty="0" smtClean="0"/>
          </a:p>
          <a:p>
            <a:r>
              <a:rPr lang="fr-BE" dirty="0" smtClean="0"/>
              <a:t>Oui, je (aimer bien) ……</a:t>
            </a:r>
            <a:endParaRPr lang="fr-BE" dirty="0"/>
          </a:p>
          <a:p>
            <a:endParaRPr lang="fr-BE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Le temps des diplomates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2533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Accepter, refuser une proposition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89" y="1988840"/>
            <a:ext cx="8910622" cy="373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1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Manquer d’enthousiasme, reporter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68860"/>
            <a:ext cx="81724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41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On parle ! 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>
                <a:solidFill>
                  <a:srgbClr val="004E9C"/>
                </a:solidFill>
              </a:rPr>
              <a:t>A propose une invitation avec le conditionnel</a:t>
            </a:r>
          </a:p>
          <a:p>
            <a:r>
              <a:rPr lang="fr-BE" dirty="0" smtClean="0">
                <a:solidFill>
                  <a:srgbClr val="004E9C"/>
                </a:solidFill>
              </a:rPr>
              <a:t>B  peut …</a:t>
            </a:r>
          </a:p>
          <a:p>
            <a:pPr lvl="1"/>
            <a:r>
              <a:rPr lang="fr-BE" dirty="0" smtClean="0">
                <a:solidFill>
                  <a:srgbClr val="004E9C"/>
                </a:solidFill>
              </a:rPr>
              <a:t>accepter</a:t>
            </a:r>
          </a:p>
          <a:p>
            <a:pPr lvl="1"/>
            <a:r>
              <a:rPr lang="fr-BE" dirty="0" smtClean="0">
                <a:solidFill>
                  <a:srgbClr val="004E9C"/>
                </a:solidFill>
              </a:rPr>
              <a:t>refuser</a:t>
            </a:r>
          </a:p>
          <a:p>
            <a:pPr lvl="1"/>
            <a:r>
              <a:rPr lang="fr-BE" dirty="0" smtClean="0">
                <a:solidFill>
                  <a:srgbClr val="004E9C"/>
                </a:solidFill>
              </a:rPr>
              <a:t>exprimer son manque d’enthousiasme</a:t>
            </a:r>
          </a:p>
          <a:p>
            <a:pPr lvl="1"/>
            <a:r>
              <a:rPr lang="fr-BE" dirty="0" smtClean="0">
                <a:solidFill>
                  <a:srgbClr val="004E9C"/>
                </a:solidFill>
              </a:rPr>
              <a:t>reporter l’invitation</a:t>
            </a:r>
            <a:endParaRPr lang="fr-BE" dirty="0">
              <a:solidFill>
                <a:srgbClr val="004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15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Dialoguez !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/>
              <a:t>Sélectionnez et combinez les phrases pour faire votre propre dialogue.</a:t>
            </a:r>
          </a:p>
          <a:p>
            <a:endParaRPr lang="en-US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069535"/>
              </p:ext>
            </p:extLst>
          </p:nvPr>
        </p:nvGraphicFramePr>
        <p:xfrm>
          <a:off x="1115616" y="2636912"/>
          <a:ext cx="6294120" cy="4053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3530">
                  <a:extLst>
                    <a:ext uri="{9D8B030D-6E8A-4147-A177-3AD203B41FA5}">
                      <a16:colId xmlns:a16="http://schemas.microsoft.com/office/drawing/2014/main" val="3719155793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3425605751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1264789310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2936202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200">
                          <a:effectLst/>
                        </a:rPr>
                        <a:t>Proposition</a:t>
                      </a:r>
                      <a:endParaRPr lang="en-US" sz="120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200">
                          <a:effectLst/>
                        </a:rPr>
                        <a:t>Acceptation / Refus</a:t>
                      </a:r>
                      <a:endParaRPr lang="en-US" sz="120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200">
                          <a:effectLst/>
                        </a:rPr>
                        <a:t>Information</a:t>
                      </a:r>
                      <a:endParaRPr lang="en-US" sz="120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200">
                          <a:effectLst/>
                        </a:rPr>
                        <a:t>Question</a:t>
                      </a:r>
                      <a:endParaRPr lang="en-US" sz="120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4968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Qu’est-ce que tu fais lundi à 20 heures ?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On pourrait aller au lundi de la guitare. Ça te dit ?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Ça te plairait de boire un verre ?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Et qu’est-ce que tu fais mardi soir ?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Ça te dit d’aller au bois de Lauzelle ?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Je te propose d’aller au resto, puis au ciné(ma).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Tu veux faire le tour du lac ?</a:t>
                      </a:r>
                      <a:endParaRPr lang="en-US" sz="120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Oui, c’est parfait. 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D’accord. A 21 h ? 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Oui, c’est super.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Je préfère aller faire du sport.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Malheureusement, je ne suis pas libre, je vais au ciné-forum avec Daniel.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C’est dommage, j’ai justement accepté d’accompagner le </a:t>
                      </a:r>
                      <a:r>
                        <a:rPr lang="fr-BE" sz="1100" dirty="0" err="1">
                          <a:effectLst/>
                        </a:rPr>
                        <a:t>Kap</a:t>
                      </a:r>
                      <a:r>
                        <a:rPr lang="fr-BE" sz="1100" dirty="0">
                          <a:effectLst/>
                        </a:rPr>
                        <a:t> quart à la soupe populaire.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Je suis désolé, mais c’est le seul moment  où je peux faire du yoga.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J’ai rendez-vous chez le dentiste. 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Non, ça commence à 22  h.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A 20 heures 30. 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Lundi.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À lundi.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>
                          <a:effectLst/>
                        </a:rPr>
                        <a:t>…</a:t>
                      </a:r>
                      <a:endParaRPr lang="en-US" sz="120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Rien, et toi ? 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Pourquoi pas samedi soir ?</a:t>
                      </a:r>
                      <a:endParaRPr lang="en-US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BE" sz="1100" dirty="0">
                          <a:effectLst/>
                        </a:rPr>
                        <a:t>À quelle heure ?</a:t>
                      </a:r>
                      <a:endParaRPr lang="en-US" sz="1200" dirty="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434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559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 smtClean="0">
                <a:solidFill>
                  <a:srgbClr val="004E9C"/>
                </a:solidFill>
              </a:rPr>
              <a:t>Apporter le syllabus et la grammaire</a:t>
            </a:r>
            <a:endParaRPr lang="fr-BE" dirty="0" smtClean="0">
              <a:solidFill>
                <a:srgbClr val="004E9C"/>
              </a:solidFill>
            </a:endParaRPr>
          </a:p>
          <a:p>
            <a:r>
              <a:rPr lang="fr-BE" dirty="0" smtClean="0">
                <a:solidFill>
                  <a:srgbClr val="004E9C"/>
                </a:solidFill>
              </a:rPr>
              <a:t>Étudier </a:t>
            </a:r>
            <a:r>
              <a:rPr lang="fr-BE" dirty="0" smtClean="0">
                <a:solidFill>
                  <a:srgbClr val="004E9C"/>
                </a:solidFill>
              </a:rPr>
              <a:t>le conditionnel, compléter la p. 159 du syllabus.</a:t>
            </a:r>
            <a:endParaRPr lang="fr-BE" dirty="0" smtClean="0">
              <a:solidFill>
                <a:srgbClr val="004E9C"/>
              </a:solidFill>
            </a:endParaRPr>
          </a:p>
          <a:p>
            <a:r>
              <a:rPr lang="fr-BE" dirty="0" smtClean="0">
                <a:solidFill>
                  <a:srgbClr val="004E9C"/>
                </a:solidFill>
              </a:rPr>
              <a:t>Écouter la </a:t>
            </a:r>
            <a:r>
              <a:rPr lang="fr-BE" dirty="0" smtClean="0">
                <a:solidFill>
                  <a:srgbClr val="004E9C"/>
                </a:solidFill>
                <a:hlinkClick r:id="rId2"/>
              </a:rPr>
              <a:t>vidéo</a:t>
            </a:r>
            <a:r>
              <a:rPr lang="fr-BE" dirty="0" smtClean="0">
                <a:solidFill>
                  <a:srgbClr val="004E9C"/>
                </a:solidFill>
              </a:rPr>
              <a:t> et compléter la p. 52 du syllabus.</a:t>
            </a:r>
          </a:p>
          <a:p>
            <a:r>
              <a:rPr lang="fr-BE" dirty="0" smtClean="0">
                <a:solidFill>
                  <a:srgbClr val="004E9C"/>
                </a:solidFill>
              </a:rPr>
              <a:t>Ecouter et mémoriser le dialogue 1 pour la semaine prochaine</a:t>
            </a:r>
          </a:p>
          <a:p>
            <a:endParaRPr lang="fr-BE" dirty="0" smtClean="0">
              <a:solidFill>
                <a:srgbClr val="004E9C"/>
              </a:solidFill>
            </a:endParaRPr>
          </a:p>
        </p:txBody>
      </p:sp>
      <p:sp>
        <p:nvSpPr>
          <p:cNvPr id="5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Devoirs </a:t>
            </a:r>
            <a:r>
              <a:rPr lang="fr-BE" dirty="0" smtClean="0">
                <a:solidFill>
                  <a:schemeClr val="bg1"/>
                </a:solidFill>
              </a:rPr>
              <a:t>pour le prochain cours</a:t>
            </a:r>
            <a:endParaRPr lang="fr-BE" dirty="0">
              <a:solidFill>
                <a:srgbClr val="004E9C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26" y="2569684"/>
            <a:ext cx="4136517" cy="258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8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3681</TotalTime>
  <Words>430</Words>
  <Application>Microsoft Office PowerPoint</Application>
  <PresentationFormat>Affichage à l'écran (4:3)</PresentationFormat>
  <Paragraphs>143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Arial</vt:lpstr>
      <vt:lpstr>Arial Unicode MS</vt:lpstr>
      <vt:lpstr>Calibri</vt:lpstr>
      <vt:lpstr>CG Times</vt:lpstr>
      <vt:lpstr>Times New Roman</vt:lpstr>
      <vt:lpstr>Thème Office</vt:lpstr>
      <vt:lpstr>Présentation PowerPoint</vt:lpstr>
      <vt:lpstr>Rappel de grammaire</vt:lpstr>
      <vt:lpstr>Rappel de grammaire</vt:lpstr>
      <vt:lpstr>Rappel : les activités de loisirs</vt:lpstr>
      <vt:lpstr>Comment répondre ?</vt:lpstr>
      <vt:lpstr>Comment répondre ? (GPF 18)</vt:lpstr>
      <vt:lpstr>Présentation PowerPoint</vt:lpstr>
      <vt:lpstr>Faire du, jouer à, jouer de,  aimer /pratiquer</vt:lpstr>
      <vt:lpstr>Proposer une activité</vt:lpstr>
      <vt:lpstr>Ça te dirait, ça te plairait, …</vt:lpstr>
      <vt:lpstr>Le temps des diplomates</vt:lpstr>
      <vt:lpstr>Le temps des diplomates</vt:lpstr>
      <vt:lpstr>Le conditionnel (GPF p.  136)</vt:lpstr>
      <vt:lpstr>Le temps des diplomates</vt:lpstr>
      <vt:lpstr>Accepter, refuser une proposition</vt:lpstr>
      <vt:lpstr>Manquer d’enthousiasme, reporter</vt:lpstr>
      <vt:lpstr>On parle ! </vt:lpstr>
      <vt:lpstr>Dialoguez !</vt:lpstr>
      <vt:lpstr>Devoirs pour le prochain cours</vt:lpstr>
    </vt:vector>
  </TitlesOfParts>
  <Company>Université catholique de Louvain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SIWS</dc:creator>
  <cp:lastModifiedBy>Geneviève Briet</cp:lastModifiedBy>
  <cp:revision>541</cp:revision>
  <dcterms:created xsi:type="dcterms:W3CDTF">2014-01-20T08:37:34Z</dcterms:created>
  <dcterms:modified xsi:type="dcterms:W3CDTF">2018-10-08T07:17:17Z</dcterms:modified>
</cp:coreProperties>
</file>