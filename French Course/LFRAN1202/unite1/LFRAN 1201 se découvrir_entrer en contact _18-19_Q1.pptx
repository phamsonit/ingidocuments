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7"/>
  </p:notesMasterIdLst>
  <p:sldIdLst>
    <p:sldId id="256" r:id="rId2"/>
    <p:sldId id="258" r:id="rId3"/>
    <p:sldId id="259" r:id="rId4"/>
    <p:sldId id="272" r:id="rId5"/>
    <p:sldId id="280" r:id="rId6"/>
    <p:sldId id="283" r:id="rId7"/>
    <p:sldId id="282" r:id="rId8"/>
    <p:sldId id="273" r:id="rId9"/>
    <p:sldId id="281" r:id="rId10"/>
    <p:sldId id="284" r:id="rId11"/>
    <p:sldId id="285" r:id="rId12"/>
    <p:sldId id="275" r:id="rId13"/>
    <p:sldId id="276" r:id="rId14"/>
    <p:sldId id="277" r:id="rId15"/>
    <p:sldId id="260" r:id="rId16"/>
    <p:sldId id="261" r:id="rId17"/>
    <p:sldId id="262" r:id="rId18"/>
    <p:sldId id="263" r:id="rId19"/>
    <p:sldId id="264" r:id="rId20"/>
    <p:sldId id="266" r:id="rId21"/>
    <p:sldId id="267" r:id="rId22"/>
    <p:sldId id="268" r:id="rId23"/>
    <p:sldId id="269" r:id="rId24"/>
    <p:sldId id="271" r:id="rId25"/>
    <p:sldId id="279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73" autoAdjust="0"/>
    <p:restoredTop sz="94660"/>
  </p:normalViewPr>
  <p:slideViewPr>
    <p:cSldViewPr snapToGrid="0">
      <p:cViewPr varScale="1">
        <p:scale>
          <a:sx n="67" d="100"/>
          <a:sy n="67" d="100"/>
        </p:scale>
        <p:origin x="5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A6DB67-6432-4556-B789-3E101AC8D770}" type="datetimeFigureOut">
              <a:rPr lang="fr-BE" smtClean="0"/>
              <a:t>23/09/2018</a:t>
            </a:fld>
            <a:endParaRPr lang="fr-BE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BE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2484B4B-AA1E-4F39-B0CF-FA9D3648E783}" type="slidenum">
              <a:rPr lang="fr-BE" smtClean="0"/>
              <a:t>‹N°›</a:t>
            </a:fld>
            <a:endParaRPr lang="fr-BE"/>
          </a:p>
        </p:txBody>
      </p:sp>
    </p:spTree>
    <p:extLst>
      <p:ext uri="{BB962C8B-B14F-4D97-AF65-F5344CB8AC3E}">
        <p14:creationId xmlns:p14="http://schemas.microsoft.com/office/powerpoint/2010/main" val="41192887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GB" altLang="fr-FR" smtClean="0">
              <a:ea typeface="ＭＳ Ｐゴシック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25967176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9/23/2018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9/23/2018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francoise.masuy@uclouvain.be" TargetMode="External"/><Relationship Id="rId2" Type="http://schemas.openxmlformats.org/officeDocument/2006/relationships/hyperlink" Target="mailto:genevieve.briet@uclouvain.b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://tandem.uclouvain.be/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l"/>
            <a:r>
              <a:rPr lang="fr-BE" dirty="0"/>
              <a:t>LFRAN </a:t>
            </a:r>
            <a:r>
              <a:rPr lang="fr-BE" dirty="0" smtClean="0"/>
              <a:t>1201«</a:t>
            </a:r>
            <a:r>
              <a:rPr lang="fr-BE" dirty="0"/>
              <a:t> Scénarios louvanistes »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r>
              <a:rPr lang="fr-BE" dirty="0"/>
              <a:t>BIENVENUE !</a:t>
            </a:r>
          </a:p>
          <a:p>
            <a:pPr algn="l"/>
            <a:r>
              <a:rPr lang="fr-BE" dirty="0"/>
              <a:t>Cours 1</a:t>
            </a:r>
          </a:p>
          <a:p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9223" y="3351510"/>
            <a:ext cx="3756587" cy="281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7520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fr-FR" altLang="fr-FR" smtClean="0">
                <a:ea typeface="ＭＳ Ｐゴシック" panose="020B0600070205080204" pitchFamily="34" charset="-128"/>
              </a:rPr>
              <a:t>Agenda</a:t>
            </a:r>
          </a:p>
        </p:txBody>
      </p:sp>
      <p:sp>
        <p:nvSpPr>
          <p:cNvPr id="9219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fr-FR" dirty="0">
                <a:ea typeface="ＭＳ Ｐゴシック" panose="020B0600070205080204" pitchFamily="34" charset="-128"/>
              </a:rPr>
              <a:t>Prendre contact, saluer</a:t>
            </a:r>
          </a:p>
          <a:p>
            <a:r>
              <a:rPr lang="fr-FR" altLang="fr-FR" dirty="0">
                <a:ea typeface="ＭＳ Ｐゴシック" panose="020B0600070205080204" pitchFamily="34" charset="-128"/>
              </a:rPr>
              <a:t>Se présenter</a:t>
            </a:r>
          </a:p>
          <a:p>
            <a:pPr eaLnBrk="1" hangingPunct="1"/>
            <a:r>
              <a:rPr lang="fr-FR" altLang="fr-FR" dirty="0" smtClean="0">
                <a:ea typeface="ＭＳ Ｐゴシック" panose="020B0600070205080204" pitchFamily="34" charset="-128"/>
              </a:rPr>
              <a:t>Présentation </a:t>
            </a:r>
            <a:r>
              <a:rPr lang="fr-FR" altLang="fr-FR" dirty="0" smtClean="0">
                <a:ea typeface="ＭＳ Ｐゴシック" panose="020B0600070205080204" pitchFamily="34" charset="-128"/>
              </a:rPr>
              <a:t>du cours LFRAN 1201</a:t>
            </a:r>
          </a:p>
          <a:p>
            <a:pPr marL="1341438" indent="-273050"/>
            <a:r>
              <a:rPr lang="fr-FR" altLang="fr-FR" dirty="0" smtClean="0">
                <a:ea typeface="ＭＳ Ｐゴシック" panose="020B0600070205080204" pitchFamily="34" charset="-128"/>
              </a:rPr>
              <a:t>objectifs, </a:t>
            </a:r>
          </a:p>
          <a:p>
            <a:pPr marL="1341438" indent="-273050"/>
            <a:r>
              <a:rPr lang="fr-FR" altLang="fr-FR" dirty="0" smtClean="0">
                <a:ea typeface="ＭＳ Ｐゴシック" panose="020B0600070205080204" pitchFamily="34" charset="-128"/>
              </a:rPr>
              <a:t>contenu, </a:t>
            </a:r>
          </a:p>
          <a:p>
            <a:pPr marL="1341438" indent="-273050"/>
            <a:r>
              <a:rPr lang="fr-FR" altLang="fr-FR" dirty="0" smtClean="0">
                <a:ea typeface="ＭＳ Ｐゴシック" panose="020B0600070205080204" pitchFamily="34" charset="-128"/>
              </a:rPr>
              <a:t>support, </a:t>
            </a:r>
          </a:p>
          <a:p>
            <a:pPr marL="1341438" indent="-273050"/>
            <a:r>
              <a:rPr lang="fr-FR" altLang="fr-FR" dirty="0" smtClean="0">
                <a:ea typeface="ＭＳ Ｐゴシック" panose="020B0600070205080204" pitchFamily="34" charset="-128"/>
              </a:rPr>
              <a:t>évaluation</a:t>
            </a:r>
          </a:p>
          <a:p>
            <a:pPr eaLnBrk="1" hangingPunct="1"/>
            <a:endParaRPr lang="fr-FR" altLang="fr-FR" dirty="0" smtClean="0">
              <a:ea typeface="ＭＳ Ｐゴシック" panose="020B0600070205080204" pitchFamily="34" charset="-128"/>
            </a:endParaRPr>
          </a:p>
          <a:p>
            <a:pPr eaLnBrk="1" hangingPunct="1">
              <a:buFont typeface="Georgia" panose="02040502050405020303" pitchFamily="18" charset="0"/>
              <a:buNone/>
            </a:pPr>
            <a:endParaRPr lang="fr-FR" altLang="fr-FR" dirty="0" smtClean="0">
              <a:ea typeface="ＭＳ Ｐゴシック" panose="020B0600070205080204" pitchFamily="34" charset="-128"/>
            </a:endParaRPr>
          </a:p>
        </p:txBody>
      </p:sp>
      <p:sp>
        <p:nvSpPr>
          <p:cNvPr id="9220" name="Footer Placeholder 7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fr-FR" dirty="0" smtClean="0">
                <a:solidFill>
                  <a:schemeClr val="accent2"/>
                </a:solidFill>
                <a:latin typeface="Georgia" panose="02040502050405020303" pitchFamily="18" charset="0"/>
              </a:rPr>
              <a:t>ILV - LFRAN </a:t>
            </a:r>
            <a:r>
              <a:rPr lang="en-US" altLang="fr-FR" dirty="0" smtClean="0">
                <a:solidFill>
                  <a:schemeClr val="accent2"/>
                </a:solidFill>
                <a:latin typeface="Georgia" panose="02040502050405020303" pitchFamily="18" charset="0"/>
              </a:rPr>
              <a:t>1201 </a:t>
            </a:r>
          </a:p>
        </p:txBody>
      </p:sp>
    </p:spTree>
    <p:extLst>
      <p:ext uri="{BB962C8B-B14F-4D97-AF65-F5344CB8AC3E}">
        <p14:creationId xmlns:p14="http://schemas.microsoft.com/office/powerpoint/2010/main" val="1661718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47775" y="619125"/>
            <a:ext cx="8596668" cy="1320800"/>
          </a:xfrm>
        </p:spPr>
        <p:txBody>
          <a:bodyPr/>
          <a:lstStyle/>
          <a:p>
            <a:r>
              <a:rPr lang="fr-BE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Infos pratiques</a:t>
            </a:r>
            <a:endParaRPr lang="fr-BE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247775" y="1556792"/>
            <a:ext cx="4467225" cy="457200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Geneviève </a:t>
            </a:r>
            <a:r>
              <a:rPr lang="fr-FR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Briet</a:t>
            </a:r>
            <a:endParaRPr lang="fr-F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None/>
            </a:pPr>
            <a:r>
              <a:rPr lang="fr-FR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2"/>
              </a:rPr>
              <a:t>(groupe mardi-vendredi)</a:t>
            </a:r>
          </a:p>
          <a:p>
            <a:pPr>
              <a:buNone/>
            </a:pPr>
            <a:r>
              <a:rPr lang="fr-FR" dirty="0" smtClean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2"/>
              </a:rPr>
              <a:t>(groupe mardi-mercredi)</a:t>
            </a:r>
            <a:endParaRPr lang="fr-FR" dirty="0" smtClean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hlinkClick r:id="rId2"/>
            </a:endParaRPr>
          </a:p>
          <a:p>
            <a:pPr>
              <a:buNone/>
            </a:pPr>
            <a:endParaRPr lang="fr-F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hlinkClick r:id="rId2"/>
            </a:endParaRPr>
          </a:p>
          <a:p>
            <a:pPr>
              <a:buNone/>
            </a:pPr>
            <a:r>
              <a:rPr lang="fr-F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2"/>
              </a:rPr>
              <a:t>genevieve.briet@uclouvain.be</a:t>
            </a:r>
            <a:endParaRPr lang="fr-F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None/>
            </a:pPr>
            <a:endParaRPr lang="fr-BE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None/>
            </a:pPr>
            <a:r>
              <a:rPr lang="fr-BE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Bureau : 1</a:t>
            </a:r>
            <a:r>
              <a:rPr lang="fr-BE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er</a:t>
            </a:r>
            <a:r>
              <a:rPr lang="fr-BE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fr-B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étage ILV  A 142</a:t>
            </a:r>
          </a:p>
          <a:p>
            <a:pPr>
              <a:buNone/>
            </a:pPr>
            <a:r>
              <a:rPr lang="fr-B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 fond du couloir </a:t>
            </a:r>
            <a:r>
              <a:rPr lang="fr-BE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après le </a:t>
            </a:r>
            <a:r>
              <a:rPr lang="fr-B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secrétariat</a:t>
            </a:r>
          </a:p>
          <a:p>
            <a:pPr>
              <a:buNone/>
            </a:pPr>
            <a:endParaRPr lang="fr-F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None/>
            </a:pPr>
            <a:r>
              <a:rPr lang="fr-F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Heure </a:t>
            </a:r>
            <a:r>
              <a:rPr lang="fr-F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 </a:t>
            </a:r>
            <a:r>
              <a:rPr lang="fr-F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réception : </a:t>
            </a:r>
          </a:p>
          <a:p>
            <a:pPr>
              <a:buNone/>
            </a:pPr>
            <a:r>
              <a:rPr lang="fr-F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jeudi </a:t>
            </a:r>
            <a:r>
              <a:rPr lang="fr-F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 10h45 à 11h45</a:t>
            </a:r>
            <a:endParaRPr lang="fr-BE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endParaRPr lang="fr-BE" dirty="0"/>
          </a:p>
        </p:txBody>
      </p:sp>
      <p:sp>
        <p:nvSpPr>
          <p:cNvPr id="4" name="ZoneTexte 3"/>
          <p:cNvSpPr txBox="1"/>
          <p:nvPr/>
        </p:nvSpPr>
        <p:spPr>
          <a:xfrm>
            <a:off x="5457825" y="1556792"/>
            <a:ext cx="381617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fr-F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Françoise Masuy</a:t>
            </a:r>
          </a:p>
          <a:p>
            <a:pPr>
              <a:buNone/>
            </a:pPr>
            <a:endParaRPr lang="fr-FR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None/>
            </a:pPr>
            <a:r>
              <a:rPr lang="fr-F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(groupe lundi-jeudi)</a:t>
            </a:r>
          </a:p>
          <a:p>
            <a:pPr>
              <a:buNone/>
            </a:pPr>
            <a:endParaRPr lang="fr-F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None/>
            </a:pPr>
            <a:endParaRPr lang="fr-FR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hlinkClick r:id="rId3"/>
            </a:endParaRPr>
          </a:p>
          <a:p>
            <a:pPr>
              <a:buNone/>
            </a:pPr>
            <a:r>
              <a:rPr lang="fr-F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3"/>
              </a:rPr>
              <a:t>francoise.masuy@uclouvain.be</a:t>
            </a:r>
            <a:endParaRPr lang="fr-F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None/>
            </a:pPr>
            <a:endParaRPr lang="fr-BE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B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Bureau : 1</a:t>
            </a:r>
            <a:r>
              <a:rPr lang="fr-BE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er</a:t>
            </a:r>
            <a:r>
              <a:rPr lang="fr-B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étage ILV  A 142</a:t>
            </a:r>
          </a:p>
          <a:p>
            <a:pPr>
              <a:lnSpc>
                <a:spcPct val="150000"/>
              </a:lnSpc>
              <a:buNone/>
            </a:pPr>
            <a:r>
              <a:rPr lang="fr-B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au fond du couloir après le secrétariat</a:t>
            </a:r>
          </a:p>
          <a:p>
            <a:pPr>
              <a:lnSpc>
                <a:spcPct val="150000"/>
              </a:lnSpc>
              <a:buNone/>
            </a:pPr>
            <a:endParaRPr lang="fr-F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fr-F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Heure de réception : </a:t>
            </a:r>
          </a:p>
          <a:p>
            <a:pPr>
              <a:lnSpc>
                <a:spcPct val="150000"/>
              </a:lnSpc>
              <a:buNone/>
            </a:pPr>
            <a:r>
              <a:rPr lang="fr-F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mardi </a:t>
            </a:r>
            <a:r>
              <a:rPr lang="fr-F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 </a:t>
            </a:r>
            <a:r>
              <a:rPr lang="fr-F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9h30 </a:t>
            </a:r>
            <a:r>
              <a:rPr lang="fr-F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à </a:t>
            </a:r>
            <a:r>
              <a:rPr lang="fr-F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10h30</a:t>
            </a:r>
            <a:endParaRPr lang="fr-BE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65362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 dirty="0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814862"/>
              </p:ext>
            </p:extLst>
          </p:nvPr>
        </p:nvGraphicFramePr>
        <p:xfrm>
          <a:off x="771525" y="686455"/>
          <a:ext cx="7194681" cy="117091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7194681"/>
              </a:tblGrid>
              <a:tr h="1170919">
                <a:tc>
                  <a:txBody>
                    <a:bodyPr/>
                    <a:lstStyle/>
                    <a:p>
                      <a:pPr marL="342900" lvl="0" indent="-342900" algn="ctr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+mj-lt"/>
                        <a:buAutoNum type="alphaUcPeriod"/>
                      </a:pPr>
                      <a:endParaRPr lang="fr-BE" sz="1800" dirty="0" smtClean="0">
                        <a:effectLst/>
                      </a:endParaRPr>
                    </a:p>
                    <a:p>
                      <a:pPr marL="342900" lvl="0" indent="-342900" algn="ctr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+mj-lt"/>
                        <a:buAutoNum type="alphaUcPeriod"/>
                      </a:pPr>
                      <a:r>
                        <a:rPr lang="fr-BE" sz="2800" dirty="0" smtClean="0">
                          <a:effectLst/>
                        </a:rPr>
                        <a:t> </a:t>
                      </a:r>
                      <a:r>
                        <a:rPr lang="fr-BE" sz="2800" dirty="0">
                          <a:effectLst/>
                        </a:rPr>
                        <a:t>Prendre contact, saluer  </a:t>
                      </a:r>
                      <a:endParaRPr lang="fr-BE" sz="1800" dirty="0">
                        <a:effectLst/>
                        <a:latin typeface="CG Time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dirty="0" smtClean="0"/>
              <a:t>Qu’est-ce que tu préfères  ?</a:t>
            </a:r>
          </a:p>
          <a:p>
            <a:r>
              <a:rPr lang="fr-BE" dirty="0" smtClean="0"/>
              <a:t>Lisez les questions.</a:t>
            </a:r>
          </a:p>
          <a:p>
            <a:r>
              <a:rPr lang="fr-BE" dirty="0">
                <a:solidFill>
                  <a:srgbClr val="FFC000"/>
                </a:solidFill>
              </a:rPr>
              <a:t>Surlignez</a:t>
            </a:r>
            <a:r>
              <a:rPr lang="fr-BE" dirty="0"/>
              <a:t> vos réponses</a:t>
            </a:r>
            <a:r>
              <a:rPr lang="fr-BE" dirty="0" smtClean="0"/>
              <a:t>.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988784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 dirty="0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814862"/>
              </p:ext>
            </p:extLst>
          </p:nvPr>
        </p:nvGraphicFramePr>
        <p:xfrm>
          <a:off x="771525" y="686455"/>
          <a:ext cx="7194681" cy="117091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7194681"/>
              </a:tblGrid>
              <a:tr h="1170919">
                <a:tc>
                  <a:txBody>
                    <a:bodyPr/>
                    <a:lstStyle/>
                    <a:p>
                      <a:pPr marL="342900" lvl="0" indent="-342900" algn="ctr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+mj-lt"/>
                        <a:buAutoNum type="alphaUcPeriod"/>
                      </a:pPr>
                      <a:endParaRPr lang="fr-BE" sz="1800" dirty="0" smtClean="0">
                        <a:effectLst/>
                      </a:endParaRPr>
                    </a:p>
                    <a:p>
                      <a:pPr marL="342900" lvl="0" indent="-342900" algn="ctr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+mj-lt"/>
                        <a:buAutoNum type="alphaUcPeriod"/>
                      </a:pPr>
                      <a:r>
                        <a:rPr lang="fr-BE" sz="2800" dirty="0" smtClean="0">
                          <a:effectLst/>
                        </a:rPr>
                        <a:t> </a:t>
                      </a:r>
                      <a:r>
                        <a:rPr lang="fr-BE" sz="2800" dirty="0">
                          <a:effectLst/>
                        </a:rPr>
                        <a:t>Prendre contact, saluer  </a:t>
                      </a:r>
                      <a:endParaRPr lang="fr-BE" sz="1800" dirty="0">
                        <a:effectLst/>
                        <a:latin typeface="CG Time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graphicFrame>
        <p:nvGraphicFramePr>
          <p:cNvPr id="4" name="Espace réservé du contenu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57542260"/>
              </p:ext>
            </p:extLst>
          </p:nvPr>
        </p:nvGraphicFramePr>
        <p:xfrm>
          <a:off x="771525" y="2924176"/>
          <a:ext cx="8696326" cy="216849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3544"/>
                <a:gridCol w="4017765"/>
                <a:gridCol w="4395017"/>
              </a:tblGrid>
              <a:tr h="3551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1600" dirty="0">
                          <a:effectLst/>
                        </a:rPr>
                        <a:t>4</a:t>
                      </a:r>
                      <a:endParaRPr lang="fr-BE" sz="11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 dirty="0">
                          <a:effectLst/>
                        </a:rPr>
                        <a:t>Qu’est-ce                                                        </a:t>
                      </a:r>
                      <a:endParaRPr lang="fr-B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 dirty="0">
                          <a:effectLst/>
                        </a:rPr>
                        <a:t>          chiens</a:t>
                      </a:r>
                      <a:endParaRPr lang="fr-B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72907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1600">
                          <a:effectLst/>
                        </a:rPr>
                        <a:t>3</a:t>
                      </a:r>
                      <a:endParaRPr lang="fr-B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 dirty="0">
                          <a:effectLst/>
                        </a:rPr>
                        <a:t>    </a:t>
                      </a:r>
                      <a:r>
                        <a:rPr lang="fr-BE" sz="2000" baseline="0" dirty="0" smtClean="0">
                          <a:effectLst/>
                        </a:rPr>
                        <a:t>  </a:t>
                      </a:r>
                      <a:r>
                        <a:rPr lang="fr-BE" sz="2000" dirty="0" smtClean="0">
                          <a:effectLst/>
                        </a:rPr>
                        <a:t>                                  </a:t>
                      </a:r>
                      <a:r>
                        <a:rPr lang="fr-BE" sz="2000" dirty="0" err="1" smtClean="0">
                          <a:effectLst/>
                        </a:rPr>
                        <a:t>fères</a:t>
                      </a:r>
                      <a:r>
                        <a:rPr lang="fr-BE" sz="2000" dirty="0">
                          <a:effectLst/>
                        </a:rPr>
                        <a:t> ?</a:t>
                      </a:r>
                      <a:endParaRPr lang="fr-B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 dirty="0">
                          <a:effectLst/>
                        </a:rPr>
                        <a:t> </a:t>
                      </a:r>
                      <a:endParaRPr lang="fr-B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355167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1600">
                          <a:effectLst/>
                        </a:rPr>
                        <a:t>2</a:t>
                      </a:r>
                      <a:endParaRPr lang="fr-B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 dirty="0">
                          <a:effectLst/>
                        </a:rPr>
                        <a:t>                  </a:t>
                      </a:r>
                      <a:r>
                        <a:rPr lang="fr-BE" sz="2000" dirty="0" smtClean="0">
                          <a:effectLst/>
                        </a:rPr>
                        <a:t>que   </a:t>
                      </a:r>
                      <a:r>
                        <a:rPr lang="fr-BE" sz="2000" dirty="0">
                          <a:effectLst/>
                        </a:rPr>
                        <a:t>tu   pré                    </a:t>
                      </a:r>
                      <a:endParaRPr lang="fr-B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 dirty="0">
                          <a:effectLst/>
                        </a:rPr>
                        <a:t>Les                     </a:t>
                      </a:r>
                      <a:r>
                        <a:rPr lang="fr-BE" sz="2000" dirty="0" smtClean="0">
                          <a:effectLst/>
                        </a:rPr>
                        <a:t>ou    </a:t>
                      </a:r>
                      <a:r>
                        <a:rPr lang="fr-BE" sz="2000" dirty="0">
                          <a:effectLst/>
                        </a:rPr>
                        <a:t>les </a:t>
                      </a:r>
                      <a:endParaRPr lang="fr-B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  <a:tr h="729079"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1600">
                          <a:effectLst/>
                        </a:rPr>
                        <a:t>1</a:t>
                      </a:r>
                      <a:endParaRPr lang="fr-BE" sz="11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>
                          <a:effectLst/>
                        </a:rPr>
                        <a:t> </a:t>
                      </a:r>
                      <a:endParaRPr lang="fr-BE" sz="14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fr-BE" sz="2000" dirty="0">
                          <a:effectLst/>
                        </a:rPr>
                        <a:t>                                          chats ?</a:t>
                      </a:r>
                      <a:endParaRPr lang="fr-BE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5979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0725" y="-82579"/>
            <a:ext cx="5995987" cy="6873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919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 dirty="0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814862"/>
              </p:ext>
            </p:extLst>
          </p:nvPr>
        </p:nvGraphicFramePr>
        <p:xfrm>
          <a:off x="771525" y="686455"/>
          <a:ext cx="7194681" cy="117091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7194681"/>
              </a:tblGrid>
              <a:tr h="1170919">
                <a:tc>
                  <a:txBody>
                    <a:bodyPr/>
                    <a:lstStyle/>
                    <a:p>
                      <a:pPr marL="342900" lvl="0" indent="-342900" algn="ctr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+mj-lt"/>
                        <a:buAutoNum type="alphaUcPeriod"/>
                      </a:pPr>
                      <a:endParaRPr lang="fr-BE" sz="1800" dirty="0" smtClean="0">
                        <a:effectLst/>
                      </a:endParaRPr>
                    </a:p>
                    <a:p>
                      <a:pPr marL="342900" lvl="0" indent="-342900" algn="ctr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+mj-lt"/>
                        <a:buAutoNum type="alphaUcPeriod"/>
                      </a:pPr>
                      <a:r>
                        <a:rPr lang="fr-BE" sz="2800" dirty="0" smtClean="0">
                          <a:effectLst/>
                        </a:rPr>
                        <a:t> </a:t>
                      </a:r>
                      <a:r>
                        <a:rPr lang="fr-BE" sz="2800" dirty="0">
                          <a:effectLst/>
                        </a:rPr>
                        <a:t>Prendre contact, saluer  </a:t>
                      </a:r>
                      <a:endParaRPr lang="fr-BE" sz="1800" dirty="0">
                        <a:effectLst/>
                        <a:latin typeface="CG Time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77334" y="2160589"/>
            <a:ext cx="4618566" cy="3880773"/>
          </a:xfrm>
        </p:spPr>
        <p:txBody>
          <a:bodyPr>
            <a:noAutofit/>
          </a:bodyPr>
          <a:lstStyle/>
          <a:p>
            <a:r>
              <a:rPr lang="fr-BE" sz="2000" b="1" dirty="0" smtClean="0"/>
              <a:t>Formules formelles – neutres – informelles ?</a:t>
            </a:r>
          </a:p>
          <a:p>
            <a:r>
              <a:rPr lang="fr-BE" sz="2000" b="1" dirty="0" smtClean="0"/>
              <a:t>Entrer en contact ou prendre congé </a:t>
            </a:r>
            <a:r>
              <a:rPr lang="fr-BE" sz="2000" dirty="0" smtClean="0"/>
              <a:t>?</a:t>
            </a:r>
          </a:p>
          <a:p>
            <a:r>
              <a:rPr lang="fr-BE" sz="2000" dirty="0" smtClean="0"/>
              <a:t>Bonjour</a:t>
            </a:r>
          </a:p>
          <a:p>
            <a:r>
              <a:rPr lang="fr-BE" sz="2000" dirty="0" smtClean="0"/>
              <a:t>Bonsoir </a:t>
            </a:r>
          </a:p>
          <a:p>
            <a:r>
              <a:rPr lang="fr-BE" sz="2000" dirty="0" smtClean="0"/>
              <a:t>Salut </a:t>
            </a:r>
          </a:p>
          <a:p>
            <a:r>
              <a:rPr lang="fr-BE" sz="2000" dirty="0" smtClean="0"/>
              <a:t>Salut tout le monde !</a:t>
            </a:r>
          </a:p>
          <a:p>
            <a:r>
              <a:rPr lang="fr-BE" sz="2000" dirty="0" smtClean="0"/>
              <a:t>Bonjour à tous !</a:t>
            </a:r>
          </a:p>
          <a:p>
            <a:r>
              <a:rPr lang="fr-BE" sz="2000" dirty="0" smtClean="0"/>
              <a:t>Pardon, excusez-moi</a:t>
            </a:r>
            <a:endParaRPr lang="fr-BE" sz="2000" dirty="0"/>
          </a:p>
        </p:txBody>
      </p:sp>
      <p:sp>
        <p:nvSpPr>
          <p:cNvPr id="4" name="ZoneTexte 3"/>
          <p:cNvSpPr txBox="1"/>
          <p:nvPr/>
        </p:nvSpPr>
        <p:spPr>
          <a:xfrm>
            <a:off x="5806902" y="2236789"/>
            <a:ext cx="3467100" cy="3600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 sz="2000" dirty="0"/>
              <a:t>À bientôt !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 sz="2000" dirty="0"/>
              <a:t>À la prochaine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 sz="2000" dirty="0"/>
              <a:t>À plus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 sz="2000" dirty="0"/>
              <a:t>À plus tard.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 sz="2000" dirty="0"/>
              <a:t>Au revoir, </a:t>
            </a:r>
            <a:r>
              <a:rPr lang="fr-BE" sz="2000" dirty="0" smtClean="0"/>
              <a:t>bonne …</a:t>
            </a:r>
            <a:endParaRPr lang="fr-BE" sz="200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 sz="2000" dirty="0"/>
              <a:t>Au revoir, </a:t>
            </a:r>
            <a:r>
              <a:rPr lang="fr-BE" sz="2000" dirty="0" smtClean="0"/>
              <a:t>Madame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fr-BE" sz="2000" dirty="0" smtClean="0"/>
              <a:t>Au revoir, tout le monde</a:t>
            </a:r>
            <a:endParaRPr lang="fr-BE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9897902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 dirty="0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5778202"/>
              </p:ext>
            </p:extLst>
          </p:nvPr>
        </p:nvGraphicFramePr>
        <p:xfrm>
          <a:off x="1710266" y="614086"/>
          <a:ext cx="6350513" cy="131631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6350513"/>
              </a:tblGrid>
              <a:tr h="1316313">
                <a:tc>
                  <a:txBody>
                    <a:bodyPr/>
                    <a:lstStyle/>
                    <a:p>
                      <a:pPr marL="342900" lvl="0" indent="-342900" algn="ctr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+mj-lt"/>
                        <a:buAutoNum type="alphaUcPeriod"/>
                      </a:pPr>
                      <a:endParaRPr lang="fr-BE" sz="1800" dirty="0" smtClean="0">
                        <a:effectLst/>
                      </a:endParaRPr>
                    </a:p>
                    <a:p>
                      <a:pPr marL="342900" lvl="0" indent="-342900" algn="ctr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+mj-lt"/>
                        <a:buAutoNum type="alphaUcPeriod"/>
                      </a:pPr>
                      <a:r>
                        <a:rPr lang="fr-BE" sz="2800" dirty="0" smtClean="0">
                          <a:effectLst/>
                        </a:rPr>
                        <a:t> </a:t>
                      </a:r>
                      <a:r>
                        <a:rPr lang="fr-BE" sz="2800" dirty="0">
                          <a:effectLst/>
                        </a:rPr>
                        <a:t>Prendre contact, saluer  </a:t>
                      </a:r>
                      <a:endParaRPr lang="fr-BE" sz="1800" dirty="0">
                        <a:effectLst/>
                        <a:latin typeface="CG Time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pic>
        <p:nvPicPr>
          <p:cNvPr id="4" name="Espace réservé du contenu 3"/>
          <p:cNvPicPr>
            <a:picLocks noGrp="1" noChangeAspect="1"/>
          </p:cNvPicPr>
          <p:nvPr>
            <p:ph sz="quarter" idx="1"/>
          </p:nvPr>
        </p:nvPicPr>
        <p:blipFill>
          <a:blip r:embed="rId2"/>
          <a:stretch>
            <a:fillRect/>
          </a:stretch>
        </p:blipFill>
        <p:spPr>
          <a:xfrm>
            <a:off x="403160" y="3221484"/>
            <a:ext cx="9145016" cy="2841724"/>
          </a:xfrm>
          <a:prstGeom prst="rect">
            <a:avLst/>
          </a:prstGeom>
        </p:spPr>
      </p:pic>
      <p:sp>
        <p:nvSpPr>
          <p:cNvPr id="7" name="ZoneTexte 6"/>
          <p:cNvSpPr txBox="1"/>
          <p:nvPr/>
        </p:nvSpPr>
        <p:spPr>
          <a:xfrm>
            <a:off x="561975" y="2305566"/>
            <a:ext cx="90868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BE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Table « A » : remercier.                  Table « B » : répondre …</a:t>
            </a:r>
          </a:p>
          <a:p>
            <a:r>
              <a:rPr lang="fr-BE" sz="2000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Comprendre les mots, prononcer avec la musique du français</a:t>
            </a:r>
            <a:r>
              <a:rPr lang="fr-BE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endParaRPr lang="fr-BE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2050" name="Picture 1" descr="rId1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790575"/>
            <a:ext cx="577850" cy="5778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28818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 dirty="0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814862"/>
              </p:ext>
            </p:extLst>
          </p:nvPr>
        </p:nvGraphicFramePr>
        <p:xfrm>
          <a:off x="771525" y="686455"/>
          <a:ext cx="7194681" cy="117091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7194681"/>
              </a:tblGrid>
              <a:tr h="1170919">
                <a:tc>
                  <a:txBody>
                    <a:bodyPr/>
                    <a:lstStyle/>
                    <a:p>
                      <a:pPr marL="342900" lvl="0" indent="-342900" algn="ctr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+mj-lt"/>
                        <a:buAutoNum type="alphaUcPeriod"/>
                      </a:pPr>
                      <a:endParaRPr lang="fr-BE" sz="1800" dirty="0" smtClean="0">
                        <a:effectLst/>
                      </a:endParaRPr>
                    </a:p>
                    <a:p>
                      <a:pPr marL="342900" lvl="0" indent="-342900" algn="ctr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+mj-lt"/>
                        <a:buAutoNum type="alphaUcPeriod"/>
                      </a:pPr>
                      <a:r>
                        <a:rPr lang="fr-BE" sz="2800" dirty="0" smtClean="0">
                          <a:effectLst/>
                        </a:rPr>
                        <a:t> </a:t>
                      </a:r>
                      <a:r>
                        <a:rPr lang="fr-BE" sz="2800" dirty="0">
                          <a:effectLst/>
                        </a:rPr>
                        <a:t>Prendre contact, saluer  </a:t>
                      </a:r>
                      <a:endParaRPr lang="fr-BE" sz="1800" dirty="0">
                        <a:effectLst/>
                        <a:latin typeface="CG Time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sz="2000" dirty="0" smtClean="0"/>
              <a:t>Posez des questions à 7 personnes, une question différente par personne.</a:t>
            </a:r>
          </a:p>
          <a:p>
            <a:r>
              <a:rPr lang="fr-BE" sz="2000" dirty="0" smtClean="0"/>
              <a:t>Ecrivez le prénom de la personne et sa réponse</a:t>
            </a:r>
            <a:r>
              <a:rPr lang="fr-BE" dirty="0" smtClean="0"/>
              <a:t>.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504956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-23253"/>
            <a:ext cx="8220075" cy="6905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59486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BE" dirty="0"/>
          </a:p>
        </p:txBody>
      </p:sp>
      <p:graphicFrame>
        <p:nvGraphicFramePr>
          <p:cNvPr id="6" name="Tableau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9814862"/>
              </p:ext>
            </p:extLst>
          </p:nvPr>
        </p:nvGraphicFramePr>
        <p:xfrm>
          <a:off x="771525" y="686455"/>
          <a:ext cx="7194681" cy="1170919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7194681"/>
              </a:tblGrid>
              <a:tr h="1170919">
                <a:tc>
                  <a:txBody>
                    <a:bodyPr/>
                    <a:lstStyle/>
                    <a:p>
                      <a:pPr marL="342900" lvl="0" indent="-342900" algn="ctr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+mj-lt"/>
                        <a:buAutoNum type="alphaUcPeriod"/>
                      </a:pPr>
                      <a:endParaRPr lang="fr-BE" sz="1800" dirty="0" smtClean="0">
                        <a:effectLst/>
                      </a:endParaRPr>
                    </a:p>
                    <a:p>
                      <a:pPr marL="342900" lvl="0" indent="-342900" algn="ctr">
                        <a:spcBef>
                          <a:spcPts val="600"/>
                        </a:spcBef>
                        <a:spcAft>
                          <a:spcPts val="0"/>
                        </a:spcAft>
                        <a:buFont typeface="+mj-lt"/>
                        <a:buAutoNum type="alphaUcPeriod"/>
                      </a:pPr>
                      <a:r>
                        <a:rPr lang="fr-BE" sz="2800" dirty="0" smtClean="0">
                          <a:effectLst/>
                        </a:rPr>
                        <a:t> </a:t>
                      </a:r>
                      <a:r>
                        <a:rPr lang="fr-BE" sz="2800" dirty="0">
                          <a:effectLst/>
                        </a:rPr>
                        <a:t>Prendre contact, saluer  </a:t>
                      </a:r>
                      <a:endParaRPr lang="fr-BE" sz="1800" dirty="0">
                        <a:effectLst/>
                        <a:latin typeface="CG Times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BE" sz="2000" dirty="0">
                <a:solidFill>
                  <a:schemeClr val="accent2"/>
                </a:solidFill>
                <a:sym typeface="Wingdings" panose="05000000000000000000" pitchFamily="2" charset="2"/>
              </a:rPr>
              <a:t></a:t>
            </a:r>
            <a:r>
              <a:rPr lang="fr-BE" sz="2000" dirty="0">
                <a:solidFill>
                  <a:schemeClr val="accent2"/>
                </a:solidFill>
              </a:rPr>
              <a:t> Tu as quel </a:t>
            </a:r>
            <a:r>
              <a:rPr lang="fr-BE" sz="2000" dirty="0" smtClean="0">
                <a:solidFill>
                  <a:schemeClr val="accent2"/>
                </a:solidFill>
              </a:rPr>
              <a:t>͜  âge</a:t>
            </a:r>
            <a:r>
              <a:rPr lang="fr-BE" sz="2000" dirty="0">
                <a:solidFill>
                  <a:schemeClr val="accent2"/>
                </a:solidFill>
              </a:rPr>
              <a:t> ?   </a:t>
            </a:r>
            <a:r>
              <a:rPr lang="fr-BE" sz="2000" dirty="0" smtClean="0"/>
              <a:t>	</a:t>
            </a:r>
          </a:p>
          <a:p>
            <a:r>
              <a:rPr lang="fr-BE" sz="2000" i="1" dirty="0" smtClean="0"/>
              <a:t>J’ai ……….͜  </a:t>
            </a:r>
            <a:r>
              <a:rPr lang="fr-BE" sz="2000" i="1" dirty="0"/>
              <a:t>ans.</a:t>
            </a:r>
            <a:endParaRPr lang="fr-BE" sz="2000" dirty="0"/>
          </a:p>
          <a:p>
            <a:r>
              <a:rPr lang="fr-BE" sz="2000" dirty="0">
                <a:solidFill>
                  <a:schemeClr val="accent2"/>
                </a:solidFill>
                <a:sym typeface="Wingdings" panose="05000000000000000000" pitchFamily="2" charset="2"/>
              </a:rPr>
              <a:t></a:t>
            </a:r>
            <a:r>
              <a:rPr lang="fr-BE" sz="2000" dirty="0">
                <a:solidFill>
                  <a:schemeClr val="accent2"/>
                </a:solidFill>
              </a:rPr>
              <a:t> </a:t>
            </a:r>
            <a:r>
              <a:rPr lang="fr-BE" sz="2000" dirty="0" smtClean="0">
                <a:solidFill>
                  <a:schemeClr val="accent2"/>
                </a:solidFill>
              </a:rPr>
              <a:t>Quelle͜  </a:t>
            </a:r>
            <a:r>
              <a:rPr lang="fr-BE" sz="2000" dirty="0">
                <a:solidFill>
                  <a:schemeClr val="accent2"/>
                </a:solidFill>
              </a:rPr>
              <a:t>est </a:t>
            </a:r>
            <a:r>
              <a:rPr lang="fr-BE" sz="2000" dirty="0" smtClean="0">
                <a:solidFill>
                  <a:schemeClr val="accent2"/>
                </a:solidFill>
              </a:rPr>
              <a:t>ton͜  </a:t>
            </a:r>
            <a:r>
              <a:rPr lang="fr-BE" sz="2000" dirty="0">
                <a:solidFill>
                  <a:schemeClr val="accent2"/>
                </a:solidFill>
              </a:rPr>
              <a:t>adresse ?   </a:t>
            </a:r>
            <a:endParaRPr lang="fr-BE" sz="2000" dirty="0" smtClean="0">
              <a:solidFill>
                <a:schemeClr val="accent2"/>
              </a:solidFill>
            </a:endParaRPr>
          </a:p>
          <a:p>
            <a:r>
              <a:rPr lang="fr-BE" sz="2000" i="1" dirty="0" smtClean="0"/>
              <a:t>J’habite ͜  au </a:t>
            </a:r>
            <a:r>
              <a:rPr lang="fr-BE" sz="2000" i="1" dirty="0"/>
              <a:t>numéro …… de la rue/l’avenue/ ……………………….</a:t>
            </a:r>
            <a:endParaRPr lang="fr-BE" sz="2000" dirty="0"/>
          </a:p>
          <a:p>
            <a:r>
              <a:rPr lang="fr-BE" sz="2000" dirty="0">
                <a:solidFill>
                  <a:schemeClr val="accent2"/>
                </a:solidFill>
                <a:sym typeface="Wingdings" panose="05000000000000000000" pitchFamily="2" charset="2"/>
              </a:rPr>
              <a:t></a:t>
            </a:r>
            <a:r>
              <a:rPr lang="fr-BE" sz="2000" dirty="0">
                <a:solidFill>
                  <a:schemeClr val="accent2"/>
                </a:solidFill>
              </a:rPr>
              <a:t> Quel ͜  est ton numéro de téléphone ?   </a:t>
            </a:r>
            <a:endParaRPr lang="fr-BE" sz="2000" dirty="0" smtClean="0">
              <a:solidFill>
                <a:schemeClr val="accent2"/>
              </a:solidFill>
            </a:endParaRPr>
          </a:p>
          <a:p>
            <a:r>
              <a:rPr lang="fr-BE" sz="2000" i="1" dirty="0" smtClean="0"/>
              <a:t>Mon </a:t>
            </a:r>
            <a:r>
              <a:rPr lang="fr-BE" sz="2000" i="1" dirty="0"/>
              <a:t>numéro, c’est le :</a:t>
            </a:r>
            <a:endParaRPr lang="fr-BE" sz="2000" dirty="0"/>
          </a:p>
          <a:p>
            <a:r>
              <a:rPr lang="fr-BE" sz="2000" i="1" dirty="0"/>
              <a:t>zéro Centaine Dizaine Unité / Dizaine Unité / Dizaine Unité / Dizaine Unité</a:t>
            </a:r>
            <a:endParaRPr lang="fr-BE" sz="2000" dirty="0"/>
          </a:p>
        </p:txBody>
      </p:sp>
    </p:spTree>
    <p:extLst>
      <p:ext uri="{BB962C8B-B14F-4D97-AF65-F5344CB8AC3E}">
        <p14:creationId xmlns:p14="http://schemas.microsoft.com/office/powerpoint/2010/main" val="4847884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8230" y="404664"/>
            <a:ext cx="7298170" cy="59690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82442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697" y="85637"/>
            <a:ext cx="5040559" cy="6158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5943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0188" y="1109663"/>
            <a:ext cx="9191625" cy="4638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0552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Le cours LFRAN1201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919536" y="1412777"/>
            <a:ext cx="8229600" cy="4525963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fr-BE" dirty="0" smtClean="0">
                <a:solidFill>
                  <a:srgbClr val="00B0F0"/>
                </a:solidFill>
              </a:rPr>
              <a:t>Objectif A2</a:t>
            </a:r>
          </a:p>
          <a:p>
            <a:r>
              <a:rPr lang="fr-BE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ECOUTER : comprendre une annonce, des instructions, </a:t>
            </a:r>
            <a:r>
              <a:rPr lang="fr-BE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des </a:t>
            </a:r>
            <a:r>
              <a:rPr lang="fr-BE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informations, une conversation entre natifs sur la vie quotidienne</a:t>
            </a:r>
          </a:p>
          <a:p>
            <a:r>
              <a:rPr lang="fr-BE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LIRE : comprendre des instructions, des informations, un message</a:t>
            </a:r>
          </a:p>
          <a:p>
            <a:r>
              <a:rPr lang="fr-BE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ECRIRE : décrire une expérience personnelle, écrire un message pour inviter ou répondre à une invitation</a:t>
            </a:r>
          </a:p>
          <a:p>
            <a:r>
              <a:rPr lang="fr-BE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PARLER : se présenter, répondre à des questions, dialoguer dans une situation de la vie</a:t>
            </a:r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617038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Le cours LFRAN1201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1919536" y="1412777"/>
            <a:ext cx="8229600" cy="45259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BE" sz="2400" dirty="0" smtClean="0">
                <a:solidFill>
                  <a:srgbClr val="FF0000"/>
                </a:solidFill>
              </a:rPr>
              <a:t>Objectif A2</a:t>
            </a:r>
          </a:p>
          <a:p>
            <a:pPr marL="0" indent="0">
              <a:buNone/>
            </a:pP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THEMES </a:t>
            </a:r>
          </a:p>
          <a:p>
            <a:pPr marL="0" indent="0">
              <a:buNone/>
            </a:pP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Les présentations, </a:t>
            </a:r>
            <a:endParaRPr lang="fr-BE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les </a:t>
            </a: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loisirs, </a:t>
            </a:r>
          </a:p>
          <a:p>
            <a:pPr marL="0" indent="0">
              <a:buNone/>
            </a:pP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 </a:t>
            </a: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logement, </a:t>
            </a:r>
          </a:p>
          <a:p>
            <a:pPr marL="0" indent="0">
              <a:buNone/>
            </a:pP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les repas, </a:t>
            </a:r>
            <a:endParaRPr lang="fr-BE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les </a:t>
            </a:r>
            <a:r>
              <a:rPr lang="fr-BE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achats, </a:t>
            </a:r>
            <a:endParaRPr lang="fr-BE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 </a:t>
            </a: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santé, </a:t>
            </a:r>
          </a:p>
          <a:p>
            <a:pPr marL="0" indent="0">
              <a:buNone/>
            </a:pP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les </a:t>
            </a: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déplacements</a:t>
            </a:r>
            <a:endParaRPr lang="fr-BE" sz="2400" dirty="0"/>
          </a:p>
        </p:txBody>
      </p:sp>
    </p:spTree>
    <p:extLst>
      <p:ext uri="{BB962C8B-B14F-4D97-AF65-F5344CB8AC3E}">
        <p14:creationId xmlns:p14="http://schemas.microsoft.com/office/powerpoint/2010/main" val="40759949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Supports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fr-BE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Syllabus : LFRAN1201 </a:t>
            </a:r>
            <a:r>
              <a:rPr lang="fr-B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  <a:r>
              <a:rPr lang="fr-BE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Scénarios louvanistes </a:t>
            </a:r>
            <a:endParaRPr lang="fr-BE" i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None/>
            </a:pPr>
            <a:r>
              <a:rPr lang="fr-BE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Où ? </a:t>
            </a:r>
            <a:r>
              <a:rPr lang="fr-B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local Ésope 21, 2</a:t>
            </a:r>
            <a:r>
              <a:rPr lang="fr-BE" baseline="30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fr-B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étage de l’ILV </a:t>
            </a:r>
            <a:endParaRPr lang="fr-BE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None/>
            </a:pPr>
            <a:endParaRPr lang="fr-BE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fr-BE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Grammaire </a:t>
            </a:r>
            <a:r>
              <a:rPr lang="fr-BE" i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progressive du français. Niveau </a:t>
            </a:r>
            <a:r>
              <a:rPr lang="fr-BE" i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intermédiaire</a:t>
            </a:r>
            <a:r>
              <a:rPr lang="fr-B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.</a:t>
            </a:r>
            <a:r>
              <a:rPr lang="fr-BE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CLE </a:t>
            </a:r>
            <a:r>
              <a:rPr lang="fr-B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international, </a:t>
            </a:r>
            <a:r>
              <a:rPr lang="fr-BE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4</a:t>
            </a:r>
            <a:r>
              <a:rPr lang="fr-BE" b="1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</a:t>
            </a:r>
            <a:r>
              <a:rPr lang="fr-BE" b="1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édition </a:t>
            </a:r>
            <a:endParaRPr lang="fr-BE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None/>
            </a:pPr>
            <a:r>
              <a:rPr lang="fr-BE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Où? Librairie </a:t>
            </a:r>
            <a:r>
              <a:rPr lang="fr-BE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 furet du nord, </a:t>
            </a:r>
            <a:r>
              <a:rPr lang="fr-BE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rue </a:t>
            </a:r>
            <a:r>
              <a:rPr lang="fr-BE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Charlemagne</a:t>
            </a:r>
          </a:p>
          <a:p>
            <a:pPr>
              <a:buNone/>
            </a:pPr>
            <a:r>
              <a:rPr lang="fr-BE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(en face du supermarché « </a:t>
            </a:r>
            <a:r>
              <a:rPr lang="fr-BE" dirty="0" err="1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Spar</a:t>
            </a:r>
            <a:r>
              <a:rPr lang="fr-BE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»)</a:t>
            </a:r>
            <a:endParaRPr lang="fr-BE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None/>
            </a:pPr>
            <a:r>
              <a:rPr lang="fr-FR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-&gt; corrigés sur </a:t>
            </a:r>
            <a:r>
              <a:rPr lang="fr-FR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Moodle   </a:t>
            </a:r>
            <a:endParaRPr lang="fr-BE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fr-BE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3607" y="3795043"/>
            <a:ext cx="1656184" cy="224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86168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Certification 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677334" y="1704975"/>
            <a:ext cx="8596668" cy="4336387"/>
          </a:xfrm>
        </p:spPr>
        <p:txBody>
          <a:bodyPr/>
          <a:lstStyle/>
          <a:p>
            <a:pPr marL="0" indent="0">
              <a:buNone/>
            </a:pPr>
            <a:r>
              <a:rPr lang="fr-BE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Pendant le quadrimestre: 40%</a:t>
            </a:r>
          </a:p>
          <a:p>
            <a:pPr marL="0" indent="0">
              <a:buNone/>
            </a:pPr>
            <a:endParaRPr lang="fr-F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endParaRPr lang="fr-F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endParaRPr lang="fr-F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endParaRPr lang="fr-FR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fr-FR" sz="2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Examen</a:t>
            </a:r>
            <a:r>
              <a:rPr lang="fr-F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60</a:t>
            </a:r>
            <a:r>
              <a:rPr lang="fr-FR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%</a:t>
            </a:r>
          </a:p>
          <a:p>
            <a:pPr marL="0" indent="0">
              <a:buNone/>
            </a:pPr>
            <a:endParaRPr lang="fr-FR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endParaRPr lang="fr-BE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38363139"/>
              </p:ext>
            </p:extLst>
          </p:nvPr>
        </p:nvGraphicFramePr>
        <p:xfrm>
          <a:off x="799204" y="2200275"/>
          <a:ext cx="8352928" cy="147320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352928"/>
              </a:tblGrid>
              <a:tr h="308735">
                <a:tc>
                  <a:txBody>
                    <a:bodyPr/>
                    <a:lstStyle/>
                    <a:p>
                      <a:r>
                        <a:rPr lang="fr-FR" b="0" dirty="0" smtClean="0"/>
                        <a:t>10%   2 productions orales (dialogues) </a:t>
                      </a:r>
                      <a:endParaRPr lang="fr-BE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10%   5 productions écrites</a:t>
                      </a:r>
                      <a:endParaRPr lang="fr-B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10%   Présence en classe,</a:t>
                      </a:r>
                      <a:r>
                        <a:rPr lang="fr-FR" baseline="0" dirty="0" smtClean="0"/>
                        <a:t> réalisation des tests en ligne </a:t>
                      </a:r>
                      <a:r>
                        <a:rPr lang="fr-FR" dirty="0" smtClean="0"/>
                        <a:t>(Moodle)</a:t>
                      </a:r>
                      <a:endParaRPr lang="fr-BE" dirty="0"/>
                    </a:p>
                  </a:txBody>
                  <a:tcPr/>
                </a:tc>
              </a:tr>
              <a:tr h="327640">
                <a:tc>
                  <a:txBody>
                    <a:bodyPr/>
                    <a:lstStyle/>
                    <a:p>
                      <a:r>
                        <a:rPr lang="fr-FR" dirty="0" smtClean="0"/>
                        <a:t>10%   Un test de grammaire</a:t>
                      </a:r>
                      <a:r>
                        <a:rPr lang="fr-FR" baseline="0" dirty="0" smtClean="0"/>
                        <a:t> et vocabulaire </a:t>
                      </a:r>
                      <a:r>
                        <a:rPr lang="fr-FR" baseline="0" dirty="0" smtClean="0"/>
                        <a:t>(</a:t>
                      </a:r>
                      <a:r>
                        <a:rPr lang="fr-FR" baseline="0" dirty="0" smtClean="0">
                          <a:solidFill>
                            <a:srgbClr val="FF0000"/>
                          </a:solidFill>
                        </a:rPr>
                        <a:t>30 novembre</a:t>
                      </a:r>
                      <a:r>
                        <a:rPr lang="fr-FR" baseline="0" dirty="0" smtClean="0"/>
                        <a:t>) </a:t>
                      </a:r>
                      <a:endParaRPr lang="fr-BE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5" name="Tableau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2399913"/>
              </p:ext>
            </p:extLst>
          </p:nvPr>
        </p:nvGraphicFramePr>
        <p:xfrm>
          <a:off x="799204" y="4347195"/>
          <a:ext cx="8280920" cy="14833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280920"/>
              </a:tblGrid>
              <a:tr h="370840">
                <a:tc>
                  <a:txBody>
                    <a:bodyPr/>
                    <a:lstStyle/>
                    <a:p>
                      <a:r>
                        <a:rPr lang="fr-FR" b="0" dirty="0" smtClean="0"/>
                        <a:t>15%    Lire : 4 documents (QCM)</a:t>
                      </a:r>
                      <a:endParaRPr lang="fr-BE" b="0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15%    Écouter : 3 documents</a:t>
                      </a:r>
                      <a:r>
                        <a:rPr lang="fr-FR" baseline="0" dirty="0" smtClean="0"/>
                        <a:t> à écouter (QCM)</a:t>
                      </a:r>
                      <a:endParaRPr lang="fr-B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15%    Écrire :</a:t>
                      </a:r>
                      <a:r>
                        <a:rPr lang="fr-FR" baseline="0" dirty="0" smtClean="0"/>
                        <a:t> 2 textes à écrire </a:t>
                      </a:r>
                      <a:endParaRPr lang="fr-BE" dirty="0"/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 smtClean="0"/>
                        <a:t>15%    Parler : 15 minutes </a:t>
                      </a:r>
                      <a:endParaRPr lang="fr-BE" dirty="0"/>
                    </a:p>
                  </a:txBody>
                  <a:tcPr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3508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En ligne 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677333" y="1531939"/>
            <a:ext cx="9200091" cy="4649786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fr-BE" sz="2900" b="1" dirty="0"/>
              <a:t>Moodle (moodleucl.uclouvain.be)  </a:t>
            </a:r>
          </a:p>
          <a:p>
            <a:pPr lvl="0"/>
            <a:r>
              <a:rPr lang="fr-BE" sz="2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Exercices complémentaires de grammaire, vocabulaire, écoute</a:t>
            </a:r>
          </a:p>
          <a:p>
            <a:pPr lvl="0"/>
            <a:r>
              <a:rPr lang="fr-BE" sz="2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Information sur les évaluations obligatoires, l’examen</a:t>
            </a:r>
            <a:endParaRPr lang="fr-BE" sz="2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r>
              <a:rPr lang="fr-BE" sz="2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Consulter </a:t>
            </a:r>
            <a:r>
              <a:rPr lang="fr-BE" sz="2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les diaporamas/ les tâches (le </a:t>
            </a:r>
            <a:r>
              <a:rPr lang="fr-BE" sz="2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journal de </a:t>
            </a:r>
            <a:r>
              <a:rPr lang="fr-BE" sz="2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classe)</a:t>
            </a:r>
            <a:endParaRPr lang="fr-BE" sz="2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endParaRPr lang="fr-BE" sz="2900" dirty="0"/>
          </a:p>
          <a:p>
            <a:pPr marL="0" indent="0">
              <a:buNone/>
            </a:pPr>
            <a:r>
              <a:rPr lang="fr-BE" sz="2900" dirty="0"/>
              <a:t> </a:t>
            </a:r>
            <a:r>
              <a:rPr lang="fr-BE" sz="2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Mode d’emploi dans le </a:t>
            </a:r>
            <a:r>
              <a:rPr lang="fr-BE" sz="2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syllabus pp. </a:t>
            </a:r>
            <a:r>
              <a:rPr lang="fr-BE" sz="29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7-8 </a:t>
            </a:r>
            <a:r>
              <a:rPr lang="fr-BE" sz="2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(identifiant global de </a:t>
            </a:r>
            <a:r>
              <a:rPr lang="fr-BE" sz="2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l’UCL)</a:t>
            </a:r>
            <a:endParaRPr lang="fr-BE" sz="2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274320" lvl="1" indent="0">
              <a:buNone/>
            </a:pPr>
            <a:r>
              <a:rPr lang="fr-FR" sz="29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-&gt; </a:t>
            </a:r>
            <a:r>
              <a:rPr lang="fr-FR" sz="29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LFRAN1201</a:t>
            </a:r>
          </a:p>
          <a:p>
            <a:pPr marL="274320" lvl="1" indent="0">
              <a:buNone/>
            </a:pPr>
            <a:r>
              <a:rPr lang="fr-FR" sz="29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-&gt;</a:t>
            </a:r>
            <a:r>
              <a:rPr lang="fr-BE" sz="29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Clé : </a:t>
            </a:r>
            <a:r>
              <a:rPr lang="fr-BE" sz="2900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1201/1/ 	1201/2</a:t>
            </a:r>
            <a:r>
              <a:rPr lang="fr-BE" sz="2900" dirty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fr-BE" sz="2900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     1201/3</a:t>
            </a:r>
            <a:endParaRPr lang="fr-BE" sz="29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0"/>
            <a:endParaRPr lang="fr-BE" sz="29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fr-BE" sz="29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tv5monde.com/</a:t>
            </a:r>
            <a:r>
              <a:rPr lang="fr-BE" sz="2900" b="1" dirty="0" err="1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premiereclasse</a:t>
            </a:r>
            <a:endParaRPr lang="fr-BE" sz="2900" b="1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r>
              <a:rPr lang="fr-BE" sz="29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Développer la compréhension orale et le vocabulaire</a:t>
            </a:r>
            <a:endParaRPr lang="fr-BE" sz="29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lvl="1">
              <a:buFontTx/>
              <a:buChar char="-"/>
            </a:pPr>
            <a:endParaRPr lang="fr-BE" dirty="0" smtClean="0"/>
          </a:p>
        </p:txBody>
      </p:sp>
    </p:spTree>
    <p:extLst>
      <p:ext uri="{BB962C8B-B14F-4D97-AF65-F5344CB8AC3E}">
        <p14:creationId xmlns:p14="http://schemas.microsoft.com/office/powerpoint/2010/main" val="30956447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BE" dirty="0" smtClean="0"/>
              <a:t>Grammaire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860868" y="1469927"/>
            <a:ext cx="8229600" cy="4525963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Niveau A2 </a:t>
            </a:r>
            <a:r>
              <a:rPr lang="fr-BE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= </a:t>
            </a: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programme important</a:t>
            </a:r>
          </a:p>
          <a:p>
            <a:pPr>
              <a:buNone/>
            </a:pPr>
            <a:endParaRPr lang="fr-BE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fr-F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Calendrier des exercices à faire p. 9 du syllabus</a:t>
            </a:r>
            <a:endParaRPr lang="fr-BE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endParaRPr lang="fr-BE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 présent, le futur</a:t>
            </a:r>
            <a:r>
              <a:rPr lang="fr-BE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, le conditionnel, l’impératif, </a:t>
            </a: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 passé composé et l’imparfait (bases)</a:t>
            </a:r>
            <a:endParaRPr lang="fr-BE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Les noms et les adjectifs</a:t>
            </a:r>
          </a:p>
          <a:p>
            <a:pPr marL="0" indent="0">
              <a:buNone/>
            </a:pP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 phrase interrogative et négative</a:t>
            </a:r>
          </a:p>
          <a:p>
            <a:pPr marL="0" indent="0">
              <a:buNone/>
            </a:pP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Les déterminants (mots qui sont devant le nom)</a:t>
            </a:r>
            <a:endParaRPr lang="fr-BE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914300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Dossier TV5</a:t>
            </a:r>
            <a:r>
              <a:rPr lang="fr-FR" cap="small" dirty="0" smtClean="0"/>
              <a:t>Monde</a:t>
            </a:r>
            <a:endParaRPr lang="fr-BE" cap="small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Objectif: développer sa compréhension orale</a:t>
            </a:r>
          </a:p>
          <a:p>
            <a:pPr marL="0" indent="0">
              <a:buNone/>
            </a:pPr>
            <a:endParaRPr lang="fr-FR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fr-F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Regarder la ou les vidéos sélectionnées pour chaque unité, faire les exercices en ligne.</a:t>
            </a:r>
            <a:endParaRPr lang="fr-FR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endParaRPr lang="fr-FR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fr-F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Compléter une fiche du dossier « Mon dossier TV5MONDE » (p. </a:t>
            </a:r>
            <a:r>
              <a:rPr lang="fr-F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11 </a:t>
            </a:r>
            <a:r>
              <a:rPr lang="fr-F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et </a:t>
            </a:r>
            <a:r>
              <a:rPr lang="fr-F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177-182 </a:t>
            </a:r>
            <a:r>
              <a:rPr lang="fr-F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du syllabus)</a:t>
            </a:r>
          </a:p>
          <a:p>
            <a:pPr marL="0" indent="0">
              <a:buNone/>
            </a:pPr>
            <a:r>
              <a:rPr lang="fr-F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-&gt; </a:t>
            </a:r>
            <a:r>
              <a:rPr lang="fr-FR" sz="2400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 utiliser à l’examen écrit</a:t>
            </a:r>
            <a:endParaRPr lang="fr-BE" sz="2400" dirty="0">
              <a:solidFill>
                <a:srgbClr val="FF0000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52893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Activités hors classe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610659" y="1531939"/>
            <a:ext cx="8847666" cy="4725986"/>
          </a:xfrm>
        </p:spPr>
        <p:txBody>
          <a:bodyPr>
            <a:noAutofit/>
          </a:bodyPr>
          <a:lstStyle/>
          <a:p>
            <a:r>
              <a:rPr lang="en-US" sz="2400" b="1" dirty="0"/>
              <a:t>Tuesday, 1-2 PM (</a:t>
            </a:r>
            <a:r>
              <a:rPr lang="en-US" sz="2400" b="1" dirty="0" err="1"/>
              <a:t>Espace</a:t>
            </a:r>
            <a:r>
              <a:rPr lang="en-US" sz="2400" b="1" dirty="0"/>
              <a:t> L) : Conversation group organized by Kot </a:t>
            </a:r>
            <a:r>
              <a:rPr lang="en-US" sz="2400" b="1" dirty="0" err="1"/>
              <a:t>Ardoise</a:t>
            </a:r>
            <a:endParaRPr lang="en-US" sz="2400" dirty="0"/>
          </a:p>
          <a:p>
            <a:r>
              <a:rPr lang="en-US" sz="2400" b="1" dirty="0"/>
              <a:t>Wednesday, 1-2 PM (ESOP 22) Group mentoring </a:t>
            </a:r>
            <a:r>
              <a:rPr lang="en-US" sz="2400" b="1" dirty="0" err="1"/>
              <a:t>organised</a:t>
            </a:r>
            <a:r>
              <a:rPr lang="en-US" sz="2400" b="1" dirty="0"/>
              <a:t> by ESN</a:t>
            </a:r>
            <a:br>
              <a:rPr lang="en-US" sz="2400" b="1" dirty="0"/>
            </a:br>
            <a:endParaRPr lang="en-US" sz="2400" dirty="0"/>
          </a:p>
          <a:p>
            <a:pPr>
              <a:buFontTx/>
              <a:buChar char="-"/>
            </a:pPr>
            <a:r>
              <a:rPr lang="fr-F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19 octobre à 13 h (gare) : </a:t>
            </a:r>
            <a:r>
              <a:rPr lang="fr-FR" sz="2400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visite </a:t>
            </a:r>
            <a:r>
              <a:rPr lang="fr-F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de l’abbaye de Villers-la-Ville</a:t>
            </a:r>
          </a:p>
          <a:p>
            <a:pPr marL="0" indent="0">
              <a:buNone/>
            </a:pPr>
            <a:endParaRPr lang="fr-FR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FontTx/>
              <a:buChar char="-"/>
            </a:pP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Tandem</a:t>
            </a:r>
            <a:r>
              <a:rPr lang="fr-BE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: </a:t>
            </a:r>
            <a:r>
              <a:rPr lang="fr-BE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hlinkClick r:id="rId2"/>
              </a:rPr>
              <a:t>http://tandem.uclouvain.be/</a:t>
            </a:r>
            <a:r>
              <a:rPr lang="fr-BE" sz="2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endParaRPr lang="fr-BE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>
              <a:buFontTx/>
              <a:buChar char="-"/>
            </a:pP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Soirée Match up </a:t>
            </a: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le </a:t>
            </a: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9 octobre à </a:t>
            </a: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18 h 30, </a:t>
            </a: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</a:t>
            </a:r>
            <a:r>
              <a:rPr lang="fr-BE" sz="2400" baseline="300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er</a:t>
            </a:r>
            <a:r>
              <a:rPr lang="fr-BE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étage de l’ILV</a:t>
            </a:r>
            <a:endParaRPr lang="fr-BE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fr-BE" sz="2400" dirty="0"/>
          </a:p>
        </p:txBody>
      </p:sp>
    </p:spTree>
    <p:extLst>
      <p:ext uri="{BB962C8B-B14F-4D97-AF65-F5344CB8AC3E}">
        <p14:creationId xmlns:p14="http://schemas.microsoft.com/office/powerpoint/2010/main" val="1291637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/>
              <a:t>Cours supplémentaire</a:t>
            </a:r>
            <a:endParaRPr lang="fr-BE" dirty="0"/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fr-FR" sz="2400" dirty="0" smtClean="0">
                <a:solidFill>
                  <a:srgbClr val="FF0000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La Prononciation en dialogues</a:t>
            </a:r>
            <a:endParaRPr lang="fr-FR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fr-F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lundi de 16 h 15 à 18 h 15 avec </a:t>
            </a:r>
            <a:r>
              <a:rPr lang="fr-F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Geneviève Briet</a:t>
            </a:r>
            <a:endParaRPr lang="fr-FR" sz="2400" dirty="0" smtClean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0" indent="0">
              <a:buNone/>
            </a:pPr>
            <a:r>
              <a:rPr lang="fr-F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(ESOP </a:t>
            </a:r>
            <a:r>
              <a:rPr lang="fr-F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13)   </a:t>
            </a:r>
            <a:r>
              <a:rPr lang="fr-FR" sz="2400" dirty="0" smtClean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3 ECTS</a:t>
            </a:r>
            <a:endParaRPr lang="fr-FR" sz="2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77841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3" name="AutoShape 2" descr="data:image/jpeg;base64,/9j/4AAQSkZJRgABAQAAAQABAAD/2wBDAAkGBwgHBgkIBwgKCgkLDRYPDQwMDRsUFRAWIB0iIiAdHx8kKDQsJCYxJx8fLT0tMTU3Ojo6Iys/RD84QzQ5Ojf/2wBDAQoKCg0MDRoPDxo3JR8lNzc3Nzc3Nzc3Nzc3Nzc3Nzc3Nzc3Nzc3Nzc3Nzc3Nzc3Nzc3Nzc3Nzc3Nzc3Nzc3Nzf/wAARCACXAK0DASIAAhEBAxEB/8QAHAABAAIDAQEBAAAAAAAAAAAAAAQFAQMGAgcI/8QAQxAAAQMCAwMJBQYDBgcAAAAAAQACAwQRBRIhBjFRExQVFiJBYZHRVVZxk5QjQmKBobEyUnIHJDM1weFDRlOCksLw/8QAGgEBAAIDAQAAAAAAAAAAAAAAAAEEAgMFBv/EADERAAIBAwMDAgMGBwAAAAAAAAABAgMEERMxUQUSIUFhMoHwIzNScZGhBhQiscHR4f/aAAwDAQACEQMRAD8A4LM7ifNMzuJ80RemPPZGZ3E+aZncT5oiDIzO4nzTM7ifNEQZGZ3E+aZncT5ol0HkZncT5pmdxPmg1U7DMKrMUflpIrtB7Uj9GN/P0WurVhSi5zeEiYxlJ4RCu7+Y+a9RiSU2jzvPBgJ/Zd5hmyNBSgOrL1coGodowH4d/wCam1GN4Rhg5Pl42luhjgbcjyXn6n8RQnPstKbm/wBi8rJxWaksHzl9PUsF3wztHFzHBacxO5x813nXfDw4gU9aRxDWD/2XmWo2e2j+yc8Q1R0Y5zcj7/HcfgtkOr3UPNxbuMeV5wYu2pv4J5ZwxLh3nzWMzuJ81IxCjlw+slpJx9pGbXto4dxHxUdd2E4zipR2ZSaaeGMzuJ80zO4nzRFmMjM7ifNMzuJ80RBkZncT5pmdxPmiIMhERCAiIgCIiALI17vgsDdcrt9ldmxAI67EGDlyM0UTv+GOJHH9lR6hf0rKl31N/Rcs30aMqssIhbP7KPqA2pxUOZFvbANHO/q4Dw3q9xTHcPwSPm8TWvlaLNghsA348P3VTtJtTq+kwqS1tH1DT5hvqqepqsNfg7Io4Rzy+dzjmIzHRxBvqdBv0XnVaXV/OFe9T7W/EV6e79i+p06SlGk1levP5HubEsY2gqOQY54icbZImkMaPxH1KpXxSRODZYnxOA/gewtI/Irfh9fNh8zpqYgSFhaHEXtfvt3/AO68z1BqKp9Q9oLnvzObc2P+y9JQouhNwpwSp48Y3yUZyjOKbb7jQh3G/crjGanDZqenZh8Ia6MZHEg7hrpc6i5Ou9e9lsHdiVcJZQRSQuBebaPPc0f6qJX0YWzr1U449Hv9MOg9Xsi8mzaqGRlNhE9Rfl5KQNkJ3ktDd/8A5KgK6r+0CoY+spKdpu6JjnOHDNa37LlStXR5yqWUJy8Zy/lkXSSqtBERdIrhERAEREAREQBERAECLLWuc4NYLucbAcSjePJKOl2MwdtXUmvqGjkIXWjadzn8fgP3U3bLHXMvhtGbOt9u9rtR+H1VxK9mzuzotZxgiDRb78h0v+ZK+dwxVFdVZIgJJ5XE9pwGYnfvK8lZwXUbud7Wf2cPEePHr8tzpVM0KcaUPie5ZVxwnoiEUrBzpurmCQnLm3627VrD4XVNuH5KXidBNh1XJBMG6OOQhwJc3jYG4/NRF6S0hBU8wk5J+U853KdeUnLDjjHgJ4q/wvZWrxGnjqBUU8cEgu1wu4+Xd5rpcN2Tw6jcHzg1cg1vKBkH/b63XPu+vWdu3Hu7pL0Rsp2dWfnGEcpgez9VisjZC0xUl9ZXj+K2+w7/AI7l2FbVUuzeF2jaGgAiCK+r3f8A2pK04vtPQ4e0w02WoqG6ZGHst+J/0C5SOmxHaCSprHyNkcxhIGdose5oBPZHjuXGlGv1KSr3v2dBej8ZLkXGgnTo/wBUmVlXPLVVMlRUOzSyOu4rUsvaWusSCeIII8xoVhexgkopR2OS8t+QiL2YZWwNndG4ROdka8jQngEbS3GGeERFJAREQBERAEREAU3A2Nkxmha7cZ2fuoS3Uc/NqyCf/pSNf5G61V4uVKSW+GZwaUk2dd/aBUkRUdK0kB5dI7XhYD9z5LjoZXwSsljOWRhu13ArqNv+3U4fKzVjon5T+YP7ELlPguX0KnGPToLG+c/q8lm7k9ds21M8tS8STuL32yh53m3E9+9alc1uI0U2ERU0VNGyoZYl4isLn+LLrodAqa2uu7iujbTcotOHbh4/0aa0cS3zks8Mx6vwuF0VJI3kyb5XtuAfDgvFfjeJV4LamqeWHexnZb5Df+ar9Vkb7FR/J2+o6vYu7nCI1Z47cvBg2KkU1XU0oJgldEHG5y/ftffxGp0Wjd3a7xfvVvieI0lTh0FPBTRsmj0c8RWBuLnLrp2uKV5PujHsynv7GVOPhy7sNFP+Vk+O5e4o3SyMijY98jzZrWi5cfBdRQ4JS4PAMRx9wzD/AA6Ya3PdfifDcO9Y3V7Ttoru8yeyW7+uSKdKVR+NuSBhGCxupTieLOMNAwAhv3peAHh+/coOLYg7EKgEMENPGMsMLdAxvrxWzGsYqMXqOUl7ELL8lE3c0cTxPiq1a7WhVlLWuPi9F6RX+Xyyak4pdkNueQURFfNAREQBERAEREARECEnQQyHF9nuZAXrKDtxN73x7iB4gfsFz6201RLS1EdRA8sljOZrh3K7FLRY+c9JIyjxF2r6eQ2jlPeWnu+C53iyk8/dt5zw/XPsb/vUvxf3KAW71b1GIUL8Ejpo6aNtU2zi7kzludDbXfYDw3rRVYFidKbSUUzgDvjaXg+SjChrC6wo6knwhd6LZOVvcdsu9eHlYZMHUpZilv7EnBMPjxKtbBLKI2BuZwINy0b7Hdw3qJVQGjqXwOkZK+I2cQ02LhvGvcptLgeLTtIjoZ2h2h5QZLj87K4pNjKyV+fEaqOMb3Bl3uP5nQfqq1a/t6FVzqVl24+Hd/sZxpSnBRjDzyVmLV9BUUdPBRUzI5I+y45LXB17Ou7MTv1W3Cdl6+uyySjm0B+88dojwb6q8E2zmzt+RAnqR/KeUff47m/oqPF9qK6vzRwnm0B0LYz2iPF3oqVCtd1YadnBxh+Ke/yRtqqnnuqvL4RcT1uE7MRPgw+IVFaRZ7iQbH8R7vgFyVfXVOIVBnq5M7zu7g0cAO4KMNN2iyupZ9Phbtzk+6b3k9/+FWrXlPxsuBdERXzQEREAREQBFddUdo/Ydf8AJKdUdo/Ydf8AJKw1Icoz058FKiuuqO0fsOv+SU6o7R+w6/5JTUhyhpz4KVFddUdo/Ydf8kp1Q2j9h1/ySmpDlE6c+ClTfvV11R2j9h1/ySs9UdpPYdf8kpqQ5Q058M0Ue0OK0YDYqtz2D7soDx5nX9VZN21xENAfDTuPEZh/qonVHaP2HX/JKx1R2j9h1/ySqFSw6fVeZwj9fkblUuI7ZN022GKSXEYgiv3tjuR5kqrq8Vr60EVVXLIDvBNh5DRTuqO0nsOv+SU6o7Sew6/5JWdGzsaDzThFfoRKVeW+SkAAFgNFlXXVDaP2HX/JKdUNo/Ydf8kq5qQ5Rq058MpUV11Q2k9h1/ySnVDaT2HX/JKasOUNKfBSorrqhtH7Dr/klOqO0fsOv+SU1Ycoac+ClRXXVHaP2HX/ACSnVHaP2HX/ACSmpDlEac+ClRXXVHaP2HX/ACSnVHaP2HX/ACSmpDlDTnwfpNFlYJsvOHfCjYhWR0NPy0ocbuaxrWNu57nGwAHiSpN1Cxakkq6ePm8jY54ZWzRue27SWncfAi44i6AijHGNitPR1UNUZBE2le1ud7iCQGkEtOgJuDYWN7WXqnxqGaVkEkM8FS6YQuhkaMzHFheCSCQQQDqCRcEbwVoqMOxKrlhq6ianbUU1QJqaBoJjaMjmODnWuSQ9xuALaaGxvqfgtXJWPxQvp24iZYnNZ2jGGMD2hhO+9pH9qw3jTTUDfUbS0FPWClmMjHc8FGXFnZEhjEgue4EOaL8TZbZsaia8w08E9TUl8jWQR5Q52S2Y3cQABmG8jeoDNnXTTSzYg6GQVVTJPUQgEtDXQiINB3nRoJJ777tAsYfgmJ4a6GdtXDV1Ebpmu5UFgljeQW3IBs4ZRc2sbu010AsH47TMYxzmTtLxfI6Ozh9oI7EH8TgrQEqgrMHrquNrpqqGSpEfaOUtbflWSAD8IDbcVd0pqTGedsia/NoInFwt8SBqgNqwV6WCgKrpdz5nCCiqZqdk3IOnZlIDr2JDb3IB0Jtx4LUMfaftuZ1Aoecchzo5ct82XNlvmy5uzcjx3arDMMxCCV8VHXRRUL6gzkCEmVuZ2ZzQb2sXE6kXAJHitTsCrDFzA1sZwzl+VLeR+1LeUz8ne9st9L2vl039pAZpdqaOphfIyKcOZXCidG9oDg4yGMP8Wki9/A94IQbSs5hUVxoqk0sMMsudhY64jvoQDdpIBsD8DY6KNLsnnFA9lWY5aWsM8hazSdnLGUMcPAkWPcb9xIWufZWpqW1DZ6qmbJJTSwGqhpsk0+ZhaDKQbOte+g36i25AWb8ddDRmqqKGaOMOiYLSRvJMj2sG5x3F1yrDD61ldA+WNjmhk0sJDt92PLCfgS1UEOzDmUklM2LCaUPkgeX0VFyRdycjX9rXX+EjwurHCKHEKGWaOaopZKR880zQ2FzZBnkc8AkuI0zW3IC3RLpdAES6ygCj4g6dlDUOpGh9S2JxiadxfbQedlXHEsYB/wAgkPjzuLX9VjpPGPd+T6uL1QFJTzUo6Lkwmrlkqpg/ng5dz3GPk3ZnSNJ0IeGC9rgmwtcq02RpJYcOp5p4I43Ppo+22qklL9Lm+cCx3LcMRxYEkbOvBO887i1/VZ6Sxj3fk+ri9UBQ7PTRSOkLpqV85qKpoccQe6a4kkAHJnTS1rX0AULFsXE2xcTaSukNZDgdRJMY5DykTmwWu83u1wfx1uDwK6vpLF/d6T6uL1WBiGLAkjZ14Lt/96i1/VAc7K+topZ433opDTsc2OCqfNy0PKMEsozWyuY0uGmvaBudAPGP1EMDZIsCqGyUb4oucFlU7K2V1RCIwHXNi8OkvbW1vC/TdJYv7vSfVxeqwMQxYCw2deBwFXF6oCjxOlqqFsL6ow08E9fG1tO6vk5IARyXJkIBFzbsgWu0d5K6bAjC6gHIOgIznNyE5maD/Udd1lG6Rxc/8vP+ri9UGJYwN2z8n1cXqgLpYO5U3SeMe78n1cXqnSWMe78n1cXqgKFwonTV4pg3pwYkTCWA8oBnbvt9y1730stWyHNhXfbPw3nRravK18budf40ltSf5bW0/hsuj6Txj3fk+ri9U6Sxj3fk+ri9UBqFdSU20NfBV1TInTxQNiY91i89saKhZS0VDjM9NLJhgZA+COLn7XPlLWxsAyuuO8cN910fSWMe78n1cXqnSWMe78n1cXqgKKmqAyCXCZJXHEnY2+cQE3fyJqzIHf0ZO/d3KHh9DVQHC6psEEPKST2qImOErpTnDGSE6ZXXOp7w0W1BHU9JYx7vyfVxeqdJYx7vyfVxeqAoqc0OWgZhQPSTQefjXlA0xuL+W/EXWtfv3aKIcHni2TdWthpqW+EFj2RZyZnOawhz926x7idTqNb9R0ljHu/J9XF6p0ljHu/J9XF6oDTssaL+8Ckfhb33GY4ewt0/FqV0CpeksY935Pq4vVOk8Y935Pq4vVAXSIiAIiIAiIgCIiAIiIAiIgCIiAIiIAiIgCIiAIiIAiIgCIiAIiIAiIgCIiAIiIAiIgCIiAIiIAiIgCIiA//Z"/>
          <p:cNvSpPr>
            <a:spLocks noChangeAspect="1" noChangeArrowheads="1"/>
          </p:cNvSpPr>
          <p:nvPr/>
        </p:nvSpPr>
        <p:spPr bwMode="auto">
          <a:xfrm>
            <a:off x="5988050" y="468314"/>
            <a:ext cx="935038" cy="81597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algn="l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endParaRPr lang="fr-BE" altLang="fr-FR" sz="1050">
              <a:latin typeface="Arial" panose="020B0604020202020204" pitchFamily="34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6084" name="AutoShape 4" descr="data:image/jpeg;base64,/9j/4AAQSkZJRgABAQAAAQABAAD/2wBDAAkGBwgHBgkIBwgKCgkLDRYPDQwMDRsUFRAWIB0iIiAdHx8kKDQsJCYxJx8fLT0tMTU3Ojo6Iys/RD84QzQ5Ojf/2wBDAQoKCg0MDRoPDxo3JR8lNzc3Nzc3Nzc3Nzc3Nzc3Nzc3Nzc3Nzc3Nzc3Nzc3Nzc3Nzc3Nzc3Nzc3Nzc3Nzc3Nzf/wAARCACXAK0DASIAAhEBAxEB/8QAHAABAAIDAQEBAAAAAAAAAAAAAAQFAQMGAgcI/8QAQxAAAQMCAwMJBQYDBgcAAAAAAQACAwQRBRIhBjFRExQVFiJBYZHRVVZxk5QjQmKBobEyUnIHJDM1weFDRlOCksLw/8QAGgEBAAIDAQAAAAAAAAAAAAAAAAEEAgMFBv/EADERAAIBAwMDAgMGBwAAAAAAAAABAgMEERMxUQUSIUFhMoHwIzNScZGhBhQiscHR4f/aAAwDAQACEQMRAD8A4LM7ifNMzuJ80RemPPZGZ3E+aZncT5oiDIzO4nzTM7ifNEQZGZ3E+aZncT5ol0HkZncT5pmdxPmg1U7DMKrMUflpIrtB7Uj9GN/P0WurVhSi5zeEiYxlJ4RCu7+Y+a9RiSU2jzvPBgJ/Zd5hmyNBSgOrL1coGodowH4d/wCam1GN4Rhg5Pl42luhjgbcjyXn6n8RQnPstKbm/wBi8rJxWaksHzl9PUsF3wztHFzHBacxO5x813nXfDw4gU9aRxDWD/2XmWo2e2j+yc8Q1R0Y5zcj7/HcfgtkOr3UPNxbuMeV5wYu2pv4J5ZwxLh3nzWMzuJ81IxCjlw+slpJx9pGbXto4dxHxUdd2E4zipR2ZSaaeGMzuJ80zO4nzRFmMjM7ifNMzuJ80RBkZncT5pmdxPmiIMhERCAiIgCIiALI17vgsDdcrt9ldmxAI67EGDlyM0UTv+GOJHH9lR6hf0rKl31N/Rcs30aMqssIhbP7KPqA2pxUOZFvbANHO/q4Dw3q9xTHcPwSPm8TWvlaLNghsA348P3VTtJtTq+kwqS1tH1DT5hvqqepqsNfg7Io4Rzy+dzjmIzHRxBvqdBv0XnVaXV/OFe9T7W/EV6e79i+p06SlGk1levP5HubEsY2gqOQY54icbZImkMaPxH1KpXxSRODZYnxOA/gewtI/Irfh9fNh8zpqYgSFhaHEXtfvt3/AO68z1BqKp9Q9oLnvzObc2P+y9JQouhNwpwSp48Y3yUZyjOKbb7jQh3G/crjGanDZqenZh8Ia6MZHEg7hrpc6i5Ou9e9lsHdiVcJZQRSQuBebaPPc0f6qJX0YWzr1U449Hv9MOg9Xsi8mzaqGRlNhE9Rfl5KQNkJ3ktDd/8A5KgK6r+0CoY+spKdpu6JjnOHDNa37LlStXR5yqWUJy8Zy/lkXSSqtBERdIrhERAEREAREQBERAECLLWuc4NYLucbAcSjePJKOl2MwdtXUmvqGjkIXWjadzn8fgP3U3bLHXMvhtGbOt9u9rtR+H1VxK9mzuzotZxgiDRb78h0v+ZK+dwxVFdVZIgJJ5XE9pwGYnfvK8lZwXUbud7Wf2cPEePHr8tzpVM0KcaUPie5ZVxwnoiEUrBzpurmCQnLm3627VrD4XVNuH5KXidBNh1XJBMG6OOQhwJc3jYG4/NRF6S0hBU8wk5J+U853KdeUnLDjjHgJ4q/wvZWrxGnjqBUU8cEgu1wu4+Xd5rpcN2Tw6jcHzg1cg1vKBkH/b63XPu+vWdu3Hu7pL0Rsp2dWfnGEcpgez9VisjZC0xUl9ZXj+K2+w7/AI7l2FbVUuzeF2jaGgAiCK+r3f8A2pK04vtPQ4e0w02WoqG6ZGHst+J/0C5SOmxHaCSprHyNkcxhIGdose5oBPZHjuXGlGv1KSr3v2dBej8ZLkXGgnTo/wBUmVlXPLVVMlRUOzSyOu4rUsvaWusSCeIII8xoVhexgkopR2OS8t+QiL2YZWwNndG4ROdka8jQngEbS3GGeERFJAREQBERAEREAU3A2Nkxmha7cZ2fuoS3Uc/NqyCf/pSNf5G61V4uVKSW+GZwaUk2dd/aBUkRUdK0kB5dI7XhYD9z5LjoZXwSsljOWRhu13ArqNv+3U4fKzVjon5T+YP7ELlPguX0KnGPToLG+c/q8lm7k9ds21M8tS8STuL32yh53m3E9+9alc1uI0U2ERU0VNGyoZYl4isLn+LLrodAqa2uu7iujbTcotOHbh4/0aa0cS3zks8Mx6vwuF0VJI3kyb5XtuAfDgvFfjeJV4LamqeWHexnZb5Df+ar9Vkb7FR/J2+o6vYu7nCI1Z47cvBg2KkU1XU0oJgldEHG5y/ftffxGp0Wjd3a7xfvVvieI0lTh0FPBTRsmj0c8RWBuLnLrp2uKV5PujHsynv7GVOPhy7sNFP+Vk+O5e4o3SyMijY98jzZrWi5cfBdRQ4JS4PAMRx9wzD/AA6Ya3PdfifDcO9Y3V7Ttoru8yeyW7+uSKdKVR+NuSBhGCxupTieLOMNAwAhv3peAHh+/coOLYg7EKgEMENPGMsMLdAxvrxWzGsYqMXqOUl7ELL8lE3c0cTxPiq1a7WhVlLWuPi9F6RX+Xyyak4pdkNueQURFfNAREQBERAEREARECEnQQyHF9nuZAXrKDtxN73x7iB4gfsFz6201RLS1EdRA8sljOZrh3K7FLRY+c9JIyjxF2r6eQ2jlPeWnu+C53iyk8/dt5zw/XPsb/vUvxf3KAW71b1GIUL8Ejpo6aNtU2zi7kzludDbXfYDw3rRVYFidKbSUUzgDvjaXg+SjChrC6wo6knwhd6LZOVvcdsu9eHlYZMHUpZilv7EnBMPjxKtbBLKI2BuZwINy0b7Hdw3qJVQGjqXwOkZK+I2cQ02LhvGvcptLgeLTtIjoZ2h2h5QZLj87K4pNjKyV+fEaqOMb3Bl3uP5nQfqq1a/t6FVzqVl24+Hd/sZxpSnBRjDzyVmLV9BUUdPBRUzI5I+y45LXB17Ou7MTv1W3Cdl6+uyySjm0B+88dojwb6q8E2zmzt+RAnqR/KeUff47m/oqPF9qK6vzRwnm0B0LYz2iPF3oqVCtd1YadnBxh+Ke/yRtqqnnuqvL4RcT1uE7MRPgw+IVFaRZ7iQbH8R7vgFyVfXVOIVBnq5M7zu7g0cAO4KMNN2iyupZ9Phbtzk+6b3k9/+FWrXlPxsuBdERXzQEREAREQBFddUdo/Ydf8AJKdUdo/Ydf8AJKw1Icoz058FKiuuqO0fsOv+SU6o7R+w6/5JTUhyhpz4KVFddUdo/Ydf8kp1Q2j9h1/ySmpDlE6c+ClTfvV11R2j9h1/ySs9UdpPYdf8kpqQ5Q058M0Ue0OK0YDYqtz2D7soDx5nX9VZN21xENAfDTuPEZh/qonVHaP2HX/JKx1R2j9h1/ySqFSw6fVeZwj9fkblUuI7ZN022GKSXEYgiv3tjuR5kqrq8Vr60EVVXLIDvBNh5DRTuqO0nsOv+SU6o7Sew6/5JWdGzsaDzThFfoRKVeW+SkAAFgNFlXXVDaP2HX/JKdUNo/Ydf8kq5qQ5Rq058MpUV11Q2k9h1/ySnVDaT2HX/JKasOUNKfBSorrqhtH7Dr/klOqO0fsOv+SU1Ycoac+ClRXXVHaP2HX/ACSnVHaP2HX/ACSmpDlEac+ClRXXVHaP2HX/ACSnVHaP2HX/ACSmpDlDTnwfpNFlYJsvOHfCjYhWR0NPy0ocbuaxrWNu57nGwAHiSpN1Cxakkq6ePm8jY54ZWzRue27SWncfAi44i6AijHGNitPR1UNUZBE2le1ud7iCQGkEtOgJuDYWN7WXqnxqGaVkEkM8FS6YQuhkaMzHFheCSCQQQDqCRcEbwVoqMOxKrlhq6ianbUU1QJqaBoJjaMjmODnWuSQ9xuALaaGxvqfgtXJWPxQvp24iZYnNZ2jGGMD2hhO+9pH9qw3jTTUDfUbS0FPWClmMjHc8FGXFnZEhjEgue4EOaL8TZbZsaia8w08E9TUl8jWQR5Q52S2Y3cQABmG8jeoDNnXTTSzYg6GQVVTJPUQgEtDXQiINB3nRoJJ777tAsYfgmJ4a6GdtXDV1Ebpmu5UFgljeQW3IBs4ZRc2sbu010AsH47TMYxzmTtLxfI6Ozh9oI7EH8TgrQEqgrMHrquNrpqqGSpEfaOUtbflWSAD8IDbcVd0pqTGedsia/NoInFwt8SBqgNqwV6WCgKrpdz5nCCiqZqdk3IOnZlIDr2JDb3IB0Jtx4LUMfaftuZ1Aoecchzo5ct82XNlvmy5uzcjx3arDMMxCCV8VHXRRUL6gzkCEmVuZ2ZzQb2sXE6kXAJHitTsCrDFzA1sZwzl+VLeR+1LeUz8ne9st9L2vl039pAZpdqaOphfIyKcOZXCidG9oDg4yGMP8Wki9/A94IQbSs5hUVxoqk0sMMsudhY64jvoQDdpIBsD8DY6KNLsnnFA9lWY5aWsM8hazSdnLGUMcPAkWPcb9xIWufZWpqW1DZ6qmbJJTSwGqhpsk0+ZhaDKQbOte+g36i25AWb8ddDRmqqKGaOMOiYLSRvJMj2sG5x3F1yrDD61ldA+WNjmhk0sJDt92PLCfgS1UEOzDmUklM2LCaUPkgeX0VFyRdycjX9rXX+EjwurHCKHEKGWaOaopZKR880zQ2FzZBnkc8AkuI0zW3IC3RLpdAES6ygCj4g6dlDUOpGh9S2JxiadxfbQedlXHEsYB/wAgkPjzuLX9VjpPGPd+T6uL1QFJTzUo6Lkwmrlkqpg/ng5dz3GPk3ZnSNJ0IeGC9rgmwtcq02RpJYcOp5p4I43Ppo+22qklL9Lm+cCx3LcMRxYEkbOvBO887i1/VZ6Sxj3fk+ri9UBQ7PTRSOkLpqV85qKpoccQe6a4kkAHJnTS1rX0AULFsXE2xcTaSukNZDgdRJMY5DykTmwWu83u1wfx1uDwK6vpLF/d6T6uL1WBiGLAkjZ14Lt/96i1/VAc7K+topZ433opDTsc2OCqfNy0PKMEsozWyuY0uGmvaBudAPGP1EMDZIsCqGyUb4oucFlU7K2V1RCIwHXNi8OkvbW1vC/TdJYv7vSfVxeqwMQxYCw2deBwFXF6oCjxOlqqFsL6ow08E9fG1tO6vk5IARyXJkIBFzbsgWu0d5K6bAjC6gHIOgIznNyE5maD/Udd1lG6Rxc/8vP+ri9UGJYwN2z8n1cXqgLpYO5U3SeMe78n1cXqnSWMe78n1cXqgKFwonTV4pg3pwYkTCWA8oBnbvt9y1730stWyHNhXfbPw3nRravK18budf40ltSf5bW0/hsuj6Txj3fk+ri9U6Sxj3fk+ri9UBqFdSU20NfBV1TInTxQNiY91i89saKhZS0VDjM9NLJhgZA+COLn7XPlLWxsAyuuO8cN910fSWMe78n1cXqnSWMe78n1cXqgKKmqAyCXCZJXHEnY2+cQE3fyJqzIHf0ZO/d3KHh9DVQHC6psEEPKST2qImOErpTnDGSE6ZXXOp7w0W1BHU9JYx7vyfVxeqdJYx7vyfVxeqAoqc0OWgZhQPSTQefjXlA0xuL+W/EXWtfv3aKIcHni2TdWthpqW+EFj2RZyZnOawhz926x7idTqNb9R0ljHu/J9XF6p0ljHu/J9XF6oDTssaL+8Ckfhb33GY4ewt0/FqV0CpeksY935Pq4vVOk8Y935Pq4vVAXSIiAIiIAiIgCIiAIiIAiIgCIiAIiIAiIgCIiAIiIAiIgCIiAIiIAiIgCIiAIiIAiIgCIiAIiIAiIgCIiA//Z"/>
          <p:cNvSpPr>
            <a:spLocks noChangeAspect="1" noChangeArrowheads="1"/>
          </p:cNvSpPr>
          <p:nvPr/>
        </p:nvSpPr>
        <p:spPr bwMode="auto">
          <a:xfrm>
            <a:off x="6102350" y="582614"/>
            <a:ext cx="935038" cy="81597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algn="l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endParaRPr lang="fr-BE" altLang="fr-FR" sz="1050">
              <a:latin typeface="Arial" panose="020B0604020202020204" pitchFamily="34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46085" name="AutoShape 6" descr="data:image/jpeg;base64,/9j/4AAQSkZJRgABAQAAAQABAAD/2wBDAAkGBwgHBgkIBwgKCgkLDRYPDQwMDRsUFRAWIB0iIiAdHx8kKDQsJCYxJx8fLT0tMTU3Ojo6Iys/RD84QzQ5Ojf/2wBDAQoKCg0MDRoPDxo3JR8lNzc3Nzc3Nzc3Nzc3Nzc3Nzc3Nzc3Nzc3Nzc3Nzc3Nzc3Nzc3Nzc3Nzc3Nzc3Nzc3Nzf/wAARCACXAK0DASIAAhEBAxEB/8QAHAABAAIDAQEBAAAAAAAAAAAAAAQFAQMGAgcI/8QAQxAAAQMCAwMJBQYDBgcAAAAAAQACAwQRBRIhBjFRExQVFiJBYZHRVVZxk5QjQmKBobEyUnIHJDM1weFDRlOCksLw/8QAGgEBAAIDAQAAAAAAAAAAAAAAAAEEAgMFBv/EADERAAIBAwMDAgMGBwAAAAAAAAABAgMEERMxUQUSIUFhMoHwIzNScZGhBhQiscHR4f/aAAwDAQACEQMRAD8A4LM7ifNMzuJ80RemPPZGZ3E+aZncT5oiDIzO4nzTM7ifNEQZGZ3E+aZncT5ol0HkZncT5pmdxPmg1U7DMKrMUflpIrtB7Uj9GN/P0WurVhSi5zeEiYxlJ4RCu7+Y+a9RiSU2jzvPBgJ/Zd5hmyNBSgOrL1coGodowH4d/wCam1GN4Rhg5Pl42luhjgbcjyXn6n8RQnPstKbm/wBi8rJxWaksHzl9PUsF3wztHFzHBacxO5x813nXfDw4gU9aRxDWD/2XmWo2e2j+yc8Q1R0Y5zcj7/HcfgtkOr3UPNxbuMeV5wYu2pv4J5ZwxLh3nzWMzuJ81IxCjlw+slpJx9pGbXto4dxHxUdd2E4zipR2ZSaaeGMzuJ80zO4nzRFmMjM7ifNMzuJ80RBkZncT5pmdxPmiIMhERCAiIgCIiALI17vgsDdcrt9ldmxAI67EGDlyM0UTv+GOJHH9lR6hf0rKl31N/Rcs30aMqssIhbP7KPqA2pxUOZFvbANHO/q4Dw3q9xTHcPwSPm8TWvlaLNghsA348P3VTtJtTq+kwqS1tH1DT5hvqqepqsNfg7Io4Rzy+dzjmIzHRxBvqdBv0XnVaXV/OFe9T7W/EV6e79i+p06SlGk1levP5HubEsY2gqOQY54icbZImkMaPxH1KpXxSRODZYnxOA/gewtI/Irfh9fNh8zpqYgSFhaHEXtfvt3/AO68z1BqKp9Q9oLnvzObc2P+y9JQouhNwpwSp48Y3yUZyjOKbb7jQh3G/crjGanDZqenZh8Ia6MZHEg7hrpc6i5Ou9e9lsHdiVcJZQRSQuBebaPPc0f6qJX0YWzr1U449Hv9MOg9Xsi8mzaqGRlNhE9Rfl5KQNkJ3ktDd/8A5KgK6r+0CoY+spKdpu6JjnOHDNa37LlStXR5yqWUJy8Zy/lkXSSqtBERdIrhERAEREAREQBERAECLLWuc4NYLucbAcSjePJKOl2MwdtXUmvqGjkIXWjadzn8fgP3U3bLHXMvhtGbOt9u9rtR+H1VxK9mzuzotZxgiDRb78h0v+ZK+dwxVFdVZIgJJ5XE9pwGYnfvK8lZwXUbud7Wf2cPEePHr8tzpVM0KcaUPie5ZVxwnoiEUrBzpurmCQnLm3627VrD4XVNuH5KXidBNh1XJBMG6OOQhwJc3jYG4/NRF6S0hBU8wk5J+U853KdeUnLDjjHgJ4q/wvZWrxGnjqBUU8cEgu1wu4+Xd5rpcN2Tw6jcHzg1cg1vKBkH/b63XPu+vWdu3Hu7pL0Rsp2dWfnGEcpgez9VisjZC0xUl9ZXj+K2+w7/AI7l2FbVUuzeF2jaGgAiCK+r3f8A2pK04vtPQ4e0w02WoqG6ZGHst+J/0C5SOmxHaCSprHyNkcxhIGdose5oBPZHjuXGlGv1KSr3v2dBej8ZLkXGgnTo/wBUmVlXPLVVMlRUOzSyOu4rUsvaWusSCeIII8xoVhexgkopR2OS8t+QiL2YZWwNndG4ROdka8jQngEbS3GGeERFJAREQBERAEREAU3A2Nkxmha7cZ2fuoS3Uc/NqyCf/pSNf5G61V4uVKSW+GZwaUk2dd/aBUkRUdK0kB5dI7XhYD9z5LjoZXwSsljOWRhu13ArqNv+3U4fKzVjon5T+YP7ELlPguX0KnGPToLG+c/q8lm7k9ds21M8tS8STuL32yh53m3E9+9alc1uI0U2ERU0VNGyoZYl4isLn+LLrodAqa2uu7iujbTcotOHbh4/0aa0cS3zks8Mx6vwuF0VJI3kyb5XtuAfDgvFfjeJV4LamqeWHexnZb5Df+ar9Vkb7FR/J2+o6vYu7nCI1Z47cvBg2KkU1XU0oJgldEHG5y/ftffxGp0Wjd3a7xfvVvieI0lTh0FPBTRsmj0c8RWBuLnLrp2uKV5PujHsynv7GVOPhy7sNFP+Vk+O5e4o3SyMijY98jzZrWi5cfBdRQ4JS4PAMRx9wzD/AA6Ya3PdfifDcO9Y3V7Ttoru8yeyW7+uSKdKVR+NuSBhGCxupTieLOMNAwAhv3peAHh+/coOLYg7EKgEMENPGMsMLdAxvrxWzGsYqMXqOUl7ELL8lE3c0cTxPiq1a7WhVlLWuPi9F6RX+Xyyak4pdkNueQURFfNAREQBERAEREARECEnQQyHF9nuZAXrKDtxN73x7iB4gfsFz6201RLS1EdRA8sljOZrh3K7FLRY+c9JIyjxF2r6eQ2jlPeWnu+C53iyk8/dt5zw/XPsb/vUvxf3KAW71b1GIUL8Ejpo6aNtU2zi7kzludDbXfYDw3rRVYFidKbSUUzgDvjaXg+SjChrC6wo6knwhd6LZOVvcdsu9eHlYZMHUpZilv7EnBMPjxKtbBLKI2BuZwINy0b7Hdw3qJVQGjqXwOkZK+I2cQ02LhvGvcptLgeLTtIjoZ2h2h5QZLj87K4pNjKyV+fEaqOMb3Bl3uP5nQfqq1a/t6FVzqVl24+Hd/sZxpSnBRjDzyVmLV9BUUdPBRUzI5I+y45LXB17Ou7MTv1W3Cdl6+uyySjm0B+88dojwb6q8E2zmzt+RAnqR/KeUff47m/oqPF9qK6vzRwnm0B0LYz2iPF3oqVCtd1YadnBxh+Ke/yRtqqnnuqvL4RcT1uE7MRPgw+IVFaRZ7iQbH8R7vgFyVfXVOIVBnq5M7zu7g0cAO4KMNN2iyupZ9Phbtzk+6b3k9/+FWrXlPxsuBdERXzQEREAREQBFddUdo/Ydf8AJKdUdo/Ydf8AJKw1Icoz058FKiuuqO0fsOv+SU6o7R+w6/5JTUhyhpz4KVFddUdo/Ydf8kp1Q2j9h1/ySmpDlE6c+ClTfvV11R2j9h1/ySs9UdpPYdf8kpqQ5Q058M0Ue0OK0YDYqtz2D7soDx5nX9VZN21xENAfDTuPEZh/qonVHaP2HX/JKx1R2j9h1/ySqFSw6fVeZwj9fkblUuI7ZN022GKSXEYgiv3tjuR5kqrq8Vr60EVVXLIDvBNh5DRTuqO0nsOv+SU6o7Sew6/5JWdGzsaDzThFfoRKVeW+SkAAFgNFlXXVDaP2HX/JKdUNo/Ydf8kq5qQ5Rq058MpUV11Q2k9h1/ySnVDaT2HX/JKasOUNKfBSorrqhtH7Dr/klOqO0fsOv+SU1Ycoac+ClRXXVHaP2HX/ACSnVHaP2HX/ACSmpDlEac+ClRXXVHaP2HX/ACSnVHaP2HX/ACSmpDlDTnwfpNFlYJsvOHfCjYhWR0NPy0ocbuaxrWNu57nGwAHiSpN1Cxakkq6ePm8jY54ZWzRue27SWncfAi44i6AijHGNitPR1UNUZBE2le1ud7iCQGkEtOgJuDYWN7WXqnxqGaVkEkM8FS6YQuhkaMzHFheCSCQQQDqCRcEbwVoqMOxKrlhq6ianbUU1QJqaBoJjaMjmODnWuSQ9xuALaaGxvqfgtXJWPxQvp24iZYnNZ2jGGMD2hhO+9pH9qw3jTTUDfUbS0FPWClmMjHc8FGXFnZEhjEgue4EOaL8TZbZsaia8w08E9TUl8jWQR5Q52S2Y3cQABmG8jeoDNnXTTSzYg6GQVVTJPUQgEtDXQiINB3nRoJJ777tAsYfgmJ4a6GdtXDV1Ebpmu5UFgljeQW3IBs4ZRc2sbu010AsH47TMYxzmTtLxfI6Ozh9oI7EH8TgrQEqgrMHrquNrpqqGSpEfaOUtbflWSAD8IDbcVd0pqTGedsia/NoInFwt8SBqgNqwV6WCgKrpdz5nCCiqZqdk3IOnZlIDr2JDb3IB0Jtx4LUMfaftuZ1Aoecchzo5ct82XNlvmy5uzcjx3arDMMxCCV8VHXRRUL6gzkCEmVuZ2ZzQb2sXE6kXAJHitTsCrDFzA1sZwzl+VLeR+1LeUz8ne9st9L2vl039pAZpdqaOphfIyKcOZXCidG9oDg4yGMP8Wki9/A94IQbSs5hUVxoqk0sMMsudhY64jvoQDdpIBsD8DY6KNLsnnFA9lWY5aWsM8hazSdnLGUMcPAkWPcb9xIWufZWpqW1DZ6qmbJJTSwGqhpsk0+ZhaDKQbOte+g36i25AWb8ddDRmqqKGaOMOiYLSRvJMj2sG5x3F1yrDD61ldA+WNjmhk0sJDt92PLCfgS1UEOzDmUklM2LCaUPkgeX0VFyRdycjX9rXX+EjwurHCKHEKGWaOaopZKR880zQ2FzZBnkc8AkuI0zW3IC3RLpdAES6ygCj4g6dlDUOpGh9S2JxiadxfbQedlXHEsYB/wAgkPjzuLX9VjpPGPd+T6uL1QFJTzUo6Lkwmrlkqpg/ng5dz3GPk3ZnSNJ0IeGC9rgmwtcq02RpJYcOp5p4I43Ppo+22qklL9Lm+cCx3LcMRxYEkbOvBO887i1/VZ6Sxj3fk+ri9UBQ7PTRSOkLpqV85qKpoccQe6a4kkAHJnTS1rX0AULFsXE2xcTaSukNZDgdRJMY5DykTmwWu83u1wfx1uDwK6vpLF/d6T6uL1WBiGLAkjZ14Lt/96i1/VAc7K+topZ433opDTsc2OCqfNy0PKMEsozWyuY0uGmvaBudAPGP1EMDZIsCqGyUb4oucFlU7K2V1RCIwHXNi8OkvbW1vC/TdJYv7vSfVxeqwMQxYCw2deBwFXF6oCjxOlqqFsL6ow08E9fG1tO6vk5IARyXJkIBFzbsgWu0d5K6bAjC6gHIOgIznNyE5maD/Udd1lG6Rxc/8vP+ri9UGJYwN2z8n1cXqgLpYO5U3SeMe78n1cXqnSWMe78n1cXqgKFwonTV4pg3pwYkTCWA8oBnbvt9y1730stWyHNhXfbPw3nRravK18budf40ltSf5bW0/hsuj6Txj3fk+ri9U6Sxj3fk+ri9UBqFdSU20NfBV1TInTxQNiY91i89saKhZS0VDjM9NLJhgZA+COLn7XPlLWxsAyuuO8cN910fSWMe78n1cXqnSWMe78n1cXqgKKmqAyCXCZJXHEnY2+cQE3fyJqzIHf0ZO/d3KHh9DVQHC6psEEPKST2qImOErpTnDGSE6ZXXOp7w0W1BHU9JYx7vyfVxeqdJYx7vyfVxeqAoqc0OWgZhQPSTQefjXlA0xuL+W/EXWtfv3aKIcHni2TdWthpqW+EFj2RZyZnOawhz926x7idTqNb9R0ljHu/J9XF6p0ljHu/J9XF6oDTssaL+8Ckfhb33GY4ewt0/FqV0CpeksY935Pq4vVOk8Y935Pq4vVAXSIiAIiIAiIgCIiAIiIAiIgCIiAIiIAiIgCIiAIiIAiIgCIiAIiIAiIgCIiAIiIAiIgCIiAIiIAiIgCIiA//Z"/>
          <p:cNvSpPr>
            <a:spLocks noChangeAspect="1" noChangeArrowheads="1"/>
          </p:cNvSpPr>
          <p:nvPr/>
        </p:nvSpPr>
        <p:spPr bwMode="auto">
          <a:xfrm>
            <a:off x="6216650" y="696914"/>
            <a:ext cx="935038" cy="815975"/>
          </a:xfrm>
          <a:prstGeom prst="rect">
            <a:avLst/>
          </a:prstGeom>
          <a:noFill/>
          <a:ln>
            <a:noFill/>
          </a:ln>
          <a:extLst/>
        </p:spPr>
        <p:txBody>
          <a:bodyPr/>
          <a:lstStyle>
            <a:lvl1pPr algn="l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 algn="l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 algn="l" eaLnBrk="0" hangingPunct="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FontTx/>
              <a:buNone/>
              <a:defRPr/>
            </a:pPr>
            <a:endParaRPr lang="fr-BE" altLang="fr-FR" sz="1050">
              <a:latin typeface="Arial" panose="020B0604020202020204" pitchFamily="34" charset="0"/>
              <a:ea typeface="ＭＳ Ｐゴシック" pitchFamily="-65" charset="-128"/>
              <a:cs typeface="ＭＳ Ｐゴシック" pitchFamily="-65" charset="-128"/>
            </a:endParaRPr>
          </a:p>
        </p:txBody>
      </p:sp>
      <p:sp>
        <p:nvSpPr>
          <p:cNvPr id="23557" name="ZoneTexte 4"/>
          <p:cNvSpPr txBox="1">
            <a:spLocks noChangeArrowheads="1"/>
          </p:cNvSpPr>
          <p:nvPr/>
        </p:nvSpPr>
        <p:spPr bwMode="auto">
          <a:xfrm>
            <a:off x="2047875" y="3500438"/>
            <a:ext cx="1790700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fr-BE" altLang="fr-FR" sz="1600">
                <a:solidFill>
                  <a:srgbClr val="7F7F7F"/>
                </a:solidFill>
              </a:rPr>
              <a:t> </a:t>
            </a:r>
            <a:r>
              <a:rPr lang="fr-BE" altLang="fr-FR" sz="1600" b="1"/>
              <a:t>Etudiant</a:t>
            </a:r>
            <a:r>
              <a:rPr lang="fr-BE" altLang="fr-FR" sz="1600" b="1">
                <a:solidFill>
                  <a:srgbClr val="7F7F7F"/>
                </a:solidFill>
              </a:rPr>
              <a:t> </a:t>
            </a:r>
            <a:r>
              <a:rPr lang="fr-BE" altLang="fr-FR" sz="1600" b="1"/>
              <a:t>libre</a:t>
            </a:r>
            <a:r>
              <a:rPr lang="fr-BE" altLang="fr-FR" sz="1600" b="1">
                <a:solidFill>
                  <a:srgbClr val="7F7F7F"/>
                </a:solidFill>
              </a:rPr>
              <a:t> (cours hors-programme) :</a:t>
            </a:r>
            <a:r>
              <a:rPr lang="fr-BE" altLang="fr-FR" sz="1600">
                <a:solidFill>
                  <a:srgbClr val="7F7F7F"/>
                </a:solidFill>
              </a:rPr>
              <a:t> </a:t>
            </a:r>
          </a:p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fr-BE" altLang="fr-FR" sz="1600">
                <a:solidFill>
                  <a:srgbClr val="7F7F7F"/>
                </a:solidFill>
              </a:rPr>
              <a:t>à l’ILV (bureaux a A134 et A137) </a:t>
            </a:r>
          </a:p>
          <a:p>
            <a:pPr eaLnBrk="1" hangingPunct="1"/>
            <a:endParaRPr lang="fr-BE" altLang="fr-FR" sz="1300"/>
          </a:p>
        </p:txBody>
      </p:sp>
      <p:sp>
        <p:nvSpPr>
          <p:cNvPr id="23558" name="ZoneTexte 10"/>
          <p:cNvSpPr txBox="1">
            <a:spLocks noChangeArrowheads="1"/>
          </p:cNvSpPr>
          <p:nvPr/>
        </p:nvSpPr>
        <p:spPr bwMode="auto">
          <a:xfrm>
            <a:off x="4033839" y="3500439"/>
            <a:ext cx="2566987" cy="180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fr-BE" altLang="fr-FR" sz="1600" b="1" dirty="0"/>
              <a:t>Etudiant régulier UCL</a:t>
            </a:r>
            <a:r>
              <a:rPr lang="fr-BE" altLang="fr-FR" sz="1600" b="1" dirty="0">
                <a:solidFill>
                  <a:srgbClr val="7F7F7F"/>
                </a:solidFill>
              </a:rPr>
              <a:t> (cours au programme) :</a:t>
            </a:r>
          </a:p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fr-BE" altLang="fr-FR" sz="1600" dirty="0">
                <a:solidFill>
                  <a:srgbClr val="7F7F7F"/>
                </a:solidFill>
              </a:rPr>
              <a:t>chez le coordinateur de la Faculté (le cours est inscrit dans votre </a:t>
            </a:r>
            <a:r>
              <a:rPr lang="fr-BE" altLang="fr-FR" sz="1600" dirty="0">
                <a:solidFill>
                  <a:srgbClr val="7F7F7F"/>
                </a:solidFill>
              </a:rPr>
              <a:t>programme)</a:t>
            </a:r>
            <a:endParaRPr lang="fr-FR" altLang="fr-FR" sz="1600" dirty="0">
              <a:solidFill>
                <a:srgbClr val="7F7F7F"/>
              </a:solidFill>
            </a:endParaRPr>
          </a:p>
          <a:p>
            <a:pPr eaLnBrk="1" hangingPunct="1"/>
            <a:endParaRPr lang="fr-BE" altLang="fr-FR" sz="1500" dirty="0"/>
          </a:p>
        </p:txBody>
      </p:sp>
      <p:cxnSp>
        <p:nvCxnSpPr>
          <p:cNvPr id="13" name="Connecteur droit avec flèche 12"/>
          <p:cNvCxnSpPr/>
          <p:nvPr/>
        </p:nvCxnSpPr>
        <p:spPr>
          <a:xfrm flipH="1">
            <a:off x="2825750" y="2968625"/>
            <a:ext cx="1409700" cy="412750"/>
          </a:xfrm>
          <a:prstGeom prst="straightConnector1">
            <a:avLst/>
          </a:prstGeom>
          <a:ln w="412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60" name="Rectangle 15"/>
          <p:cNvSpPr txBox="1">
            <a:spLocks noChangeArrowheads="1"/>
          </p:cNvSpPr>
          <p:nvPr/>
        </p:nvSpPr>
        <p:spPr bwMode="auto">
          <a:xfrm>
            <a:off x="2249489" y="681038"/>
            <a:ext cx="8148637" cy="1276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68580" tIns="34290" rIns="68580" bIns="3429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endParaRPr lang="fr-BE" altLang="fr-FR" sz="3000" dirty="0">
              <a:solidFill>
                <a:schemeClr val="accent1"/>
              </a:solidFill>
              <a:latin typeface="Georgia" panose="02040502050405020303" pitchFamily="18" charset="0"/>
            </a:endParaRPr>
          </a:p>
          <a:p>
            <a:pPr eaLnBrk="1" hangingPunct="1"/>
            <a:r>
              <a:rPr lang="fr-BE" altLang="fr-FR" sz="2400" dirty="0">
                <a:solidFill>
                  <a:schemeClr val="accent1"/>
                </a:solidFill>
                <a:latin typeface="Georgia" panose="02040502050405020303" pitchFamily="18" charset="0"/>
              </a:rPr>
              <a:t/>
            </a:r>
            <a:br>
              <a:rPr lang="fr-BE" altLang="fr-FR" sz="2400" dirty="0">
                <a:solidFill>
                  <a:schemeClr val="accent1"/>
                </a:solidFill>
                <a:latin typeface="Georgia" panose="02040502050405020303" pitchFamily="18" charset="0"/>
              </a:rPr>
            </a:br>
            <a:r>
              <a:rPr lang="fr-BE" altLang="fr-FR" sz="2400" dirty="0">
                <a:solidFill>
                  <a:schemeClr val="accent1"/>
                </a:solidFill>
                <a:latin typeface="Georgia" panose="02040502050405020303" pitchFamily="18" charset="0"/>
              </a:rPr>
              <a:t/>
            </a:r>
            <a:br>
              <a:rPr lang="fr-BE" altLang="fr-FR" sz="2400" dirty="0">
                <a:solidFill>
                  <a:schemeClr val="accent1"/>
                </a:solidFill>
                <a:latin typeface="Georgia" panose="02040502050405020303" pitchFamily="18" charset="0"/>
              </a:rPr>
            </a:br>
            <a:endParaRPr lang="en-GB" altLang="fr-FR" sz="2400" dirty="0">
              <a:solidFill>
                <a:schemeClr val="accent1"/>
              </a:solidFill>
              <a:latin typeface="Georgia" panose="02040502050405020303" pitchFamily="18" charset="0"/>
            </a:endParaRPr>
          </a:p>
        </p:txBody>
      </p:sp>
      <p:cxnSp>
        <p:nvCxnSpPr>
          <p:cNvPr id="14" name="Connecteur droit avec flèche 13"/>
          <p:cNvCxnSpPr/>
          <p:nvPr/>
        </p:nvCxnSpPr>
        <p:spPr>
          <a:xfrm>
            <a:off x="5448300" y="2900363"/>
            <a:ext cx="6350" cy="571500"/>
          </a:xfrm>
          <a:prstGeom prst="straightConnector1">
            <a:avLst/>
          </a:prstGeom>
          <a:ln w="412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avec flèche 15"/>
          <p:cNvCxnSpPr/>
          <p:nvPr/>
        </p:nvCxnSpPr>
        <p:spPr>
          <a:xfrm>
            <a:off x="2825750" y="4756151"/>
            <a:ext cx="0" cy="574675"/>
          </a:xfrm>
          <a:prstGeom prst="straightConnector1">
            <a:avLst/>
          </a:prstGeom>
          <a:ln w="412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63" name="ZoneTexte 16"/>
          <p:cNvSpPr txBox="1">
            <a:spLocks noChangeArrowheads="1"/>
          </p:cNvSpPr>
          <p:nvPr/>
        </p:nvSpPr>
        <p:spPr bwMode="auto">
          <a:xfrm>
            <a:off x="2047876" y="5330825"/>
            <a:ext cx="1985963" cy="1277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fr-BE" altLang="fr-FR" sz="1600" b="1"/>
              <a:t>Paiement</a:t>
            </a:r>
            <a:r>
              <a:rPr lang="fr-BE" altLang="fr-FR" sz="1600" b="1">
                <a:solidFill>
                  <a:srgbClr val="7F7F7F"/>
                </a:solidFill>
              </a:rPr>
              <a:t> </a:t>
            </a:r>
            <a:r>
              <a:rPr lang="fr-BE" altLang="fr-FR" sz="1600">
                <a:solidFill>
                  <a:srgbClr val="7F7F7F"/>
                </a:solidFill>
              </a:rPr>
              <a:t>aux Halles universitaires </a:t>
            </a:r>
          </a:p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fr-BE" altLang="fr-FR" sz="1600">
                <a:solidFill>
                  <a:srgbClr val="7F7F7F"/>
                </a:solidFill>
              </a:rPr>
              <a:t>(90 – 230 euros)</a:t>
            </a:r>
          </a:p>
          <a:p>
            <a:pPr eaLnBrk="1" hangingPunct="1"/>
            <a:endParaRPr lang="fr-BE" altLang="fr-FR" sz="1300"/>
          </a:p>
        </p:txBody>
      </p:sp>
      <p:cxnSp>
        <p:nvCxnSpPr>
          <p:cNvPr id="15" name="Connecteur droit avec flèche 14"/>
          <p:cNvCxnSpPr/>
          <p:nvPr/>
        </p:nvCxnSpPr>
        <p:spPr>
          <a:xfrm>
            <a:off x="7539039" y="2868613"/>
            <a:ext cx="1476375" cy="412750"/>
          </a:xfrm>
          <a:prstGeom prst="straightConnector1">
            <a:avLst/>
          </a:prstGeom>
          <a:ln w="412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565" name="ZoneTexte 6"/>
          <p:cNvSpPr txBox="1">
            <a:spLocks noChangeArrowheads="1"/>
          </p:cNvSpPr>
          <p:nvPr/>
        </p:nvSpPr>
        <p:spPr bwMode="auto">
          <a:xfrm>
            <a:off x="8809038" y="3481388"/>
            <a:ext cx="1858962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chemeClr val="bg2"/>
              </a:buClr>
            </a:pPr>
            <a:r>
              <a:rPr lang="fr-BE" altLang="fr-FR" sz="1600" b="1"/>
              <a:t>Personnel</a:t>
            </a:r>
            <a:r>
              <a:rPr lang="fr-BE" altLang="fr-FR" sz="1600" b="1">
                <a:solidFill>
                  <a:srgbClr val="7F7F7F"/>
                </a:solidFill>
              </a:rPr>
              <a:t> </a:t>
            </a:r>
            <a:r>
              <a:rPr lang="fr-BE" altLang="fr-FR" sz="1600" b="1"/>
              <a:t>UCL</a:t>
            </a:r>
            <a:r>
              <a:rPr lang="fr-BE" altLang="fr-FR" sz="1600" b="1">
                <a:solidFill>
                  <a:srgbClr val="7F7F7F"/>
                </a:solidFill>
              </a:rPr>
              <a:t> </a:t>
            </a:r>
          </a:p>
          <a:p>
            <a:pPr eaLnBrk="1" hangingPunct="1">
              <a:buClr>
                <a:schemeClr val="bg2"/>
              </a:buClr>
            </a:pPr>
            <a:r>
              <a:rPr lang="fr-BE" altLang="fr-FR" sz="1600">
                <a:solidFill>
                  <a:srgbClr val="7F7F7F"/>
                </a:solidFill>
              </a:rPr>
              <a:t>à l’ILV (bureaux a A134 et A137) </a:t>
            </a:r>
          </a:p>
        </p:txBody>
      </p:sp>
      <p:sp>
        <p:nvSpPr>
          <p:cNvPr id="23566" name="Titre 1"/>
          <p:cNvSpPr>
            <a:spLocks noGrp="1"/>
          </p:cNvSpPr>
          <p:nvPr>
            <p:ph type="title"/>
          </p:nvPr>
        </p:nvSpPr>
        <p:spPr>
          <a:xfrm>
            <a:off x="1935163" y="341314"/>
            <a:ext cx="8229600" cy="1069975"/>
          </a:xfrm>
        </p:spPr>
        <p:txBody>
          <a:bodyPr/>
          <a:lstStyle/>
          <a:p>
            <a:pPr eaLnBrk="1" hangingPunct="1"/>
            <a:r>
              <a:rPr lang="fr-BE" altLang="fr-FR" smtClean="0">
                <a:ea typeface="ＭＳ Ｐゴシック" panose="020B0600070205080204" pitchFamily="34" charset="-128"/>
              </a:rPr>
              <a:t>Vous inscrire</a:t>
            </a:r>
          </a:p>
        </p:txBody>
      </p:sp>
      <p:sp>
        <p:nvSpPr>
          <p:cNvPr id="23567" name="Rectangle 18"/>
          <p:cNvSpPr>
            <a:spLocks noChangeArrowheads="1"/>
          </p:cNvSpPr>
          <p:nvPr/>
        </p:nvSpPr>
        <p:spPr bwMode="auto">
          <a:xfrm>
            <a:off x="4494214" y="5700713"/>
            <a:ext cx="56086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24161750" indent="-24161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lvl="1" eaLnBrk="1" hangingPunct="1"/>
            <a:r>
              <a:rPr lang="en-US" altLang="fr-FR">
                <a:solidFill>
                  <a:srgbClr val="C00000"/>
                </a:solidFill>
              </a:rPr>
              <a:t>https://uclouvain.be/fr/etudier/ilv/inscriptions.html</a:t>
            </a:r>
            <a:endParaRPr lang="fr-FR" altLang="fr-FR">
              <a:solidFill>
                <a:srgbClr val="C00000"/>
              </a:solidFill>
            </a:endParaRPr>
          </a:p>
        </p:txBody>
      </p:sp>
      <p:sp>
        <p:nvSpPr>
          <p:cNvPr id="22544" name="Rectangle 16"/>
          <p:cNvSpPr>
            <a:spLocks noChangeArrowheads="1"/>
          </p:cNvSpPr>
          <p:nvPr/>
        </p:nvSpPr>
        <p:spPr bwMode="auto">
          <a:xfrm>
            <a:off x="2028826" y="1289050"/>
            <a:ext cx="8105775" cy="1477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1349375" indent="-134937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150000"/>
              </a:lnSpc>
              <a:defRPr/>
            </a:pPr>
            <a:r>
              <a:rPr lang="fr-BE" altLang="fr-FR" sz="200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1</a:t>
            </a:r>
            <a:r>
              <a:rPr lang="fr-BE" altLang="fr-FR" sz="2000" baseline="3000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re</a:t>
            </a:r>
            <a:r>
              <a:rPr lang="fr-BE" altLang="fr-FR" sz="200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 étape : </a:t>
            </a:r>
            <a:r>
              <a:rPr lang="fr-BE" altLang="fr-FR" sz="2000" dirty="0">
                <a:cs typeface="Arial" panose="020B0604020202020204" pitchFamily="34" charset="0"/>
              </a:rPr>
              <a:t>test de placement A1 sur Moodle (clé = </a:t>
            </a:r>
            <a:r>
              <a:rPr lang="fr-BE" altLang="fr-FR" sz="2000" dirty="0" err="1">
                <a:cs typeface="Arial" panose="020B0604020202020204" pitchFamily="34" charset="0"/>
              </a:rPr>
              <a:t>frantest</a:t>
            </a:r>
            <a:r>
              <a:rPr lang="fr-BE" altLang="fr-FR" sz="2000" dirty="0">
                <a:cs typeface="Arial" panose="020B0604020202020204" pitchFamily="34" charset="0"/>
              </a:rPr>
              <a:t>)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fr-BE" altLang="fr-FR" sz="200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2</a:t>
            </a:r>
            <a:r>
              <a:rPr lang="fr-BE" altLang="fr-FR" sz="2000" baseline="3000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e</a:t>
            </a:r>
            <a:r>
              <a:rPr lang="fr-BE" altLang="fr-FR" sz="200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 étape : </a:t>
            </a:r>
            <a:r>
              <a:rPr lang="fr-BE" altLang="fr-FR" sz="2000" dirty="0">
                <a:cs typeface="Arial" panose="020B0604020202020204" pitchFamily="34" charset="0"/>
              </a:rPr>
              <a:t>confirmation de votre place dans le groupe par le professeur</a:t>
            </a:r>
          </a:p>
          <a:p>
            <a:pPr eaLnBrk="1" hangingPunct="1">
              <a:lnSpc>
                <a:spcPct val="150000"/>
              </a:lnSpc>
              <a:defRPr/>
            </a:pPr>
            <a:r>
              <a:rPr lang="fr-BE" altLang="fr-FR" sz="200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3</a:t>
            </a:r>
            <a:r>
              <a:rPr lang="fr-BE" altLang="fr-FR" sz="2000" baseline="3000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e</a:t>
            </a:r>
            <a:r>
              <a:rPr lang="fr-BE" altLang="fr-FR" sz="2000" dirty="0">
                <a:solidFill>
                  <a:schemeClr val="accent1">
                    <a:lumMod val="75000"/>
                  </a:schemeClr>
                </a:solidFill>
                <a:cs typeface="Arial" panose="020B0604020202020204" pitchFamily="34" charset="0"/>
              </a:rPr>
              <a:t> étape : </a:t>
            </a:r>
            <a:r>
              <a:rPr lang="fr-BE" altLang="fr-FR" sz="2000" dirty="0">
                <a:cs typeface="Arial" panose="020B0604020202020204" pitchFamily="34" charset="0"/>
              </a:rPr>
              <a:t>inscription « officielle » </a:t>
            </a:r>
          </a:p>
        </p:txBody>
      </p:sp>
      <p:sp>
        <p:nvSpPr>
          <p:cNvPr id="23569" name="ZoneTexte 10"/>
          <p:cNvSpPr txBox="1">
            <a:spLocks noChangeArrowheads="1"/>
          </p:cNvSpPr>
          <p:nvPr/>
        </p:nvSpPr>
        <p:spPr bwMode="auto">
          <a:xfrm>
            <a:off x="6557964" y="3481389"/>
            <a:ext cx="2293937" cy="2046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37931725" indent="-37474525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fr-BE" altLang="fr-FR" sz="1600" b="1" dirty="0"/>
              <a:t>Etudiant d’échange </a:t>
            </a:r>
            <a:r>
              <a:rPr lang="fr-BE" altLang="fr-FR" sz="1600" b="1" dirty="0">
                <a:solidFill>
                  <a:srgbClr val="7F7F7F"/>
                </a:solidFill>
              </a:rPr>
              <a:t>(cours dans learning agreement) :</a:t>
            </a:r>
          </a:p>
          <a:p>
            <a:pPr eaLnBrk="1" hangingPunct="1">
              <a:buClr>
                <a:schemeClr val="bg2"/>
              </a:buClr>
              <a:buFont typeface="Wingdings" panose="05000000000000000000" pitchFamily="2" charset="2"/>
              <a:buNone/>
            </a:pPr>
            <a:r>
              <a:rPr lang="fr-BE" altLang="fr-FR" sz="1600" dirty="0">
                <a:solidFill>
                  <a:srgbClr val="7F7F7F"/>
                </a:solidFill>
              </a:rPr>
              <a:t>chez le coordinateur de la Faculté (le cours est inscrit dans votre </a:t>
            </a:r>
            <a:r>
              <a:rPr lang="fr-BE" altLang="fr-FR" sz="1600" dirty="0">
                <a:solidFill>
                  <a:srgbClr val="7F7F7F"/>
                </a:solidFill>
              </a:rPr>
              <a:t>programme)</a:t>
            </a:r>
            <a:endParaRPr lang="fr-FR" altLang="fr-FR" sz="1600" dirty="0">
              <a:solidFill>
                <a:srgbClr val="7F7F7F"/>
              </a:solidFill>
            </a:endParaRPr>
          </a:p>
          <a:p>
            <a:pPr eaLnBrk="1" hangingPunct="1"/>
            <a:endParaRPr lang="fr-BE" altLang="fr-FR" sz="1500" dirty="0"/>
          </a:p>
        </p:txBody>
      </p:sp>
      <p:cxnSp>
        <p:nvCxnSpPr>
          <p:cNvPr id="19" name="Connecteur droit avec flèche 18"/>
          <p:cNvCxnSpPr/>
          <p:nvPr/>
        </p:nvCxnSpPr>
        <p:spPr>
          <a:xfrm>
            <a:off x="6923088" y="2900363"/>
            <a:ext cx="6350" cy="571500"/>
          </a:xfrm>
          <a:prstGeom prst="straightConnector1">
            <a:avLst/>
          </a:prstGeom>
          <a:ln w="41275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68734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BE" sz="2800" dirty="0" smtClean="0"/>
              <a:t>Pour le prochain cours</a:t>
            </a:r>
            <a:endParaRPr lang="fr-BE" sz="2800" dirty="0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contenu 3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pPr lvl="0"/>
            <a:r>
              <a:rPr lang="fr-BE" sz="2000" dirty="0"/>
              <a:t>Test de </a:t>
            </a:r>
            <a:r>
              <a:rPr lang="fr-BE" sz="2000" dirty="0" smtClean="0"/>
              <a:t>placement</a:t>
            </a:r>
            <a:r>
              <a:rPr lang="fr-BE" sz="2000" dirty="0"/>
              <a:t> </a:t>
            </a:r>
            <a:r>
              <a:rPr lang="fr-BE" sz="2000" dirty="0" smtClean="0"/>
              <a:t>(niveau A1, clé = </a:t>
            </a:r>
            <a:r>
              <a:rPr lang="fr-BE" sz="2000" dirty="0" err="1" smtClean="0"/>
              <a:t>frantest</a:t>
            </a:r>
            <a:r>
              <a:rPr lang="fr-BE" sz="2000" dirty="0" smtClean="0"/>
              <a:t>)</a:t>
            </a:r>
            <a:endParaRPr lang="fr-BE" sz="2000" dirty="0" smtClean="0"/>
          </a:p>
          <a:p>
            <a:pPr lvl="0"/>
            <a:r>
              <a:rPr lang="fr-BE" sz="2000" dirty="0" smtClean="0"/>
              <a:t>acheter </a:t>
            </a:r>
            <a:r>
              <a:rPr lang="fr-BE" sz="2000" dirty="0" smtClean="0"/>
              <a:t>le syllabus </a:t>
            </a:r>
            <a:r>
              <a:rPr lang="fr-BE" sz="2000" dirty="0"/>
              <a:t>et </a:t>
            </a:r>
            <a:r>
              <a:rPr lang="fr-BE" sz="2000" dirty="0" smtClean="0"/>
              <a:t>la grammaire</a:t>
            </a:r>
            <a:endParaRPr lang="fr-BE" sz="2000" dirty="0"/>
          </a:p>
          <a:p>
            <a:pPr lvl="0"/>
            <a:r>
              <a:rPr lang="fr-BE" sz="2000" dirty="0"/>
              <a:t>Étudier les nombres, pp. 58-59 de la </a:t>
            </a:r>
            <a:r>
              <a:rPr lang="fr-BE" sz="2000" i="1" dirty="0"/>
              <a:t>Grammaire </a:t>
            </a:r>
            <a:r>
              <a:rPr lang="fr-BE" sz="2000" i="1" dirty="0" smtClean="0"/>
              <a:t>progressive et syllabus p. 32-33.</a:t>
            </a:r>
          </a:p>
          <a:p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788416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te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122</TotalTime>
  <Words>733</Words>
  <Application>Microsoft Office PowerPoint</Application>
  <PresentationFormat>Grand écran</PresentationFormat>
  <Paragraphs>188</Paragraphs>
  <Slides>25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10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25</vt:i4>
      </vt:variant>
    </vt:vector>
  </HeadingPairs>
  <TitlesOfParts>
    <vt:vector size="36" baseType="lpstr">
      <vt:lpstr>MS PGothic</vt:lpstr>
      <vt:lpstr>Arial</vt:lpstr>
      <vt:lpstr>Calibri</vt:lpstr>
      <vt:lpstr>CG Times</vt:lpstr>
      <vt:lpstr>Georgia</vt:lpstr>
      <vt:lpstr>Times New Roman</vt:lpstr>
      <vt:lpstr>Trebuchet MS</vt:lpstr>
      <vt:lpstr>Verdana</vt:lpstr>
      <vt:lpstr>Wingdings</vt:lpstr>
      <vt:lpstr>Wingdings 3</vt:lpstr>
      <vt:lpstr>Facette</vt:lpstr>
      <vt:lpstr>LFRAN 1201« Scénarios louvanistes »</vt:lpstr>
      <vt:lpstr>Agenda</vt:lpstr>
      <vt:lpstr>Infos pratiques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Le cours LFRAN1201</vt:lpstr>
      <vt:lpstr>Le cours LFRAN1201</vt:lpstr>
      <vt:lpstr>Supports</vt:lpstr>
      <vt:lpstr>Certification </vt:lpstr>
      <vt:lpstr>En ligne </vt:lpstr>
      <vt:lpstr>Grammaire</vt:lpstr>
      <vt:lpstr>Dossier TV5Monde</vt:lpstr>
      <vt:lpstr>Activités hors classe</vt:lpstr>
      <vt:lpstr>Cours supplémentaire</vt:lpstr>
      <vt:lpstr>Vous inscrire</vt:lpstr>
      <vt:lpstr>Pour le prochain cours</vt:lpstr>
    </vt:vector>
  </TitlesOfParts>
  <Company>Université Catholique de Louvain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LFRAN 1201« Scénarios louvanistes »</dc:title>
  <dc:creator>G. Briet</dc:creator>
  <cp:lastModifiedBy>G. Briet</cp:lastModifiedBy>
  <cp:revision>9</cp:revision>
  <dcterms:created xsi:type="dcterms:W3CDTF">2018-09-23T13:38:22Z</dcterms:created>
  <dcterms:modified xsi:type="dcterms:W3CDTF">2018-09-23T15:40:33Z</dcterms:modified>
</cp:coreProperties>
</file>