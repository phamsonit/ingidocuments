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3" r:id="rId4"/>
    <p:sldId id="260" r:id="rId5"/>
    <p:sldId id="261" r:id="rId6"/>
    <p:sldId id="275" r:id="rId7"/>
    <p:sldId id="276" r:id="rId8"/>
    <p:sldId id="277" r:id="rId9"/>
    <p:sldId id="272" r:id="rId10"/>
    <p:sldId id="273" r:id="rId11"/>
    <p:sldId id="279" r:id="rId12"/>
    <p:sldId id="274" r:id="rId13"/>
    <p:sldId id="278" r:id="rId14"/>
    <p:sldId id="262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9/26/2018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96043" y="988177"/>
            <a:ext cx="8669846" cy="1646302"/>
          </a:xfrm>
        </p:spPr>
        <p:txBody>
          <a:bodyPr/>
          <a:lstStyle/>
          <a:p>
            <a:pPr algn="l"/>
            <a:r>
              <a:rPr lang="fr-BE" dirty="0" smtClean="0"/>
              <a:t>LFRAN 1201 Se découvrir</a:t>
            </a:r>
            <a:endParaRPr lang="fr-BE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57981" y="4197790"/>
            <a:ext cx="7766936" cy="1096899"/>
          </a:xfrm>
        </p:spPr>
        <p:txBody>
          <a:bodyPr>
            <a:normAutofit/>
          </a:bodyPr>
          <a:lstStyle/>
          <a:p>
            <a:pPr algn="l"/>
            <a:r>
              <a:rPr lang="fr-BE" sz="4000" dirty="0" smtClean="0"/>
              <a:t>Se présenter </a:t>
            </a:r>
            <a:endParaRPr lang="fr-BE" sz="4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692" y="2638411"/>
            <a:ext cx="408622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5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Prononcer  : questions d’identité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Prononcer les nombres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Grammaire : les pays, les villes, l’origine, la situation et la destination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Ecouter : Voisins, voisines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>
                <a:solidFill>
                  <a:srgbClr val="002060"/>
                </a:solidFill>
              </a:rPr>
              <a:t>Parler  : l’interview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Ecrire : se présenter</a:t>
            </a:r>
          </a:p>
          <a:p>
            <a:pPr marL="514350" indent="-514350">
              <a:buFont typeface="+mj-lt"/>
              <a:buAutoNum type="arabicPeriod"/>
            </a:pPr>
            <a:endParaRPr lang="fr-BE" dirty="0" smtClean="0">
              <a:solidFill>
                <a:srgbClr val="002060"/>
              </a:solidFill>
            </a:endParaRPr>
          </a:p>
        </p:txBody>
      </p:sp>
      <p:sp>
        <p:nvSpPr>
          <p:cNvPr id="4" name="Titre 7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8957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fr-BE" dirty="0" smtClean="0">
                <a:solidFill>
                  <a:schemeClr val="bg1"/>
                </a:solidFill>
              </a:rPr>
              <a:t>Au programme</a:t>
            </a:r>
            <a:endParaRPr lang="fr-BE" dirty="0">
              <a:solidFill>
                <a:srgbClr val="004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562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Quel͜  est votre/ton prénom ?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Quelle ͜  est votre/ta nationalité ?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Quelle ͜  est votre/ton ͜  adresse ?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Quel ͜  est votre/ton numéro de téléphone ?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Quelles ͜  études faites-vous/fais-tu ?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Vous ͜  avez/tu as  quel ͜ âge ?</a:t>
            </a:r>
          </a:p>
          <a:p>
            <a:pPr marL="514350" indent="-514350">
              <a:buFont typeface="+mj-lt"/>
              <a:buAutoNum type="arabicPeriod"/>
            </a:pPr>
            <a:r>
              <a:rPr lang="fr-BE" sz="2400" dirty="0" smtClean="0">
                <a:solidFill>
                  <a:srgbClr val="002060"/>
                </a:solidFill>
              </a:rPr>
              <a:t>Vous faites / tu fais du sport ?</a:t>
            </a:r>
            <a:endParaRPr lang="fr-BE" sz="2400" dirty="0">
              <a:solidFill>
                <a:srgbClr val="002060"/>
              </a:solidFill>
            </a:endParaRPr>
          </a:p>
        </p:txBody>
      </p:sp>
      <p:sp>
        <p:nvSpPr>
          <p:cNvPr id="4" name="Titre 7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8957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fr-BE" dirty="0" smtClean="0">
                <a:solidFill>
                  <a:schemeClr val="bg1"/>
                </a:solidFill>
              </a:rPr>
              <a:t>Prononcer</a:t>
            </a:r>
            <a:endParaRPr lang="fr-BE" dirty="0">
              <a:solidFill>
                <a:srgbClr val="004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797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800" dirty="0">
                <a:solidFill>
                  <a:srgbClr val="7030A0"/>
                </a:solidFill>
              </a:rPr>
              <a:t>GPF p. 60 et 61 n°5</a:t>
            </a:r>
          </a:p>
          <a:p>
            <a:pPr lvl="0"/>
            <a:endParaRPr lang="fr-BE" sz="2800" dirty="0" smtClean="0">
              <a:solidFill>
                <a:srgbClr val="FF43A5"/>
              </a:solidFill>
            </a:endParaRPr>
          </a:p>
          <a:p>
            <a:pPr lvl="0"/>
            <a:r>
              <a:rPr lang="fr-BE" sz="2800" dirty="0" smtClean="0">
                <a:solidFill>
                  <a:srgbClr val="FF43A5"/>
                </a:solidFill>
              </a:rPr>
              <a:t>par </a:t>
            </a:r>
            <a:r>
              <a:rPr lang="fr-BE" sz="2800" dirty="0">
                <a:solidFill>
                  <a:srgbClr val="FF43A5"/>
                </a:solidFill>
              </a:rPr>
              <a:t>table</a:t>
            </a:r>
            <a:endParaRPr lang="fr-BE" sz="2800" dirty="0" smtClean="0">
              <a:solidFill>
                <a:srgbClr val="FF43A5"/>
              </a:solidFill>
            </a:endParaRPr>
          </a:p>
          <a:p>
            <a:pPr marL="0" indent="0">
              <a:buNone/>
            </a:pPr>
            <a:r>
              <a:rPr lang="fr-BE" sz="2800" dirty="0" smtClean="0">
                <a:solidFill>
                  <a:srgbClr val="0070C0"/>
                </a:solidFill>
              </a:rPr>
              <a:t>Dire </a:t>
            </a:r>
            <a:r>
              <a:rPr lang="fr-BE" sz="2800" dirty="0">
                <a:solidFill>
                  <a:srgbClr val="0070C0"/>
                </a:solidFill>
              </a:rPr>
              <a:t>son numéro de </a:t>
            </a:r>
            <a:r>
              <a:rPr lang="fr-BE" sz="2800" dirty="0" smtClean="0">
                <a:solidFill>
                  <a:srgbClr val="0070C0"/>
                </a:solidFill>
              </a:rPr>
              <a:t>téléphone</a:t>
            </a:r>
          </a:p>
          <a:p>
            <a:pPr marL="0" indent="0">
              <a:buNone/>
            </a:pPr>
            <a:r>
              <a:rPr lang="fr-BE" sz="2800" i="1" dirty="0" smtClean="0">
                <a:solidFill>
                  <a:srgbClr val="0070C0"/>
                </a:solidFill>
              </a:rPr>
              <a:t>    mon </a:t>
            </a:r>
            <a:r>
              <a:rPr lang="fr-BE" sz="2800" i="1" dirty="0">
                <a:solidFill>
                  <a:srgbClr val="0070C0"/>
                </a:solidFill>
              </a:rPr>
              <a:t>numéro de téléphone est le … </a:t>
            </a:r>
            <a:endParaRPr lang="fr-BE" sz="2800" i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fr-BE" sz="2800" dirty="0">
                <a:solidFill>
                  <a:srgbClr val="0070C0"/>
                </a:solidFill>
              </a:rPr>
              <a:t>et son année de naissance  :  </a:t>
            </a:r>
          </a:p>
          <a:p>
            <a:pPr marL="0" indent="0">
              <a:buNone/>
            </a:pPr>
            <a:r>
              <a:rPr lang="fr-BE" sz="2800" i="1" dirty="0" smtClean="0">
                <a:solidFill>
                  <a:srgbClr val="0070C0"/>
                </a:solidFill>
              </a:rPr>
              <a:t>    Je </a:t>
            </a:r>
            <a:r>
              <a:rPr lang="fr-BE" sz="2800" i="1" dirty="0">
                <a:solidFill>
                  <a:srgbClr val="0070C0"/>
                </a:solidFill>
              </a:rPr>
              <a:t>suis né(e)  en …..</a:t>
            </a:r>
          </a:p>
        </p:txBody>
      </p:sp>
      <p:sp>
        <p:nvSpPr>
          <p:cNvPr id="4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fr-BE" dirty="0" smtClean="0">
                <a:solidFill>
                  <a:schemeClr val="bg1"/>
                </a:solidFill>
              </a:rPr>
              <a:t>Prononcer  les nombres</a:t>
            </a:r>
            <a:endParaRPr lang="fr-BE" dirty="0">
              <a:solidFill>
                <a:srgbClr val="004E9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95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890588"/>
            <a:ext cx="800100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21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Tu viens d’où ?		L’origine </a:t>
            </a:r>
            <a:endParaRPr lang="fr-BE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5156289"/>
              </p:ext>
            </p:extLst>
          </p:nvPr>
        </p:nvGraphicFramePr>
        <p:xfrm>
          <a:off x="600075" y="1398588"/>
          <a:ext cx="867410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525"/>
                <a:gridCol w="2168525"/>
                <a:gridCol w="2168525"/>
                <a:gridCol w="2168525"/>
              </a:tblGrid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de 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d’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du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des</a:t>
                      </a:r>
                      <a:endParaRPr lang="fr-B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Bruxelles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Islande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Luxembourg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Ardennes</a:t>
                      </a:r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954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Tu es où ?	La situation </a:t>
            </a:r>
            <a:endParaRPr lang="fr-BE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9762241"/>
              </p:ext>
            </p:extLst>
          </p:nvPr>
        </p:nvGraphicFramePr>
        <p:xfrm>
          <a:off x="600075" y="1398588"/>
          <a:ext cx="8674100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525"/>
                <a:gridCol w="2168525"/>
                <a:gridCol w="2168525"/>
                <a:gridCol w="2168525"/>
              </a:tblGrid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à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en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au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Dans les / aux</a:t>
                      </a:r>
                      <a:endParaRPr lang="fr-B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Bruxelles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Islande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Luxembourg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Ardennes</a:t>
                      </a:r>
                    </a:p>
                    <a:p>
                      <a:r>
                        <a:rPr lang="fr-BE" dirty="0" smtClean="0"/>
                        <a:t>Etats-Unis</a:t>
                      </a:r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129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Tu vas où ?		La destination </a:t>
            </a:r>
            <a:endParaRPr lang="fr-BE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4969600"/>
              </p:ext>
            </p:extLst>
          </p:nvPr>
        </p:nvGraphicFramePr>
        <p:xfrm>
          <a:off x="600075" y="1398588"/>
          <a:ext cx="867410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8525"/>
                <a:gridCol w="2168525"/>
                <a:gridCol w="2168525"/>
                <a:gridCol w="2168525"/>
              </a:tblGrid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 à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en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au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Dans les / en / aux</a:t>
                      </a:r>
                      <a:endParaRPr lang="fr-B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BE" dirty="0" smtClean="0"/>
                        <a:t>Bruxelles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Islande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Luxembourg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dirty="0" smtClean="0"/>
                        <a:t>Ardennes</a:t>
                      </a:r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 smtClean="0"/>
                    </a:p>
                    <a:p>
                      <a:endParaRPr lang="fr-BE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200275" y="5600700"/>
            <a:ext cx="2733675" cy="895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4" name="ZoneTexte 3"/>
          <p:cNvSpPr txBox="1"/>
          <p:nvPr/>
        </p:nvSpPr>
        <p:spPr>
          <a:xfrm>
            <a:off x="2571750" y="5876925"/>
            <a:ext cx="1990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 smtClean="0"/>
              <a:t>GPF 44-45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597317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Présentez-vous </a:t>
            </a:r>
            <a:br>
              <a:rPr lang="fr-BE" dirty="0" smtClean="0"/>
            </a:br>
            <a:r>
              <a:rPr lang="fr-BE" dirty="0" smtClean="0"/>
              <a:t>aux collègues de votre table</a:t>
            </a:r>
            <a:endParaRPr lang="fr-BE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015937"/>
            <a:ext cx="8114281" cy="46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77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914400"/>
            <a:ext cx="8467725" cy="5943600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704850" y="142875"/>
            <a:ext cx="7686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 smtClean="0">
                <a:solidFill>
                  <a:schemeClr val="accent2"/>
                </a:solidFill>
              </a:rPr>
              <a:t>Ecouter : Voisins, voisines (Moodle)</a:t>
            </a:r>
            <a:endParaRPr lang="fr-BE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039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683326"/>
              </p:ext>
            </p:extLst>
          </p:nvPr>
        </p:nvGraphicFramePr>
        <p:xfrm>
          <a:off x="830488" y="186267"/>
          <a:ext cx="7725026" cy="63381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97351"/>
                <a:gridCol w="3927675"/>
              </a:tblGrid>
              <a:tr h="18377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C’est  Juliette, </a:t>
                      </a:r>
                      <a:r>
                        <a:rPr lang="fr-FR" sz="1000" dirty="0" smtClean="0">
                          <a:effectLst/>
                        </a:rPr>
                        <a:t>_______la</a:t>
                      </a:r>
                      <a:r>
                        <a:rPr lang="fr-FR" sz="1000" baseline="0" dirty="0" smtClean="0">
                          <a:effectLst/>
                        </a:rPr>
                        <a:t> fille</a:t>
                      </a:r>
                      <a:r>
                        <a:rPr lang="fr-FR" sz="1000" dirty="0" smtClean="0">
                          <a:effectLst/>
                        </a:rPr>
                        <a:t>___ </a:t>
                      </a:r>
                      <a:r>
                        <a:rPr lang="fr-FR" sz="1000" dirty="0">
                          <a:effectLst/>
                        </a:rPr>
                        <a:t>de Nathalie et Laurent </a:t>
                      </a:r>
                      <a:r>
                        <a:rPr lang="fr-FR" sz="1000" dirty="0" err="1">
                          <a:effectLst/>
                        </a:rPr>
                        <a:t>Bonomi</a:t>
                      </a:r>
                      <a:r>
                        <a:rPr lang="fr-FR" sz="1000" dirty="0">
                          <a:effectLst/>
                        </a:rPr>
                        <a:t>.</a:t>
                      </a:r>
                      <a:endParaRPr lang="fr-BE" sz="1000" dirty="0">
                        <a:effectLst/>
                        <a:latin typeface="Tahoma" panose="020B060403050404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C’est Nathalie, </a:t>
                      </a:r>
                      <a:r>
                        <a:rPr lang="fr-FR" sz="1000" dirty="0" smtClean="0">
                          <a:effectLst/>
                        </a:rPr>
                        <a:t>___________la</a:t>
                      </a:r>
                      <a:r>
                        <a:rPr lang="fr-FR" sz="1000" baseline="0" dirty="0" smtClean="0">
                          <a:effectLst/>
                        </a:rPr>
                        <a:t> femme / l’épouse</a:t>
                      </a:r>
                      <a:r>
                        <a:rPr lang="fr-FR" sz="1000" dirty="0" smtClean="0">
                          <a:effectLst/>
                        </a:rPr>
                        <a:t>____ </a:t>
                      </a:r>
                      <a:r>
                        <a:rPr lang="fr-FR" sz="1000" dirty="0">
                          <a:effectLst/>
                        </a:rPr>
                        <a:t>de Laurent </a:t>
                      </a:r>
                      <a:r>
                        <a:rPr lang="fr-FR" sz="1000" dirty="0" err="1">
                          <a:effectLst/>
                        </a:rPr>
                        <a:t>Bonomi</a:t>
                      </a:r>
                      <a:r>
                        <a:rPr lang="fr-FR" sz="1000" dirty="0">
                          <a:effectLst/>
                        </a:rPr>
                        <a:t>. C’est </a:t>
                      </a:r>
                      <a:r>
                        <a:rPr lang="fr-FR" sz="1000" dirty="0" smtClean="0">
                          <a:effectLst/>
                        </a:rPr>
                        <a:t>_la maman/ la mère___ </a:t>
                      </a:r>
                      <a:r>
                        <a:rPr lang="fr-FR" sz="1000" dirty="0">
                          <a:effectLst/>
                        </a:rPr>
                        <a:t>de Juliette.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  <a:latin typeface="Tahoma" panose="020B060403050404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4019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C’est Simon, </a:t>
                      </a:r>
                      <a:r>
                        <a:rPr lang="fr-FR" sz="1000" dirty="0" smtClean="0">
                          <a:effectLst/>
                        </a:rPr>
                        <a:t>__________le</a:t>
                      </a:r>
                      <a:r>
                        <a:rPr lang="fr-FR" sz="1000" baseline="0" dirty="0" smtClean="0">
                          <a:effectLst/>
                        </a:rPr>
                        <a:t> mari</a:t>
                      </a:r>
                      <a:r>
                        <a:rPr lang="fr-FR" sz="1000" dirty="0" smtClean="0">
                          <a:effectLst/>
                        </a:rPr>
                        <a:t>____ </a:t>
                      </a:r>
                      <a:r>
                        <a:rPr lang="fr-FR" sz="1000" dirty="0">
                          <a:effectLst/>
                        </a:rPr>
                        <a:t>de Françoise Le </a:t>
                      </a:r>
                      <a:r>
                        <a:rPr lang="fr-FR" sz="1000" dirty="0" err="1">
                          <a:effectLst/>
                        </a:rPr>
                        <a:t>Tallec</a:t>
                      </a:r>
                      <a:r>
                        <a:rPr lang="fr-FR" sz="1000" dirty="0">
                          <a:effectLst/>
                        </a:rPr>
                        <a:t>. </a:t>
                      </a:r>
                      <a:endParaRPr lang="fr-BE" sz="10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(Métier) Il est </a:t>
                      </a:r>
                      <a:r>
                        <a:rPr lang="fr-FR" sz="1000" baseline="0" dirty="0" smtClean="0">
                          <a:effectLst/>
                        </a:rPr>
                        <a:t> architecte</a:t>
                      </a:r>
                      <a:r>
                        <a:rPr lang="fr-FR" sz="1000" dirty="0" smtClean="0">
                          <a:effectLst/>
                        </a:rPr>
                        <a:t>.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BE" sz="1000" dirty="0">
                        <a:effectLst/>
                        <a:latin typeface="Tahoma" panose="020B060403050404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   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Ce sont Louise et Hugo, </a:t>
                      </a:r>
                      <a:r>
                        <a:rPr lang="fr-FR" sz="1000" dirty="0" smtClean="0">
                          <a:effectLst/>
                        </a:rPr>
                        <a:t>__les enfants_ </a:t>
                      </a:r>
                      <a:r>
                        <a:rPr lang="fr-FR" sz="1000" dirty="0">
                          <a:effectLst/>
                        </a:rPr>
                        <a:t>des Le </a:t>
                      </a:r>
                      <a:r>
                        <a:rPr lang="fr-FR" sz="1000" dirty="0" err="1">
                          <a:effectLst/>
                        </a:rPr>
                        <a:t>Tallec</a:t>
                      </a:r>
                      <a:r>
                        <a:rPr lang="fr-FR" sz="1000" dirty="0">
                          <a:effectLst/>
                        </a:rPr>
                        <a:t>.</a:t>
                      </a:r>
                      <a:endParaRPr lang="fr-BE" sz="1000" dirty="0">
                        <a:effectLst/>
                        <a:latin typeface="Tahoma" panose="020B060403050404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0984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C’est Hugo, </a:t>
                      </a:r>
                      <a:r>
                        <a:rPr lang="fr-FR" sz="1000" dirty="0" smtClean="0">
                          <a:effectLst/>
                        </a:rPr>
                        <a:t>____le</a:t>
                      </a:r>
                      <a:r>
                        <a:rPr lang="fr-FR" sz="1000" baseline="0" dirty="0" smtClean="0">
                          <a:effectLst/>
                        </a:rPr>
                        <a:t> fils de </a:t>
                      </a:r>
                      <a:r>
                        <a:rPr lang="fr-FR" sz="1000" dirty="0" smtClean="0">
                          <a:effectLst/>
                        </a:rPr>
                        <a:t>______ </a:t>
                      </a:r>
                      <a:r>
                        <a:rPr lang="fr-FR" sz="1000" dirty="0">
                          <a:effectLst/>
                        </a:rPr>
                        <a:t>de Françoise et Simon Le </a:t>
                      </a:r>
                      <a:r>
                        <a:rPr lang="fr-FR" sz="1000" dirty="0" err="1">
                          <a:effectLst/>
                        </a:rPr>
                        <a:t>Tallec</a:t>
                      </a:r>
                      <a:r>
                        <a:rPr lang="fr-FR" sz="1000" dirty="0">
                          <a:effectLst/>
                        </a:rPr>
                        <a:t>.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(Situation) Il est </a:t>
                      </a:r>
                      <a:r>
                        <a:rPr lang="fr-FR" sz="1000" dirty="0" smtClean="0">
                          <a:effectLst/>
                        </a:rPr>
                        <a:t>____étudiant en sociologie_________</a:t>
                      </a:r>
                      <a:endParaRPr lang="fr-BE" sz="1000" dirty="0">
                        <a:effectLst/>
                        <a:latin typeface="Tahoma" panose="020B060403050404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C’est Laurent </a:t>
                      </a:r>
                      <a:r>
                        <a:rPr lang="fr-FR" sz="1000" dirty="0" err="1">
                          <a:effectLst/>
                        </a:rPr>
                        <a:t>Bonomi</a:t>
                      </a:r>
                      <a:r>
                        <a:rPr lang="fr-FR" sz="1000" dirty="0">
                          <a:effectLst/>
                        </a:rPr>
                        <a:t>, </a:t>
                      </a:r>
                      <a:r>
                        <a:rPr lang="fr-FR" sz="1000" dirty="0" smtClean="0">
                          <a:effectLst/>
                        </a:rPr>
                        <a:t>____le père___ </a:t>
                      </a:r>
                      <a:r>
                        <a:rPr lang="fr-FR" sz="1000" dirty="0">
                          <a:effectLst/>
                        </a:rPr>
                        <a:t>de Juliette </a:t>
                      </a:r>
                      <a:r>
                        <a:rPr lang="fr-FR" sz="1000" dirty="0" err="1">
                          <a:effectLst/>
                        </a:rPr>
                        <a:t>Bonomi</a:t>
                      </a:r>
                      <a:r>
                        <a:rPr lang="fr-FR" sz="1000" dirty="0">
                          <a:effectLst/>
                        </a:rPr>
                        <a:t>.  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00" dirty="0">
                          <a:effectLst/>
                        </a:rPr>
                        <a:t> </a:t>
                      </a:r>
                      <a:endParaRPr lang="fr-BE" sz="10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600"/>
                        </a:spcAft>
                      </a:pPr>
                      <a:r>
                        <a:rPr lang="fr-FR" sz="1000" dirty="0">
                          <a:effectLst/>
                        </a:rPr>
                        <a:t>(Métier) Il est  </a:t>
                      </a:r>
                      <a:r>
                        <a:rPr lang="fr-FR" sz="1000" dirty="0" smtClean="0">
                          <a:effectLst/>
                        </a:rPr>
                        <a:t>__ingénieur___ </a:t>
                      </a:r>
                      <a:r>
                        <a:rPr lang="fr-FR" sz="1000" dirty="0">
                          <a:effectLst/>
                        </a:rPr>
                        <a:t>à la SNCF.</a:t>
                      </a:r>
                      <a:endParaRPr lang="fr-BE" sz="1000" dirty="0">
                        <a:effectLst/>
                        <a:latin typeface="Tahoma" panose="020B060403050404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431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85824" y="609600"/>
            <a:ext cx="8388177" cy="885825"/>
          </a:xfrm>
        </p:spPr>
        <p:txBody>
          <a:bodyPr/>
          <a:lstStyle/>
          <a:p>
            <a:r>
              <a:rPr lang="fr-BE" dirty="0"/>
              <a:t>F</a:t>
            </a:r>
            <a:r>
              <a:rPr lang="fr-BE" dirty="0" smtClean="0"/>
              <a:t>aire une interview pour un magazine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3" y="1495425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fr-BE" b="1" dirty="0"/>
              <a:t>Formez une paire. </a:t>
            </a:r>
            <a:endParaRPr lang="fr-BE" dirty="0"/>
          </a:p>
          <a:p>
            <a:pPr lvl="0"/>
            <a:r>
              <a:rPr lang="fr-BE" dirty="0"/>
              <a:t>Chaque personne a deux rôles : journaliste et personne interrogée.</a:t>
            </a:r>
          </a:p>
          <a:p>
            <a:pPr lvl="0"/>
            <a:r>
              <a:rPr lang="fr-BE" dirty="0"/>
              <a:t>Chaque personne </a:t>
            </a:r>
            <a:r>
              <a:rPr lang="fr-BE" dirty="0" smtClean="0"/>
              <a:t>est journaliste pour un magazine thématique et elle prépare </a:t>
            </a:r>
            <a:r>
              <a:rPr lang="fr-BE" dirty="0"/>
              <a:t>6 questions pour interviewer l’autre sur le thème concerné par le </a:t>
            </a:r>
            <a:r>
              <a:rPr lang="fr-BE" dirty="0" smtClean="0"/>
              <a:t>magazine.</a:t>
            </a:r>
            <a:endParaRPr lang="fr-BE" dirty="0"/>
          </a:p>
          <a:p>
            <a:pPr lvl="0"/>
            <a:r>
              <a:rPr lang="fr-BE" dirty="0"/>
              <a:t>Ensuite, l’étudiant A prend le rôle du journaliste, pose ses six questions et </a:t>
            </a:r>
            <a:r>
              <a:rPr lang="fr-BE" dirty="0" smtClean="0"/>
              <a:t>note </a:t>
            </a:r>
            <a:r>
              <a:rPr lang="fr-BE" dirty="0"/>
              <a:t>les réponses.</a:t>
            </a:r>
          </a:p>
          <a:p>
            <a:pPr lvl="0"/>
            <a:r>
              <a:rPr lang="fr-BE" dirty="0"/>
              <a:t>Puis l’étudiant B prend le rôle du journaliste, pose ses six questions et </a:t>
            </a:r>
            <a:r>
              <a:rPr lang="fr-BE" dirty="0" smtClean="0"/>
              <a:t>note </a:t>
            </a:r>
            <a:r>
              <a:rPr lang="fr-BE" dirty="0"/>
              <a:t>les réponses.</a:t>
            </a:r>
          </a:p>
          <a:p>
            <a:pPr lvl="0"/>
            <a:r>
              <a:rPr lang="fr-BE" dirty="0"/>
              <a:t>Chaque étudiant complète la fiche « interview » </a:t>
            </a:r>
            <a:r>
              <a:rPr lang="fr-BE" dirty="0" smtClean="0"/>
              <a:t>et écrit les réponses de </a:t>
            </a:r>
            <a:r>
              <a:rPr lang="fr-BE" dirty="0"/>
              <a:t>la personne interrogée.</a:t>
            </a:r>
          </a:p>
          <a:p>
            <a:pPr lvl="0"/>
            <a:r>
              <a:rPr lang="fr-BE" dirty="0"/>
              <a:t>Le professeur </a:t>
            </a:r>
            <a:r>
              <a:rPr lang="fr-BE" dirty="0" smtClean="0"/>
              <a:t>corrige les fiches.</a:t>
            </a:r>
            <a:endParaRPr lang="fr-BE" dirty="0"/>
          </a:p>
          <a:p>
            <a:pPr lvl="0"/>
            <a:r>
              <a:rPr lang="fr-BE" dirty="0"/>
              <a:t>Tous les étudiants du groupe lisent </a:t>
            </a:r>
            <a:r>
              <a:rPr lang="fr-BE" dirty="0" smtClean="0"/>
              <a:t>les </a:t>
            </a:r>
            <a:r>
              <a:rPr lang="fr-BE" dirty="0"/>
              <a:t>interviews (feuilles affichées en </a:t>
            </a:r>
            <a:r>
              <a:rPr lang="fr-BE" dirty="0" smtClean="0"/>
              <a:t>classe)</a:t>
            </a:r>
            <a:endParaRPr lang="fr-BE" dirty="0"/>
          </a:p>
          <a:p>
            <a:endParaRPr lang="fr-BE" dirty="0"/>
          </a:p>
        </p:txBody>
      </p:sp>
      <p:pic>
        <p:nvPicPr>
          <p:cNvPr id="1026" name="Imag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050" y="5376198"/>
            <a:ext cx="3473450" cy="1330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3286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13" y="219075"/>
            <a:ext cx="4272553" cy="64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8745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35" y="1234826"/>
            <a:ext cx="8348992" cy="473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1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63067" y="2160589"/>
            <a:ext cx="4210937" cy="414707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fr-BE" dirty="0" smtClean="0">
                <a:solidFill>
                  <a:srgbClr val="0070C0"/>
                </a:solidFill>
              </a:rPr>
              <a:t>Faire </a:t>
            </a:r>
            <a:r>
              <a:rPr lang="fr-BE" dirty="0">
                <a:solidFill>
                  <a:srgbClr val="0070C0"/>
                </a:solidFill>
              </a:rPr>
              <a:t>le test de niveau A1 sur Moodle (clé = </a:t>
            </a:r>
            <a:r>
              <a:rPr lang="fr-BE" dirty="0" err="1">
                <a:solidFill>
                  <a:srgbClr val="0070C0"/>
                </a:solidFill>
              </a:rPr>
              <a:t>frantest</a:t>
            </a:r>
            <a:r>
              <a:rPr lang="fr-BE" dirty="0">
                <a:solidFill>
                  <a:srgbClr val="0070C0"/>
                </a:solidFill>
              </a:rPr>
              <a:t>)</a:t>
            </a:r>
          </a:p>
          <a:p>
            <a:pPr lvl="0"/>
            <a:r>
              <a:rPr lang="fr-BE" dirty="0" smtClean="0">
                <a:solidFill>
                  <a:srgbClr val="0070C0"/>
                </a:solidFill>
              </a:rPr>
              <a:t>Acheter le </a:t>
            </a:r>
            <a:r>
              <a:rPr lang="fr-BE" u="sng" dirty="0" smtClean="0">
                <a:solidFill>
                  <a:srgbClr val="0070C0"/>
                </a:solidFill>
              </a:rPr>
              <a:t>syllabus</a:t>
            </a:r>
            <a:r>
              <a:rPr lang="fr-BE" dirty="0" smtClean="0">
                <a:solidFill>
                  <a:srgbClr val="0070C0"/>
                </a:solidFill>
              </a:rPr>
              <a:t> (ILV) et la </a:t>
            </a:r>
            <a:r>
              <a:rPr lang="fr-BE" i="1" u="sng" dirty="0" smtClean="0">
                <a:solidFill>
                  <a:srgbClr val="0070C0"/>
                </a:solidFill>
              </a:rPr>
              <a:t>Grammaire</a:t>
            </a:r>
            <a:r>
              <a:rPr lang="fr-BE" i="1" dirty="0" smtClean="0">
                <a:solidFill>
                  <a:srgbClr val="0070C0"/>
                </a:solidFill>
              </a:rPr>
              <a:t> progressive du français, niveau intermédiaire</a:t>
            </a:r>
            <a:r>
              <a:rPr lang="fr-BE" dirty="0" smtClean="0">
                <a:solidFill>
                  <a:srgbClr val="0070C0"/>
                </a:solidFill>
              </a:rPr>
              <a:t>, 4e édition (furet du nord)</a:t>
            </a:r>
          </a:p>
          <a:p>
            <a:r>
              <a:rPr lang="fr-BE" dirty="0">
                <a:solidFill>
                  <a:srgbClr val="0070C0"/>
                </a:solidFill>
              </a:rPr>
              <a:t>S'inscrire à la faculté ou à l'ILV</a:t>
            </a:r>
          </a:p>
          <a:p>
            <a:r>
              <a:rPr lang="fr-BE" dirty="0" smtClean="0">
                <a:solidFill>
                  <a:srgbClr val="0070C0"/>
                </a:solidFill>
              </a:rPr>
              <a:t>Étudier </a:t>
            </a:r>
            <a:r>
              <a:rPr lang="fr-BE" dirty="0">
                <a:solidFill>
                  <a:srgbClr val="0070C0"/>
                </a:solidFill>
              </a:rPr>
              <a:t>les prépositions devant les noms de pays et de ville (GPF pp. 44-45)</a:t>
            </a:r>
          </a:p>
          <a:p>
            <a:pPr lvl="0"/>
            <a:r>
              <a:rPr lang="fr-BE" dirty="0" smtClean="0">
                <a:solidFill>
                  <a:srgbClr val="0070C0"/>
                </a:solidFill>
              </a:rPr>
              <a:t>Etudier </a:t>
            </a:r>
            <a:r>
              <a:rPr lang="fr-BE" dirty="0">
                <a:solidFill>
                  <a:srgbClr val="0070C0"/>
                </a:solidFill>
              </a:rPr>
              <a:t>les nombres  </a:t>
            </a:r>
            <a:r>
              <a:rPr lang="fr-BE" dirty="0" smtClean="0">
                <a:solidFill>
                  <a:srgbClr val="0070C0"/>
                </a:solidFill>
              </a:rPr>
              <a:t>(</a:t>
            </a:r>
            <a:r>
              <a:rPr lang="fr-BE" dirty="0">
                <a:solidFill>
                  <a:srgbClr val="0070C0"/>
                </a:solidFill>
              </a:rPr>
              <a:t>GPF p. </a:t>
            </a:r>
            <a:r>
              <a:rPr lang="fr-BE" dirty="0" smtClean="0">
                <a:solidFill>
                  <a:srgbClr val="0070C0"/>
                </a:solidFill>
              </a:rPr>
              <a:t>60)</a:t>
            </a:r>
            <a:endParaRPr lang="fr-BE" dirty="0">
              <a:solidFill>
                <a:srgbClr val="0070C0"/>
              </a:solidFill>
            </a:endParaRPr>
          </a:p>
          <a:p>
            <a:pPr lvl="0"/>
            <a:r>
              <a:rPr lang="fr-BE" dirty="0">
                <a:solidFill>
                  <a:srgbClr val="0070C0"/>
                </a:solidFill>
              </a:rPr>
              <a:t>Si pas fait en classe, écrire le petit texte de </a:t>
            </a:r>
            <a:r>
              <a:rPr lang="fr-BE" dirty="0" smtClean="0">
                <a:solidFill>
                  <a:srgbClr val="0070C0"/>
                </a:solidFill>
              </a:rPr>
              <a:t>présentation</a:t>
            </a:r>
          </a:p>
          <a:p>
            <a:pPr lvl="0"/>
            <a:r>
              <a:rPr lang="fr-BE" dirty="0" smtClean="0">
                <a:solidFill>
                  <a:srgbClr val="0070C0"/>
                </a:solidFill>
              </a:rPr>
              <a:t>Enregistrer sa présentation en mp3 et la déposer sur le forum </a:t>
            </a:r>
            <a:r>
              <a:rPr lang="fr-BE" smtClean="0">
                <a:solidFill>
                  <a:srgbClr val="0070C0"/>
                </a:solidFill>
              </a:rPr>
              <a:t>de Moodle</a:t>
            </a:r>
            <a:endParaRPr lang="fr-BE" dirty="0" smtClean="0">
              <a:solidFill>
                <a:srgbClr val="0070C0"/>
              </a:solidFill>
            </a:endParaRPr>
          </a:p>
          <a:p>
            <a:pPr lvl="0"/>
            <a:endParaRPr lang="fr-BE" dirty="0">
              <a:solidFill>
                <a:srgbClr val="0070C0"/>
              </a:solidFill>
            </a:endParaRPr>
          </a:p>
          <a:p>
            <a:endParaRPr lang="fr-BE" dirty="0" smtClean="0">
              <a:solidFill>
                <a:srgbClr val="004E9C"/>
              </a:solidFill>
            </a:endParaRPr>
          </a:p>
        </p:txBody>
      </p:sp>
      <p:sp>
        <p:nvSpPr>
          <p:cNvPr id="5" name="Titre 7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fr-BE" dirty="0" smtClean="0">
                <a:solidFill>
                  <a:schemeClr val="bg1"/>
                </a:solidFill>
              </a:rPr>
              <a:t>Devoirs pour le prochain cours</a:t>
            </a:r>
            <a:endParaRPr lang="fr-BE" dirty="0">
              <a:solidFill>
                <a:srgbClr val="004E9C"/>
              </a:solidFill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2" y="2160589"/>
            <a:ext cx="4136517" cy="258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526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212</TotalTime>
  <Words>215</Words>
  <Application>Microsoft Office PowerPoint</Application>
  <PresentationFormat>Grand écran</PresentationFormat>
  <Paragraphs>134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MS Mincho</vt:lpstr>
      <vt:lpstr>Arial</vt:lpstr>
      <vt:lpstr>Tahoma</vt:lpstr>
      <vt:lpstr>Times New Roman</vt:lpstr>
      <vt:lpstr>Trebuchet MS</vt:lpstr>
      <vt:lpstr>Wingdings 3</vt:lpstr>
      <vt:lpstr>Facette</vt:lpstr>
      <vt:lpstr>LFRAN 1201 Se découvrir</vt:lpstr>
      <vt:lpstr>Au programme</vt:lpstr>
      <vt:lpstr>Prononcer</vt:lpstr>
      <vt:lpstr>Prononcer  les nombres</vt:lpstr>
      <vt:lpstr>Présentation PowerPoint</vt:lpstr>
      <vt:lpstr>Tu viens d’où ?  L’origine </vt:lpstr>
      <vt:lpstr>Tu es où ? La situation </vt:lpstr>
      <vt:lpstr>Tu vas où ?  La destination </vt:lpstr>
      <vt:lpstr>Présentez-vous  aux collègues de votre table</vt:lpstr>
      <vt:lpstr>Présentation PowerPoint</vt:lpstr>
      <vt:lpstr>Présentation PowerPoint</vt:lpstr>
      <vt:lpstr>Faire une interview pour un magazine</vt:lpstr>
      <vt:lpstr>Présentation PowerPoint</vt:lpstr>
      <vt:lpstr>Présentation PowerPoint</vt:lpstr>
      <vt:lpstr>Devoirs pour le prochain cours</vt:lpstr>
    </vt:vector>
  </TitlesOfParts>
  <Company>Université Catholique de Louvain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G. Briet</dc:creator>
  <cp:lastModifiedBy>Geneviève Briet</cp:lastModifiedBy>
  <cp:revision>13</cp:revision>
  <dcterms:created xsi:type="dcterms:W3CDTF">2018-09-23T16:02:40Z</dcterms:created>
  <dcterms:modified xsi:type="dcterms:W3CDTF">2018-09-26T09:49:56Z</dcterms:modified>
</cp:coreProperties>
</file>