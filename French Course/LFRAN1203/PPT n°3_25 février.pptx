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1"/>
  </p:notesMasterIdLst>
  <p:sldIdLst>
    <p:sldId id="290" r:id="rId2"/>
    <p:sldId id="337" r:id="rId3"/>
    <p:sldId id="342" r:id="rId4"/>
    <p:sldId id="339" r:id="rId5"/>
    <p:sldId id="346" r:id="rId6"/>
    <p:sldId id="341" r:id="rId7"/>
    <p:sldId id="338" r:id="rId8"/>
    <p:sldId id="333" r:id="rId9"/>
    <p:sldId id="295" r:id="rId1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94660"/>
  </p:normalViewPr>
  <p:slideViewPr>
    <p:cSldViewPr>
      <p:cViewPr varScale="1">
        <p:scale>
          <a:sx n="83" d="100"/>
          <a:sy n="83" d="100"/>
        </p:scale>
        <p:origin x="1498" y="67"/>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E0C3BF-5E24-41EA-B95A-48EE4EBAF566}" type="datetimeFigureOut">
              <a:rPr lang="fr-BE" smtClean="0"/>
              <a:t>26-02-19</a:t>
            </a:fld>
            <a:endParaRPr lang="fr-BE"/>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01B766-C546-474D-AE24-805E210883A3}" type="slidenum">
              <a:rPr lang="fr-BE" smtClean="0"/>
              <a:t>‹N°›</a:t>
            </a:fld>
            <a:endParaRPr lang="fr-BE"/>
          </a:p>
        </p:txBody>
      </p:sp>
    </p:spTree>
    <p:extLst>
      <p:ext uri="{BB962C8B-B14F-4D97-AF65-F5344CB8AC3E}">
        <p14:creationId xmlns:p14="http://schemas.microsoft.com/office/powerpoint/2010/main" val="1199971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smtClean="0"/>
              <a:t>Non </a:t>
            </a:r>
            <a:r>
              <a:rPr lang="fr-BE" dirty="0"/>
              <a:t>seulement, on n’entend pas toujours le nouveau rythme à adopter mais en plus, on trimbale le rythme de notre langue maternelle avec nous et on le met malheureusement à la place du rythme de la langue d’apprentissage. </a:t>
            </a:r>
          </a:p>
          <a:p>
            <a:endParaRPr lang="fr-BE" dirty="0"/>
          </a:p>
          <a:p>
            <a:r>
              <a:rPr lang="fr-BE" dirty="0"/>
              <a:t>Pas d’accent lexical en français, toutes les syllabes ont la même valeur articulatoire (caractère isosyllabique du rythme français) sauf la dernière syllabe du groupe rythmique qui elle, est accentuée comme vous l’avez découvert dans la chanson « toi +moi »</a:t>
            </a:r>
          </a:p>
          <a:p>
            <a:endParaRPr lang="fr-BE" dirty="0"/>
          </a:p>
          <a:p>
            <a:endParaRPr lang="fr-BE" dirty="0"/>
          </a:p>
        </p:txBody>
      </p:sp>
      <p:sp>
        <p:nvSpPr>
          <p:cNvPr id="4" name="Espace réservé du numéro de diapositive 3"/>
          <p:cNvSpPr>
            <a:spLocks noGrp="1"/>
          </p:cNvSpPr>
          <p:nvPr>
            <p:ph type="sldNum" sz="quarter" idx="5"/>
          </p:nvPr>
        </p:nvSpPr>
        <p:spPr/>
        <p:txBody>
          <a:bodyPr/>
          <a:lstStyle/>
          <a:p>
            <a:fld id="{9BA9DDA7-DD63-4EB4-B8EA-E94461C75ABA}" type="slidenum">
              <a:rPr lang="fr-BE" altLang="fr-FR" smtClean="0"/>
              <a:pPr/>
              <a:t>3</a:t>
            </a:fld>
            <a:endParaRPr lang="fr-BE" altLang="fr-FR"/>
          </a:p>
        </p:txBody>
      </p:sp>
    </p:spTree>
    <p:extLst>
      <p:ext uri="{BB962C8B-B14F-4D97-AF65-F5344CB8AC3E}">
        <p14:creationId xmlns:p14="http://schemas.microsoft.com/office/powerpoint/2010/main" val="3058675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r-FR" dirty="0" smtClean="0"/>
              <a:t>Le violon car en</a:t>
            </a:r>
            <a:r>
              <a:rPr lang="fr-FR" baseline="0" dirty="0" smtClean="0"/>
              <a:t> français, les mots glissent en continu, de manière régulière. </a:t>
            </a:r>
            <a:endParaRPr lang="fr-FR" dirty="0"/>
          </a:p>
          <a:p>
            <a:endParaRPr lang="fr-FR" dirty="0"/>
          </a:p>
          <a:p>
            <a:r>
              <a:rPr lang="fr-FR" sz="1200" dirty="0" smtClean="0"/>
              <a:t>Dites les paroles de Grégoire</a:t>
            </a:r>
            <a:r>
              <a:rPr lang="fr-FR" sz="1200" baseline="0" dirty="0" smtClean="0"/>
              <a:t> en posture de violoniste. Glissez l’archet sur le violon en continu  et parlez de la même manière : en connectant chaque syllabe, sans vous arrêter. </a:t>
            </a:r>
            <a:endParaRPr lang="fr-FR" dirty="0"/>
          </a:p>
        </p:txBody>
      </p:sp>
      <p:sp>
        <p:nvSpPr>
          <p:cNvPr id="4" name="Slide Number Placeholder 3"/>
          <p:cNvSpPr>
            <a:spLocks noGrp="1"/>
          </p:cNvSpPr>
          <p:nvPr>
            <p:ph type="sldNum" sz="quarter" idx="10"/>
          </p:nvPr>
        </p:nvSpPr>
        <p:spPr/>
        <p:txBody>
          <a:bodyPr/>
          <a:lstStyle/>
          <a:p>
            <a:fld id="{9BA9DDA7-DD63-4EB4-B8EA-E94461C75ABA}" type="slidenum">
              <a:rPr lang="fr-BE" altLang="fr-FR" smtClean="0"/>
              <a:pPr/>
              <a:t>4</a:t>
            </a:fld>
            <a:endParaRPr lang="fr-BE" altLang="fr-FR"/>
          </a:p>
        </p:txBody>
      </p:sp>
      <p:cxnSp>
        <p:nvCxnSpPr>
          <p:cNvPr id="6" name="Connecteur droit avec flèche 5"/>
          <p:cNvCxnSpPr/>
          <p:nvPr/>
        </p:nvCxnSpPr>
        <p:spPr>
          <a:xfrm flipV="1">
            <a:off x="1840753" y="6018306"/>
            <a:ext cx="334682" cy="95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1894541" y="6215529"/>
            <a:ext cx="239059" cy="15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flipV="1">
            <a:off x="1727200" y="6691670"/>
            <a:ext cx="334682" cy="95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1769035" y="6894462"/>
            <a:ext cx="239059" cy="15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flipV="1">
            <a:off x="1601694" y="7317222"/>
            <a:ext cx="334682" cy="95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flipV="1">
            <a:off x="2061882" y="7961049"/>
            <a:ext cx="334682" cy="95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flipV="1">
            <a:off x="2026023" y="8170226"/>
            <a:ext cx="334682" cy="95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a:off x="1745129" y="7540997"/>
            <a:ext cx="239059" cy="15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a:off x="1625599" y="8452130"/>
            <a:ext cx="239059" cy="15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06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smtClean="0"/>
              <a:t>Voir dossier</a:t>
            </a:r>
            <a:r>
              <a:rPr lang="fr-BE" baseline="0" dirty="0" smtClean="0"/>
              <a:t> : </a:t>
            </a:r>
            <a:endParaRPr lang="en-US" dirty="0"/>
          </a:p>
        </p:txBody>
      </p:sp>
      <p:sp>
        <p:nvSpPr>
          <p:cNvPr id="4" name="Espace réservé du numéro de diapositive 3"/>
          <p:cNvSpPr>
            <a:spLocks noGrp="1"/>
          </p:cNvSpPr>
          <p:nvPr>
            <p:ph type="sldNum" sz="quarter" idx="10"/>
          </p:nvPr>
        </p:nvSpPr>
        <p:spPr/>
        <p:txBody>
          <a:bodyPr/>
          <a:lstStyle/>
          <a:p>
            <a:fld id="{6E01B766-C546-474D-AE24-805E210883A3}" type="slidenum">
              <a:rPr lang="fr-BE" smtClean="0"/>
              <a:t>7</a:t>
            </a:fld>
            <a:endParaRPr lang="fr-BE"/>
          </a:p>
        </p:txBody>
      </p:sp>
    </p:spTree>
    <p:extLst>
      <p:ext uri="{BB962C8B-B14F-4D97-AF65-F5344CB8AC3E}">
        <p14:creationId xmlns:p14="http://schemas.microsoft.com/office/powerpoint/2010/main" val="723345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BE"/>
          </a:p>
        </p:txBody>
      </p:sp>
      <p:sp>
        <p:nvSpPr>
          <p:cNvPr id="4" name="Espace réservé de la date 3"/>
          <p:cNvSpPr>
            <a:spLocks noGrp="1"/>
          </p:cNvSpPr>
          <p:nvPr>
            <p:ph type="dt" sz="half" idx="10"/>
          </p:nvPr>
        </p:nvSpPr>
        <p:spPr/>
        <p:txBody>
          <a:bodyPr/>
          <a:lstStyle/>
          <a:p>
            <a:fld id="{BC592188-2AC6-4653-B09E-8410BCF25E56}" type="datetimeFigureOut">
              <a:rPr lang="fr-BE" smtClean="0"/>
              <a:t>26-02-19</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242771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BC592188-2AC6-4653-B09E-8410BCF25E56}" type="datetimeFigureOut">
              <a:rPr lang="fr-BE" smtClean="0"/>
              <a:t>26-02-19</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4026997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BC592188-2AC6-4653-B09E-8410BCF25E56}" type="datetimeFigureOut">
              <a:rPr lang="fr-BE" smtClean="0"/>
              <a:t>26-02-19</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2002513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BC592188-2AC6-4653-B09E-8410BCF25E56}" type="datetimeFigureOut">
              <a:rPr lang="fr-BE" smtClean="0"/>
              <a:t>26-02-19</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4063908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BC592188-2AC6-4653-B09E-8410BCF25E56}" type="datetimeFigureOut">
              <a:rPr lang="fr-BE" smtClean="0"/>
              <a:t>26-02-19</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2129342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e la date 2"/>
          <p:cNvSpPr>
            <a:spLocks noGrp="1"/>
          </p:cNvSpPr>
          <p:nvPr>
            <p:ph type="dt" sz="half" idx="10"/>
          </p:nvPr>
        </p:nvSpPr>
        <p:spPr/>
        <p:txBody>
          <a:bodyPr/>
          <a:lstStyle/>
          <a:p>
            <a:fld id="{BC592188-2AC6-4653-B09E-8410BCF25E56}" type="datetimeFigureOut">
              <a:rPr lang="fr-BE" smtClean="0"/>
              <a:t>26-02-19</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3857112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C592188-2AC6-4653-B09E-8410BCF25E56}" type="datetimeFigureOut">
              <a:rPr lang="fr-BE" smtClean="0"/>
              <a:t>26-02-19</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83538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BC592188-2AC6-4653-B09E-8410BCF25E56}" type="datetimeFigureOut">
              <a:rPr lang="fr-BE" smtClean="0"/>
              <a:t>26-02-19</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3651337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BE"/>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BC592188-2AC6-4653-B09E-8410BCF25E56}" type="datetimeFigureOut">
              <a:rPr lang="fr-BE" smtClean="0"/>
              <a:t>26-02-19</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3817168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BC592188-2AC6-4653-B09E-8410BCF25E56}" type="datetimeFigureOut">
              <a:rPr lang="fr-BE" smtClean="0"/>
              <a:t>26-02-19</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2813371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BC592188-2AC6-4653-B09E-8410BCF25E56}" type="datetimeFigureOut">
              <a:rPr lang="fr-BE" smtClean="0"/>
              <a:t>26-02-19</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3A54FBEA-E8E9-44FA-BEFD-25A3CF46B5C0}" type="slidenum">
              <a:rPr lang="fr-BE" smtClean="0"/>
              <a:t>‹N°›</a:t>
            </a:fld>
            <a:endParaRPr lang="fr-BE"/>
          </a:p>
        </p:txBody>
      </p:sp>
    </p:spTree>
    <p:extLst>
      <p:ext uri="{BB962C8B-B14F-4D97-AF65-F5344CB8AC3E}">
        <p14:creationId xmlns:p14="http://schemas.microsoft.com/office/powerpoint/2010/main" val="3881227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592188-2AC6-4653-B09E-8410BCF25E56}" type="datetimeFigureOut">
              <a:rPr lang="fr-BE" smtClean="0"/>
              <a:t>26-02-19</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54FBEA-E8E9-44FA-BEFD-25A3CF46B5C0}" type="slidenum">
              <a:rPr lang="fr-BE" smtClean="0"/>
              <a:t>‹N°›</a:t>
            </a:fld>
            <a:endParaRPr lang="fr-BE"/>
          </a:p>
        </p:txBody>
      </p:sp>
    </p:spTree>
    <p:extLst>
      <p:ext uri="{BB962C8B-B14F-4D97-AF65-F5344CB8AC3E}">
        <p14:creationId xmlns:p14="http://schemas.microsoft.com/office/powerpoint/2010/main" val="2449456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arlons-francais.tv5monde.com/webdocumentaires-pour-apprendre-le-francais/Webdocs/Ressentir/p-282-lg0-Ressentir.htm#Nabil_se_present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noGrp="1"/>
          </p:cNvSpPr>
          <p:nvPr>
            <p:ph type="ctrTitle"/>
          </p:nvPr>
        </p:nvSpPr>
        <p:spPr>
          <a:xfrm>
            <a:off x="616022" y="404091"/>
            <a:ext cx="7772400" cy="1470026"/>
          </a:xfrm>
        </p:spPr>
        <p:txBody>
          <a:bodyPr>
            <a:normAutofit fontScale="90000"/>
          </a:bodyPr>
          <a:lstStyle/>
          <a:p>
            <a:pPr lvl="0"/>
            <a:r>
              <a:rPr lang="fr-BE" dirty="0"/>
              <a:t>LFRAN1203</a:t>
            </a:r>
            <a:br>
              <a:rPr lang="fr-BE" dirty="0"/>
            </a:br>
            <a:r>
              <a:rPr lang="fr-BE" dirty="0" smtClean="0"/>
              <a:t>La prononciation en dialogues </a:t>
            </a:r>
            <a:r>
              <a:rPr lang="fr-BE" dirty="0"/>
              <a:t>(objectif A2)</a:t>
            </a:r>
          </a:p>
        </p:txBody>
      </p:sp>
      <p:sp>
        <p:nvSpPr>
          <p:cNvPr id="3" name="Sous-titre 2"/>
          <p:cNvSpPr txBox="1">
            <a:spLocks noGrp="1"/>
          </p:cNvSpPr>
          <p:nvPr>
            <p:ph type="subTitle" idx="1"/>
          </p:nvPr>
        </p:nvSpPr>
        <p:spPr>
          <a:xfrm>
            <a:off x="971595" y="2420892"/>
            <a:ext cx="7416826" cy="1752603"/>
          </a:xfrm>
        </p:spPr>
        <p:txBody>
          <a:bodyPr/>
          <a:lstStyle/>
          <a:p>
            <a:pPr lvl="0"/>
            <a:r>
              <a:rPr lang="fr-BE"/>
              <a:t>Chacun son rythme ! (Everyone marches a different drummer)</a:t>
            </a:r>
          </a:p>
          <a:p>
            <a:pPr lvl="0"/>
            <a:endParaRPr lang="fr-BE"/>
          </a:p>
        </p:txBody>
      </p:sp>
      <p:pic>
        <p:nvPicPr>
          <p:cNvPr id="4" name="Image 5"/>
          <p:cNvPicPr>
            <a:picLocks noChangeAspect="1"/>
          </p:cNvPicPr>
          <p:nvPr/>
        </p:nvPicPr>
        <p:blipFill>
          <a:blip r:embed="rId2"/>
          <a:stretch>
            <a:fillRect/>
          </a:stretch>
        </p:blipFill>
        <p:spPr>
          <a:xfrm>
            <a:off x="2713829" y="3798819"/>
            <a:ext cx="3932349" cy="2619929"/>
          </a:xfrm>
          <a:prstGeom prst="rect">
            <a:avLst/>
          </a:prstGeom>
          <a:noFill/>
          <a:ln>
            <a:noFill/>
          </a:ln>
        </p:spPr>
      </p:pic>
    </p:spTree>
    <p:extLst>
      <p:ext uri="{BB962C8B-B14F-4D97-AF65-F5344CB8AC3E}">
        <p14:creationId xmlns:p14="http://schemas.microsoft.com/office/powerpoint/2010/main" val="6374011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dirty="0" smtClean="0"/>
              <a:t>Faisons connaissance avec Nabil</a:t>
            </a:r>
            <a:endParaRPr lang="en-US" dirty="0"/>
          </a:p>
        </p:txBody>
      </p:sp>
      <p:sp>
        <p:nvSpPr>
          <p:cNvPr id="3" name="Espace réservé du contenu 2"/>
          <p:cNvSpPr>
            <a:spLocks noGrp="1"/>
          </p:cNvSpPr>
          <p:nvPr>
            <p:ph idx="1"/>
          </p:nvPr>
        </p:nvSpPr>
        <p:spPr>
          <a:xfrm>
            <a:off x="447181" y="4437112"/>
            <a:ext cx="8229600" cy="4525963"/>
          </a:xfrm>
        </p:spPr>
        <p:txBody>
          <a:bodyPr/>
          <a:lstStyle/>
          <a:p>
            <a:r>
              <a:rPr lang="fr-BE" sz="1800" u="sng" dirty="0">
                <a:hlinkClick r:id="rId2"/>
              </a:rPr>
              <a:t>http://parlons-francais.tv5monde.com/webdocumentaires-pour-apprendre-le-francais/Webdocs/Ressentir/p-282-lg0-Ressentir.htm#Nabil_se_presente</a:t>
            </a:r>
            <a:endParaRPr lang="en-US" sz="1800" dirty="0"/>
          </a:p>
          <a:p>
            <a:endParaRPr lang="en-US" dirty="0"/>
          </a:p>
        </p:txBody>
      </p:sp>
      <p:pic>
        <p:nvPicPr>
          <p:cNvPr id="4" name="Image 3"/>
          <p:cNvPicPr>
            <a:picLocks noChangeAspect="1"/>
          </p:cNvPicPr>
          <p:nvPr/>
        </p:nvPicPr>
        <p:blipFill>
          <a:blip r:embed="rId3"/>
          <a:stretch>
            <a:fillRect/>
          </a:stretch>
        </p:blipFill>
        <p:spPr>
          <a:xfrm>
            <a:off x="2293729" y="1340768"/>
            <a:ext cx="4536504" cy="2946298"/>
          </a:xfrm>
          <a:prstGeom prst="rect">
            <a:avLst/>
          </a:prstGeom>
        </p:spPr>
      </p:pic>
      <p:sp>
        <p:nvSpPr>
          <p:cNvPr id="5" name="ZoneTexte 4"/>
          <p:cNvSpPr txBox="1"/>
          <p:nvPr/>
        </p:nvSpPr>
        <p:spPr>
          <a:xfrm>
            <a:off x="683568" y="5517232"/>
            <a:ext cx="6480720" cy="954107"/>
          </a:xfrm>
          <a:prstGeom prst="rect">
            <a:avLst/>
          </a:prstGeom>
          <a:noFill/>
        </p:spPr>
        <p:txBody>
          <a:bodyPr wrap="square" rtlCol="0">
            <a:spAutoFit/>
          </a:bodyPr>
          <a:lstStyle/>
          <a:p>
            <a:r>
              <a:rPr lang="fr-BE" sz="2800" b="1" dirty="0" smtClean="0">
                <a:solidFill>
                  <a:schemeClr val="accent6">
                    <a:lumMod val="75000"/>
                  </a:schemeClr>
                </a:solidFill>
              </a:rPr>
              <a:t>Partons à la chasse aux lettres muettes et complétons le texte lacunaire.</a:t>
            </a:r>
            <a:endParaRPr lang="en-US" sz="2800" b="1" dirty="0">
              <a:solidFill>
                <a:schemeClr val="accent6">
                  <a:lumMod val="75000"/>
                </a:schemeClr>
              </a:solidFill>
            </a:endParaRPr>
          </a:p>
        </p:txBody>
      </p:sp>
    </p:spTree>
    <p:extLst>
      <p:ext uri="{BB962C8B-B14F-4D97-AF65-F5344CB8AC3E}">
        <p14:creationId xmlns:p14="http://schemas.microsoft.com/office/powerpoint/2010/main" val="12245681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28650" y="1802542"/>
            <a:ext cx="8036526" cy="3687431"/>
          </a:xfrm>
        </p:spPr>
        <p:txBody>
          <a:bodyPr>
            <a:normAutofit fontScale="77500" lnSpcReduction="20000"/>
          </a:bodyPr>
          <a:lstStyle/>
          <a:p>
            <a:pPr marL="0" indent="0">
              <a:buNone/>
            </a:pPr>
            <a:r>
              <a:rPr lang="fr-BE" sz="3900" b="1" dirty="0" err="1">
                <a:solidFill>
                  <a:srgbClr val="DB5613"/>
                </a:solidFill>
              </a:rPr>
              <a:t>di</a:t>
            </a:r>
            <a:r>
              <a:rPr lang="fr-BE" sz="3900" dirty="0" err="1">
                <a:solidFill>
                  <a:schemeClr val="accent5">
                    <a:lumMod val="75000"/>
                  </a:schemeClr>
                </a:solidFill>
              </a:rPr>
              <a:t>fficult</a:t>
            </a:r>
            <a:r>
              <a:rPr lang="fr-BE" sz="3900" dirty="0">
                <a:solidFill>
                  <a:schemeClr val="accent5">
                    <a:lumMod val="75000"/>
                  </a:schemeClr>
                </a:solidFill>
              </a:rPr>
              <a:t> </a:t>
            </a:r>
            <a:r>
              <a:rPr lang="fr-BE" sz="2850" i="1" dirty="0">
                <a:solidFill>
                  <a:schemeClr val="accent5">
                    <a:lumMod val="75000"/>
                  </a:schemeClr>
                </a:solidFill>
              </a:rPr>
              <a:t>(anglais)</a:t>
            </a:r>
            <a:r>
              <a:rPr lang="fr-BE" sz="3900" dirty="0">
                <a:solidFill>
                  <a:schemeClr val="accent5">
                    <a:lumMod val="75000"/>
                  </a:schemeClr>
                </a:solidFill>
              </a:rPr>
              <a:t>			</a:t>
            </a:r>
            <a:r>
              <a:rPr lang="fr-BE" sz="3900" b="1" dirty="0">
                <a:solidFill>
                  <a:srgbClr val="DB5613"/>
                </a:solidFill>
              </a:rPr>
              <a:t>TA</a:t>
            </a:r>
            <a:r>
              <a:rPr lang="fr-BE" sz="3900" dirty="0">
                <a:solidFill>
                  <a:schemeClr val="accent5">
                    <a:lumMod val="75000"/>
                  </a:schemeClr>
                </a:solidFill>
              </a:rPr>
              <a:t> ti </a:t>
            </a:r>
            <a:r>
              <a:rPr lang="fr-BE" sz="3900" dirty="0" err="1">
                <a:solidFill>
                  <a:schemeClr val="accent5">
                    <a:lumMod val="75000"/>
                  </a:schemeClr>
                </a:solidFill>
              </a:rPr>
              <a:t>ti</a:t>
            </a:r>
            <a:endParaRPr lang="fr-BE" sz="3900" dirty="0">
              <a:solidFill>
                <a:schemeClr val="accent5">
                  <a:lumMod val="75000"/>
                </a:schemeClr>
              </a:solidFill>
            </a:endParaRPr>
          </a:p>
          <a:p>
            <a:pPr marL="0" indent="0">
              <a:buNone/>
            </a:pPr>
            <a:r>
              <a:rPr lang="fr-BE" sz="3900" dirty="0">
                <a:solidFill>
                  <a:schemeClr val="accent5">
                    <a:lumMod val="75000"/>
                  </a:schemeClr>
                </a:solidFill>
              </a:rPr>
              <a:t>dif</a:t>
            </a:r>
            <a:r>
              <a:rPr lang="fr-BE" sz="3900" b="1" dirty="0">
                <a:solidFill>
                  <a:srgbClr val="DB5613"/>
                </a:solidFill>
              </a:rPr>
              <a:t>fi</a:t>
            </a:r>
            <a:r>
              <a:rPr lang="fr-BE" sz="3900" dirty="0">
                <a:solidFill>
                  <a:schemeClr val="accent5">
                    <a:lumMod val="75000"/>
                  </a:schemeClr>
                </a:solidFill>
              </a:rPr>
              <a:t>cile  </a:t>
            </a:r>
            <a:r>
              <a:rPr lang="fr-BE" sz="2850" i="1" dirty="0">
                <a:solidFill>
                  <a:schemeClr val="accent5">
                    <a:lumMod val="75000"/>
                  </a:schemeClr>
                </a:solidFill>
              </a:rPr>
              <a:t>(italien)</a:t>
            </a:r>
            <a:r>
              <a:rPr lang="fr-BE" sz="3900" dirty="0">
                <a:solidFill>
                  <a:schemeClr val="accent5">
                    <a:lumMod val="75000"/>
                  </a:schemeClr>
                </a:solidFill>
              </a:rPr>
              <a:t>			ti </a:t>
            </a:r>
            <a:r>
              <a:rPr lang="fr-BE" sz="3900" b="1" dirty="0">
                <a:solidFill>
                  <a:srgbClr val="DB5613"/>
                </a:solidFill>
              </a:rPr>
              <a:t>TA</a:t>
            </a:r>
            <a:r>
              <a:rPr lang="fr-BE" sz="3900" dirty="0">
                <a:solidFill>
                  <a:schemeClr val="accent5">
                    <a:lumMod val="75000"/>
                  </a:schemeClr>
                </a:solidFill>
              </a:rPr>
              <a:t> ti </a:t>
            </a:r>
            <a:r>
              <a:rPr lang="fr-BE" sz="3900" dirty="0" err="1">
                <a:solidFill>
                  <a:schemeClr val="accent5">
                    <a:lumMod val="75000"/>
                  </a:schemeClr>
                </a:solidFill>
              </a:rPr>
              <a:t>ti</a:t>
            </a:r>
            <a:endParaRPr lang="fr-BE" sz="3900" dirty="0">
              <a:solidFill>
                <a:schemeClr val="accent5">
                  <a:lumMod val="75000"/>
                </a:schemeClr>
              </a:solidFill>
            </a:endParaRPr>
          </a:p>
          <a:p>
            <a:pPr marL="0" indent="0">
              <a:buNone/>
            </a:pPr>
            <a:r>
              <a:rPr lang="fr-BE" sz="3900" dirty="0" err="1">
                <a:solidFill>
                  <a:schemeClr val="accent5">
                    <a:lumMod val="75000"/>
                  </a:schemeClr>
                </a:solidFill>
              </a:rPr>
              <a:t>Di</a:t>
            </a:r>
            <a:r>
              <a:rPr lang="fr-BE" sz="3900" b="1" dirty="0" err="1">
                <a:solidFill>
                  <a:srgbClr val="DB5613"/>
                </a:solidFill>
              </a:rPr>
              <a:t>fí</a:t>
            </a:r>
            <a:r>
              <a:rPr lang="fr-BE" sz="3900" dirty="0" err="1">
                <a:solidFill>
                  <a:schemeClr val="accent5">
                    <a:lumMod val="75000"/>
                  </a:schemeClr>
                </a:solidFill>
              </a:rPr>
              <a:t>cil</a:t>
            </a:r>
            <a:r>
              <a:rPr lang="fr-BE" sz="3900" dirty="0">
                <a:solidFill>
                  <a:schemeClr val="accent5">
                    <a:lumMod val="75000"/>
                  </a:schemeClr>
                </a:solidFill>
              </a:rPr>
              <a:t>  </a:t>
            </a:r>
            <a:r>
              <a:rPr lang="fr-BE" sz="2850" i="1" dirty="0">
                <a:solidFill>
                  <a:schemeClr val="accent5">
                    <a:lumMod val="75000"/>
                  </a:schemeClr>
                </a:solidFill>
              </a:rPr>
              <a:t>(espagnol)</a:t>
            </a:r>
            <a:r>
              <a:rPr lang="fr-BE" sz="3900" dirty="0">
                <a:solidFill>
                  <a:schemeClr val="accent5">
                    <a:lumMod val="75000"/>
                  </a:schemeClr>
                </a:solidFill>
              </a:rPr>
              <a:t>			ti </a:t>
            </a:r>
            <a:r>
              <a:rPr lang="fr-BE" sz="3900" b="1" dirty="0">
                <a:solidFill>
                  <a:srgbClr val="DB5613"/>
                </a:solidFill>
              </a:rPr>
              <a:t>TA</a:t>
            </a:r>
            <a:r>
              <a:rPr lang="fr-BE" sz="3900" dirty="0">
                <a:solidFill>
                  <a:schemeClr val="accent5">
                    <a:lumMod val="75000"/>
                  </a:schemeClr>
                </a:solidFill>
              </a:rPr>
              <a:t> ti</a:t>
            </a:r>
          </a:p>
          <a:p>
            <a:pPr marL="0" indent="0">
              <a:buNone/>
            </a:pPr>
            <a:r>
              <a:rPr lang="fr-BE" sz="3900" dirty="0">
                <a:solidFill>
                  <a:schemeClr val="accent5">
                    <a:lumMod val="75000"/>
                  </a:schemeClr>
                </a:solidFill>
              </a:rPr>
              <a:t>diffi</a:t>
            </a:r>
            <a:r>
              <a:rPr lang="fr-BE" sz="3900" b="1" dirty="0">
                <a:solidFill>
                  <a:srgbClr val="DB5613"/>
                </a:solidFill>
              </a:rPr>
              <a:t>cile</a:t>
            </a:r>
            <a:r>
              <a:rPr lang="fr-BE" sz="3900" dirty="0">
                <a:solidFill>
                  <a:schemeClr val="accent5">
                    <a:lumMod val="75000"/>
                  </a:schemeClr>
                </a:solidFill>
              </a:rPr>
              <a:t> </a:t>
            </a:r>
            <a:r>
              <a:rPr lang="fr-BE" sz="2850" i="1" dirty="0">
                <a:solidFill>
                  <a:schemeClr val="accent5">
                    <a:lumMod val="75000"/>
                  </a:schemeClr>
                </a:solidFill>
              </a:rPr>
              <a:t>(français) </a:t>
            </a:r>
            <a:r>
              <a:rPr lang="fr-BE" sz="3900" dirty="0">
                <a:solidFill>
                  <a:schemeClr val="accent5">
                    <a:lumMod val="75000"/>
                  </a:schemeClr>
                </a:solidFill>
              </a:rPr>
              <a:t>			ti </a:t>
            </a:r>
            <a:r>
              <a:rPr lang="fr-BE" sz="3900" dirty="0" err="1">
                <a:solidFill>
                  <a:schemeClr val="accent5">
                    <a:lumMod val="75000"/>
                  </a:schemeClr>
                </a:solidFill>
              </a:rPr>
              <a:t>ti</a:t>
            </a:r>
            <a:r>
              <a:rPr lang="fr-BE" sz="3900" dirty="0">
                <a:solidFill>
                  <a:schemeClr val="accent5">
                    <a:lumMod val="75000"/>
                  </a:schemeClr>
                </a:solidFill>
              </a:rPr>
              <a:t> </a:t>
            </a:r>
            <a:r>
              <a:rPr lang="fr-BE" sz="3900" b="1" dirty="0">
                <a:solidFill>
                  <a:srgbClr val="DB5613"/>
                </a:solidFill>
              </a:rPr>
              <a:t>TA</a:t>
            </a:r>
          </a:p>
          <a:p>
            <a:pPr marL="0" indent="0">
              <a:buNone/>
            </a:pPr>
            <a:endParaRPr lang="fr-BE" sz="3900" b="1" dirty="0">
              <a:solidFill>
                <a:srgbClr val="DB5613"/>
              </a:solidFill>
            </a:endParaRPr>
          </a:p>
          <a:p>
            <a:pPr marL="0" indent="0">
              <a:buNone/>
            </a:pPr>
            <a:r>
              <a:rPr lang="fr-BE" sz="3900" dirty="0">
                <a:solidFill>
                  <a:schemeClr val="accent5">
                    <a:lumMod val="75000"/>
                  </a:schemeClr>
                </a:solidFill>
              </a:rPr>
              <a:t>Très diffi</a:t>
            </a:r>
            <a:r>
              <a:rPr lang="fr-BE" sz="3900" b="1" dirty="0">
                <a:solidFill>
                  <a:srgbClr val="DB5613"/>
                </a:solidFill>
              </a:rPr>
              <a:t>cile				</a:t>
            </a:r>
            <a:r>
              <a:rPr lang="fr-BE" sz="3900" dirty="0">
                <a:solidFill>
                  <a:schemeClr val="accent5">
                    <a:lumMod val="75000"/>
                  </a:schemeClr>
                </a:solidFill>
              </a:rPr>
              <a:t>ti </a:t>
            </a:r>
            <a:r>
              <a:rPr lang="fr-BE" sz="3900" dirty="0" err="1">
                <a:solidFill>
                  <a:schemeClr val="accent5">
                    <a:lumMod val="75000"/>
                  </a:schemeClr>
                </a:solidFill>
              </a:rPr>
              <a:t>ti</a:t>
            </a:r>
            <a:r>
              <a:rPr lang="fr-BE" sz="3900" dirty="0">
                <a:solidFill>
                  <a:schemeClr val="accent5">
                    <a:lumMod val="75000"/>
                  </a:schemeClr>
                </a:solidFill>
              </a:rPr>
              <a:t> </a:t>
            </a:r>
            <a:r>
              <a:rPr lang="fr-BE" sz="3900" dirty="0" err="1">
                <a:solidFill>
                  <a:schemeClr val="accent5">
                    <a:lumMod val="75000"/>
                  </a:schemeClr>
                </a:solidFill>
              </a:rPr>
              <a:t>ti</a:t>
            </a:r>
            <a:r>
              <a:rPr lang="fr-BE" sz="3900" dirty="0">
                <a:solidFill>
                  <a:schemeClr val="accent5">
                    <a:lumMod val="75000"/>
                  </a:schemeClr>
                </a:solidFill>
              </a:rPr>
              <a:t> </a:t>
            </a:r>
            <a:r>
              <a:rPr lang="fr-BE" sz="3900" b="1" dirty="0">
                <a:solidFill>
                  <a:srgbClr val="DB5613"/>
                </a:solidFill>
              </a:rPr>
              <a:t>TA</a:t>
            </a:r>
          </a:p>
          <a:p>
            <a:pPr marL="0" indent="0">
              <a:buNone/>
            </a:pPr>
            <a:r>
              <a:rPr lang="fr-BE" sz="3900" dirty="0">
                <a:solidFill>
                  <a:schemeClr val="accent5">
                    <a:lumMod val="75000"/>
                  </a:schemeClr>
                </a:solidFill>
              </a:rPr>
              <a:t>difficile</a:t>
            </a:r>
            <a:r>
              <a:rPr lang="fr-BE" sz="3900" b="1" dirty="0">
                <a:solidFill>
                  <a:srgbClr val="DB5613"/>
                </a:solidFill>
              </a:rPr>
              <a:t> </a:t>
            </a:r>
            <a:r>
              <a:rPr lang="fr-BE" sz="4050" dirty="0">
                <a:solidFill>
                  <a:schemeClr val="accent5">
                    <a:lumMod val="75000"/>
                  </a:schemeClr>
                </a:solidFill>
              </a:rPr>
              <a:t>à adop</a:t>
            </a:r>
            <a:r>
              <a:rPr lang="fr-BE" sz="3900" b="1" dirty="0">
                <a:solidFill>
                  <a:srgbClr val="DB5613"/>
                </a:solidFill>
              </a:rPr>
              <a:t>ter.</a:t>
            </a:r>
            <a:r>
              <a:rPr lang="fr-BE" sz="4050" dirty="0">
                <a:solidFill>
                  <a:schemeClr val="accent5">
                    <a:lumMod val="75000"/>
                  </a:schemeClr>
                </a:solidFill>
              </a:rPr>
              <a:t> </a:t>
            </a:r>
            <a:r>
              <a:rPr lang="fr-BE" sz="3900" b="1" dirty="0">
                <a:solidFill>
                  <a:srgbClr val="DB5613"/>
                </a:solidFill>
              </a:rPr>
              <a:t>		</a:t>
            </a:r>
            <a:r>
              <a:rPr lang="fr-BE" sz="3900" dirty="0">
                <a:solidFill>
                  <a:schemeClr val="accent5">
                    <a:lumMod val="75000"/>
                  </a:schemeClr>
                </a:solidFill>
              </a:rPr>
              <a:t>ti </a:t>
            </a:r>
            <a:r>
              <a:rPr lang="fr-BE" sz="3900" dirty="0" err="1">
                <a:solidFill>
                  <a:schemeClr val="accent5">
                    <a:lumMod val="75000"/>
                  </a:schemeClr>
                </a:solidFill>
              </a:rPr>
              <a:t>ti</a:t>
            </a:r>
            <a:r>
              <a:rPr lang="fr-BE" sz="3900" dirty="0">
                <a:solidFill>
                  <a:schemeClr val="accent5">
                    <a:lumMod val="75000"/>
                  </a:schemeClr>
                </a:solidFill>
              </a:rPr>
              <a:t> </a:t>
            </a:r>
            <a:r>
              <a:rPr lang="fr-BE" sz="3900" dirty="0" err="1">
                <a:solidFill>
                  <a:schemeClr val="accent5">
                    <a:lumMod val="75000"/>
                  </a:schemeClr>
                </a:solidFill>
              </a:rPr>
              <a:t>ti</a:t>
            </a:r>
            <a:r>
              <a:rPr lang="fr-BE" sz="3900" dirty="0">
                <a:solidFill>
                  <a:schemeClr val="accent5">
                    <a:lumMod val="75000"/>
                  </a:schemeClr>
                </a:solidFill>
              </a:rPr>
              <a:t> </a:t>
            </a:r>
            <a:r>
              <a:rPr lang="fr-BE" sz="3900" dirty="0" err="1">
                <a:solidFill>
                  <a:schemeClr val="accent5">
                    <a:lumMod val="75000"/>
                  </a:schemeClr>
                </a:solidFill>
              </a:rPr>
              <a:t>ti</a:t>
            </a:r>
            <a:r>
              <a:rPr lang="fr-BE" sz="3900" dirty="0">
                <a:solidFill>
                  <a:schemeClr val="accent5">
                    <a:lumMod val="75000"/>
                  </a:schemeClr>
                </a:solidFill>
              </a:rPr>
              <a:t> </a:t>
            </a:r>
            <a:r>
              <a:rPr lang="fr-BE" sz="3900" dirty="0" err="1">
                <a:solidFill>
                  <a:schemeClr val="accent5">
                    <a:lumMod val="75000"/>
                  </a:schemeClr>
                </a:solidFill>
              </a:rPr>
              <a:t>ti</a:t>
            </a:r>
            <a:r>
              <a:rPr lang="fr-BE" sz="3900" dirty="0">
                <a:solidFill>
                  <a:schemeClr val="accent5">
                    <a:lumMod val="75000"/>
                  </a:schemeClr>
                </a:solidFill>
              </a:rPr>
              <a:t> </a:t>
            </a:r>
            <a:r>
              <a:rPr lang="fr-BE" sz="3900" dirty="0" err="1">
                <a:solidFill>
                  <a:schemeClr val="accent5">
                    <a:lumMod val="75000"/>
                  </a:schemeClr>
                </a:solidFill>
              </a:rPr>
              <a:t>ti</a:t>
            </a:r>
            <a:r>
              <a:rPr lang="fr-BE" sz="3900" dirty="0">
                <a:solidFill>
                  <a:schemeClr val="accent5">
                    <a:lumMod val="75000"/>
                  </a:schemeClr>
                </a:solidFill>
              </a:rPr>
              <a:t> </a:t>
            </a:r>
            <a:r>
              <a:rPr lang="fr-BE" sz="3900" b="1" dirty="0">
                <a:solidFill>
                  <a:srgbClr val="DB5613"/>
                </a:solidFill>
              </a:rPr>
              <a:t>TA</a:t>
            </a:r>
          </a:p>
          <a:p>
            <a:pPr marL="0" indent="0">
              <a:buNone/>
            </a:pPr>
            <a:r>
              <a:rPr lang="fr-BE" sz="3600" dirty="0">
                <a:solidFill>
                  <a:schemeClr val="accent5">
                    <a:lumMod val="75000"/>
                  </a:schemeClr>
                </a:solidFill>
              </a:rPr>
              <a:t>				</a:t>
            </a:r>
            <a:endParaRPr lang="fr-BE" sz="3600" dirty="0">
              <a:solidFill>
                <a:srgbClr val="DB5613"/>
              </a:solidFill>
            </a:endParaRPr>
          </a:p>
          <a:p>
            <a:pPr marL="0" indent="0">
              <a:buNone/>
            </a:pPr>
            <a:endParaRPr lang="fr-BE" dirty="0">
              <a:solidFill>
                <a:srgbClr val="DB5613"/>
              </a:solidFill>
            </a:endParaRPr>
          </a:p>
          <a:p>
            <a:endParaRPr lang="fr-BE" dirty="0"/>
          </a:p>
        </p:txBody>
      </p:sp>
      <p:sp>
        <p:nvSpPr>
          <p:cNvPr id="5" name="Titre 4">
            <a:extLst>
              <a:ext uri="{FF2B5EF4-FFF2-40B4-BE49-F238E27FC236}">
                <a16:creationId xmlns:a16="http://schemas.microsoft.com/office/drawing/2014/main" id="{521D4A49-0E18-494A-9FF9-BCBC31B0D807}"/>
              </a:ext>
            </a:extLst>
          </p:cNvPr>
          <p:cNvSpPr>
            <a:spLocks noGrp="1"/>
          </p:cNvSpPr>
          <p:nvPr>
            <p:ph type="title"/>
          </p:nvPr>
        </p:nvSpPr>
        <p:spPr>
          <a:xfrm>
            <a:off x="107504" y="692696"/>
            <a:ext cx="7886700" cy="458294"/>
          </a:xfrm>
        </p:spPr>
        <p:txBody>
          <a:bodyPr>
            <a:noAutofit/>
          </a:bodyPr>
          <a:lstStyle/>
          <a:p>
            <a:r>
              <a:rPr lang="fr-BE" sz="4000" b="1" dirty="0" smtClean="0">
                <a:solidFill>
                  <a:srgbClr val="DB5613"/>
                </a:solidFill>
                <a:latin typeface="Calibri" pitchFamily="34" charset="0"/>
                <a:ea typeface="+mn-ea"/>
                <a:cs typeface="+mn-cs"/>
              </a:rPr>
              <a:t>L’accentuation</a:t>
            </a:r>
            <a:r>
              <a:rPr lang="fr-BE" sz="4000" b="1" dirty="0">
                <a:solidFill>
                  <a:srgbClr val="DB5613"/>
                </a:solidFill>
                <a:latin typeface="Calibri" pitchFamily="34" charset="0"/>
                <a:ea typeface="+mn-ea"/>
                <a:cs typeface="+mn-cs"/>
              </a:rPr>
              <a:t>, c’est … </a:t>
            </a:r>
          </a:p>
        </p:txBody>
      </p:sp>
      <p:sp>
        <p:nvSpPr>
          <p:cNvPr id="6" name="Titre 4">
            <a:extLst>
              <a:ext uri="{FF2B5EF4-FFF2-40B4-BE49-F238E27FC236}">
                <a16:creationId xmlns:a16="http://schemas.microsoft.com/office/drawing/2014/main" id="{6D2CA834-5499-4D98-9275-462ADC288238}"/>
              </a:ext>
            </a:extLst>
          </p:cNvPr>
          <p:cNvSpPr txBox="1">
            <a:spLocks/>
          </p:cNvSpPr>
          <p:nvPr/>
        </p:nvSpPr>
        <p:spPr bwMode="auto">
          <a:xfrm>
            <a:off x="4686301" y="4992886"/>
            <a:ext cx="4357688" cy="99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itchFamily="34" charset="0"/>
              </a:defRPr>
            </a:lvl2pPr>
            <a:lvl3pPr algn="l" rtl="0" eaLnBrk="1" fontAlgn="base" hangingPunct="1">
              <a:lnSpc>
                <a:spcPct val="90000"/>
              </a:lnSpc>
              <a:spcBef>
                <a:spcPct val="0"/>
              </a:spcBef>
              <a:spcAft>
                <a:spcPct val="0"/>
              </a:spcAft>
              <a:defRPr sz="4400">
                <a:solidFill>
                  <a:schemeClr val="tx1"/>
                </a:solidFill>
                <a:latin typeface="Calibri Light" pitchFamily="34" charset="0"/>
              </a:defRPr>
            </a:lvl3pPr>
            <a:lvl4pPr algn="l" rtl="0" eaLnBrk="1" fontAlgn="base" hangingPunct="1">
              <a:lnSpc>
                <a:spcPct val="90000"/>
              </a:lnSpc>
              <a:spcBef>
                <a:spcPct val="0"/>
              </a:spcBef>
              <a:spcAft>
                <a:spcPct val="0"/>
              </a:spcAft>
              <a:defRPr sz="4400">
                <a:solidFill>
                  <a:schemeClr val="tx1"/>
                </a:solidFill>
                <a:latin typeface="Calibri Light" pitchFamily="34" charset="0"/>
              </a:defRPr>
            </a:lvl4pPr>
            <a:lvl5pPr algn="l" rtl="0" eaLnBrk="1" fontAlgn="base" hangingPunct="1">
              <a:lnSpc>
                <a:spcPct val="90000"/>
              </a:lnSpc>
              <a:spcBef>
                <a:spcPct val="0"/>
              </a:spcBef>
              <a:spcAft>
                <a:spcPct val="0"/>
              </a:spcAft>
              <a:defRPr sz="4400">
                <a:solidFill>
                  <a:schemeClr val="tx1"/>
                </a:solidFill>
                <a:latin typeface="Calibri Light"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itchFamily="34" charset="0"/>
              </a:defRPr>
            </a:lvl9pPr>
          </a:lstStyle>
          <a:p>
            <a:r>
              <a:rPr lang="fr-BE" sz="3000" b="1" dirty="0">
                <a:solidFill>
                  <a:srgbClr val="DB5613"/>
                </a:solidFill>
                <a:latin typeface="Calibri" pitchFamily="34" charset="0"/>
                <a:ea typeface="+mn-ea"/>
                <a:cs typeface="+mn-cs"/>
              </a:rPr>
              <a:t>                       </a:t>
            </a:r>
            <a:endParaRPr lang="fr-BE" sz="3300" dirty="0">
              <a:solidFill>
                <a:schemeClr val="accent5">
                  <a:lumMod val="75000"/>
                </a:schemeClr>
              </a:solidFill>
              <a:latin typeface="+mn-lt"/>
              <a:ea typeface="+mn-ea"/>
              <a:cs typeface="+mn-cs"/>
            </a:endParaRPr>
          </a:p>
        </p:txBody>
      </p:sp>
      <p:sp>
        <p:nvSpPr>
          <p:cNvPr id="7" name="Titre 4">
            <a:extLst>
              <a:ext uri="{FF2B5EF4-FFF2-40B4-BE49-F238E27FC236}">
                <a16:creationId xmlns:a16="http://schemas.microsoft.com/office/drawing/2014/main" id="{521D4A49-0E18-494A-9FF9-BCBC31B0D807}"/>
              </a:ext>
            </a:extLst>
          </p:cNvPr>
          <p:cNvSpPr txBox="1">
            <a:spLocks/>
          </p:cNvSpPr>
          <p:nvPr/>
        </p:nvSpPr>
        <p:spPr bwMode="auto">
          <a:xfrm>
            <a:off x="274320" y="5280221"/>
            <a:ext cx="8869680" cy="458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itchFamily="34" charset="0"/>
              </a:defRPr>
            </a:lvl2pPr>
            <a:lvl3pPr algn="l" rtl="0" eaLnBrk="1" fontAlgn="base" hangingPunct="1">
              <a:lnSpc>
                <a:spcPct val="90000"/>
              </a:lnSpc>
              <a:spcBef>
                <a:spcPct val="0"/>
              </a:spcBef>
              <a:spcAft>
                <a:spcPct val="0"/>
              </a:spcAft>
              <a:defRPr sz="4400">
                <a:solidFill>
                  <a:schemeClr val="tx1"/>
                </a:solidFill>
                <a:latin typeface="Calibri Light" pitchFamily="34" charset="0"/>
              </a:defRPr>
            </a:lvl3pPr>
            <a:lvl4pPr algn="l" rtl="0" eaLnBrk="1" fontAlgn="base" hangingPunct="1">
              <a:lnSpc>
                <a:spcPct val="90000"/>
              </a:lnSpc>
              <a:spcBef>
                <a:spcPct val="0"/>
              </a:spcBef>
              <a:spcAft>
                <a:spcPct val="0"/>
              </a:spcAft>
              <a:defRPr sz="4400">
                <a:solidFill>
                  <a:schemeClr val="tx1"/>
                </a:solidFill>
                <a:latin typeface="Calibri Light" pitchFamily="34" charset="0"/>
              </a:defRPr>
            </a:lvl4pPr>
            <a:lvl5pPr algn="l" rtl="0" eaLnBrk="1" fontAlgn="base" hangingPunct="1">
              <a:lnSpc>
                <a:spcPct val="90000"/>
              </a:lnSpc>
              <a:spcBef>
                <a:spcPct val="0"/>
              </a:spcBef>
              <a:spcAft>
                <a:spcPct val="0"/>
              </a:spcAft>
              <a:defRPr sz="4400">
                <a:solidFill>
                  <a:schemeClr val="tx1"/>
                </a:solidFill>
                <a:latin typeface="Calibri Light"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itchFamily="34" charset="0"/>
              </a:defRPr>
            </a:lvl9pPr>
          </a:lstStyle>
          <a:p>
            <a:r>
              <a:rPr lang="fr-BE" sz="3000" b="1" dirty="0">
                <a:solidFill>
                  <a:srgbClr val="DB5613"/>
                </a:solidFill>
                <a:latin typeface="Calibri" pitchFamily="34" charset="0"/>
                <a:ea typeface="+mn-ea"/>
                <a:cs typeface="+mn-cs"/>
              </a:rPr>
              <a:t>Il faut travailler le rythme  autant que la grammaire ! </a:t>
            </a:r>
          </a:p>
        </p:txBody>
      </p:sp>
    </p:spTree>
    <p:extLst>
      <p:ext uri="{BB962C8B-B14F-4D97-AF65-F5344CB8AC3E}">
        <p14:creationId xmlns:p14="http://schemas.microsoft.com/office/powerpoint/2010/main" val="41762968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548680"/>
            <a:ext cx="8515350" cy="994172"/>
          </a:xfrm>
        </p:spPr>
        <p:txBody>
          <a:bodyPr>
            <a:normAutofit fontScale="90000"/>
          </a:bodyPr>
          <a:lstStyle/>
          <a:p>
            <a:r>
              <a:rPr lang="fr-BE" b="1" dirty="0" smtClean="0">
                <a:solidFill>
                  <a:srgbClr val="DB5613"/>
                </a:solidFill>
                <a:latin typeface="Gill Sans MT" panose="020B0502020104020203" pitchFamily="34" charset="0"/>
              </a:rPr>
              <a:t>Adopter le rythme du français, c’est …</a:t>
            </a:r>
            <a:r>
              <a:rPr lang="fr-BE" sz="2700" b="1" dirty="0">
                <a:solidFill>
                  <a:srgbClr val="DB5613"/>
                </a:solidFill>
                <a:latin typeface="Gill Sans MT" panose="020B0502020104020203" pitchFamily="34" charset="0"/>
              </a:rPr>
              <a:t/>
            </a:r>
            <a:br>
              <a:rPr lang="fr-BE" sz="2700" b="1" dirty="0">
                <a:solidFill>
                  <a:srgbClr val="DB5613"/>
                </a:solidFill>
                <a:latin typeface="Gill Sans MT" panose="020B0502020104020203" pitchFamily="34" charset="0"/>
              </a:rPr>
            </a:br>
            <a:endParaRPr lang="fr-FR" sz="2700" dirty="0">
              <a:solidFill>
                <a:srgbClr val="0070C0"/>
              </a:solidFill>
            </a:endParaRPr>
          </a:p>
        </p:txBody>
      </p:sp>
      <p:sp>
        <p:nvSpPr>
          <p:cNvPr id="8" name="ZoneTexte 7"/>
          <p:cNvSpPr txBox="1"/>
          <p:nvPr/>
        </p:nvSpPr>
        <p:spPr>
          <a:xfrm>
            <a:off x="372028" y="1717222"/>
            <a:ext cx="8130317" cy="4662815"/>
          </a:xfrm>
          <a:prstGeom prst="rect">
            <a:avLst/>
          </a:prstGeom>
          <a:noFill/>
        </p:spPr>
        <p:txBody>
          <a:bodyPr wrap="square" rtlCol="0">
            <a:spAutoFit/>
          </a:bodyPr>
          <a:lstStyle/>
          <a:p>
            <a:pPr marL="342900" indent="-342900">
              <a:buFont typeface="Arial" panose="020B0604020202020204" pitchFamily="34" charset="0"/>
              <a:buChar char="•"/>
            </a:pPr>
            <a:r>
              <a:rPr lang="fr-BE" sz="2700" dirty="0" smtClean="0">
                <a:solidFill>
                  <a:schemeClr val="accent5">
                    <a:lumMod val="75000"/>
                  </a:schemeClr>
                </a:solidFill>
                <a:latin typeface="Gill Sans MT" panose="020B0502020104020203" pitchFamily="34" charset="0"/>
              </a:rPr>
              <a:t>Parler par groupe rythmique de 6 syllabes maximum</a:t>
            </a:r>
            <a:r>
              <a:rPr lang="fr-BE" sz="2700" dirty="0" smtClean="0">
                <a:solidFill>
                  <a:schemeClr val="accent5">
                    <a:lumMod val="75000"/>
                  </a:schemeClr>
                </a:solidFill>
                <a:latin typeface="Gill Sans MT" panose="020B0502020104020203" pitchFamily="34" charset="0"/>
              </a:rPr>
              <a:t>. </a:t>
            </a:r>
          </a:p>
          <a:p>
            <a:r>
              <a:rPr lang="fr-BE" sz="2700" dirty="0" smtClean="0">
                <a:solidFill>
                  <a:schemeClr val="accent5">
                    <a:lumMod val="75000"/>
                  </a:schemeClr>
                </a:solidFill>
                <a:latin typeface="Gill Sans MT" panose="020B0502020104020203" pitchFamily="34" charset="0"/>
              </a:rPr>
              <a:t>   </a:t>
            </a:r>
          </a:p>
          <a:p>
            <a:pPr marL="0" lvl="1" algn="ctr"/>
            <a:r>
              <a:rPr lang="fr-BE" sz="2700" b="1" dirty="0">
                <a:solidFill>
                  <a:srgbClr val="DB5613"/>
                </a:solidFill>
                <a:latin typeface="Gill Sans MT" panose="020B0502020104020203" pitchFamily="34" charset="0"/>
              </a:rPr>
              <a:t>/……/</a:t>
            </a:r>
          </a:p>
          <a:p>
            <a:pPr marL="342900" indent="-342900">
              <a:buFont typeface="Arial" panose="020B0604020202020204" pitchFamily="34" charset="0"/>
              <a:buChar char="•"/>
            </a:pPr>
            <a:r>
              <a:rPr lang="fr-BE" sz="2700" dirty="0" smtClean="0">
                <a:solidFill>
                  <a:schemeClr val="accent5">
                    <a:lumMod val="75000"/>
                  </a:schemeClr>
                </a:solidFill>
                <a:latin typeface="Gill Sans MT" panose="020B0502020104020203" pitchFamily="34" charset="0"/>
              </a:rPr>
              <a:t>Parler</a:t>
            </a:r>
            <a:r>
              <a:rPr lang="fr-BE" sz="2100" b="1" dirty="0" smtClean="0">
                <a:solidFill>
                  <a:srgbClr val="0070C0"/>
                </a:solidFill>
                <a:latin typeface="Gill Sans MT" panose="020B0502020104020203" pitchFamily="34" charset="0"/>
              </a:rPr>
              <a:t> </a:t>
            </a:r>
            <a:r>
              <a:rPr lang="fr-BE" sz="2700" dirty="0" smtClean="0">
                <a:solidFill>
                  <a:srgbClr val="DB5613"/>
                </a:solidFill>
                <a:latin typeface="Gill Sans MT" panose="020B0502020104020203" pitchFamily="34" charset="0"/>
              </a:rPr>
              <a:t>en continu </a:t>
            </a:r>
            <a:r>
              <a:rPr lang="fr-BE" sz="2700" dirty="0" smtClean="0">
                <a:solidFill>
                  <a:schemeClr val="accent5">
                    <a:lumMod val="75000"/>
                  </a:schemeClr>
                </a:solidFill>
                <a:latin typeface="Gill Sans MT" panose="020B0502020104020203" pitchFamily="34" charset="0"/>
              </a:rPr>
              <a:t>à l’intérieur du groupe rythmique.</a:t>
            </a:r>
          </a:p>
          <a:p>
            <a:pPr marL="342900" indent="-342900">
              <a:buFont typeface="Arial" panose="020B0604020202020204" pitchFamily="34" charset="0"/>
              <a:buChar char="•"/>
            </a:pPr>
            <a:endParaRPr lang="fr-BE" sz="2700" dirty="0" smtClean="0">
              <a:solidFill>
                <a:schemeClr val="accent5">
                  <a:lumMod val="75000"/>
                </a:schemeClr>
              </a:solidFill>
              <a:latin typeface="Gill Sans MT" panose="020B0502020104020203" pitchFamily="34" charset="0"/>
            </a:endParaRPr>
          </a:p>
          <a:p>
            <a:pPr marL="342900" indent="-342900">
              <a:buFont typeface="Arial" panose="020B0604020202020204" pitchFamily="34" charset="0"/>
              <a:buChar char="•"/>
            </a:pPr>
            <a:endParaRPr lang="fr-BE" sz="2700" dirty="0" smtClean="0">
              <a:solidFill>
                <a:schemeClr val="accent5">
                  <a:lumMod val="75000"/>
                </a:schemeClr>
              </a:solidFill>
              <a:latin typeface="Gill Sans MT" panose="020B0502020104020203" pitchFamily="34" charset="0"/>
            </a:endParaRPr>
          </a:p>
          <a:p>
            <a:pPr marL="342900" indent="-342900">
              <a:buFont typeface="Arial" panose="020B0604020202020204" pitchFamily="34" charset="0"/>
              <a:buChar char="•"/>
            </a:pPr>
            <a:r>
              <a:rPr lang="fr-BE" sz="2700" dirty="0" smtClean="0">
                <a:solidFill>
                  <a:schemeClr val="accent5">
                    <a:lumMod val="75000"/>
                  </a:schemeClr>
                </a:solidFill>
                <a:latin typeface="Gill Sans MT" panose="020B0502020104020203" pitchFamily="34" charset="0"/>
              </a:rPr>
              <a:t>Accentuer la dernière syllabe (plus longue, plus forte)</a:t>
            </a:r>
          </a:p>
          <a:p>
            <a:pPr algn="ctr"/>
            <a:r>
              <a:rPr lang="fr-BE" sz="2700" b="1" dirty="0" smtClean="0">
                <a:solidFill>
                  <a:srgbClr val="DB5613"/>
                </a:solidFill>
                <a:latin typeface="Gill Sans MT" panose="020B0502020104020203" pitchFamily="34" charset="0"/>
              </a:rPr>
              <a:t>TA</a:t>
            </a:r>
            <a:endParaRPr lang="fr-BE" sz="2700" b="1" dirty="0">
              <a:solidFill>
                <a:srgbClr val="DB5613"/>
              </a:solidFill>
              <a:latin typeface="Gill Sans MT" panose="020B0502020104020203" pitchFamily="34" charset="0"/>
            </a:endParaRPr>
          </a:p>
          <a:p>
            <a:endParaRPr lang="fr-FR" sz="2700" dirty="0" smtClean="0">
              <a:solidFill>
                <a:schemeClr val="accent5">
                  <a:lumMod val="75000"/>
                </a:schemeClr>
              </a:solidFill>
              <a:latin typeface="Gill Sans MT" panose="020B0502020104020203" pitchFamily="34" charset="0"/>
            </a:endParaRPr>
          </a:p>
          <a:p>
            <a:pPr marL="342900" indent="-342900">
              <a:buFont typeface="Arial" panose="020B0604020202020204" pitchFamily="34" charset="0"/>
              <a:buChar char="•"/>
            </a:pPr>
            <a:r>
              <a:rPr lang="fr-FR" sz="2700" dirty="0" smtClean="0">
                <a:solidFill>
                  <a:schemeClr val="accent5">
                    <a:lumMod val="75000"/>
                  </a:schemeClr>
                </a:solidFill>
                <a:latin typeface="Gill Sans MT" panose="020B0502020104020203" pitchFamily="34" charset="0"/>
              </a:rPr>
              <a:t>Faire</a:t>
            </a:r>
            <a:r>
              <a:rPr lang="fr-FR" sz="2100" b="1" dirty="0" smtClean="0">
                <a:solidFill>
                  <a:srgbClr val="0070C0"/>
                </a:solidFill>
                <a:latin typeface="Gill Sans MT" panose="020B0502020104020203" pitchFamily="34" charset="0"/>
              </a:rPr>
              <a:t> </a:t>
            </a:r>
            <a:r>
              <a:rPr lang="fr-FR" sz="2700" dirty="0">
                <a:solidFill>
                  <a:srgbClr val="DB5613"/>
                </a:solidFill>
                <a:latin typeface="Gill Sans MT" panose="020B0502020104020203" pitchFamily="34" charset="0"/>
              </a:rPr>
              <a:t>une pause </a:t>
            </a:r>
            <a:r>
              <a:rPr lang="fr-FR" sz="2700" dirty="0">
                <a:solidFill>
                  <a:schemeClr val="accent5">
                    <a:lumMod val="75000"/>
                  </a:schemeClr>
                </a:solidFill>
                <a:latin typeface="Gill Sans MT" panose="020B0502020104020203" pitchFamily="34" charset="0"/>
              </a:rPr>
              <a:t>entre deux groupes rythmiques. </a:t>
            </a:r>
            <a:endParaRPr lang="fr-FR" sz="2700" dirty="0" smtClean="0">
              <a:solidFill>
                <a:schemeClr val="accent5">
                  <a:lumMod val="75000"/>
                </a:schemeClr>
              </a:solidFill>
              <a:latin typeface="Gill Sans MT" panose="020B0502020104020203" pitchFamily="34" charset="0"/>
            </a:endParaRPr>
          </a:p>
          <a:p>
            <a:pPr algn="ctr"/>
            <a:r>
              <a:rPr lang="fr-FR" sz="2700" b="1" dirty="0">
                <a:solidFill>
                  <a:srgbClr val="DB5613"/>
                </a:solidFill>
                <a:latin typeface="Gill Sans MT" panose="020B0502020104020203" pitchFamily="34" charset="0"/>
              </a:rPr>
              <a:t>#</a:t>
            </a:r>
            <a:endParaRPr lang="en-US" sz="2700" b="1" dirty="0">
              <a:solidFill>
                <a:srgbClr val="DB5613"/>
              </a:solidFill>
              <a:latin typeface="Gill Sans MT" panose="020B0502020104020203" pitchFamily="34" charset="0"/>
            </a:endParaRPr>
          </a:p>
        </p:txBody>
      </p:sp>
      <p:pic>
        <p:nvPicPr>
          <p:cNvPr id="9" name="Picture 4" descr="RÃ©sultat de recherche d'images pour &quot;archet de violoniste&quot;">
            <a:extLst>
              <a:ext uri="{FF2B5EF4-FFF2-40B4-BE49-F238E27FC236}">
                <a16:creationId xmlns:a16="http://schemas.microsoft.com/office/drawing/2014/main" id="{A71F390F-E560-4F8E-A345-A7188BF6CA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7904" y="3573016"/>
            <a:ext cx="1368152" cy="475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3213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dirty="0">
                <a:solidFill>
                  <a:srgbClr val="DB5613"/>
                </a:solidFill>
                <a:latin typeface="Gill Sans MT" panose="020B0502020104020203" pitchFamily="34" charset="0"/>
              </a:rPr>
              <a:t>Adopter le rythme du français</a:t>
            </a:r>
            <a:endParaRPr lang="en-US" dirty="0"/>
          </a:p>
        </p:txBody>
      </p:sp>
      <p:sp>
        <p:nvSpPr>
          <p:cNvPr id="4" name="Rectangle 3"/>
          <p:cNvSpPr/>
          <p:nvPr/>
        </p:nvSpPr>
        <p:spPr>
          <a:xfrm>
            <a:off x="1980593" y="2204864"/>
            <a:ext cx="6264696" cy="3416320"/>
          </a:xfrm>
          <a:prstGeom prst="rect">
            <a:avLst/>
          </a:prstGeom>
        </p:spPr>
        <p:txBody>
          <a:bodyPr wrap="square">
            <a:spAutoFit/>
          </a:bodyPr>
          <a:lstStyle/>
          <a:p>
            <a:r>
              <a:rPr lang="fr-FR" sz="2400" dirty="0"/>
              <a:t>/</a:t>
            </a:r>
            <a:r>
              <a:rPr lang="fr-FR" sz="3200" dirty="0"/>
              <a:t>ti </a:t>
            </a:r>
            <a:r>
              <a:rPr lang="fr-FR" sz="3200" b="1" dirty="0">
                <a:solidFill>
                  <a:srgbClr val="DB5613"/>
                </a:solidFill>
              </a:rPr>
              <a:t>TA</a:t>
            </a:r>
            <a:r>
              <a:rPr lang="fr-FR" sz="3200" dirty="0"/>
              <a:t> /</a:t>
            </a:r>
            <a:r>
              <a:rPr lang="fr-BE" sz="3200" dirty="0">
                <a:solidFill>
                  <a:schemeClr val="accent5">
                    <a:lumMod val="75000"/>
                  </a:schemeClr>
                </a:solidFill>
              </a:rPr>
              <a:t> #  </a:t>
            </a:r>
            <a:r>
              <a:rPr lang="fr-FR" sz="3200" dirty="0"/>
              <a:t>/ti </a:t>
            </a:r>
            <a:r>
              <a:rPr lang="fr-FR" sz="3200" dirty="0" err="1" smtClean="0"/>
              <a:t>ti</a:t>
            </a:r>
            <a:r>
              <a:rPr lang="fr-FR" sz="3200" dirty="0" smtClean="0"/>
              <a:t> </a:t>
            </a:r>
            <a:r>
              <a:rPr lang="fr-FR" sz="3200" b="1" dirty="0" smtClean="0">
                <a:solidFill>
                  <a:srgbClr val="DB5613"/>
                </a:solidFill>
              </a:rPr>
              <a:t>TA</a:t>
            </a:r>
            <a:r>
              <a:rPr lang="fr-FR" sz="3200" dirty="0" smtClean="0"/>
              <a:t> / </a:t>
            </a:r>
            <a:r>
              <a:rPr lang="fr-FR" sz="3200" dirty="0" smtClean="0"/>
              <a:t>?</a:t>
            </a:r>
          </a:p>
          <a:p>
            <a:r>
              <a:rPr lang="fr-FR" sz="3200" dirty="0" smtClean="0"/>
              <a:t>Sa</a:t>
            </a:r>
            <a:r>
              <a:rPr lang="fr-FR" sz="3200" b="1" dirty="0" smtClean="0">
                <a:solidFill>
                  <a:srgbClr val="DB5613"/>
                </a:solidFill>
              </a:rPr>
              <a:t>lut</a:t>
            </a:r>
            <a:r>
              <a:rPr lang="fr-FR" sz="3200" dirty="0" smtClean="0"/>
              <a:t>         Tu vas </a:t>
            </a:r>
            <a:r>
              <a:rPr lang="fr-FR" sz="3200" b="1" dirty="0">
                <a:solidFill>
                  <a:srgbClr val="DB5613"/>
                </a:solidFill>
              </a:rPr>
              <a:t>bien</a:t>
            </a:r>
            <a:r>
              <a:rPr lang="fr-FR" sz="3200" dirty="0" smtClean="0"/>
              <a:t>?</a:t>
            </a:r>
          </a:p>
          <a:p>
            <a:endParaRPr lang="fr-FR" sz="3200" dirty="0"/>
          </a:p>
          <a:p>
            <a:endParaRPr lang="fr-FR" sz="3200" dirty="0"/>
          </a:p>
          <a:p>
            <a:r>
              <a:rPr lang="fr-FR" sz="3200" dirty="0"/>
              <a:t>/ti ti </a:t>
            </a:r>
            <a:r>
              <a:rPr lang="fr-FR" sz="3200" dirty="0" err="1"/>
              <a:t>ti</a:t>
            </a:r>
            <a:r>
              <a:rPr lang="fr-FR" sz="3200" dirty="0"/>
              <a:t> </a:t>
            </a:r>
            <a:r>
              <a:rPr lang="fr-FR" sz="3200" dirty="0" err="1" smtClean="0"/>
              <a:t>ti</a:t>
            </a:r>
            <a:r>
              <a:rPr lang="fr-FR" sz="3200" dirty="0" smtClean="0"/>
              <a:t> </a:t>
            </a:r>
            <a:r>
              <a:rPr lang="fr-FR" sz="3200" b="1" dirty="0">
                <a:solidFill>
                  <a:srgbClr val="DB5613"/>
                </a:solidFill>
              </a:rPr>
              <a:t>TA</a:t>
            </a:r>
            <a:r>
              <a:rPr lang="fr-FR" sz="3200" b="1" dirty="0" smtClean="0">
                <a:solidFill>
                  <a:srgbClr val="DB5613"/>
                </a:solidFill>
              </a:rPr>
              <a:t>/</a:t>
            </a:r>
            <a:endParaRPr lang="fr-FR" sz="3200" dirty="0"/>
          </a:p>
          <a:p>
            <a:r>
              <a:rPr lang="fr-FR" sz="3200" dirty="0" smtClean="0"/>
              <a:t>Ça va super </a:t>
            </a:r>
            <a:r>
              <a:rPr lang="fr-FR" sz="3200" b="1" dirty="0">
                <a:solidFill>
                  <a:srgbClr val="DB5613"/>
                </a:solidFill>
              </a:rPr>
              <a:t>bien</a:t>
            </a:r>
            <a:endParaRPr lang="fr-FR" sz="3200" b="1" dirty="0">
              <a:solidFill>
                <a:srgbClr val="DB5613"/>
              </a:solidFill>
            </a:endParaRPr>
          </a:p>
          <a:p>
            <a:r>
              <a:rPr lang="fr-FR" sz="2400" dirty="0"/>
              <a:t>  </a:t>
            </a:r>
            <a:endParaRPr lang="fr-FR" sz="1350" dirty="0"/>
          </a:p>
        </p:txBody>
      </p:sp>
      <p:pic>
        <p:nvPicPr>
          <p:cNvPr id="5" name="Picture 4" descr="RÃ©sultat de recherche d'images pour &quot;archet de violoniste&quot;">
            <a:extLst>
              <a:ext uri="{FF2B5EF4-FFF2-40B4-BE49-F238E27FC236}">
                <a16:creationId xmlns:a16="http://schemas.microsoft.com/office/drawing/2014/main" id="{A71F390F-E560-4F8E-A345-A7188BF6CA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097166">
            <a:off x="3950840" y="1592516"/>
            <a:ext cx="1242320" cy="4318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Ã©sultat de recherche d'images pour &quot;archet de violoniste&quot;">
            <a:extLst>
              <a:ext uri="{FF2B5EF4-FFF2-40B4-BE49-F238E27FC236}">
                <a16:creationId xmlns:a16="http://schemas.microsoft.com/office/drawing/2014/main" id="{A71F390F-E560-4F8E-A345-A7188BF6CA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1125909">
            <a:off x="2390663" y="3686000"/>
            <a:ext cx="1306114" cy="454048"/>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p:cNvPicPr>
            <a:picLocks noChangeAspect="1"/>
          </p:cNvPicPr>
          <p:nvPr/>
        </p:nvPicPr>
        <p:blipFill>
          <a:blip r:embed="rId3"/>
          <a:stretch>
            <a:fillRect/>
          </a:stretch>
        </p:blipFill>
        <p:spPr>
          <a:xfrm>
            <a:off x="5292080" y="3839717"/>
            <a:ext cx="704850" cy="1914525"/>
          </a:xfrm>
          <a:prstGeom prst="rect">
            <a:avLst/>
          </a:prstGeom>
        </p:spPr>
      </p:pic>
      <p:pic>
        <p:nvPicPr>
          <p:cNvPr id="9" name="Image 8"/>
          <p:cNvPicPr>
            <a:picLocks noChangeAspect="1"/>
          </p:cNvPicPr>
          <p:nvPr/>
        </p:nvPicPr>
        <p:blipFill>
          <a:blip r:embed="rId4"/>
          <a:stretch>
            <a:fillRect/>
          </a:stretch>
        </p:blipFill>
        <p:spPr>
          <a:xfrm>
            <a:off x="995949" y="1771040"/>
            <a:ext cx="685800" cy="1428750"/>
          </a:xfrm>
          <a:prstGeom prst="rect">
            <a:avLst/>
          </a:prstGeom>
        </p:spPr>
      </p:pic>
    </p:spTree>
    <p:extLst>
      <p:ext uri="{BB962C8B-B14F-4D97-AF65-F5344CB8AC3E}">
        <p14:creationId xmlns:p14="http://schemas.microsoft.com/office/powerpoint/2010/main" val="925539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5008" y="3068960"/>
            <a:ext cx="8928992" cy="2369880"/>
          </a:xfrm>
          <a:prstGeom prst="rect">
            <a:avLst/>
          </a:prstGeom>
        </p:spPr>
        <p:txBody>
          <a:bodyPr wrap="square">
            <a:spAutoFit/>
          </a:bodyPr>
          <a:lstStyle/>
          <a:p>
            <a:r>
              <a:rPr lang="fr-BE" sz="2800" dirty="0" smtClean="0">
                <a:latin typeface="Lucida Sans Unicode" panose="020B0602030504020204" pitchFamily="34" charset="0"/>
                <a:ea typeface="Times New Roman" panose="02020603050405020304" pitchFamily="18" charset="0"/>
              </a:rPr>
              <a:t>/</a:t>
            </a:r>
            <a:r>
              <a:rPr lang="fr-BE" sz="2000" dirty="0" smtClean="0">
                <a:latin typeface="Lucida Sans Unicode" panose="020B0602030504020204" pitchFamily="34" charset="0"/>
                <a:ea typeface="Times New Roman" panose="02020603050405020304" pitchFamily="18" charset="0"/>
              </a:rPr>
              <a:t>En 199</a:t>
            </a:r>
            <a:r>
              <a:rPr lang="fr-BE" sz="2000" dirty="0" smtClean="0">
                <a:solidFill>
                  <a:srgbClr val="FF0000"/>
                </a:solidFill>
                <a:latin typeface="Lucida Sans Unicode" panose="020B0602030504020204" pitchFamily="34" charset="0"/>
                <a:ea typeface="Times New Roman" panose="02020603050405020304" pitchFamily="18" charset="0"/>
              </a:rPr>
              <a:t>9</a:t>
            </a:r>
            <a:r>
              <a:rPr lang="fr-BE" sz="2000" dirty="0" smtClean="0">
                <a:latin typeface="Lucida Sans Unicode" panose="020B0602030504020204" pitchFamily="34" charset="0"/>
                <a:ea typeface="Times New Roman" panose="02020603050405020304" pitchFamily="18" charset="0"/>
              </a:rPr>
              <a:t>/,#/je </a:t>
            </a:r>
            <a:r>
              <a:rPr lang="fr-BE" sz="2000" dirty="0">
                <a:latin typeface="Lucida Sans Unicode" panose="020B0602030504020204" pitchFamily="34" charset="0"/>
                <a:ea typeface="Times New Roman" panose="02020603050405020304" pitchFamily="18" charset="0"/>
              </a:rPr>
              <a:t>rencontre Ka</a:t>
            </a:r>
            <a:r>
              <a:rPr lang="fr-BE" sz="2000" dirty="0">
                <a:solidFill>
                  <a:srgbClr val="FF0000"/>
                </a:solidFill>
                <a:latin typeface="Lucida Sans Unicode" panose="020B0602030504020204" pitchFamily="34" charset="0"/>
                <a:ea typeface="Times New Roman" panose="02020603050405020304" pitchFamily="18" charset="0"/>
              </a:rPr>
              <a:t>rine</a:t>
            </a:r>
            <a:r>
              <a:rPr lang="fr-BE" sz="2000" dirty="0" smtClean="0">
                <a:latin typeface="Lucida Sans Unicode" panose="020B0602030504020204" pitchFamily="34" charset="0"/>
                <a:ea typeface="Times New Roman" panose="02020603050405020304" pitchFamily="18" charset="0"/>
              </a:rPr>
              <a:t>/#/à Marra</a:t>
            </a:r>
            <a:r>
              <a:rPr lang="fr-BE" sz="2000" dirty="0" smtClean="0">
                <a:solidFill>
                  <a:srgbClr val="FF0000"/>
                </a:solidFill>
                <a:latin typeface="Lucida Sans Unicode" panose="020B0602030504020204" pitchFamily="34" charset="0"/>
                <a:ea typeface="Times New Roman" panose="02020603050405020304" pitchFamily="18" charset="0"/>
              </a:rPr>
              <a:t>kech</a:t>
            </a:r>
            <a:r>
              <a:rPr lang="fr-BE" sz="2000" dirty="0" smtClean="0">
                <a:latin typeface="Lucida Sans Unicode" panose="020B0602030504020204" pitchFamily="34" charset="0"/>
                <a:ea typeface="Times New Roman" panose="02020603050405020304" pitchFamily="18" charset="0"/>
              </a:rPr>
              <a:t>/. /Pendant </a:t>
            </a:r>
            <a:r>
              <a:rPr lang="fr-BE" sz="2000" dirty="0">
                <a:latin typeface="Lucida Sans Unicode" panose="020B0602030504020204" pitchFamily="34" charset="0"/>
                <a:ea typeface="Times New Roman" panose="02020603050405020304" pitchFamily="18" charset="0"/>
              </a:rPr>
              <a:t>2 </a:t>
            </a:r>
            <a:r>
              <a:rPr lang="fr-BE" sz="2000" dirty="0" smtClean="0">
                <a:latin typeface="Lucida Sans Unicode" panose="020B0602030504020204" pitchFamily="34" charset="0"/>
                <a:ea typeface="Times New Roman" panose="02020603050405020304" pitchFamily="18" charset="0"/>
              </a:rPr>
              <a:t>ans/, </a:t>
            </a:r>
            <a:r>
              <a:rPr lang="fr-BE" sz="2000" dirty="0">
                <a:latin typeface="Lucida Sans Unicode" panose="020B0602030504020204" pitchFamily="34" charset="0"/>
                <a:ea typeface="Times New Roman" panose="02020603050405020304" pitchFamily="18" charset="0"/>
              </a:rPr>
              <a:t>elle vient me </a:t>
            </a:r>
            <a:r>
              <a:rPr lang="fr-BE" sz="2000" dirty="0" smtClean="0">
                <a:latin typeface="Lucida Sans Unicode" panose="020B0602030504020204" pitchFamily="34" charset="0"/>
                <a:ea typeface="Times New Roman" panose="02020603050405020304" pitchFamily="18" charset="0"/>
              </a:rPr>
              <a:t>rejoindre/ tous </a:t>
            </a:r>
            <a:r>
              <a:rPr lang="fr-BE" sz="2000" dirty="0">
                <a:latin typeface="Lucida Sans Unicode" panose="020B0602030504020204" pitchFamily="34" charset="0"/>
                <a:ea typeface="Times New Roman" panose="02020603050405020304" pitchFamily="18" charset="0"/>
              </a:rPr>
              <a:t>les </a:t>
            </a:r>
            <a:r>
              <a:rPr lang="fr-BE" sz="2000" dirty="0" smtClean="0">
                <a:latin typeface="Lucida Sans Unicode" panose="020B0602030504020204" pitchFamily="34" charset="0"/>
                <a:ea typeface="Times New Roman" panose="02020603050405020304" pitchFamily="18" charset="0"/>
              </a:rPr>
              <a:t>trois mois/ /au </a:t>
            </a:r>
            <a:r>
              <a:rPr lang="fr-BE" sz="2000" dirty="0" smtClean="0">
                <a:latin typeface="Lucida Sans Unicode" panose="020B0602030504020204" pitchFamily="34" charset="0"/>
                <a:ea typeface="Times New Roman" panose="02020603050405020304" pitchFamily="18" charset="0"/>
              </a:rPr>
              <a:t>Maroc</a:t>
            </a:r>
            <a:r>
              <a:rPr lang="fr-BE" sz="2000" dirty="0" smtClean="0">
                <a:latin typeface="Lucida Sans Unicode" panose="020B0602030504020204" pitchFamily="34" charset="0"/>
                <a:ea typeface="Times New Roman" panose="02020603050405020304" pitchFamily="18" charset="0"/>
              </a:rPr>
              <a:t>./</a:t>
            </a:r>
          </a:p>
          <a:p>
            <a:r>
              <a:rPr lang="fr-BE" sz="2000" dirty="0">
                <a:latin typeface="Lucida Sans Unicode" panose="020B0602030504020204" pitchFamily="34" charset="0"/>
                <a:ea typeface="Times New Roman" panose="02020603050405020304" pitchFamily="18" charset="0"/>
              </a:rPr>
              <a:t>/</a:t>
            </a:r>
            <a:r>
              <a:rPr lang="fr-BE" sz="2000" dirty="0" smtClean="0">
                <a:latin typeface="Lucida Sans Unicode" panose="020B0602030504020204" pitchFamily="34" charset="0"/>
                <a:ea typeface="Times New Roman" panose="02020603050405020304" pitchFamily="18" charset="0"/>
              </a:rPr>
              <a:t>J</a:t>
            </a:r>
            <a:r>
              <a:rPr lang="fr-BE" sz="2000" dirty="0" smtClean="0">
                <a:latin typeface="Lucida Sans Unicode" panose="020B0602030504020204" pitchFamily="34" charset="0"/>
                <a:ea typeface="Times New Roman" panose="02020603050405020304" pitchFamily="18" charset="0"/>
              </a:rPr>
              <a:t>e </a:t>
            </a:r>
            <a:r>
              <a:rPr lang="fr-BE" sz="2000" dirty="0">
                <a:latin typeface="Lucida Sans Unicode" panose="020B0602030504020204" pitchFamily="34" charset="0"/>
                <a:ea typeface="Times New Roman" panose="02020603050405020304" pitchFamily="18" charset="0"/>
              </a:rPr>
              <a:t>suis </a:t>
            </a:r>
            <a:r>
              <a:rPr lang="fr-BE" sz="2000" dirty="0" smtClean="0">
                <a:latin typeface="Lucida Sans Unicode" panose="020B0602030504020204" pitchFamily="34" charset="0"/>
                <a:ea typeface="Times New Roman" panose="02020603050405020304" pitchFamily="18" charset="0"/>
              </a:rPr>
              <a:t>heureux/.</a:t>
            </a:r>
            <a:r>
              <a:rPr lang="fr-BE" sz="2000" dirty="0">
                <a:latin typeface="Lucida Sans Unicode" panose="020B0602030504020204" pitchFamily="34" charset="0"/>
                <a:ea typeface="Times New Roman" panose="02020603050405020304" pitchFamily="18" charset="0"/>
              </a:rPr>
              <a:t>  </a:t>
            </a:r>
            <a:r>
              <a:rPr lang="fr-BE" sz="2000" dirty="0" smtClean="0">
                <a:latin typeface="Lucida Sans Unicode" panose="020B0602030504020204" pitchFamily="34" charset="0"/>
                <a:ea typeface="Times New Roman" panose="02020603050405020304" pitchFamily="18" charset="0"/>
              </a:rPr>
              <a:t>       </a:t>
            </a:r>
          </a:p>
          <a:p>
            <a:r>
              <a:rPr lang="fr-BE" sz="2000" dirty="0" smtClean="0">
                <a:latin typeface="Lucida Sans Unicode" panose="020B0602030504020204" pitchFamily="34" charset="0"/>
                <a:ea typeface="Times New Roman" panose="02020603050405020304" pitchFamily="18" charset="0"/>
              </a:rPr>
              <a:t>/À </a:t>
            </a:r>
            <a:r>
              <a:rPr lang="fr-BE" sz="2000" dirty="0">
                <a:latin typeface="Lucida Sans Unicode" panose="020B0602030504020204" pitchFamily="34" charset="0"/>
                <a:ea typeface="Times New Roman" panose="02020603050405020304" pitchFamily="18" charset="0"/>
              </a:rPr>
              <a:t>chaque </a:t>
            </a:r>
            <a:r>
              <a:rPr lang="fr-BE" sz="2000" dirty="0" smtClean="0">
                <a:latin typeface="Lucida Sans Unicode" panose="020B0602030504020204" pitchFamily="34" charset="0"/>
                <a:ea typeface="Times New Roman" panose="02020603050405020304" pitchFamily="18" charset="0"/>
              </a:rPr>
              <a:t>fois</a:t>
            </a:r>
            <a:r>
              <a:rPr lang="fr-BE" sz="2000" dirty="0" smtClean="0">
                <a:latin typeface="Lucida Sans Unicode" panose="020B0602030504020204" pitchFamily="34" charset="0"/>
                <a:ea typeface="Times New Roman" panose="02020603050405020304" pitchFamily="18" charset="0"/>
              </a:rPr>
              <a:t>/,/</a:t>
            </a:r>
            <a:r>
              <a:rPr lang="fr-BE" sz="2000" dirty="0" smtClean="0">
                <a:latin typeface="Lucida Sans Unicode" panose="020B0602030504020204" pitchFamily="34" charset="0"/>
                <a:ea typeface="Times New Roman" panose="02020603050405020304" pitchFamily="18" charset="0"/>
              </a:rPr>
              <a:t>je </a:t>
            </a:r>
            <a:r>
              <a:rPr lang="fr-BE" sz="2000" dirty="0">
                <a:latin typeface="Lucida Sans Unicode" panose="020B0602030504020204" pitchFamily="34" charset="0"/>
                <a:ea typeface="Times New Roman" panose="02020603050405020304" pitchFamily="18" charset="0"/>
              </a:rPr>
              <a:t>la </a:t>
            </a:r>
            <a:r>
              <a:rPr lang="fr-BE" sz="2000" dirty="0" smtClean="0">
                <a:latin typeface="Lucida Sans Unicode" panose="020B0602030504020204" pitchFamily="34" charset="0"/>
                <a:ea typeface="Times New Roman" panose="02020603050405020304" pitchFamily="18" charset="0"/>
              </a:rPr>
              <a:t>retrouve/, /mais </a:t>
            </a:r>
            <a:r>
              <a:rPr lang="fr-BE" sz="2000" dirty="0">
                <a:latin typeface="Lucida Sans Unicode" panose="020B0602030504020204" pitchFamily="34" charset="0"/>
                <a:ea typeface="Times New Roman" panose="02020603050405020304" pitchFamily="18" charset="0"/>
              </a:rPr>
              <a:t>les départs </a:t>
            </a:r>
            <a:r>
              <a:rPr lang="fr-BE" sz="2000" dirty="0" smtClean="0">
                <a:latin typeface="Lucida Sans Unicode" panose="020B0602030504020204" pitchFamily="34" charset="0"/>
                <a:ea typeface="Times New Roman" panose="02020603050405020304" pitchFamily="18" charset="0"/>
              </a:rPr>
              <a:t>/sont </a:t>
            </a:r>
            <a:r>
              <a:rPr lang="fr-BE" sz="2000" dirty="0">
                <a:latin typeface="Lucida Sans Unicode" panose="020B0602030504020204" pitchFamily="34" charset="0"/>
                <a:ea typeface="Times New Roman" panose="02020603050405020304" pitchFamily="18" charset="0"/>
              </a:rPr>
              <a:t>de plus en </a:t>
            </a:r>
            <a:r>
              <a:rPr lang="fr-BE" sz="2000" dirty="0" smtClean="0">
                <a:latin typeface="Lucida Sans Unicode" panose="020B0602030504020204" pitchFamily="34" charset="0"/>
                <a:ea typeface="Times New Roman" panose="02020603050405020304" pitchFamily="18" charset="0"/>
              </a:rPr>
              <a:t>plus/ </a:t>
            </a:r>
            <a:r>
              <a:rPr lang="fr-BE" sz="2000" dirty="0" smtClean="0">
                <a:latin typeface="Lucida Sans Unicode" panose="020B0602030504020204" pitchFamily="34" charset="0"/>
                <a:ea typeface="Times New Roman" panose="02020603050405020304" pitchFamily="18" charset="0"/>
              </a:rPr>
              <a:t>difficiles./</a:t>
            </a:r>
            <a:endParaRPr lang="fr-BE" sz="2000" dirty="0" smtClean="0">
              <a:latin typeface="Lucida Sans Unicode" panose="020B0602030504020204" pitchFamily="34" charset="0"/>
              <a:ea typeface="Times New Roman" panose="02020603050405020304" pitchFamily="18" charset="0"/>
            </a:endParaRPr>
          </a:p>
          <a:p>
            <a:r>
              <a:rPr lang="fr-BE" sz="2000" dirty="0" smtClean="0">
                <a:latin typeface="Lucida Sans Unicode" panose="020B0602030504020204" pitchFamily="34" charset="0"/>
                <a:ea typeface="Times New Roman" panose="02020603050405020304" pitchFamily="18" charset="0"/>
              </a:rPr>
              <a:t>Malgré </a:t>
            </a:r>
            <a:r>
              <a:rPr lang="fr-BE" sz="2000" dirty="0">
                <a:latin typeface="Lucida Sans Unicode" panose="020B0602030504020204" pitchFamily="34" charset="0"/>
                <a:ea typeface="Times New Roman" panose="02020603050405020304" pitchFamily="18" charset="0"/>
              </a:rPr>
              <a:t>mon </a:t>
            </a:r>
            <a:r>
              <a:rPr lang="fr-BE" sz="2000" dirty="0" smtClean="0">
                <a:latin typeface="Lucida Sans Unicode" panose="020B0602030504020204" pitchFamily="34" charset="0"/>
                <a:ea typeface="Times New Roman" panose="02020603050405020304" pitchFamily="18" charset="0"/>
              </a:rPr>
              <a:t>travail/ </a:t>
            </a:r>
            <a:r>
              <a:rPr lang="fr-BE" sz="2000" dirty="0">
                <a:latin typeface="Lucida Sans Unicode" panose="020B0602030504020204" pitchFamily="34" charset="0"/>
                <a:ea typeface="Times New Roman" panose="02020603050405020304" pitchFamily="18" charset="0"/>
              </a:rPr>
              <a:t>de </a:t>
            </a:r>
            <a:r>
              <a:rPr lang="fr-BE" sz="2000" dirty="0" smtClean="0">
                <a:latin typeface="Lucida Sans Unicode" panose="020B0602030504020204" pitchFamily="34" charset="0"/>
                <a:ea typeface="Times New Roman" panose="02020603050405020304" pitchFamily="18" charset="0"/>
              </a:rPr>
              <a:t>musicien/ </a:t>
            </a:r>
            <a:r>
              <a:rPr lang="fr-BE" sz="2000" dirty="0">
                <a:latin typeface="Lucida Sans Unicode" panose="020B0602030504020204" pitchFamily="34" charset="0"/>
                <a:ea typeface="Times New Roman" panose="02020603050405020304" pitchFamily="18" charset="0"/>
              </a:rPr>
              <a:t>qui </a:t>
            </a:r>
            <a:r>
              <a:rPr lang="fr-BE" sz="2000" dirty="0" smtClean="0">
                <a:latin typeface="Lucida Sans Unicode" panose="020B0602030504020204" pitchFamily="34" charset="0"/>
                <a:ea typeface="Times New Roman" panose="02020603050405020304" pitchFamily="18" charset="0"/>
              </a:rPr>
              <a:t>marche bien/, </a:t>
            </a:r>
            <a:r>
              <a:rPr lang="fr-BE" sz="2000" dirty="0">
                <a:latin typeface="Lucida Sans Unicode" panose="020B0602030504020204" pitchFamily="34" charset="0"/>
                <a:ea typeface="Times New Roman" panose="02020603050405020304" pitchFamily="18" charset="0"/>
              </a:rPr>
              <a:t>je décide </a:t>
            </a:r>
            <a:r>
              <a:rPr lang="fr-BE" sz="2000" dirty="0" smtClean="0">
                <a:latin typeface="Lucida Sans Unicode" panose="020B0602030504020204" pitchFamily="34" charset="0"/>
                <a:ea typeface="Times New Roman" panose="02020603050405020304" pitchFamily="18" charset="0"/>
              </a:rPr>
              <a:t>alors/ </a:t>
            </a:r>
            <a:r>
              <a:rPr lang="fr-BE" sz="2000" dirty="0">
                <a:latin typeface="Lucida Sans Unicode" panose="020B0602030504020204" pitchFamily="34" charset="0"/>
                <a:ea typeface="Times New Roman" panose="02020603050405020304" pitchFamily="18" charset="0"/>
              </a:rPr>
              <a:t>de partir en </a:t>
            </a:r>
            <a:r>
              <a:rPr lang="fr-BE" sz="2000" dirty="0" smtClean="0">
                <a:latin typeface="Lucida Sans Unicode" panose="020B0602030504020204" pitchFamily="34" charset="0"/>
                <a:ea typeface="Times New Roman" panose="02020603050405020304" pitchFamily="18" charset="0"/>
              </a:rPr>
              <a:t>France/pour vivre/ mon </a:t>
            </a:r>
            <a:r>
              <a:rPr lang="fr-BE" sz="2000" dirty="0">
                <a:latin typeface="Lucida Sans Unicode" panose="020B0602030504020204" pitchFamily="34" charset="0"/>
                <a:ea typeface="Times New Roman" panose="02020603050405020304" pitchFamily="18" charset="0"/>
              </a:rPr>
              <a:t>histoire d'amour.   </a:t>
            </a:r>
            <a:endParaRPr lang="en-US" sz="3600" dirty="0">
              <a:effectLst/>
              <a:latin typeface="Times New Roman" panose="02020603050405020304" pitchFamily="18" charset="0"/>
              <a:ea typeface="Times New Roman" panose="02020603050405020304" pitchFamily="18" charset="0"/>
            </a:endParaRPr>
          </a:p>
        </p:txBody>
      </p:sp>
      <p:sp>
        <p:nvSpPr>
          <p:cNvPr id="4" name="ZoneTexte 3"/>
          <p:cNvSpPr txBox="1"/>
          <p:nvPr/>
        </p:nvSpPr>
        <p:spPr>
          <a:xfrm>
            <a:off x="431540" y="613427"/>
            <a:ext cx="7704856" cy="2246769"/>
          </a:xfrm>
          <a:prstGeom prst="rect">
            <a:avLst/>
          </a:prstGeom>
          <a:noFill/>
        </p:spPr>
        <p:txBody>
          <a:bodyPr wrap="square" rtlCol="0">
            <a:spAutoFit/>
          </a:bodyPr>
          <a:lstStyle/>
          <a:p>
            <a:pPr marL="342900" indent="-342900">
              <a:buFont typeface="Arial" panose="020B0604020202020204" pitchFamily="34" charset="0"/>
              <a:buChar char="•"/>
            </a:pPr>
            <a:r>
              <a:rPr lang="fr-BE" sz="2000" dirty="0" smtClean="0">
                <a:solidFill>
                  <a:schemeClr val="accent5">
                    <a:lumMod val="75000"/>
                  </a:schemeClr>
                </a:solidFill>
                <a:latin typeface="Gill Sans MT" panose="020B0502020104020203" pitchFamily="34" charset="0"/>
              </a:rPr>
              <a:t>Parler </a:t>
            </a:r>
            <a:r>
              <a:rPr lang="fr-BE" sz="2000" dirty="0">
                <a:solidFill>
                  <a:schemeClr val="accent5">
                    <a:lumMod val="75000"/>
                  </a:schemeClr>
                </a:solidFill>
                <a:latin typeface="Gill Sans MT" panose="020B0502020104020203" pitchFamily="34" charset="0"/>
              </a:rPr>
              <a:t>par groupe rythmique de 6 syllabes maximum  </a:t>
            </a:r>
            <a:r>
              <a:rPr lang="fr-BE" sz="2000" b="1" dirty="0" smtClean="0">
                <a:solidFill>
                  <a:srgbClr val="DB5613"/>
                </a:solidFill>
                <a:latin typeface="Gill Sans MT" panose="020B0502020104020203" pitchFamily="34" charset="0"/>
              </a:rPr>
              <a:t>/…../</a:t>
            </a:r>
            <a:endParaRPr lang="fr-BE" sz="2000" b="1" dirty="0">
              <a:solidFill>
                <a:srgbClr val="DB5613"/>
              </a:solidFill>
              <a:latin typeface="Gill Sans MT" panose="020B0502020104020203" pitchFamily="34" charset="0"/>
            </a:endParaRPr>
          </a:p>
          <a:p>
            <a:pPr marL="342900" indent="-342900">
              <a:buFont typeface="Arial" panose="020B0604020202020204" pitchFamily="34" charset="0"/>
              <a:buChar char="•"/>
            </a:pPr>
            <a:r>
              <a:rPr lang="fr-BE" sz="2000" dirty="0">
                <a:solidFill>
                  <a:schemeClr val="accent5">
                    <a:lumMod val="75000"/>
                  </a:schemeClr>
                </a:solidFill>
                <a:latin typeface="Gill Sans MT" panose="020B0502020104020203" pitchFamily="34" charset="0"/>
              </a:rPr>
              <a:t>Parler</a:t>
            </a:r>
            <a:r>
              <a:rPr lang="fr-BE" sz="2000" b="1" dirty="0">
                <a:solidFill>
                  <a:srgbClr val="0070C0"/>
                </a:solidFill>
                <a:latin typeface="Gill Sans MT" panose="020B0502020104020203" pitchFamily="34" charset="0"/>
              </a:rPr>
              <a:t> </a:t>
            </a:r>
            <a:r>
              <a:rPr lang="fr-BE" sz="2000" dirty="0">
                <a:solidFill>
                  <a:srgbClr val="DB5613"/>
                </a:solidFill>
                <a:latin typeface="Gill Sans MT" panose="020B0502020104020203" pitchFamily="34" charset="0"/>
              </a:rPr>
              <a:t>en continu </a:t>
            </a:r>
            <a:r>
              <a:rPr lang="fr-BE" sz="2000" dirty="0">
                <a:solidFill>
                  <a:schemeClr val="accent5">
                    <a:lumMod val="75000"/>
                  </a:schemeClr>
                </a:solidFill>
                <a:latin typeface="Gill Sans MT" panose="020B0502020104020203" pitchFamily="34" charset="0"/>
              </a:rPr>
              <a:t>à l’intérieur du groupe rythmique.</a:t>
            </a:r>
          </a:p>
          <a:p>
            <a:pPr marL="342900" indent="-342900">
              <a:buFont typeface="Arial" panose="020B0604020202020204" pitchFamily="34" charset="0"/>
              <a:buChar char="•"/>
            </a:pPr>
            <a:r>
              <a:rPr lang="fr-BE" sz="2000" dirty="0" smtClean="0">
                <a:solidFill>
                  <a:schemeClr val="accent5">
                    <a:lumMod val="75000"/>
                  </a:schemeClr>
                </a:solidFill>
                <a:latin typeface="Gill Sans MT" panose="020B0502020104020203" pitchFamily="34" charset="0"/>
              </a:rPr>
              <a:t>Accentuer </a:t>
            </a:r>
            <a:r>
              <a:rPr lang="fr-BE" sz="2000" dirty="0">
                <a:solidFill>
                  <a:schemeClr val="accent5">
                    <a:lumMod val="75000"/>
                  </a:schemeClr>
                </a:solidFill>
                <a:latin typeface="Gill Sans MT" panose="020B0502020104020203" pitchFamily="34" charset="0"/>
              </a:rPr>
              <a:t>la dernière syllabe (plus longue, plus forte</a:t>
            </a:r>
            <a:r>
              <a:rPr lang="fr-BE" sz="2000" dirty="0" smtClean="0">
                <a:solidFill>
                  <a:schemeClr val="accent5">
                    <a:lumMod val="75000"/>
                  </a:schemeClr>
                </a:solidFill>
                <a:latin typeface="Gill Sans MT" panose="020B0502020104020203" pitchFamily="34" charset="0"/>
              </a:rPr>
              <a:t>) </a:t>
            </a:r>
            <a:r>
              <a:rPr lang="fr-BE" sz="2000" b="1" dirty="0" smtClean="0">
                <a:solidFill>
                  <a:srgbClr val="DB5613"/>
                </a:solidFill>
                <a:latin typeface="Gill Sans MT" panose="020B0502020104020203" pitchFamily="34" charset="0"/>
              </a:rPr>
              <a:t>TA</a:t>
            </a:r>
          </a:p>
          <a:p>
            <a:pPr marL="342900" indent="-342900">
              <a:buFont typeface="Arial" panose="020B0604020202020204" pitchFamily="34" charset="0"/>
              <a:buChar char="•"/>
            </a:pPr>
            <a:r>
              <a:rPr lang="fr-BE" sz="2000" dirty="0">
                <a:solidFill>
                  <a:schemeClr val="accent5">
                    <a:lumMod val="75000"/>
                  </a:schemeClr>
                </a:solidFill>
                <a:latin typeface="Gill Sans MT" panose="020B0502020104020203" pitchFamily="34" charset="0"/>
              </a:rPr>
              <a:t>Monter la voix sur la dernière syllabe si la phrase n’est pas terminée</a:t>
            </a:r>
          </a:p>
          <a:p>
            <a:pPr marL="342900" indent="-342900">
              <a:buFont typeface="Arial" panose="020B0604020202020204" pitchFamily="34" charset="0"/>
              <a:buChar char="•"/>
            </a:pPr>
            <a:r>
              <a:rPr lang="fr-BE" sz="2000" dirty="0">
                <a:solidFill>
                  <a:schemeClr val="accent5">
                    <a:lumMod val="75000"/>
                  </a:schemeClr>
                </a:solidFill>
                <a:latin typeface="Gill Sans MT" panose="020B0502020104020203" pitchFamily="34" charset="0"/>
              </a:rPr>
              <a:t>Descendre la voix sur la dernière syllabe si la phrase est terminée.</a:t>
            </a:r>
            <a:endParaRPr lang="fr-FR" sz="2000" dirty="0">
              <a:solidFill>
                <a:schemeClr val="accent5">
                  <a:lumMod val="75000"/>
                </a:schemeClr>
              </a:solidFill>
              <a:latin typeface="Gill Sans MT" panose="020B0502020104020203" pitchFamily="34" charset="0"/>
            </a:endParaRPr>
          </a:p>
          <a:p>
            <a:pPr marL="342900" indent="-342900">
              <a:buFont typeface="Arial" panose="020B0604020202020204" pitchFamily="34" charset="0"/>
              <a:buChar char="•"/>
            </a:pPr>
            <a:r>
              <a:rPr lang="fr-FR" sz="2000" dirty="0" smtClean="0">
                <a:solidFill>
                  <a:schemeClr val="accent5">
                    <a:lumMod val="75000"/>
                  </a:schemeClr>
                </a:solidFill>
                <a:latin typeface="Gill Sans MT" panose="020B0502020104020203" pitchFamily="34" charset="0"/>
              </a:rPr>
              <a:t>Faire</a:t>
            </a:r>
            <a:r>
              <a:rPr lang="fr-FR" b="1" dirty="0" smtClean="0">
                <a:solidFill>
                  <a:srgbClr val="0070C0"/>
                </a:solidFill>
                <a:latin typeface="Gill Sans MT" panose="020B0502020104020203" pitchFamily="34" charset="0"/>
              </a:rPr>
              <a:t> </a:t>
            </a:r>
            <a:r>
              <a:rPr lang="fr-FR" sz="2000" dirty="0">
                <a:solidFill>
                  <a:srgbClr val="DB5613"/>
                </a:solidFill>
                <a:latin typeface="Gill Sans MT" panose="020B0502020104020203" pitchFamily="34" charset="0"/>
              </a:rPr>
              <a:t>une pause </a:t>
            </a:r>
            <a:r>
              <a:rPr lang="fr-FR" sz="2000" dirty="0">
                <a:solidFill>
                  <a:schemeClr val="accent5">
                    <a:lumMod val="75000"/>
                  </a:schemeClr>
                </a:solidFill>
                <a:latin typeface="Gill Sans MT" panose="020B0502020104020203" pitchFamily="34" charset="0"/>
              </a:rPr>
              <a:t>entre deux groupes rythmiques. </a:t>
            </a:r>
            <a:r>
              <a:rPr lang="fr-FR" sz="2000" dirty="0" smtClean="0">
                <a:solidFill>
                  <a:schemeClr val="accent5">
                    <a:lumMod val="75000"/>
                  </a:schemeClr>
                </a:solidFill>
                <a:latin typeface="Gill Sans MT" panose="020B0502020104020203" pitchFamily="34" charset="0"/>
              </a:rPr>
              <a:t> </a:t>
            </a:r>
            <a:r>
              <a:rPr lang="fr-FR" sz="2000" b="1" dirty="0" smtClean="0">
                <a:solidFill>
                  <a:srgbClr val="DB5613"/>
                </a:solidFill>
                <a:latin typeface="Gill Sans MT" panose="020B0502020104020203" pitchFamily="34" charset="0"/>
              </a:rPr>
              <a:t>#</a:t>
            </a:r>
            <a:endParaRPr lang="en-US" sz="2000" b="1" dirty="0">
              <a:solidFill>
                <a:srgbClr val="DB5613"/>
              </a:solidFill>
              <a:latin typeface="Gill Sans MT" panose="020B0502020104020203" pitchFamily="34" charset="0"/>
            </a:endParaRPr>
          </a:p>
          <a:p>
            <a:pPr marL="342900" indent="-342900">
              <a:buFont typeface="Arial" panose="020B0604020202020204" pitchFamily="34" charset="0"/>
              <a:buChar char="•"/>
            </a:pPr>
            <a:endParaRPr lang="en-US" sz="2000" dirty="0">
              <a:solidFill>
                <a:schemeClr val="accent5">
                  <a:lumMod val="75000"/>
                </a:schemeClr>
              </a:solidFill>
              <a:latin typeface="Gill Sans MT" panose="020B0502020104020203" pitchFamily="34" charset="0"/>
            </a:endParaRPr>
          </a:p>
        </p:txBody>
      </p:sp>
      <p:pic>
        <p:nvPicPr>
          <p:cNvPr id="5" name="Picture 4" descr="RÃ©sultat de recherche d'images pour &quot;archet de violoniste&quot;">
            <a:extLst>
              <a:ext uri="{FF2B5EF4-FFF2-40B4-BE49-F238E27FC236}">
                <a16:creationId xmlns:a16="http://schemas.microsoft.com/office/drawing/2014/main" id="{A71F390F-E560-4F8E-A345-A7188BF6CA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097166">
            <a:off x="6926926" y="736454"/>
            <a:ext cx="901649" cy="44119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Connecteur droit avec flèche 7"/>
          <p:cNvCxnSpPr/>
          <p:nvPr/>
        </p:nvCxnSpPr>
        <p:spPr>
          <a:xfrm flipV="1">
            <a:off x="7647781" y="1361792"/>
            <a:ext cx="360040" cy="216024"/>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0" name="Connecteur droit avec flèche 9"/>
          <p:cNvCxnSpPr/>
          <p:nvPr/>
        </p:nvCxnSpPr>
        <p:spPr>
          <a:xfrm>
            <a:off x="7711595" y="1944424"/>
            <a:ext cx="516235" cy="274581"/>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2" name="Connecteur droit avec flèche 11"/>
          <p:cNvCxnSpPr/>
          <p:nvPr/>
        </p:nvCxnSpPr>
        <p:spPr>
          <a:xfrm>
            <a:off x="5724128" y="2912787"/>
            <a:ext cx="516235" cy="274581"/>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3" name="Connecteur droit avec flèche 12"/>
          <p:cNvCxnSpPr/>
          <p:nvPr/>
        </p:nvCxnSpPr>
        <p:spPr>
          <a:xfrm flipV="1">
            <a:off x="3923928" y="2882862"/>
            <a:ext cx="360040" cy="216024"/>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4" name="Connecteur droit avec flèche 13"/>
          <p:cNvCxnSpPr/>
          <p:nvPr/>
        </p:nvCxnSpPr>
        <p:spPr>
          <a:xfrm flipV="1">
            <a:off x="1259632" y="2882767"/>
            <a:ext cx="360040" cy="216024"/>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5" name="Connecteur droit avec flèche 14"/>
          <p:cNvCxnSpPr/>
          <p:nvPr/>
        </p:nvCxnSpPr>
        <p:spPr>
          <a:xfrm flipV="1">
            <a:off x="8136396" y="2924945"/>
            <a:ext cx="360040" cy="216024"/>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914686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dirty="0" smtClean="0"/>
              <a:t>La vie de couple </a:t>
            </a:r>
            <a:br>
              <a:rPr lang="fr-BE" dirty="0" smtClean="0"/>
            </a:br>
            <a:r>
              <a:rPr lang="fr-BE" sz="3600" i="1" dirty="0"/>
              <a:t>D</a:t>
            </a:r>
            <a:r>
              <a:rPr lang="fr-BE" sz="3600" i="1" dirty="0" smtClean="0"/>
              <a:t>éjeuner du matin</a:t>
            </a:r>
            <a:r>
              <a:rPr lang="fr-BE" sz="3600" dirty="0" smtClean="0"/>
              <a:t>, de Jacques Prévert</a:t>
            </a:r>
            <a:endParaRPr lang="en-US" sz="3600" dirty="0"/>
          </a:p>
        </p:txBody>
      </p:sp>
      <p:pic>
        <p:nvPicPr>
          <p:cNvPr id="4" name="Espace réservé du contenu 3"/>
          <p:cNvPicPr>
            <a:picLocks noGrp="1" noChangeAspect="1"/>
          </p:cNvPicPr>
          <p:nvPr>
            <p:ph idx="1"/>
          </p:nvPr>
        </p:nvPicPr>
        <p:blipFill>
          <a:blip r:embed="rId3"/>
          <a:stretch>
            <a:fillRect/>
          </a:stretch>
        </p:blipFill>
        <p:spPr>
          <a:xfrm>
            <a:off x="462105" y="1628800"/>
            <a:ext cx="8229600" cy="3647491"/>
          </a:xfrm>
          <a:prstGeom prst="rect">
            <a:avLst/>
          </a:prstGeom>
        </p:spPr>
      </p:pic>
    </p:spTree>
    <p:extLst>
      <p:ext uri="{BB962C8B-B14F-4D97-AF65-F5344CB8AC3E}">
        <p14:creationId xmlns:p14="http://schemas.microsoft.com/office/powerpoint/2010/main" val="29166531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6502858" y="723844"/>
            <a:ext cx="2576714" cy="61844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BE" sz="2400" dirty="0">
                <a:solidFill>
                  <a:srgbClr val="00B050"/>
                </a:solidFill>
                <a:effectLst>
                  <a:outerShdw blurRad="38100" dist="38100" dir="2700000" algn="tl">
                    <a:srgbClr val="000000">
                      <a:alpha val="43137"/>
                    </a:srgbClr>
                  </a:outerShdw>
                </a:effectLst>
              </a:rPr>
              <a:t>Mardi 19 mars</a:t>
            </a:r>
          </a:p>
        </p:txBody>
      </p:sp>
      <p:pic>
        <p:nvPicPr>
          <p:cNvPr id="7" name="Picture 2" descr="http://www.mjc-oullins.com/wordpress/wp-content/uploads/2017/09/Image-choral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196" y="1372229"/>
            <a:ext cx="1913859" cy="127132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900" y="3005641"/>
            <a:ext cx="1768630" cy="1051454"/>
          </a:xfrm>
          <a:prstGeom prst="rect">
            <a:avLst/>
          </a:prstGeom>
        </p:spPr>
      </p:pic>
      <p:pic>
        <p:nvPicPr>
          <p:cNvPr id="9" name="Picture 2" descr="L'accord du pluriel et rencontre avec Olivier Smolders au Churchil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95410" y="4355737"/>
            <a:ext cx="1080120" cy="1043088"/>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36296" y="5428847"/>
            <a:ext cx="472068" cy="324002"/>
          </a:xfrm>
          <a:prstGeom prst="rect">
            <a:avLst/>
          </a:prstGeom>
        </p:spPr>
      </p:pic>
      <p:pic>
        <p:nvPicPr>
          <p:cNvPr id="11" name="Image 10"/>
          <p:cNvPicPr>
            <a:picLocks noChangeAspect="1"/>
          </p:cNvPicPr>
          <p:nvPr/>
        </p:nvPicPr>
        <p:blipFill>
          <a:blip r:embed="rId6"/>
          <a:stretch>
            <a:fillRect/>
          </a:stretch>
        </p:blipFill>
        <p:spPr>
          <a:xfrm>
            <a:off x="683568" y="1638771"/>
            <a:ext cx="4976849" cy="2645229"/>
          </a:xfrm>
          <a:prstGeom prst="rect">
            <a:avLst/>
          </a:prstGeom>
        </p:spPr>
      </p:pic>
      <p:sp>
        <p:nvSpPr>
          <p:cNvPr id="12" name="Titre 1"/>
          <p:cNvSpPr txBox="1">
            <a:spLocks/>
          </p:cNvSpPr>
          <p:nvPr/>
        </p:nvSpPr>
        <p:spPr>
          <a:xfrm>
            <a:off x="395536" y="4668566"/>
            <a:ext cx="6408712" cy="72776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BE" sz="3000" b="1" dirty="0">
                <a:solidFill>
                  <a:srgbClr val="0070C0"/>
                </a:solidFill>
                <a:effectLst>
                  <a:outerShdw blurRad="38100" dist="38100" dir="2700000" algn="tl">
                    <a:srgbClr val="000000">
                      <a:alpha val="43137"/>
                    </a:srgbClr>
                  </a:outerShdw>
                </a:effectLst>
              </a:rPr>
              <a:t>le jeudi de 13h15 à 13h45 </a:t>
            </a:r>
            <a:r>
              <a:rPr lang="fr-BE" sz="3000" b="1" dirty="0">
                <a:solidFill>
                  <a:srgbClr val="00B050"/>
                </a:solidFill>
                <a:effectLst>
                  <a:outerShdw blurRad="38100" dist="38100" dir="2700000" algn="tl">
                    <a:srgbClr val="000000">
                      <a:alpha val="43137"/>
                    </a:srgbClr>
                  </a:outerShdw>
                </a:effectLst>
              </a:rPr>
              <a:t>à l’Espace L.</a:t>
            </a:r>
          </a:p>
          <a:p>
            <a:pPr algn="ctr"/>
            <a:r>
              <a:rPr lang="fr-BE" sz="2100" b="1" dirty="0">
                <a:solidFill>
                  <a:srgbClr val="00B050"/>
                </a:solidFill>
                <a:effectLst>
                  <a:outerShdw blurRad="38100" dist="38100" dir="2700000" algn="tl">
                    <a:srgbClr val="000000">
                      <a:alpha val="43137"/>
                    </a:srgbClr>
                  </a:outerShdw>
                </a:effectLst>
              </a:rPr>
              <a:t>21 et 28 février, 7 et 14 mars</a:t>
            </a:r>
          </a:p>
          <a:p>
            <a:pPr algn="ctr"/>
            <a:endParaRPr lang="fr-BE" sz="3000" b="1" dirty="0">
              <a:solidFill>
                <a:srgbClr val="00B050"/>
              </a:solidFill>
              <a:effectLst>
                <a:outerShdw blurRad="38100" dist="38100" dir="2700000" algn="tl">
                  <a:srgbClr val="000000">
                    <a:alpha val="43137"/>
                  </a:srgbClr>
                </a:outerShdw>
              </a:effectLst>
            </a:endParaRPr>
          </a:p>
          <a:p>
            <a:r>
              <a:rPr lang="fr-BE" sz="3000" b="1" dirty="0">
                <a:solidFill>
                  <a:srgbClr val="00B050"/>
                </a:solidFill>
                <a:effectLst>
                  <a:outerShdw blurRad="38100" dist="38100" dir="2700000" algn="tl">
                    <a:srgbClr val="000000">
                      <a:alpha val="43137"/>
                    </a:srgbClr>
                  </a:outerShdw>
                </a:effectLst>
              </a:rPr>
              <a:t> </a:t>
            </a:r>
          </a:p>
        </p:txBody>
      </p:sp>
      <p:sp>
        <p:nvSpPr>
          <p:cNvPr id="13" name="Titre 1"/>
          <p:cNvSpPr txBox="1">
            <a:spLocks/>
          </p:cNvSpPr>
          <p:nvPr/>
        </p:nvSpPr>
        <p:spPr>
          <a:xfrm>
            <a:off x="683568" y="476672"/>
            <a:ext cx="4820195" cy="61844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BE" sz="4050" b="1" dirty="0">
                <a:solidFill>
                  <a:srgbClr val="0070C0"/>
                </a:solidFill>
                <a:effectLst>
                  <a:outerShdw blurRad="38100" dist="38100" dir="2700000" algn="tl">
                    <a:srgbClr val="000000">
                      <a:alpha val="43137"/>
                    </a:srgbClr>
                  </a:outerShdw>
                </a:effectLst>
              </a:rPr>
              <a:t>Chorale multilingue  </a:t>
            </a:r>
            <a:endParaRPr lang="fr-BE" sz="4050" b="1" dirty="0">
              <a:solidFill>
                <a:srgbClr val="00B050"/>
              </a:solidFill>
              <a:effectLst>
                <a:outerShdw blurRad="38100" dist="38100" dir="2700000" algn="tl">
                  <a:srgbClr val="000000">
                    <a:alpha val="43137"/>
                  </a:srgbClr>
                </a:outerShdw>
              </a:effectLst>
            </a:endParaRPr>
          </a:p>
        </p:txBody>
      </p:sp>
      <p:sp>
        <p:nvSpPr>
          <p:cNvPr id="14" name="Titre 1"/>
          <p:cNvSpPr txBox="1">
            <a:spLocks/>
          </p:cNvSpPr>
          <p:nvPr/>
        </p:nvSpPr>
        <p:spPr>
          <a:xfrm>
            <a:off x="7261414" y="2603281"/>
            <a:ext cx="1256349" cy="24057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BE" sz="1200" dirty="0">
                <a:effectLst>
                  <a:outerShdw blurRad="38100" dist="38100" dir="2700000" algn="tl">
                    <a:srgbClr val="000000">
                      <a:alpha val="43137"/>
                    </a:srgbClr>
                  </a:outerShdw>
                </a:effectLst>
              </a:rPr>
              <a:t>18h30, Espace L. </a:t>
            </a:r>
            <a:r>
              <a:rPr lang="fr-BE" sz="1200" dirty="0">
                <a:solidFill>
                  <a:srgbClr val="00B050"/>
                </a:solidFill>
                <a:effectLst>
                  <a:outerShdw blurRad="38100" dist="38100" dir="2700000" algn="tl">
                    <a:srgbClr val="000000">
                      <a:alpha val="43137"/>
                    </a:srgbClr>
                  </a:outerShdw>
                </a:effectLst>
              </a:rPr>
              <a:t>  </a:t>
            </a:r>
          </a:p>
        </p:txBody>
      </p:sp>
      <p:sp>
        <p:nvSpPr>
          <p:cNvPr id="15" name="Titre 1"/>
          <p:cNvSpPr txBox="1">
            <a:spLocks/>
          </p:cNvSpPr>
          <p:nvPr/>
        </p:nvSpPr>
        <p:spPr>
          <a:xfrm>
            <a:off x="7027481" y="4043428"/>
            <a:ext cx="1724214" cy="24057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BE" sz="1200" dirty="0">
                <a:effectLst>
                  <a:outerShdw blurRad="38100" dist="38100" dir="2700000" algn="tl">
                    <a:srgbClr val="000000">
                      <a:alpha val="43137"/>
                    </a:srgbClr>
                  </a:outerShdw>
                </a:effectLst>
              </a:rPr>
              <a:t>18h30 à 20h00, Espace L.</a:t>
            </a:r>
          </a:p>
        </p:txBody>
      </p:sp>
      <p:sp>
        <p:nvSpPr>
          <p:cNvPr id="16" name="Titre 1"/>
          <p:cNvSpPr txBox="1">
            <a:spLocks/>
          </p:cNvSpPr>
          <p:nvPr/>
        </p:nvSpPr>
        <p:spPr>
          <a:xfrm>
            <a:off x="7595410" y="5470562"/>
            <a:ext cx="1315838" cy="24057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BE" sz="1200" dirty="0">
                <a:effectLst>
                  <a:outerShdw blurRad="38100" dist="38100" dir="2700000" algn="tl">
                    <a:srgbClr val="000000">
                      <a:alpha val="43137"/>
                    </a:srgbClr>
                  </a:outerShdw>
                </a:effectLst>
              </a:rPr>
              <a:t>20h15 Studio 11</a:t>
            </a:r>
          </a:p>
        </p:txBody>
      </p:sp>
    </p:spTree>
    <p:extLst>
      <p:ext uri="{BB962C8B-B14F-4D97-AF65-F5344CB8AC3E}">
        <p14:creationId xmlns:p14="http://schemas.microsoft.com/office/powerpoint/2010/main" val="39759992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21526" y="623337"/>
            <a:ext cx="6480773" cy="584777"/>
          </a:xfrm>
          <a:prstGeom prst="rect">
            <a:avLst/>
          </a:prstGeom>
          <a:noFill/>
          <a:ln>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BE" sz="3200" b="0" i="0" u="none" strike="noStrike" kern="1200" cap="none" spc="0" baseline="0">
                <a:solidFill>
                  <a:srgbClr val="C55A11"/>
                </a:solidFill>
                <a:uFillTx/>
                <a:latin typeface="Calibri"/>
              </a:rPr>
              <a:t>Pour la semaine prochaine</a:t>
            </a:r>
          </a:p>
        </p:txBody>
      </p:sp>
      <p:sp>
        <p:nvSpPr>
          <p:cNvPr id="3" name="ZoneTexte 2"/>
          <p:cNvSpPr txBox="1"/>
          <p:nvPr/>
        </p:nvSpPr>
        <p:spPr>
          <a:xfrm>
            <a:off x="249723" y="1918106"/>
            <a:ext cx="8860664" cy="2677656"/>
          </a:xfrm>
          <a:prstGeom prst="rect">
            <a:avLst/>
          </a:prstGeom>
          <a:noFill/>
          <a:ln>
            <a:noFill/>
          </a:ln>
        </p:spPr>
        <p:txBody>
          <a:bodyPr vert="horz" wrap="square" lIns="91440" tIns="45720" rIns="91440" bIns="45720" anchor="t" anchorCtr="0" compatLnSpc="1">
            <a:spAutoFit/>
          </a:bodyPr>
          <a:lstStyle/>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r>
              <a:rPr lang="fr-BE" sz="2400" kern="0" dirty="0" smtClean="0">
                <a:solidFill>
                  <a:srgbClr val="000000"/>
                </a:solidFill>
                <a:latin typeface="Calibri"/>
              </a:rPr>
              <a:t>Devoir 2 (évalué) : dire à haute voix le poème « déjeuner du matin »</a:t>
            </a: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r>
              <a:rPr lang="fr-BE" sz="2400" kern="0" dirty="0" smtClean="0">
                <a:solidFill>
                  <a:srgbClr val="000000"/>
                </a:solidFill>
                <a:latin typeface="Calibri"/>
              </a:rPr>
              <a:t>au présent de l’indicatif. </a:t>
            </a:r>
            <a:r>
              <a:rPr lang="fr-BE" sz="2400" kern="0" dirty="0" smtClean="0">
                <a:solidFill>
                  <a:srgbClr val="000000"/>
                </a:solidFill>
                <a:latin typeface="Calibri"/>
              </a:rPr>
              <a:t>Audio disponible sur Moodle.</a:t>
            </a: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endParaRPr lang="fr-BE" sz="2400" kern="0" dirty="0">
              <a:solidFill>
                <a:srgbClr val="000000"/>
              </a:solidFill>
              <a:latin typeface="Calibri"/>
            </a:endParaRP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r>
              <a:rPr lang="fr-BE" sz="2400" kern="0" dirty="0" smtClean="0">
                <a:solidFill>
                  <a:srgbClr val="000000"/>
                </a:solidFill>
                <a:latin typeface="Calibri"/>
              </a:rPr>
              <a:t>Ecrire les questions dans le dossier et les dire à voix haute.</a:t>
            </a: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endParaRPr lang="fr-BE" sz="2400" kern="0" dirty="0">
              <a:solidFill>
                <a:srgbClr val="000000"/>
              </a:solidFill>
              <a:latin typeface="Calibri"/>
            </a:endParaRP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endParaRPr lang="fr-BE" sz="2400" b="0" i="0" u="none" strike="noStrike" kern="0" cap="none" spc="0" baseline="0" dirty="0">
              <a:solidFill>
                <a:srgbClr val="000000"/>
              </a:solidFill>
              <a:uFillTx/>
              <a:latin typeface="Calibri"/>
            </a:endParaRPr>
          </a:p>
          <a:p>
            <a:pPr marR="0" lvl="0" algn="l" defTabSz="914400" rtl="0" fontAlgn="auto" hangingPunct="1">
              <a:lnSpc>
                <a:spcPct val="100000"/>
              </a:lnSpc>
              <a:spcBef>
                <a:spcPts val="0"/>
              </a:spcBef>
              <a:spcAft>
                <a:spcPts val="0"/>
              </a:spcAft>
              <a:buSzPct val="100000"/>
              <a:tabLst/>
              <a:defRPr sz="1800" b="0" i="0" u="none" strike="noStrike" kern="0" cap="none" spc="0" baseline="0">
                <a:solidFill>
                  <a:srgbClr val="000000"/>
                </a:solidFill>
                <a:uFillTx/>
              </a:defRPr>
            </a:pPr>
            <a:endParaRPr lang="fr-BE" sz="2400" b="0" i="0" u="none" strike="noStrike" kern="0" cap="none" spc="0" baseline="0" dirty="0" smtClean="0">
              <a:solidFill>
                <a:srgbClr val="000000"/>
              </a:solidFill>
              <a:uFillTx/>
              <a:latin typeface="Calibri"/>
            </a:endParaRPr>
          </a:p>
        </p:txBody>
      </p:sp>
      <p:pic>
        <p:nvPicPr>
          <p:cNvPr id="5" name="Image 6"/>
          <p:cNvPicPr>
            <a:picLocks noChangeAspect="1"/>
          </p:cNvPicPr>
          <p:nvPr/>
        </p:nvPicPr>
        <p:blipFill>
          <a:blip r:embed="rId2"/>
          <a:stretch>
            <a:fillRect/>
          </a:stretch>
        </p:blipFill>
        <p:spPr>
          <a:xfrm>
            <a:off x="5977944" y="164189"/>
            <a:ext cx="1571030" cy="1503054"/>
          </a:xfrm>
          <a:prstGeom prst="rect">
            <a:avLst/>
          </a:prstGeom>
          <a:noFill/>
          <a:ln>
            <a:noFill/>
          </a:ln>
        </p:spPr>
      </p:pic>
      <p:pic>
        <p:nvPicPr>
          <p:cNvPr id="6" name="Image 6"/>
          <p:cNvPicPr>
            <a:picLocks noChangeAspect="1"/>
          </p:cNvPicPr>
          <p:nvPr/>
        </p:nvPicPr>
        <p:blipFill>
          <a:blip r:embed="rId3"/>
          <a:stretch>
            <a:fillRect/>
          </a:stretch>
        </p:blipFill>
        <p:spPr>
          <a:xfrm>
            <a:off x="4499992" y="5310828"/>
            <a:ext cx="4038137" cy="869527"/>
          </a:xfrm>
          <a:prstGeom prst="rect">
            <a:avLst/>
          </a:prstGeom>
          <a:noFill/>
          <a:ln>
            <a:noFill/>
          </a:ln>
        </p:spPr>
      </p:pic>
    </p:spTree>
    <p:extLst>
      <p:ext uri="{BB962C8B-B14F-4D97-AF65-F5344CB8AC3E}">
        <p14:creationId xmlns:p14="http://schemas.microsoft.com/office/powerpoint/2010/main" val="2861839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860</TotalTime>
  <Words>431</Words>
  <Application>Microsoft Office PowerPoint</Application>
  <PresentationFormat>Affichage à l'écran (4:3)</PresentationFormat>
  <Paragraphs>72</Paragraphs>
  <Slides>9</Slides>
  <Notes>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vt:i4>
      </vt:variant>
    </vt:vector>
  </HeadingPairs>
  <TitlesOfParts>
    <vt:vector size="15" baseType="lpstr">
      <vt:lpstr>Arial</vt:lpstr>
      <vt:lpstr>Calibri</vt:lpstr>
      <vt:lpstr>Gill Sans MT</vt:lpstr>
      <vt:lpstr>Lucida Sans Unicode</vt:lpstr>
      <vt:lpstr>Times New Roman</vt:lpstr>
      <vt:lpstr>Thème Office</vt:lpstr>
      <vt:lpstr>LFRAN1203 La prononciation en dialogues (objectif A2)</vt:lpstr>
      <vt:lpstr>Faisons connaissance avec Nabil</vt:lpstr>
      <vt:lpstr>L’accentuation, c’est … </vt:lpstr>
      <vt:lpstr>Adopter le rythme du français, c’est … </vt:lpstr>
      <vt:lpstr>Adopter le rythme du français</vt:lpstr>
      <vt:lpstr>Présentation PowerPoint</vt:lpstr>
      <vt:lpstr>La vie de couple  Déjeuner du matin, de Jacques Prévert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LFRAN1403 Expression orale (objectif B2)</dc:title>
  <dc:creator>FM</dc:creator>
  <cp:lastModifiedBy>Valérie Neuenschwander</cp:lastModifiedBy>
  <cp:revision>75</cp:revision>
  <dcterms:created xsi:type="dcterms:W3CDTF">2014-09-24T19:11:29Z</dcterms:created>
  <dcterms:modified xsi:type="dcterms:W3CDTF">2019-02-26T11:50:19Z</dcterms:modified>
</cp:coreProperties>
</file>