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6" r:id="rId2"/>
    <p:sldId id="323" r:id="rId3"/>
    <p:sldId id="324" r:id="rId4"/>
    <p:sldId id="332" r:id="rId5"/>
    <p:sldId id="330" r:id="rId6"/>
    <p:sldId id="331" r:id="rId7"/>
    <p:sldId id="327" r:id="rId8"/>
    <p:sldId id="328" r:id="rId9"/>
    <p:sldId id="315" r:id="rId10"/>
    <p:sldId id="279" r:id="rId11"/>
    <p:sldId id="329" r:id="rId12"/>
    <p:sldId id="304" r:id="rId13"/>
    <p:sldId id="325" r:id="rId14"/>
    <p:sldId id="291" r:id="rId15"/>
    <p:sldId id="318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A6DB-499F-4B67-9D52-4C43E4F08F7B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A2E6D-67A3-4501-B9DE-BB522B8BB0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848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284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833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3927F-8EE8-4333-8816-7C41B1071991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168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45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427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271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125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82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42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29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416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4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07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42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8502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056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01-04-20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89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f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ucl.uclouvain.be/course/view.php?id=20" TargetMode="External"/><Relationship Id="rId7" Type="http://schemas.openxmlformats.org/officeDocument/2006/relationships/hyperlink" Target="https://moodleucl.uclouvain.be/course/view.php?id=20#section-1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iAt5HqenD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7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Qu’est-ce qui  vous donne le sourire ?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Entendre un chat qui ronronne.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Se laisser réchauffer par le soleil.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Faire une bonne blague.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Écouter la conversation d’un petit enfant.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Lire une caricature dans le journal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800" dirty="0" smtClean="0"/>
              <a:t>Faire du sport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…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395" y="2180496"/>
            <a:ext cx="4381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1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Nos groupes aujourd’hui</a:t>
            </a:r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4" y="2526386"/>
            <a:ext cx="11653965" cy="247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9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Au programme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Grammaire : révision de « en », « y », « le », « l’ », « la », les »</a:t>
            </a:r>
          </a:p>
          <a:p>
            <a:r>
              <a:rPr lang="fr-BE" dirty="0" smtClean="0"/>
              <a:t>Grammaire : les pronoms compléments « lui », « leur »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3642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Révision  Teams / Conversation Générale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2400" dirty="0" smtClean="0"/>
              <a:t>Recopiez la phrase et remplacez les mots soulignés par un pronom.  Commencez par le numéro de la phrase</a:t>
            </a:r>
            <a:r>
              <a:rPr lang="fr-BE" dirty="0" smtClean="0"/>
              <a:t>.</a:t>
            </a:r>
          </a:p>
          <a:p>
            <a:endParaRPr lang="fr-BE" dirty="0"/>
          </a:p>
          <a:p>
            <a:endParaRPr lang="fr-BE" dirty="0" smtClean="0"/>
          </a:p>
          <a:p>
            <a:endParaRPr lang="fr-BE" dirty="0"/>
          </a:p>
          <a:p>
            <a:endParaRPr lang="fr-BE" dirty="0" smtClean="0"/>
          </a:p>
          <a:p>
            <a:endParaRPr lang="fr-BE" dirty="0" smtClean="0"/>
          </a:p>
          <a:p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691" y="3317984"/>
            <a:ext cx="8125482" cy="345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9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Révision  Teams / Conversation Générale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  <a:p>
            <a:endParaRPr lang="fr-BE" dirty="0" smtClean="0"/>
          </a:p>
          <a:p>
            <a:endParaRPr lang="fr-BE" dirty="0"/>
          </a:p>
          <a:p>
            <a:endParaRPr lang="fr-BE" dirty="0" smtClean="0"/>
          </a:p>
          <a:p>
            <a:endParaRPr lang="fr-BE" dirty="0" smtClean="0"/>
          </a:p>
          <a:p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1" y="2081212"/>
            <a:ext cx="8313683" cy="445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3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2256" y="370665"/>
            <a:ext cx="10515600" cy="1325563"/>
          </a:xfrm>
        </p:spPr>
        <p:txBody>
          <a:bodyPr/>
          <a:lstStyle/>
          <a:p>
            <a:r>
              <a:rPr lang="fr-BE" dirty="0"/>
              <a:t>Les pronoms Y et 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8340" y="957673"/>
            <a:ext cx="5994198" cy="55486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1.      Est-ce que tu as </a:t>
            </a:r>
            <a:r>
              <a:rPr lang="fr-FR" u="sng" dirty="0"/>
              <a:t>de la patience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2.      Vas-tu souvent </a:t>
            </a:r>
            <a:r>
              <a:rPr lang="fr-FR" u="sng" dirty="0"/>
              <a:t>au cinéma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3.      Est-ce que tu aimes aller </a:t>
            </a:r>
            <a:r>
              <a:rPr lang="fr-FR" u="sng" dirty="0"/>
              <a:t>chez le dentiste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4.      Est-ce qu’il y a </a:t>
            </a:r>
            <a:r>
              <a:rPr lang="fr-FR" u="sng" dirty="0"/>
              <a:t>beaucoup de voitures</a:t>
            </a:r>
            <a:r>
              <a:rPr lang="fr-FR" dirty="0"/>
              <a:t> dans ta ville natale ?</a:t>
            </a:r>
          </a:p>
          <a:p>
            <a:pPr marL="0" indent="0">
              <a:buNone/>
            </a:pPr>
            <a:r>
              <a:rPr lang="fr-FR" dirty="0"/>
              <a:t>5.      Est-ce que tes parents boivent </a:t>
            </a:r>
            <a:r>
              <a:rPr lang="fr-FR" u="sng" dirty="0"/>
              <a:t>de la bière</a:t>
            </a:r>
            <a:r>
              <a:rPr lang="fr-FR" dirty="0"/>
              <a:t> à table?</a:t>
            </a:r>
          </a:p>
          <a:p>
            <a:pPr marL="0" indent="0">
              <a:buNone/>
            </a:pPr>
            <a:r>
              <a:rPr lang="fr-FR" dirty="0"/>
              <a:t>6.      Est-ce que tes parents ont </a:t>
            </a:r>
            <a:r>
              <a:rPr lang="fr-FR" u="sng" dirty="0"/>
              <a:t>une voiture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7.      Est-ce que tu aimerais vivre </a:t>
            </a:r>
            <a:r>
              <a:rPr lang="fr-FR" u="sng" dirty="0"/>
              <a:t>à Paris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8.      Est-ce que tu  mets </a:t>
            </a:r>
            <a:r>
              <a:rPr lang="fr-FR" u="sng" dirty="0"/>
              <a:t>du parfum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9.      Est-ce que tu fais attention </a:t>
            </a:r>
            <a:r>
              <a:rPr lang="fr-FR" u="sng" dirty="0"/>
              <a:t>à ton alimentation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10.    Est-ce que tu as peur </a:t>
            </a:r>
            <a:r>
              <a:rPr lang="fr-FR" u="sng" dirty="0"/>
              <a:t>du noir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11.    Est-ce que tu penses </a:t>
            </a:r>
            <a:r>
              <a:rPr lang="fr-FR" u="sng" dirty="0"/>
              <a:t>aux examens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12.    Est-ce que tu t’intéresses </a:t>
            </a:r>
            <a:r>
              <a:rPr lang="fr-FR" u="sng" dirty="0"/>
              <a:t>à la politique internationale</a:t>
            </a:r>
            <a:r>
              <a:rPr lang="fr-FR" dirty="0"/>
              <a:t> ?</a:t>
            </a:r>
          </a:p>
          <a:p>
            <a:pPr marL="0" indent="0">
              <a:buNone/>
            </a:pPr>
            <a:r>
              <a:rPr lang="fr-FR" dirty="0"/>
              <a:t>13.    Est-ce que tu as besoin </a:t>
            </a:r>
            <a:r>
              <a:rPr lang="fr-FR" u="sng" dirty="0"/>
              <a:t>d’un dictionnaire</a:t>
            </a:r>
            <a:r>
              <a:rPr lang="fr-FR" dirty="0"/>
              <a:t> maintenant?</a:t>
            </a:r>
          </a:p>
          <a:p>
            <a:pPr marL="0" indent="0">
              <a:buNone/>
            </a:pPr>
            <a:r>
              <a:rPr lang="en-US" dirty="0"/>
              <a:t>14.   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viens</a:t>
            </a:r>
            <a:r>
              <a:rPr lang="en-US" dirty="0"/>
              <a:t> </a:t>
            </a:r>
            <a:r>
              <a:rPr lang="en-US" u="sng" dirty="0"/>
              <a:t>de </a:t>
            </a:r>
            <a:r>
              <a:rPr lang="en-US" u="sng" dirty="0" err="1"/>
              <a:t>Bruxelles</a:t>
            </a:r>
            <a:r>
              <a:rPr lang="en-US" dirty="0"/>
              <a:t> ? </a:t>
            </a:r>
            <a:endParaRPr lang="fr-FR" dirty="0"/>
          </a:p>
          <a:p>
            <a:pPr marL="0" indent="0">
              <a:buNone/>
            </a:pPr>
            <a:r>
              <a:rPr lang="en-US" dirty="0"/>
              <a:t>15.   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t’habitues</a:t>
            </a:r>
            <a:r>
              <a:rPr lang="en-US" dirty="0"/>
              <a:t> </a:t>
            </a:r>
            <a:r>
              <a:rPr lang="en-US" u="sng" dirty="0"/>
              <a:t>au </a:t>
            </a:r>
            <a:r>
              <a:rPr lang="en-US" u="sng" dirty="0" err="1"/>
              <a:t>climat</a:t>
            </a:r>
            <a:r>
              <a:rPr lang="en-US" u="sng" dirty="0"/>
              <a:t> </a:t>
            </a:r>
            <a:r>
              <a:rPr lang="en-US" u="sng" dirty="0" err="1"/>
              <a:t>belge</a:t>
            </a:r>
            <a:r>
              <a:rPr lang="en-US" dirty="0"/>
              <a:t>?</a:t>
            </a:r>
            <a:endParaRPr lang="fr-FR" dirty="0"/>
          </a:p>
          <a:p>
            <a:endParaRPr lang="fr-BE" dirty="0"/>
          </a:p>
        </p:txBody>
      </p:sp>
      <p:sp>
        <p:nvSpPr>
          <p:cNvPr id="4" name="ZoneTexte 3"/>
          <p:cNvSpPr txBox="1"/>
          <p:nvPr/>
        </p:nvSpPr>
        <p:spPr>
          <a:xfrm>
            <a:off x="6356839" y="957673"/>
            <a:ext cx="55149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BE" sz="1700" dirty="0" smtClean="0">
                <a:solidFill>
                  <a:schemeClr val="tx2"/>
                </a:solidFill>
              </a:rPr>
              <a:t>Oui</a:t>
            </a:r>
            <a:r>
              <a:rPr lang="fr-BE" sz="1700" dirty="0">
                <a:solidFill>
                  <a:schemeClr val="tx2"/>
                </a:solidFill>
              </a:rPr>
              <a:t>, j’en ai un peu. Non, je n’en ai pas du tout.</a:t>
            </a:r>
          </a:p>
          <a:p>
            <a:pPr marL="342900" indent="-342900">
              <a:buAutoNum type="arabicPeriod"/>
            </a:pPr>
            <a:r>
              <a:rPr lang="fr-BE" sz="1700" dirty="0" smtClean="0">
                <a:solidFill>
                  <a:schemeClr val="tx2"/>
                </a:solidFill>
              </a:rPr>
              <a:t>Oui</a:t>
            </a:r>
            <a:r>
              <a:rPr lang="fr-BE" sz="1700" dirty="0">
                <a:solidFill>
                  <a:schemeClr val="tx2"/>
                </a:solidFill>
              </a:rPr>
              <a:t>, j’y vais souvent. Non, je n’y vais presque jamais.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Non, je n’aime pas y aller.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il y en a beaucoup à l’heure de pointe.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mes parents en boivent parfois. Ils n’en boivent pas souvent.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ils en ont une. / non, ils n’en ont pas.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j’aimerais y vivre quelques années.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smtClean="0">
                <a:solidFill>
                  <a:schemeClr val="tx2"/>
                </a:solidFill>
              </a:rPr>
              <a:t>Non</a:t>
            </a:r>
            <a:r>
              <a:rPr lang="en-US" sz="1700" dirty="0">
                <a:solidFill>
                  <a:schemeClr val="tx2"/>
                </a:solidFill>
              </a:rPr>
              <a:t>, je </a:t>
            </a:r>
            <a:r>
              <a:rPr lang="en-US" sz="1700" dirty="0" err="1">
                <a:solidFill>
                  <a:schemeClr val="tx2"/>
                </a:solidFill>
              </a:rPr>
              <a:t>n’aimerais</a:t>
            </a:r>
            <a:r>
              <a:rPr lang="en-US" sz="1700" dirty="0">
                <a:solidFill>
                  <a:schemeClr val="tx2"/>
                </a:solidFill>
              </a:rPr>
              <a:t> pas y vivre.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j’en mets </a:t>
            </a:r>
            <a:r>
              <a:rPr lang="fr-BE" sz="1700" dirty="0" smtClean="0">
                <a:solidFill>
                  <a:schemeClr val="tx2"/>
                </a:solidFill>
              </a:rPr>
              <a:t>un peu tous </a:t>
            </a:r>
            <a:r>
              <a:rPr lang="fr-BE" sz="1700" dirty="0">
                <a:solidFill>
                  <a:schemeClr val="tx2"/>
                </a:solidFill>
              </a:rPr>
              <a:t>les matins.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j’y fais attention.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Non, je n’en ai pas peur.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j’y pense parfois. Non, je n’y pense jamais.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je m’y intéresse un peu. Non, je ne m’y intéresse pas trop.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Non, je n’en ai pas besoin.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j’en viens. </a:t>
            </a:r>
          </a:p>
          <a:p>
            <a:pPr marL="342900" indent="-342900">
              <a:buAutoNum type="arabicPeriod"/>
            </a:pPr>
            <a:r>
              <a:rPr lang="fr-BE" sz="1700" dirty="0">
                <a:solidFill>
                  <a:schemeClr val="tx2"/>
                </a:solidFill>
              </a:rPr>
              <a:t>Oui, je m’y habitue. Je n’aime pas la chaleur !</a:t>
            </a:r>
          </a:p>
        </p:txBody>
      </p:sp>
    </p:spTree>
    <p:extLst>
      <p:ext uri="{BB962C8B-B14F-4D97-AF65-F5344CB8AC3E}">
        <p14:creationId xmlns:p14="http://schemas.microsoft.com/office/powerpoint/2010/main" val="395672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283935"/>
              </p:ext>
            </p:extLst>
          </p:nvPr>
        </p:nvGraphicFramePr>
        <p:xfrm>
          <a:off x="468923" y="2027847"/>
          <a:ext cx="10530016" cy="434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5201">
                <a:tc>
                  <a:txBody>
                    <a:bodyPr/>
                    <a:lstStyle/>
                    <a:p>
                      <a:pPr algn="ctr"/>
                      <a:r>
                        <a:rPr lang="fr-BE" sz="2800" dirty="0" smtClean="0"/>
                        <a:t>En  </a:t>
                      </a:r>
                      <a:r>
                        <a:rPr lang="fr-BE" sz="2400" dirty="0" smtClean="0">
                          <a:solidFill>
                            <a:srgbClr val="00B0F0"/>
                          </a:solidFill>
                        </a:rPr>
                        <a:t>(de) </a:t>
                      </a:r>
                      <a:endParaRPr lang="fr-BE" sz="24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BE" sz="2800" dirty="0" smtClean="0"/>
                        <a:t>Y </a:t>
                      </a:r>
                      <a:r>
                        <a:rPr lang="fr-BE" sz="24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(à)</a:t>
                      </a:r>
                      <a:endParaRPr lang="fr-BE" sz="24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9925">
                <a:tc>
                  <a:txBody>
                    <a:bodyPr/>
                    <a:lstStyle/>
                    <a:p>
                      <a:r>
                        <a:rPr lang="fr-BE" sz="2400" dirty="0">
                          <a:solidFill>
                            <a:srgbClr val="002060"/>
                          </a:solidFill>
                        </a:rPr>
                        <a:t>Parler </a:t>
                      </a:r>
                      <a:r>
                        <a:rPr lang="fr-BE" sz="2400" dirty="0">
                          <a:solidFill>
                            <a:srgbClr val="FF0000"/>
                          </a:solidFill>
                        </a:rPr>
                        <a:t>de</a:t>
                      </a:r>
                      <a:r>
                        <a:rPr lang="fr-BE" sz="2400" dirty="0">
                          <a:solidFill>
                            <a:srgbClr val="002060"/>
                          </a:solidFill>
                        </a:rPr>
                        <a:t> quelque</a:t>
                      </a:r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 chose</a:t>
                      </a:r>
                      <a:endParaRPr lang="fr-BE" sz="2400" dirty="0">
                        <a:solidFill>
                          <a:srgbClr val="002060"/>
                        </a:solidFill>
                      </a:endParaRPr>
                    </a:p>
                    <a:p>
                      <a:r>
                        <a:rPr lang="fr-BE" sz="2400" dirty="0">
                          <a:solidFill>
                            <a:srgbClr val="002060"/>
                          </a:solidFill>
                        </a:rPr>
                        <a:t>Rêver</a:t>
                      </a:r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S’occuper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Être content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Être fier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Avoir besoin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Avoir envie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Venir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de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Manger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du</a:t>
                      </a:r>
                      <a:endParaRPr lang="fr-BE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>
                          <a:solidFill>
                            <a:srgbClr val="002060"/>
                          </a:solidFill>
                        </a:rPr>
                        <a:t>Être préparé</a:t>
                      </a:r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à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Réfléchir </a:t>
                      </a:r>
                      <a:r>
                        <a:rPr lang="fr-BE" sz="2400" baseline="0" dirty="0" smtClean="0">
                          <a:solidFill>
                            <a:srgbClr val="FF0000"/>
                          </a:solidFill>
                        </a:rPr>
                        <a:t>à</a:t>
                      </a:r>
                      <a:endParaRPr lang="fr-BE" sz="2400" baseline="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S’intéresser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à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Penser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à</a:t>
                      </a:r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 (quelque chose)</a:t>
                      </a:r>
                    </a:p>
                    <a:p>
                      <a:r>
                        <a:rPr lang="fr-BE" sz="2400" baseline="0" dirty="0" smtClean="0">
                          <a:solidFill>
                            <a:srgbClr val="002060"/>
                          </a:solidFill>
                        </a:rPr>
                        <a:t>S’habituer </a:t>
                      </a:r>
                      <a:r>
                        <a:rPr lang="fr-BE" sz="2400" baseline="0" dirty="0">
                          <a:solidFill>
                            <a:srgbClr val="FF0000"/>
                          </a:solidFill>
                        </a:rPr>
                        <a:t>à</a:t>
                      </a:r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</a:p>
                    <a:p>
                      <a:r>
                        <a:rPr lang="fr-BE" sz="2400" baseline="0" dirty="0">
                          <a:solidFill>
                            <a:srgbClr val="002060"/>
                          </a:solidFill>
                        </a:rPr>
                        <a:t>Faire attention </a:t>
                      </a:r>
                      <a:r>
                        <a:rPr lang="fr-BE" sz="2400" baseline="0" dirty="0" smtClean="0">
                          <a:solidFill>
                            <a:srgbClr val="FF0000"/>
                          </a:solidFill>
                        </a:rPr>
                        <a:t>à</a:t>
                      </a:r>
                    </a:p>
                    <a:p>
                      <a:r>
                        <a:rPr lang="fr-BE" sz="2400" baseline="0" dirty="0" smtClean="0">
                          <a:solidFill>
                            <a:srgbClr val="002060"/>
                          </a:solidFill>
                        </a:rPr>
                        <a:t>Participer </a:t>
                      </a:r>
                      <a:r>
                        <a:rPr lang="fr-BE" sz="2400" baseline="0" dirty="0" smtClean="0">
                          <a:solidFill>
                            <a:srgbClr val="FF0000"/>
                          </a:solidFill>
                        </a:rPr>
                        <a:t>à</a:t>
                      </a:r>
                      <a:endParaRPr lang="fr-BE" sz="2400" baseline="0" dirty="0">
                        <a:solidFill>
                          <a:srgbClr val="FF0000"/>
                        </a:solidFill>
                      </a:endParaRPr>
                    </a:p>
                    <a:p>
                      <a:endParaRPr lang="fr-BE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itre 1"/>
          <p:cNvSpPr txBox="1">
            <a:spLocks/>
          </p:cNvSpPr>
          <p:nvPr/>
        </p:nvSpPr>
        <p:spPr>
          <a:xfrm>
            <a:off x="548954" y="696294"/>
            <a:ext cx="11029616" cy="1013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dirty="0" smtClean="0"/>
              <a:t>En – y </a:t>
            </a:r>
          </a:p>
          <a:p>
            <a:pPr algn="ctr"/>
            <a:r>
              <a:rPr lang="fr-BE" sz="2000" dirty="0" smtClean="0"/>
              <a:t>Les verbes qui se construisent avec la préposition « de » et « à »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3145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pronoms compléments : le, la, l’, les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581192" y="2180496"/>
            <a:ext cx="4393931" cy="3678303"/>
          </a:xfrm>
          <a:ln>
            <a:solidFill>
              <a:schemeClr val="accent1"/>
            </a:solidFill>
          </a:ln>
        </p:spPr>
        <p:txBody>
          <a:bodyPr/>
          <a:lstStyle/>
          <a:p>
            <a:endParaRPr lang="fr-BE" dirty="0" smtClean="0"/>
          </a:p>
          <a:p>
            <a:pPr marL="0" indent="0">
              <a:buNone/>
            </a:pPr>
            <a:r>
              <a:rPr lang="fr-BE" dirty="0" smtClean="0"/>
              <a:t>	</a:t>
            </a:r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 smtClean="0"/>
              <a:t>pages 124, 125; Exercice 3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80496"/>
            <a:ext cx="2295525" cy="32385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4403833" y="4610470"/>
            <a:ext cx="3048001" cy="1418896"/>
          </a:xfrm>
          <a:prstGeom prst="wedgeRound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Je l’aime = une personne</a:t>
            </a:r>
          </a:p>
          <a:p>
            <a:pPr algn="ctr"/>
            <a:r>
              <a:rPr lang="fr-BE" dirty="0" smtClean="0">
                <a:solidFill>
                  <a:schemeClr val="bg1"/>
                </a:solidFill>
              </a:rPr>
              <a:t>Je la connais = une personne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8676290" y="4610470"/>
            <a:ext cx="2632842" cy="1154710"/>
          </a:xfrm>
          <a:prstGeom prst="wedgeRoundRect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Dinant, je </a:t>
            </a:r>
            <a:r>
              <a:rPr lang="fr-BE" dirty="0" smtClean="0">
                <a:solidFill>
                  <a:srgbClr val="FF0000"/>
                </a:solidFill>
              </a:rPr>
              <a:t>ne</a:t>
            </a:r>
            <a:r>
              <a:rPr lang="fr-BE" dirty="0" smtClean="0">
                <a:solidFill>
                  <a:schemeClr val="bg1"/>
                </a:solidFill>
              </a:rPr>
              <a:t> </a:t>
            </a:r>
            <a:r>
              <a:rPr lang="fr-BE" dirty="0" smtClean="0">
                <a:solidFill>
                  <a:schemeClr val="tx1"/>
                </a:solidFill>
              </a:rPr>
              <a:t>l’</a:t>
            </a:r>
            <a:r>
              <a:rPr lang="fr-BE" dirty="0" smtClean="0">
                <a:solidFill>
                  <a:schemeClr val="bg1"/>
                </a:solidFill>
              </a:rPr>
              <a:t>ai </a:t>
            </a:r>
            <a:r>
              <a:rPr lang="fr-BE" dirty="0" smtClean="0">
                <a:solidFill>
                  <a:srgbClr val="FF0000"/>
                </a:solidFill>
              </a:rPr>
              <a:t>pas </a:t>
            </a:r>
            <a:r>
              <a:rPr lang="fr-BE" dirty="0" smtClean="0">
                <a:solidFill>
                  <a:schemeClr val="bg1"/>
                </a:solidFill>
              </a:rPr>
              <a:t>encore visitée.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4" name="Bulle ronde 3"/>
          <p:cNvSpPr/>
          <p:nvPr/>
        </p:nvSpPr>
        <p:spPr>
          <a:xfrm>
            <a:off x="6337738" y="2343807"/>
            <a:ext cx="2827283" cy="161859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Répond à la question « qui ? », « quoi ? » et complète le verbe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4135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pronoms compléments : LUI ,LEUR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581192" y="2180496"/>
            <a:ext cx="4393931" cy="3678303"/>
          </a:xfrm>
          <a:ln>
            <a:solidFill>
              <a:schemeClr val="accent1"/>
            </a:solidFill>
          </a:ln>
        </p:spPr>
        <p:txBody>
          <a:bodyPr/>
          <a:lstStyle/>
          <a:p>
            <a:endParaRPr lang="fr-BE" dirty="0" smtClean="0"/>
          </a:p>
          <a:p>
            <a:pPr marL="0" indent="0">
              <a:buNone/>
            </a:pPr>
            <a:r>
              <a:rPr lang="fr-BE" dirty="0" smtClean="0"/>
              <a:t>	</a:t>
            </a:r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 smtClean="0"/>
              <a:t>pages 126-128 ; Exercice </a:t>
            </a:r>
            <a:r>
              <a:rPr lang="fr-BE" dirty="0" smtClean="0"/>
              <a:t>n°3 p. 127</a:t>
            </a:r>
            <a:endParaRPr lang="fr-BE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80496"/>
            <a:ext cx="2295525" cy="32385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8765627" y="3544071"/>
            <a:ext cx="3048001" cy="1418896"/>
          </a:xfrm>
          <a:prstGeom prst="wedgeRound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Lui = masculin ou féminin</a:t>
            </a:r>
          </a:p>
          <a:p>
            <a:pPr algn="ctr"/>
            <a:r>
              <a:rPr lang="fr-BE" dirty="0" smtClean="0">
                <a:solidFill>
                  <a:schemeClr val="bg1"/>
                </a:solidFill>
              </a:rPr>
              <a:t>Leur </a:t>
            </a:r>
            <a:r>
              <a:rPr lang="fr-BE" dirty="0">
                <a:solidFill>
                  <a:schemeClr val="bg1"/>
                </a:solidFill>
              </a:rPr>
              <a:t>= masculin ou </a:t>
            </a:r>
            <a:r>
              <a:rPr lang="fr-BE" dirty="0" smtClean="0">
                <a:solidFill>
                  <a:schemeClr val="bg1"/>
                </a:solidFill>
              </a:rPr>
              <a:t>féminin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8" name="Bulle ronde 7"/>
          <p:cNvSpPr/>
          <p:nvPr/>
        </p:nvSpPr>
        <p:spPr>
          <a:xfrm>
            <a:off x="5349764" y="2070538"/>
            <a:ext cx="3415863" cy="1728551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Répond à la question « </a:t>
            </a:r>
            <a:r>
              <a:rPr lang="fr-BE" dirty="0" smtClean="0">
                <a:solidFill>
                  <a:srgbClr val="FF0000"/>
                </a:solidFill>
              </a:rPr>
              <a:t>A</a:t>
            </a:r>
            <a:r>
              <a:rPr lang="fr-BE" dirty="0" smtClean="0"/>
              <a:t> qui ? », « </a:t>
            </a:r>
            <a:r>
              <a:rPr lang="fr-BE" dirty="0" smtClean="0">
                <a:solidFill>
                  <a:srgbClr val="FF0000"/>
                </a:solidFill>
              </a:rPr>
              <a:t>A</a:t>
            </a:r>
            <a:r>
              <a:rPr lang="fr-BE" dirty="0" smtClean="0"/>
              <a:t> quoi ? » et complète le verbe</a:t>
            </a:r>
            <a:endParaRPr lang="fr-BE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758144" y="4704089"/>
            <a:ext cx="2632842" cy="1154710"/>
          </a:xfrm>
          <a:prstGeom prst="wedgeRoundRect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Je </a:t>
            </a:r>
            <a:r>
              <a:rPr lang="fr-BE" dirty="0" smtClean="0">
                <a:solidFill>
                  <a:srgbClr val="FF0000"/>
                </a:solidFill>
              </a:rPr>
              <a:t>ne</a:t>
            </a:r>
            <a:r>
              <a:rPr lang="fr-BE" dirty="0" smtClean="0">
                <a:solidFill>
                  <a:schemeClr val="bg1"/>
                </a:solidFill>
              </a:rPr>
              <a:t> </a:t>
            </a:r>
            <a:r>
              <a:rPr lang="fr-BE" dirty="0" smtClean="0">
                <a:solidFill>
                  <a:schemeClr val="tx1"/>
                </a:solidFill>
              </a:rPr>
              <a:t>lui </a:t>
            </a:r>
            <a:r>
              <a:rPr lang="fr-BE" dirty="0" smtClean="0">
                <a:solidFill>
                  <a:schemeClr val="bg1"/>
                </a:solidFill>
              </a:rPr>
              <a:t>ai </a:t>
            </a:r>
            <a:r>
              <a:rPr lang="fr-BE" dirty="0" smtClean="0">
                <a:solidFill>
                  <a:srgbClr val="FF0000"/>
                </a:solidFill>
              </a:rPr>
              <a:t>pas </a:t>
            </a:r>
            <a:r>
              <a:rPr lang="fr-BE" dirty="0" smtClean="0">
                <a:solidFill>
                  <a:schemeClr val="bg1"/>
                </a:solidFill>
              </a:rPr>
              <a:t>encore répondu.</a:t>
            </a:r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14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Unité 3 – Le plat pays en balades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 smtClean="0"/>
              <a:t>Tourisme en </a:t>
            </a:r>
            <a:r>
              <a:rPr lang="fr-BE" dirty="0" err="1" smtClean="0"/>
              <a:t>wallonie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6857"/>
            <a:ext cx="4514850" cy="30099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658" y="3246382"/>
            <a:ext cx="4514850" cy="30003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272" y="3236857"/>
            <a:ext cx="45148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2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 écrit (par 4) Formatif sur TEAMS / Bloc Notes collaboratif (environ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minutes)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0657" y="1902092"/>
            <a:ext cx="5422390" cy="3219858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 # 5 : Imaginez un prix pour le concours de l’émission LN FM 104.8, la radio des étudiants de LLN  : syllabus pp. 115 </a:t>
            </a:r>
          </a:p>
          <a:p>
            <a:r>
              <a:rPr lang="fr-BE" dirty="0" smtClean="0"/>
              <a:t>Choisir un lieu à visiter sur la côte belge ou </a:t>
            </a:r>
            <a:r>
              <a:rPr lang="fr-BE" dirty="0" smtClean="0"/>
              <a:t>en Wallonie</a:t>
            </a:r>
            <a:endParaRPr lang="fr-BE" dirty="0"/>
          </a:p>
          <a:p>
            <a:r>
              <a:rPr lang="fr-BE" dirty="0" smtClean="0"/>
              <a:t>Choisir une activité à faire dans ce même lieu.</a:t>
            </a:r>
          </a:p>
          <a:p>
            <a:r>
              <a:rPr lang="fr-BE" dirty="0" smtClean="0"/>
              <a:t>Choisir un moyen de transport pour aller à cet endroit, pour faire cette activité.</a:t>
            </a:r>
            <a:endParaRPr lang="fr-BE" b="1" u="sng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1" y="1902092"/>
            <a:ext cx="5677762" cy="28590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2200" dirty="0" smtClean="0"/>
              <a:t>Rédiger au futur simple le programme de l’excursion (demi-journée) offerte par la radio.</a:t>
            </a:r>
          </a:p>
          <a:p>
            <a:pPr marL="0" indent="0">
              <a:buNone/>
            </a:pPr>
            <a:r>
              <a:rPr lang="fr-BE" sz="2200" dirty="0" smtClean="0"/>
              <a:t>Décrire ce lieu (4 lignes) et cette activité (4 lignes) pour donner envie.</a:t>
            </a:r>
          </a:p>
          <a:p>
            <a:pPr marL="0" indent="0">
              <a:buNone/>
            </a:pPr>
            <a:r>
              <a:rPr lang="fr-BE" sz="2200" dirty="0" smtClean="0"/>
              <a:t>Expliquer les avantages du moyen de transport choisi (3 lignes)</a:t>
            </a:r>
          </a:p>
          <a:p>
            <a:pPr marL="0" indent="0">
              <a:buNone/>
            </a:pPr>
            <a:r>
              <a:rPr lang="fr-BE" sz="2200" dirty="0" smtClean="0"/>
              <a:t>Rappeler la devinette à laquelle répondre pour participer au concours (2 lignes)</a:t>
            </a:r>
          </a:p>
          <a:p>
            <a:pPr marL="0" indent="0">
              <a:buNone/>
            </a:pPr>
            <a:r>
              <a:rPr lang="fr-BE" sz="2200" dirty="0" smtClean="0"/>
              <a:t>Donner la date de fin du concours (1 ligne)</a:t>
            </a:r>
          </a:p>
          <a:p>
            <a:pPr marL="0" indent="0">
              <a:buNone/>
            </a:pPr>
            <a:r>
              <a:rPr lang="fr-BE" sz="2200" dirty="0" smtClean="0"/>
              <a:t>Agrémenter de quelques photos.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6245679" y="4890407"/>
            <a:ext cx="4229100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https:www.delijn.be/fr/kusttram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6219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05" y="1239864"/>
            <a:ext cx="9518920" cy="4463592"/>
          </a:xfrm>
          <a:prstGeom prst="rect">
            <a:avLst/>
          </a:prstGeom>
        </p:spPr>
      </p:pic>
      <p:sp>
        <p:nvSpPr>
          <p:cNvPr id="4" name="Ellipse 3"/>
          <p:cNvSpPr/>
          <p:nvPr/>
        </p:nvSpPr>
        <p:spPr>
          <a:xfrm>
            <a:off x="683173" y="3815255"/>
            <a:ext cx="1965434" cy="18882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3488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r>
              <a:rPr lang="fr-BE" sz="2400" dirty="0"/>
              <a:t>Chapitres 20 et 24 : EN et </a:t>
            </a:r>
            <a:r>
              <a:rPr lang="fr-BE" sz="2400" dirty="0" smtClean="0"/>
              <a:t> Y</a:t>
            </a:r>
          </a:p>
          <a:p>
            <a:r>
              <a:rPr lang="fr-BE" sz="2400" dirty="0" smtClean="0"/>
              <a:t>Chapitre 28 : les pronoms compléments</a:t>
            </a:r>
          </a:p>
          <a:p>
            <a:r>
              <a:rPr lang="fr-BE" sz="2400" dirty="0" smtClean="0">
                <a:solidFill>
                  <a:srgbClr val="00B0F0"/>
                </a:solidFill>
                <a:hlinkClick r:id="rId3"/>
              </a:rPr>
              <a:t>Grammaire</a:t>
            </a:r>
            <a:r>
              <a:rPr lang="fr-BE" sz="2400" dirty="0" smtClean="0">
                <a:solidFill>
                  <a:srgbClr val="00B0F0"/>
                </a:solidFill>
              </a:rPr>
              <a:t> </a:t>
            </a:r>
            <a:r>
              <a:rPr lang="fr-BE" sz="2400" dirty="0" smtClean="0"/>
              <a:t>sur Moodle : </a:t>
            </a:r>
          </a:p>
          <a:p>
            <a:r>
              <a:rPr lang="fr-BE" sz="2400" dirty="0" smtClean="0"/>
              <a:t>+ 5 % de la note finale</a:t>
            </a:r>
          </a:p>
          <a:p>
            <a:r>
              <a:rPr lang="fr-BE" sz="2400" dirty="0" smtClean="0"/>
              <a:t>À faire jusqu’au jour du test obligatoire</a:t>
            </a:r>
            <a:endParaRPr lang="fr-BE" sz="2400" dirty="0"/>
          </a:p>
          <a:p>
            <a:endParaRPr lang="fr-BE" sz="280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72828" y="2760546"/>
            <a:ext cx="3103146" cy="3368675"/>
          </a:xfrm>
        </p:spPr>
        <p:txBody>
          <a:bodyPr/>
          <a:lstStyle/>
          <a:p>
            <a:r>
              <a:rPr lang="fr-BE" sz="2000" dirty="0" smtClean="0"/>
              <a:t>Lire pp. 120122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chemeClr val="accent1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vendredi</a:t>
            </a:r>
            <a:br>
              <a:rPr lang="fr-BE" dirty="0" smtClean="0">
                <a:solidFill>
                  <a:schemeClr val="bg1"/>
                </a:solidFill>
              </a:rPr>
            </a:br>
            <a:endParaRPr lang="fr-BE" sz="2800" b="1" dirty="0">
              <a:solidFill>
                <a:srgbClr val="FFFF00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1388126" y="1418150"/>
            <a:ext cx="874196" cy="129410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5"/>
          <a:stretch>
            <a:fillRect/>
          </a:stretch>
        </p:blipFill>
        <p:spPr>
          <a:xfrm>
            <a:off x="4743910" y="1434596"/>
            <a:ext cx="1035412" cy="127766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029" y="1635931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5027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 smtClean="0">
                <a:solidFill>
                  <a:srgbClr val="FF0000"/>
                </a:solidFill>
              </a:rPr>
              <a:t>Défi #3 (p. 78): </a:t>
            </a:r>
          </a:p>
          <a:p>
            <a:r>
              <a:rPr lang="fr-BE" sz="2400" dirty="0" smtClean="0"/>
              <a:t>Compléter </a:t>
            </a:r>
            <a:r>
              <a:rPr lang="fr-BE" sz="2400" dirty="0" smtClean="0">
                <a:hlinkClick r:id="rId7"/>
              </a:rPr>
              <a:t>le Dossier</a:t>
            </a:r>
            <a:r>
              <a:rPr lang="fr-BE" sz="2400" dirty="0" smtClean="0">
                <a:solidFill>
                  <a:srgbClr val="FF0000"/>
                </a:solidFill>
                <a:hlinkClick r:id="rId7"/>
              </a:rPr>
              <a:t> </a:t>
            </a:r>
            <a:r>
              <a:rPr lang="fr-BE" sz="2400" dirty="0" smtClean="0">
                <a:solidFill>
                  <a:srgbClr val="FF0000"/>
                </a:solidFill>
              </a:rPr>
              <a:t>(base pour la partie 3 de l’examen oral)</a:t>
            </a:r>
          </a:p>
          <a:p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 smtClean="0">
                <a:solidFill>
                  <a:srgbClr val="FF0000"/>
                </a:solidFill>
              </a:rPr>
              <a:t>Échéance : 24 avril</a:t>
            </a:r>
          </a:p>
          <a:p>
            <a:endParaRPr lang="fr-BE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08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Bravo pour votre participation !</a:t>
            </a:r>
            <a:br>
              <a:rPr lang="fr-BE" dirty="0" smtClean="0"/>
            </a:br>
            <a:r>
              <a:rPr lang="fr-BE" dirty="0" smtClean="0"/>
              <a:t>bonne </a:t>
            </a:r>
            <a:r>
              <a:rPr lang="fr-BE" dirty="0"/>
              <a:t> </a:t>
            </a:r>
            <a:r>
              <a:rPr lang="fr-BE" dirty="0" smtClean="0"/>
              <a:t>Fin de semaine</a:t>
            </a:r>
            <a:endParaRPr lang="fr-BE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759279" y="3306537"/>
            <a:ext cx="10815458" cy="1057424"/>
          </a:xfrm>
        </p:spPr>
        <p:txBody>
          <a:bodyPr>
            <a:normAutofit lnSpcReduction="10000"/>
          </a:bodyPr>
          <a:lstStyle/>
          <a:p>
            <a:pPr algn="ctr"/>
            <a:r>
              <a:rPr lang="fr-BE" sz="2800" dirty="0" smtClean="0">
                <a:solidFill>
                  <a:schemeClr val="bg1"/>
                </a:solidFill>
              </a:rPr>
              <a:t>La chanson du jour : </a:t>
            </a:r>
            <a:r>
              <a:rPr lang="fr-BE" sz="2800" dirty="0" smtClean="0">
                <a:solidFill>
                  <a:schemeClr val="bg1"/>
                </a:solidFill>
                <a:hlinkClick r:id="rId3"/>
              </a:rPr>
              <a:t>La belle gigue </a:t>
            </a:r>
            <a:r>
              <a:rPr lang="fr-BE" sz="2800" dirty="0" smtClean="0">
                <a:solidFill>
                  <a:schemeClr val="bg1"/>
                </a:solidFill>
              </a:rPr>
              <a:t>(André </a:t>
            </a:r>
            <a:r>
              <a:rPr lang="fr-BE" sz="2800" dirty="0" err="1" smtClean="0">
                <a:solidFill>
                  <a:schemeClr val="bg1"/>
                </a:solidFill>
              </a:rPr>
              <a:t>Bialek</a:t>
            </a:r>
            <a:r>
              <a:rPr lang="fr-BE" sz="2800" dirty="0" smtClean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fr-BE" sz="2800" cap="none" dirty="0" smtClean="0">
                <a:solidFill>
                  <a:schemeClr val="bg1"/>
                </a:solidFill>
              </a:rPr>
              <a:t>En </a:t>
            </a:r>
            <a:r>
              <a:rPr lang="fr-BE" sz="2800" cap="none" dirty="0">
                <a:solidFill>
                  <a:schemeClr val="bg1"/>
                </a:solidFill>
              </a:rPr>
              <a:t>version bilingue : https://www.youtube.com/watch?v=OCwqT6E4HzU</a:t>
            </a:r>
          </a:p>
        </p:txBody>
      </p:sp>
    </p:spTree>
    <p:extLst>
      <p:ext uri="{BB962C8B-B14F-4D97-AF65-F5344CB8AC3E}">
        <p14:creationId xmlns:p14="http://schemas.microsoft.com/office/powerpoint/2010/main" val="243899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1015</Words>
  <Application>Microsoft Office PowerPoint</Application>
  <PresentationFormat>Grand écran</PresentationFormat>
  <Paragraphs>135</Paragraphs>
  <Slides>15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Corbel</vt:lpstr>
      <vt:lpstr>Gill Sans MT</vt:lpstr>
      <vt:lpstr>Wingdings 2</vt:lpstr>
      <vt:lpstr>Dividende</vt:lpstr>
      <vt:lpstr>Comprendre la Belgique LFRAN1301 – B1</vt:lpstr>
      <vt:lpstr>Qu’est-ce qui  vous donne le sourire ?</vt:lpstr>
      <vt:lpstr>Nos groupes aujourd’hui</vt:lpstr>
      <vt:lpstr>Au programme</vt:lpstr>
      <vt:lpstr>Révision  Teams / Conversation Générale</vt:lpstr>
      <vt:lpstr>Révision  Teams / Conversation Générale</vt:lpstr>
      <vt:lpstr>Les pronoms Y et en</vt:lpstr>
      <vt:lpstr>Présentation PowerPoint</vt:lpstr>
      <vt:lpstr>Les pronoms compléments : le, la, l’, les</vt:lpstr>
      <vt:lpstr>Les pronoms compléments : LUI ,LEUR</vt:lpstr>
      <vt:lpstr>Unité 3 – Le plat pays en balades</vt:lpstr>
      <vt:lpstr>Défi écrit (par 4) Formatif sur TEAMS / Bloc Notes collaboratif (environ 30 minutes)</vt:lpstr>
      <vt:lpstr>Présentation PowerPoint</vt:lpstr>
      <vt:lpstr>Tâches pour vendredi </vt:lpstr>
      <vt:lpstr>Bravo pour votre participation ! bonne  Fin de semaine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Nancy Verhulst</dc:creator>
  <cp:lastModifiedBy>Geneviève Briet</cp:lastModifiedBy>
  <cp:revision>50</cp:revision>
  <dcterms:created xsi:type="dcterms:W3CDTF">2019-11-11T07:43:45Z</dcterms:created>
  <dcterms:modified xsi:type="dcterms:W3CDTF">2020-04-01T12:49:19Z</dcterms:modified>
</cp:coreProperties>
</file>