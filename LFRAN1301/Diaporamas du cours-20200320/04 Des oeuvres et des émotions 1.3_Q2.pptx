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76" r:id="rId2"/>
    <p:sldId id="381" r:id="rId3"/>
    <p:sldId id="377" r:id="rId4"/>
    <p:sldId id="382" r:id="rId5"/>
    <p:sldId id="295" r:id="rId6"/>
    <p:sldId id="378" r:id="rId7"/>
    <p:sldId id="379" r:id="rId8"/>
    <p:sldId id="372" r:id="rId9"/>
    <p:sldId id="384" r:id="rId10"/>
    <p:sldId id="385" r:id="rId11"/>
    <p:sldId id="386" r:id="rId12"/>
    <p:sldId id="387" r:id="rId13"/>
    <p:sldId id="388" r:id="rId14"/>
    <p:sldId id="375" r:id="rId15"/>
    <p:sldId id="374" r:id="rId16"/>
    <p:sldId id="383" r:id="rId17"/>
    <p:sldId id="380" r:id="rId18"/>
    <p:sldId id="355" r:id="rId19"/>
    <p:sldId id="356" r:id="rId20"/>
    <p:sldId id="365" r:id="rId21"/>
    <p:sldId id="366" r:id="rId22"/>
    <p:sldId id="376" r:id="rId23"/>
    <p:sldId id="389" r:id="rId24"/>
    <p:sldId id="390" r:id="rId25"/>
    <p:sldId id="367" r:id="rId26"/>
    <p:sldId id="368" r:id="rId27"/>
    <p:sldId id="369" r:id="rId28"/>
    <p:sldId id="370" r:id="rId29"/>
    <p:sldId id="371" r:id="rId30"/>
    <p:sldId id="291" r:id="rId31"/>
    <p:sldId id="278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A6DB-499F-4B67-9D52-4C43E4F08F7B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A2E6D-67A3-4501-B9DE-BB522B8BB0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848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2841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5833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3927F-8EE8-4333-8816-7C41B1071991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48189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945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427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9271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125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822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429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29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416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4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074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42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85024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0564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29-04-20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89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ur03.safelinks.protection.outlook.com/?url=http%3A%2F%2Fwww.electionsagl.be%2F&amp;data=02%7C01%7Cgenevieve.briet%40uclouvain.be%7Cdeabe80261c64205993108d7eab3f562%7C7ab090d4fa2e4ecfbc7c4127b4d582ec%7C0%7C0%7C637235930946903460&amp;sdata=PeY66qPoT6EO9VlK%2FBYxbPbIG2g4CpE%2FAcad6yMW8as%3D&amp;reserved=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hyperlink" Target="https://www.youtube.com/watch?v=Bo7bMveGg-Q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fif"/><Relationship Id="rId4" Type="http://schemas.openxmlformats.org/officeDocument/2006/relationships/image" Target="../media/image7.jf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://www.dailymotion.com/video/x2dvmgt_la-voix-publique-delvaux-d-art-d-art_creation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g"/><Relationship Id="rId4" Type="http://schemas.openxmlformats.org/officeDocument/2006/relationships/image" Target="../media/image27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7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Doctorants ? C’est le Dernier jour pour voter !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BE" dirty="0"/>
              <a:t>De ce lundi à ce mercredi ont lieu les élections étudiantes. Comme les </a:t>
            </a:r>
            <a:r>
              <a:rPr lang="fr-BE" dirty="0" err="1"/>
              <a:t>doctorant.e.s</a:t>
            </a:r>
            <a:r>
              <a:rPr lang="fr-BE" dirty="0"/>
              <a:t> ont également le statut étudiant, la plupart des scientifiques sont </a:t>
            </a:r>
            <a:r>
              <a:rPr lang="fr-BE" dirty="0" err="1"/>
              <a:t>répertorié.e.s</a:t>
            </a:r>
            <a:r>
              <a:rPr lang="fr-BE" dirty="0"/>
              <a:t> comme électeurs/</a:t>
            </a:r>
            <a:r>
              <a:rPr lang="fr-BE" dirty="0" err="1"/>
              <a:t>ices</a:t>
            </a:r>
            <a:r>
              <a:rPr lang="fr-BE" dirty="0"/>
              <a:t>. </a:t>
            </a:r>
          </a:p>
          <a:p>
            <a:pPr marL="0" indent="0">
              <a:buNone/>
            </a:pPr>
            <a:r>
              <a:rPr lang="fr-BE" dirty="0"/>
              <a:t> </a:t>
            </a:r>
          </a:p>
          <a:p>
            <a:r>
              <a:rPr lang="fr-BE" dirty="0"/>
              <a:t>Les élections étudiantes peuvent sembler ne pas nous concerner directement. Toutefois :</a:t>
            </a:r>
          </a:p>
          <a:p>
            <a:pPr lvl="0"/>
            <a:r>
              <a:rPr lang="fr-BE" dirty="0"/>
              <a:t>Les </a:t>
            </a:r>
            <a:r>
              <a:rPr lang="fr-BE" dirty="0" err="1"/>
              <a:t>représentant.e.s</a:t>
            </a:r>
            <a:r>
              <a:rPr lang="fr-BE" dirty="0"/>
              <a:t> </a:t>
            </a:r>
            <a:r>
              <a:rPr lang="fr-BE" dirty="0" err="1"/>
              <a:t>étudiant.e.s</a:t>
            </a:r>
            <a:r>
              <a:rPr lang="fr-BE" dirty="0"/>
              <a:t> (AGL) ont un certain poids pour ce qui concerne le statut des </a:t>
            </a:r>
            <a:r>
              <a:rPr lang="fr-BE" dirty="0" err="1"/>
              <a:t>doctorant.e.s</a:t>
            </a:r>
            <a:r>
              <a:rPr lang="fr-BE" dirty="0"/>
              <a:t> ou pour de l'aide sur des dossiers (individuels ou non) ponctuels</a:t>
            </a:r>
          </a:p>
          <a:p>
            <a:pPr lvl="0"/>
            <a:r>
              <a:rPr lang="fr-BE" dirty="0"/>
              <a:t>Ils ont besoin d'un quorum de vote pour que les élections soient valides et donc chaque vote compte, surtout avec les difficultés de mobiliser liées au confinement</a:t>
            </a:r>
          </a:p>
          <a:p>
            <a:r>
              <a:rPr lang="fr-BE" dirty="0"/>
              <a:t>Je vous invite donc à voter à cette adresse  </a:t>
            </a:r>
            <a:r>
              <a:rPr lang="fr-BE" u="sng" dirty="0">
                <a:hlinkClick r:id="rId2"/>
              </a:rPr>
              <a:t>www.electionsagl.be si vous êtes </a:t>
            </a:r>
            <a:r>
              <a:rPr lang="fr-BE" u="sng" dirty="0" err="1">
                <a:hlinkClick r:id="rId2"/>
              </a:rPr>
              <a:t>doctorant.e.s</a:t>
            </a:r>
            <a:r>
              <a:rPr lang="fr-BE" u="sng" dirty="0">
                <a:hlinkClick r:id="rId2"/>
              </a:rPr>
              <a:t> </a:t>
            </a:r>
            <a:endParaRPr lang="fr-BE" u="sng" dirty="0" smtClean="0">
              <a:hlinkClick r:id="rId2"/>
            </a:endParaRPr>
          </a:p>
          <a:p>
            <a:r>
              <a:rPr lang="fr-BE" u="sng" dirty="0" smtClean="0">
                <a:hlinkClick r:id="rId2"/>
              </a:rPr>
              <a:t>Les </a:t>
            </a:r>
            <a:r>
              <a:rPr lang="fr-BE" u="sng" dirty="0">
                <a:hlinkClick r:id="rId2"/>
              </a:rPr>
              <a:t>listes qui se </a:t>
            </a:r>
            <a:r>
              <a:rPr lang="fr-BE" u="sng" dirty="0" smtClean="0">
                <a:hlinkClick r:id="rId2"/>
              </a:rPr>
              <a:t>présentent </a:t>
            </a:r>
            <a:r>
              <a:rPr lang="fr-BE" u="sng" dirty="0">
                <a:hlinkClick r:id="rId2"/>
              </a:rPr>
              <a:t>peuvent être retrouvées ici : https://aglouvain.be/elections/presentation-des-listes/. Au pire, votez blanc (ça aide pour le quorum).</a:t>
            </a:r>
            <a:br>
              <a:rPr lang="fr-BE" u="sng" dirty="0">
                <a:hlinkClick r:id="rId2"/>
              </a:rPr>
            </a:br>
            <a:r>
              <a:rPr lang="fr-BE" u="sng" dirty="0">
                <a:hlinkClick r:id="rId2"/>
              </a:rPr>
              <a:t/>
            </a:r>
            <a:br>
              <a:rPr lang="fr-BE" u="sng" dirty="0">
                <a:hlinkClick r:id="rId2"/>
              </a:rPr>
            </a:b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7647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Comment se passe le rendez-vous surprise virtuel ?</a:t>
            </a:r>
            <a:endParaRPr lang="fr-BE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28" y="2107462"/>
            <a:ext cx="3972719" cy="3972719"/>
          </a:xfrm>
        </p:spPr>
      </p:pic>
    </p:spTree>
    <p:extLst>
      <p:ext uri="{BB962C8B-B14F-4D97-AF65-F5344CB8AC3E}">
        <p14:creationId xmlns:p14="http://schemas.microsoft.com/office/powerpoint/2010/main" val="261812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Présentation du défi #6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158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Unité 4 –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ceci n’est pas une pipe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 err="1" smtClean="0"/>
              <a:t>pourqUOI</a:t>
            </a:r>
            <a:r>
              <a:rPr lang="fr-BE" dirty="0" smtClean="0"/>
              <a:t> </a:t>
            </a:r>
            <a:r>
              <a:rPr lang="fr-BE" dirty="0" err="1" smtClean="0"/>
              <a:t>L’aRT</a:t>
            </a:r>
            <a:r>
              <a:rPr lang="fr-BE" dirty="0" smtClean="0"/>
              <a:t> Nouveau, LE </a:t>
            </a:r>
            <a:r>
              <a:rPr lang="fr-BE" dirty="0" err="1" smtClean="0"/>
              <a:t>SURRéalisme</a:t>
            </a:r>
            <a:r>
              <a:rPr lang="fr-BE" dirty="0" smtClean="0"/>
              <a:t> et la bande dessinée se sont développés en Belgique ?</a:t>
            </a:r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94" y="3225545"/>
            <a:ext cx="4514850" cy="30099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431" y="3225545"/>
            <a:ext cx="2255637" cy="295041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855" y="3286288"/>
            <a:ext cx="45148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2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>
          <a:xfrm>
            <a:off x="1293978" y="623752"/>
            <a:ext cx="8131175" cy="854075"/>
          </a:xfrm>
        </p:spPr>
        <p:txBody>
          <a:bodyPr>
            <a:normAutofit fontScale="90000"/>
          </a:bodyPr>
          <a:lstStyle/>
          <a:p>
            <a:r>
              <a:rPr lang="fr-BE" altLang="fr-FR" sz="3600" dirty="0">
                <a:ea typeface="ＭＳ Ｐゴシック" panose="020B0600070205080204" pitchFamily="34" charset="-128"/>
              </a:rPr>
              <a:t>Travail en demi-classe (45 minutes)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87972" y="2469465"/>
            <a:ext cx="5276193" cy="19768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fr-BE" sz="2400" dirty="0" smtClean="0">
                <a:latin typeface="+mj-lt"/>
              </a:rPr>
              <a:t>Avec le professeur</a:t>
            </a:r>
          </a:p>
          <a:p>
            <a:pPr>
              <a:defRPr/>
            </a:pPr>
            <a:r>
              <a:rPr lang="fr-BE" sz="2400" dirty="0" smtClean="0">
                <a:latin typeface="+mj-lt"/>
              </a:rPr>
              <a:t>Grammaire : activation du passif</a:t>
            </a:r>
            <a:endParaRPr lang="fr-BE" sz="2400" dirty="0" smtClean="0">
              <a:latin typeface="+mj-lt"/>
            </a:endParaRPr>
          </a:p>
          <a:p>
            <a:pPr>
              <a:defRPr/>
            </a:pPr>
            <a:endParaRPr lang="fr-BE" sz="2400" dirty="0" smtClean="0">
              <a:solidFill>
                <a:srgbClr val="FF0000"/>
              </a:solidFill>
              <a:latin typeface="+mj-lt"/>
            </a:endParaRPr>
          </a:p>
          <a:p>
            <a:pPr>
              <a:defRPr/>
            </a:pPr>
            <a:r>
              <a:rPr lang="fr-BE" sz="2400" dirty="0" smtClean="0">
                <a:solidFill>
                  <a:srgbClr val="FF0000"/>
                </a:solidFill>
                <a:latin typeface="+mj-lt"/>
              </a:rPr>
              <a:t>18 </a:t>
            </a:r>
            <a:r>
              <a:rPr lang="fr-BE" sz="2400" dirty="0" smtClean="0">
                <a:solidFill>
                  <a:srgbClr val="FF0000"/>
                </a:solidFill>
                <a:latin typeface="+mj-lt"/>
              </a:rPr>
              <a:t>h </a:t>
            </a:r>
            <a:r>
              <a:rPr lang="fr-BE" sz="2400" dirty="0" smtClean="0">
                <a:solidFill>
                  <a:srgbClr val="FF0000"/>
                </a:solidFill>
                <a:latin typeface="+mj-lt"/>
              </a:rPr>
              <a:t>45 - 19 </a:t>
            </a:r>
            <a:r>
              <a:rPr lang="fr-BE" sz="2400" dirty="0" smtClean="0">
                <a:solidFill>
                  <a:srgbClr val="FF0000"/>
                </a:solidFill>
                <a:latin typeface="+mj-lt"/>
              </a:rPr>
              <a:t>h </a:t>
            </a:r>
            <a:r>
              <a:rPr lang="fr-BE" sz="2400" dirty="0" smtClean="0">
                <a:solidFill>
                  <a:srgbClr val="FF0000"/>
                </a:solidFill>
                <a:latin typeface="+mj-lt"/>
              </a:rPr>
              <a:t>20 </a:t>
            </a:r>
            <a:endParaRPr lang="fr-BE" sz="2400" dirty="0" smtClean="0">
              <a:latin typeface="+mj-lt"/>
            </a:endParaRPr>
          </a:p>
          <a:p>
            <a:pPr>
              <a:defRPr/>
            </a:pPr>
            <a:endParaRPr lang="fr-BE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63862" y="1425030"/>
            <a:ext cx="3823138" cy="2311727"/>
          </a:xfrm>
        </p:spPr>
        <p:txBody>
          <a:bodyPr>
            <a:normAutofit lnSpcReduction="10000"/>
          </a:bodyPr>
          <a:lstStyle/>
          <a:p>
            <a:pPr>
              <a:defRPr/>
            </a:pPr>
            <a:endParaRPr lang="fr-BE" dirty="0" smtClean="0">
              <a:latin typeface="+mj-lt"/>
            </a:endParaRPr>
          </a:p>
          <a:p>
            <a:pPr>
              <a:defRPr/>
            </a:pPr>
            <a:r>
              <a:rPr lang="fr-BE" sz="2400" dirty="0" smtClean="0">
                <a:latin typeface="+mj-lt"/>
              </a:rPr>
              <a:t>En petit groupe</a:t>
            </a:r>
          </a:p>
          <a:p>
            <a:pPr marL="566737" indent="-457200">
              <a:buFont typeface="+mj-lt"/>
              <a:buAutoNum type="arabicPeriod"/>
              <a:defRPr/>
            </a:pPr>
            <a:endParaRPr lang="fr-BE" dirty="0">
              <a:latin typeface="+mj-lt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463862" y="3710152"/>
            <a:ext cx="3823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BE" sz="2400" dirty="0">
                <a:solidFill>
                  <a:srgbClr val="FF0000"/>
                </a:solidFill>
              </a:rPr>
              <a:t>19 h </a:t>
            </a:r>
            <a:r>
              <a:rPr lang="fr-BE" sz="2400" dirty="0" smtClean="0">
                <a:solidFill>
                  <a:srgbClr val="FF0000"/>
                </a:solidFill>
              </a:rPr>
              <a:t>30 </a:t>
            </a:r>
            <a:r>
              <a:rPr lang="fr-BE" sz="2400" dirty="0">
                <a:solidFill>
                  <a:srgbClr val="FF0000"/>
                </a:solidFill>
              </a:rPr>
              <a:t>– </a:t>
            </a:r>
            <a:r>
              <a:rPr lang="fr-BE" sz="2400" dirty="0" smtClean="0">
                <a:solidFill>
                  <a:srgbClr val="FF0000"/>
                </a:solidFill>
              </a:rPr>
              <a:t>20 </a:t>
            </a:r>
            <a:r>
              <a:rPr lang="fr-BE" sz="2400" dirty="0">
                <a:solidFill>
                  <a:srgbClr val="FF0000"/>
                </a:solidFill>
              </a:rPr>
              <a:t>h </a:t>
            </a:r>
            <a:r>
              <a:rPr lang="fr-BE" sz="2400" dirty="0" smtClean="0">
                <a:solidFill>
                  <a:srgbClr val="FF0000"/>
                </a:solidFill>
              </a:rPr>
              <a:t>05</a:t>
            </a:r>
            <a:endParaRPr lang="fr-BE" sz="2400" dirty="0">
              <a:solidFill>
                <a:srgbClr val="FF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4171817"/>
            <a:ext cx="11572875" cy="2990850"/>
          </a:xfrm>
          <a:prstGeom prst="rect">
            <a:avLst/>
          </a:prstGeom>
        </p:spPr>
      </p:pic>
      <p:sp>
        <p:nvSpPr>
          <p:cNvPr id="7" name="Bulle ronde 6"/>
          <p:cNvSpPr/>
          <p:nvPr/>
        </p:nvSpPr>
        <p:spPr>
          <a:xfrm>
            <a:off x="9532882" y="2322786"/>
            <a:ext cx="1744717" cy="1159186"/>
          </a:xfrm>
          <a:prstGeom prst="wedgeEllipse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Retour dans le général à 20 h 05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3346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1561951"/>
            <a:ext cx="11029615" cy="1497507"/>
          </a:xfrm>
        </p:spPr>
        <p:txBody>
          <a:bodyPr/>
          <a:lstStyle/>
          <a:p>
            <a:r>
              <a:rPr lang="fr-BE" dirty="0" smtClean="0"/>
              <a:t>En petit groupe : le capitaine lance l’appel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7109" y="3353747"/>
            <a:ext cx="11113698" cy="1249783"/>
          </a:xfrm>
        </p:spPr>
        <p:txBody>
          <a:bodyPr>
            <a:normAutofit lnSpcReduction="10000"/>
          </a:bodyPr>
          <a:lstStyle/>
          <a:p>
            <a:r>
              <a:rPr lang="fr-BE" dirty="0" smtClean="0"/>
              <a:t>Activité 1 syllabus </a:t>
            </a:r>
            <a:r>
              <a:rPr lang="fr-BE" dirty="0" smtClean="0"/>
              <a:t>pp</a:t>
            </a:r>
            <a:r>
              <a:rPr lang="fr-BE" dirty="0" smtClean="0"/>
              <a:t>. </a:t>
            </a:r>
            <a:r>
              <a:rPr lang="fr-BE" dirty="0" smtClean="0"/>
              <a:t>144-146,  </a:t>
            </a:r>
            <a:r>
              <a:rPr lang="fr-BE" dirty="0" smtClean="0"/>
              <a:t>appel audio ou vidéo sur conversation </a:t>
            </a:r>
            <a:r>
              <a:rPr lang="fr-BE" dirty="0" smtClean="0"/>
              <a:t>orale</a:t>
            </a:r>
            <a:endParaRPr lang="fr-BE" dirty="0" smtClean="0"/>
          </a:p>
          <a:p>
            <a:r>
              <a:rPr lang="fr-BE" dirty="0" err="1" smtClean="0"/>
              <a:t>ACTIVITé</a:t>
            </a:r>
            <a:r>
              <a:rPr lang="fr-BE" dirty="0" smtClean="0"/>
              <a:t> 2 :  Syllabus p. </a:t>
            </a:r>
            <a:r>
              <a:rPr lang="fr-BE" dirty="0" smtClean="0"/>
              <a:t>147 </a:t>
            </a:r>
            <a:r>
              <a:rPr lang="fr-BE" dirty="0" smtClean="0"/>
              <a:t>et vidéo sur Moodle unité 4</a:t>
            </a:r>
          </a:p>
          <a:p>
            <a:r>
              <a:rPr lang="fr-BE" dirty="0" err="1"/>
              <a:t>ACTIVITé</a:t>
            </a:r>
            <a:r>
              <a:rPr lang="fr-BE" dirty="0"/>
              <a:t> </a:t>
            </a:r>
            <a:r>
              <a:rPr lang="fr-BE" dirty="0" smtClean="0"/>
              <a:t>3 </a:t>
            </a:r>
            <a:r>
              <a:rPr lang="fr-BE" dirty="0"/>
              <a:t>:  </a:t>
            </a:r>
            <a:r>
              <a:rPr lang="fr-BE" dirty="0"/>
              <a:t>syllabus pp. </a:t>
            </a:r>
            <a:r>
              <a:rPr lang="fr-BE" dirty="0" smtClean="0"/>
              <a:t>147,  </a:t>
            </a:r>
            <a:r>
              <a:rPr lang="fr-BE" dirty="0"/>
              <a:t>appel audio ou vidéo sur conversation orale</a:t>
            </a:r>
          </a:p>
          <a:p>
            <a:endParaRPr lang="fr-BE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3112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La Belgique, ses arts et ses loisirs</a:t>
            </a:r>
            <a:endParaRPr lang="fr-BE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3" y="2379473"/>
            <a:ext cx="5237370" cy="3481577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Chacun lit 1 ou 2 questions de la p. 146 et donne la réponse et la justification.</a:t>
            </a:r>
            <a:endParaRPr lang="fr-BE" sz="2400" dirty="0" smtClean="0"/>
          </a:p>
          <a:p>
            <a:r>
              <a:rPr lang="fr-BE" sz="2400" dirty="0" smtClean="0"/>
              <a:t>Chacun explique les mots surlignés en jaune dans un paragraphe.</a:t>
            </a:r>
          </a:p>
          <a:p>
            <a:r>
              <a:rPr lang="fr-BE" sz="2400" dirty="0" smtClean="0"/>
              <a:t>Durée : 15 minutes</a:t>
            </a:r>
            <a:endParaRPr lang="fr-BE" sz="2400" dirty="0"/>
          </a:p>
        </p:txBody>
      </p:sp>
      <p:sp>
        <p:nvSpPr>
          <p:cNvPr id="5" name="Rectangle 4"/>
          <p:cNvSpPr/>
          <p:nvPr/>
        </p:nvSpPr>
        <p:spPr>
          <a:xfrm>
            <a:off x="367862" y="219646"/>
            <a:ext cx="3678621" cy="957513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Activité 1 : comparer les réponses oralement en groupe</a:t>
            </a:r>
            <a:endParaRPr lang="fr-BE" dirty="0"/>
          </a:p>
        </p:txBody>
      </p:sp>
      <p:sp>
        <p:nvSpPr>
          <p:cNvPr id="3" name="Bulle ronde 2"/>
          <p:cNvSpPr/>
          <p:nvPr/>
        </p:nvSpPr>
        <p:spPr>
          <a:xfrm>
            <a:off x="8166537" y="5087007"/>
            <a:ext cx="2091559" cy="122224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Corrigé sur la diapositive suivante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3446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328612"/>
            <a:ext cx="1017270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063" y="417786"/>
            <a:ext cx="8728184" cy="620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66" y="773331"/>
            <a:ext cx="409575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9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32" y="560749"/>
            <a:ext cx="9181928" cy="580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4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47" y="1704974"/>
            <a:ext cx="10554883" cy="459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5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3461" y="1888092"/>
            <a:ext cx="6920621" cy="4969908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861737" y="2228003"/>
            <a:ext cx="3749071" cy="3633047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La </a:t>
            </a:r>
            <a:r>
              <a:rPr lang="fr-BE" dirty="0" smtClean="0"/>
              <a:t>cathédrale ….</a:t>
            </a:r>
            <a:endParaRPr lang="fr-BE" dirty="0"/>
          </a:p>
          <a:p>
            <a:r>
              <a:rPr lang="fr-BE" dirty="0" smtClean="0"/>
              <a:t>Une école</a:t>
            </a:r>
          </a:p>
          <a:p>
            <a:r>
              <a:rPr lang="fr-BE" dirty="0" smtClean="0"/>
              <a:t>La fresque des …</a:t>
            </a:r>
          </a:p>
          <a:p>
            <a:r>
              <a:rPr lang="fr-BE" dirty="0" smtClean="0"/>
              <a:t>Une mosaïque</a:t>
            </a:r>
          </a:p>
          <a:p>
            <a:r>
              <a:rPr lang="fr-BE" dirty="0" smtClean="0"/>
              <a:t>Le musée de ….</a:t>
            </a:r>
          </a:p>
          <a:p>
            <a:r>
              <a:rPr lang="fr-BE" dirty="0" smtClean="0"/>
              <a:t>Les grandes ouvertures des ….</a:t>
            </a:r>
          </a:p>
          <a:p>
            <a:r>
              <a:rPr lang="fr-BE" dirty="0" smtClean="0"/>
              <a:t>Un puits de ….</a:t>
            </a:r>
          </a:p>
          <a:p>
            <a:r>
              <a:rPr lang="fr-BE" dirty="0" smtClean="0"/>
              <a:t>Une verrière</a:t>
            </a:r>
          </a:p>
          <a:p>
            <a:r>
              <a:rPr lang="fr-BE" dirty="0" smtClean="0"/>
              <a:t>Des </a:t>
            </a:r>
            <a:r>
              <a:rPr lang="fr-BE" dirty="0" smtClean="0"/>
              <a:t>arabesques, des courbes végétales</a:t>
            </a:r>
            <a:endParaRPr lang="fr-BE" dirty="0" smtClean="0"/>
          </a:p>
          <a:p>
            <a:endParaRPr lang="fr-BE" dirty="0" smtClean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Mamy </a:t>
            </a:r>
            <a:r>
              <a:rPr lang="fr-BE" dirty="0" err="1" smtClean="0"/>
              <a:t>nicole</a:t>
            </a:r>
            <a:r>
              <a:rPr lang="fr-BE" dirty="0" smtClean="0"/>
              <a:t> découvre l’art </a:t>
            </a:r>
            <a:r>
              <a:rPr lang="fr-BE" dirty="0" smtClean="0"/>
              <a:t>nouveau : identifiez les lieux</a:t>
            </a:r>
            <a:endParaRPr lang="fr-BE" dirty="0"/>
          </a:p>
        </p:txBody>
      </p:sp>
      <p:sp>
        <p:nvSpPr>
          <p:cNvPr id="2" name="Rectangle 1"/>
          <p:cNvSpPr/>
          <p:nvPr/>
        </p:nvSpPr>
        <p:spPr>
          <a:xfrm>
            <a:off x="367862" y="219646"/>
            <a:ext cx="3678621" cy="957513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Activité 2 : écouter la vidéo sur Moodle, associer la bonne réponse, comparer oralement en groupe</a:t>
            </a:r>
            <a:endParaRPr lang="fr-BE" dirty="0"/>
          </a:p>
        </p:txBody>
      </p:sp>
      <p:sp>
        <p:nvSpPr>
          <p:cNvPr id="7" name="Bulle ronde 6"/>
          <p:cNvSpPr/>
          <p:nvPr/>
        </p:nvSpPr>
        <p:spPr>
          <a:xfrm>
            <a:off x="9396247" y="5402317"/>
            <a:ext cx="2091559" cy="122224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Corrigé sur la diapositive suivante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6196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Mamy </a:t>
            </a:r>
            <a:r>
              <a:rPr lang="fr-BE" dirty="0" err="1" smtClean="0"/>
              <a:t>nicole</a:t>
            </a:r>
            <a:r>
              <a:rPr lang="fr-BE" dirty="0" smtClean="0"/>
              <a:t> découvre l’art nouveau</a:t>
            </a:r>
            <a:endParaRPr lang="fr-BE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4524" y="2181225"/>
            <a:ext cx="6285186" cy="462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0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Activité 3 : donnez votre opinion (mots utiles p. 154)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Votre environnement </a:t>
            </a:r>
            <a:r>
              <a:rPr lang="fr-BE" sz="2400" dirty="0" err="1" smtClean="0"/>
              <a:t>a-t-il</a:t>
            </a:r>
            <a:r>
              <a:rPr lang="fr-BE" sz="2400" dirty="0" smtClean="0"/>
              <a:t> un impact sur votre qualité de travail ?</a:t>
            </a:r>
          </a:p>
          <a:p>
            <a:r>
              <a:rPr lang="fr-BE" sz="2400" dirty="0" smtClean="0"/>
              <a:t>Est-ce que le bâtiment, le type de pièce, le mobilier,  l’espace, les sons, l’odeur, la température influence votre façon de travailler ?</a:t>
            </a:r>
          </a:p>
          <a:p>
            <a:r>
              <a:rPr lang="fr-BE" sz="2400" dirty="0" smtClean="0"/>
              <a:t>Réfléchissez 2 minutes, puis discutez oralement en groupe de conversation. Vous pouvez introduire votre opinion avec les mots de la page 154.</a:t>
            </a:r>
          </a:p>
          <a:p>
            <a:r>
              <a:rPr lang="fr-BE" sz="2400" dirty="0" smtClean="0">
                <a:solidFill>
                  <a:srgbClr val="FF0000"/>
                </a:solidFill>
              </a:rPr>
              <a:t>Durée : 10 minutes</a:t>
            </a:r>
            <a:endParaRPr lang="fr-BE" sz="2400" dirty="0">
              <a:solidFill>
                <a:srgbClr val="FF0000"/>
              </a:solidFill>
            </a:endParaRPr>
          </a:p>
        </p:txBody>
      </p:sp>
      <p:sp>
        <p:nvSpPr>
          <p:cNvPr id="5" name="Bulle ronde 4"/>
          <p:cNvSpPr/>
          <p:nvPr/>
        </p:nvSpPr>
        <p:spPr>
          <a:xfrm>
            <a:off x="9438291" y="5044966"/>
            <a:ext cx="1849820" cy="1093075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Teams canal appel audio ou vidéo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0741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1561952"/>
            <a:ext cx="11029615" cy="1497507"/>
          </a:xfrm>
        </p:spPr>
        <p:txBody>
          <a:bodyPr/>
          <a:lstStyle/>
          <a:p>
            <a:r>
              <a:rPr lang="fr-BE" dirty="0" smtClean="0"/>
              <a:t>Avec le professeur : demi-classe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 smtClean="0"/>
              <a:t>La voix passive </a:t>
            </a:r>
            <a:r>
              <a:rPr lang="fr-BE" dirty="0" smtClean="0"/>
              <a:t>:, grammaire </a:t>
            </a:r>
            <a:r>
              <a:rPr lang="fr-BE" dirty="0" smtClean="0"/>
              <a:t>progressive pp. 204-205</a:t>
            </a:r>
          </a:p>
          <a:p>
            <a:r>
              <a:rPr lang="fr-BE" dirty="0" smtClean="0"/>
              <a:t>Vidéo sur Moodle / Chat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3369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59" y="800100"/>
            <a:ext cx="9671816" cy="5349542"/>
          </a:xfrm>
          <a:prstGeom prst="rect">
            <a:avLst/>
          </a:prstGeom>
        </p:spPr>
      </p:pic>
      <p:sp>
        <p:nvSpPr>
          <p:cNvPr id="3" name="Bulle ronde 2"/>
          <p:cNvSpPr/>
          <p:nvPr/>
        </p:nvSpPr>
        <p:spPr>
          <a:xfrm>
            <a:off x="704194" y="1776249"/>
            <a:ext cx="1954924" cy="1839310"/>
          </a:xfrm>
          <a:prstGeom prst="wedgeEllipseCallou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3200" dirty="0" smtClean="0"/>
              <a:t>Rappel </a:t>
            </a:r>
            <a:endParaRPr lang="fr-BE" sz="3200" dirty="0"/>
          </a:p>
        </p:txBody>
      </p:sp>
    </p:spTree>
    <p:extLst>
      <p:ext uri="{BB962C8B-B14F-4D97-AF65-F5344CB8AC3E}">
        <p14:creationId xmlns:p14="http://schemas.microsoft.com/office/powerpoint/2010/main" val="188921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62" y="1028700"/>
            <a:ext cx="10489324" cy="56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9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6556" y="55247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BE" dirty="0"/>
              <a:t>Paul Delvaux. </a:t>
            </a:r>
            <a:r>
              <a:rPr lang="fr-BE" u="sng" dirty="0">
                <a:hlinkClick r:id="rId2"/>
              </a:rPr>
              <a:t>http://www.dailymotion.com/video/x2dvmgt_la-voix-publique-delvaux-d-art-d-art_creation</a:t>
            </a:r>
            <a:endParaRPr lang="fr-BE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23" y="1524001"/>
            <a:ext cx="4697045" cy="3522784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758961" y="1658816"/>
            <a:ext cx="613703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Date du tableau :  1948</a:t>
            </a:r>
          </a:p>
          <a:p>
            <a:endParaRPr lang="fr-BE" dirty="0"/>
          </a:p>
          <a:p>
            <a:r>
              <a:rPr lang="fr-BE" sz="2800" dirty="0" smtClean="0"/>
              <a:t>Trouvez 4 adjectifs pour décrire la femme au premier plan :</a:t>
            </a:r>
          </a:p>
          <a:p>
            <a:endParaRPr lang="fr-BE" sz="2800" dirty="0" smtClean="0"/>
          </a:p>
          <a:p>
            <a:r>
              <a:rPr lang="fr-BE" sz="2800" dirty="0" smtClean="0"/>
              <a:t>Elle est allongée, </a:t>
            </a:r>
          </a:p>
          <a:p>
            <a:r>
              <a:rPr lang="fr-BE" sz="2800" dirty="0" smtClean="0"/>
              <a:t>nue, </a:t>
            </a:r>
          </a:p>
          <a:p>
            <a:r>
              <a:rPr lang="fr-BE" sz="2800" dirty="0" smtClean="0"/>
              <a:t>silencieuse, </a:t>
            </a:r>
          </a:p>
          <a:p>
            <a:r>
              <a:rPr lang="fr-BE" sz="2800" dirty="0" smtClean="0"/>
              <a:t>énigmatique, </a:t>
            </a:r>
          </a:p>
          <a:p>
            <a:r>
              <a:rPr lang="fr-BE" sz="2800" dirty="0" smtClean="0"/>
              <a:t>son regard est absent.</a:t>
            </a:r>
          </a:p>
          <a:p>
            <a:endParaRPr lang="fr-BE" dirty="0" smtClean="0"/>
          </a:p>
          <a:p>
            <a:endParaRPr lang="fr-BE" dirty="0" smtClean="0"/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1220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tien_venus_d_urbino_1538_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85" y="229169"/>
            <a:ext cx="4095262" cy="292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4133" y="3423941"/>
            <a:ext cx="5269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i="1" dirty="0"/>
              <a:t>Vénus d’Urbino</a:t>
            </a:r>
            <a:r>
              <a:rPr lang="fr-BE" dirty="0"/>
              <a:t>, Le </a:t>
            </a:r>
            <a:r>
              <a:rPr lang="fr-BE" b="1" dirty="0"/>
              <a:t>Titien</a:t>
            </a:r>
            <a:r>
              <a:rPr lang="fr-BE" dirty="0"/>
              <a:t>, 1538, huile sur toile, 119×156 cm, Galerie des Offices, Florence, Italie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082" y="173525"/>
            <a:ext cx="4052276" cy="303920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482" y="4009974"/>
            <a:ext cx="4181475" cy="2350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56739" y="6488668"/>
            <a:ext cx="74031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dirty="0"/>
              <a:t>L'"Olympia" de Manet (1863) a provoqué un scandale en son temps.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8315" y="3377774"/>
            <a:ext cx="3573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BE" i="1" dirty="0" smtClean="0"/>
              <a:t>La voix publique</a:t>
            </a:r>
            <a:r>
              <a:rPr lang="fr-BE" dirty="0" smtClean="0"/>
              <a:t>, Paul Delvaux, 1948</a:t>
            </a:r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85" y="4225814"/>
            <a:ext cx="3781909" cy="19185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4150" y="6211669"/>
            <a:ext cx="4979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i="1" dirty="0"/>
              <a:t>La maja desnuda</a:t>
            </a:r>
            <a:r>
              <a:rPr lang="es-ES" dirty="0" smtClean="0"/>
              <a:t>, Francisco Goya, </a:t>
            </a:r>
            <a:r>
              <a:rPr lang="es-ES" dirty="0"/>
              <a:t>c. 1797–1800. </a:t>
            </a:r>
            <a:r>
              <a:rPr lang="es-ES" dirty="0" smtClean="0"/>
              <a:t>Museo del Prado </a:t>
            </a:r>
            <a:r>
              <a:rPr lang="es-ES" dirty="0"/>
              <a:t>Madrid. 97cm x 190cm</a:t>
            </a:r>
            <a:endParaRPr lang="fr-BE" dirty="0"/>
          </a:p>
        </p:txBody>
      </p:sp>
      <p:sp>
        <p:nvSpPr>
          <p:cNvPr id="9" name="Bulle ronde 8"/>
          <p:cNvSpPr/>
          <p:nvPr/>
        </p:nvSpPr>
        <p:spPr>
          <a:xfrm>
            <a:off x="4550980" y="336331"/>
            <a:ext cx="2669627" cy="2367875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 smtClean="0"/>
              <a:t>Le jeu des 7 différences : Formez 7 phrases à la voix passive.</a:t>
            </a:r>
            <a:endParaRPr lang="fr-BE" sz="2400" dirty="0"/>
          </a:p>
        </p:txBody>
      </p:sp>
      <p:sp>
        <p:nvSpPr>
          <p:cNvPr id="10" name="Bulle ronde 9"/>
          <p:cNvSpPr/>
          <p:nvPr/>
        </p:nvSpPr>
        <p:spPr>
          <a:xfrm>
            <a:off x="5036938" y="4384697"/>
            <a:ext cx="2097102" cy="1696543"/>
          </a:xfrm>
          <a:prstGeom prst="wedgeEllipseCallout">
            <a:avLst>
              <a:gd name="adj1" fmla="val 44335"/>
              <a:gd name="adj2" fmla="val 60965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800" dirty="0" smtClean="0"/>
              <a:t>GPF p. 204, p. 205 n°2 et 4.</a:t>
            </a:r>
            <a:endParaRPr lang="fr-BE" sz="2800" dirty="0"/>
          </a:p>
        </p:txBody>
      </p:sp>
      <p:sp>
        <p:nvSpPr>
          <p:cNvPr id="11" name="Bulle ronde 10"/>
          <p:cNvSpPr/>
          <p:nvPr/>
        </p:nvSpPr>
        <p:spPr>
          <a:xfrm>
            <a:off x="5402318" y="2932387"/>
            <a:ext cx="1818290" cy="1137886"/>
          </a:xfrm>
          <a:prstGeom prst="wedgeEllipse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Chat général.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5473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Pourquoi ? (pp. 145-146)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sz="2400" dirty="0" smtClean="0">
                <a:solidFill>
                  <a:srgbClr val="0070C0"/>
                </a:solidFill>
              </a:rPr>
              <a:t>Pourquoi la bande dessinée belge a-t-elle pris autant d’importance ? </a:t>
            </a:r>
          </a:p>
          <a:p>
            <a:r>
              <a:rPr lang="fr-BE" sz="2400" dirty="0" smtClean="0">
                <a:solidFill>
                  <a:srgbClr val="0070C0"/>
                </a:solidFill>
              </a:rPr>
              <a:t>Pourquoi la plupart des toiles de Magritte  intriguent ?</a:t>
            </a:r>
            <a:endParaRPr lang="fr-BE" sz="2400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Pourquoi  </a:t>
            </a:r>
            <a:r>
              <a:rPr lang="fr-BE" sz="2400" dirty="0" smtClean="0"/>
              <a:t>le mot surréalisme a pris une autre </a:t>
            </a:r>
            <a:r>
              <a:rPr lang="fr-BE" sz="2400" dirty="0" smtClean="0"/>
              <a:t>dimension</a:t>
            </a:r>
            <a:r>
              <a:rPr lang="fr-BE" sz="2400" dirty="0"/>
              <a:t> </a:t>
            </a:r>
            <a:r>
              <a:rPr lang="fr-BE" sz="2400" dirty="0" smtClean="0">
                <a:solidFill>
                  <a:srgbClr val="FF0000"/>
                </a:solidFill>
              </a:rPr>
              <a:t>?</a:t>
            </a:r>
            <a:endParaRPr lang="fr-BE" sz="2400" dirty="0" smtClean="0"/>
          </a:p>
          <a:p>
            <a:r>
              <a:rPr lang="fr-BE" sz="2400" dirty="0" smtClean="0"/>
              <a:t>Pourquoi dit-on </a:t>
            </a:r>
            <a:r>
              <a:rPr lang="fr-BE" sz="2400" dirty="0" smtClean="0"/>
              <a:t>souvent que la Belgique est un pays </a:t>
            </a:r>
            <a:r>
              <a:rPr lang="fr-BE" sz="2400" dirty="0" smtClean="0"/>
              <a:t>surréaliste</a:t>
            </a:r>
            <a:r>
              <a:rPr lang="fr-BE" sz="2400" dirty="0"/>
              <a:t> </a:t>
            </a:r>
            <a:r>
              <a:rPr lang="fr-BE" sz="2400" dirty="0" smtClean="0"/>
              <a:t>?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2886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Les expressions de la cause p. 145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Pourquoi la bande dessinée belge a-t-elle pris autant d’importance ? Probablement </a:t>
            </a:r>
            <a:r>
              <a:rPr lang="fr-BE" sz="2400" dirty="0" smtClean="0">
                <a:solidFill>
                  <a:srgbClr val="FF0000"/>
                </a:solidFill>
              </a:rPr>
              <a:t>parce que </a:t>
            </a:r>
            <a:r>
              <a:rPr lang="fr-BE" sz="2400" dirty="0" smtClean="0"/>
              <a:t>…</a:t>
            </a:r>
          </a:p>
          <a:p>
            <a:endParaRPr lang="fr-BE" sz="2400" dirty="0" smtClean="0"/>
          </a:p>
          <a:p>
            <a:r>
              <a:rPr lang="fr-BE" sz="2400" dirty="0" smtClean="0">
                <a:solidFill>
                  <a:srgbClr val="FF0000"/>
                </a:solidFill>
              </a:rPr>
              <a:t>À cause de </a:t>
            </a:r>
            <a:r>
              <a:rPr lang="fr-BE" sz="2400" dirty="0" smtClean="0"/>
              <a:t>cela, la plupart de ses toiles intriguent …</a:t>
            </a:r>
            <a:endParaRPr lang="fr-BE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Aujourd’hui, le mot surréalisme a pris une autre dimension, </a:t>
            </a:r>
            <a:r>
              <a:rPr lang="fr-BE" sz="2400" dirty="0" smtClean="0">
                <a:solidFill>
                  <a:srgbClr val="FF0000"/>
                </a:solidFill>
              </a:rPr>
              <a:t>puisqu</a:t>
            </a:r>
            <a:r>
              <a:rPr lang="fr-BE" sz="2400" dirty="0" smtClean="0"/>
              <a:t>’il n’est plus seulement utilisé dans le domaine de l’art.</a:t>
            </a:r>
          </a:p>
          <a:p>
            <a:r>
              <a:rPr lang="fr-BE" sz="2400" dirty="0" smtClean="0"/>
              <a:t>Ainsi, on dit souvent que la Belgique est un pays surréaliste, notamment </a:t>
            </a:r>
            <a:r>
              <a:rPr lang="fr-BE" sz="2400" dirty="0" smtClean="0">
                <a:solidFill>
                  <a:srgbClr val="FF0000"/>
                </a:solidFill>
              </a:rPr>
              <a:t>à cause de</a:t>
            </a:r>
            <a:r>
              <a:rPr lang="fr-BE" sz="2400" dirty="0" smtClean="0"/>
              <a:t> son fonctionnement compliqué ou de ses habitudes qui peuvent paraitre bizarres, surtout pour les étrangers.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352752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Quels mots pour introduire quel Type de cause ?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800" dirty="0" smtClean="0"/>
              <a:t>Dans quelle structure de phrase ? </a:t>
            </a:r>
          </a:p>
          <a:p>
            <a:endParaRPr lang="fr-BE" sz="2800" dirty="0" smtClean="0"/>
          </a:p>
          <a:p>
            <a:r>
              <a:rPr lang="fr-BE" sz="2800" dirty="0" smtClean="0"/>
              <a:t>En situation formelle ou informelle ?</a:t>
            </a:r>
            <a:endParaRPr lang="fr-BE" sz="2800" dirty="0"/>
          </a:p>
        </p:txBody>
      </p:sp>
    </p:spTree>
    <p:extLst>
      <p:ext uri="{BB962C8B-B14F-4D97-AF65-F5344CB8AC3E}">
        <p14:creationId xmlns:p14="http://schemas.microsoft.com/office/powerpoint/2010/main" val="2504575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ulle ronde 37"/>
          <p:cNvSpPr/>
          <p:nvPr/>
        </p:nvSpPr>
        <p:spPr>
          <a:xfrm>
            <a:off x="6297187" y="1102080"/>
            <a:ext cx="4007704" cy="2221476"/>
          </a:xfrm>
          <a:prstGeom prst="wedgeEllipseCallout">
            <a:avLst>
              <a:gd name="adj1" fmla="val -124993"/>
              <a:gd name="adj2" fmla="val 1346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663192" y="1520285"/>
            <a:ext cx="3705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000" b="1" dirty="0">
                <a:solidFill>
                  <a:srgbClr val="FF0000"/>
                </a:solidFill>
              </a:rPr>
              <a:t>Comme</a:t>
            </a:r>
            <a:r>
              <a:rPr lang="fr-BE" sz="2000" dirty="0"/>
              <a:t> j’aime l’architecture</a:t>
            </a:r>
            <a:r>
              <a:rPr lang="fr-BE" sz="2000" dirty="0" smtClean="0"/>
              <a:t>,       je </a:t>
            </a:r>
            <a:r>
              <a:rPr lang="fr-BE" sz="2000" dirty="0"/>
              <a:t>me suis inscrite à une visite guidée </a:t>
            </a:r>
            <a:r>
              <a:rPr lang="fr-BE" sz="2000" b="1" dirty="0">
                <a:solidFill>
                  <a:srgbClr val="00B050"/>
                </a:solidFill>
              </a:rPr>
              <a:t>afin d’</a:t>
            </a:r>
            <a:r>
              <a:rPr lang="fr-BE" sz="2000" dirty="0"/>
              <a:t>en  savoir plus sur l’Art  nouveau.</a:t>
            </a:r>
            <a:endParaRPr lang="en-US" sz="2000" dirty="0">
              <a:effectLst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2542843" y="3652588"/>
            <a:ext cx="40646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Pourquoi s’est-elle inscrite?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À </a:t>
            </a:r>
            <a:r>
              <a:rPr lang="fr-BE" sz="2400" b="1" dirty="0" smtClean="0">
                <a:solidFill>
                  <a:srgbClr val="FF0000"/>
                </a:solidFill>
              </a:rPr>
              <a:t>cause</a:t>
            </a:r>
            <a:r>
              <a:rPr lang="fr-BE" sz="2400" dirty="0" smtClean="0"/>
              <a:t> de quoi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Pour quelle raison?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D’où vient cette idée ? </a:t>
            </a:r>
            <a:endParaRPr lang="en-US" sz="2400" dirty="0"/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05" y="1640589"/>
            <a:ext cx="2004854" cy="2160686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6607532" y="4735390"/>
            <a:ext cx="4064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Quel est son objectif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Quel est son </a:t>
            </a:r>
            <a:r>
              <a:rPr lang="fr-BE" sz="2400" b="1" dirty="0" smtClean="0">
                <a:solidFill>
                  <a:srgbClr val="00B050"/>
                </a:solidFill>
              </a:rPr>
              <a:t>but </a:t>
            </a:r>
            <a:r>
              <a:rPr lang="fr-BE" sz="2400" dirty="0" smtClean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400" dirty="0" smtClean="0"/>
              <a:t>Quelle est son intention ? </a:t>
            </a:r>
            <a:endParaRPr lang="en-US" sz="2400" dirty="0"/>
          </a:p>
        </p:txBody>
      </p:sp>
      <p:sp>
        <p:nvSpPr>
          <p:cNvPr id="7" name="ZoneTexte 6"/>
          <p:cNvSpPr txBox="1"/>
          <p:nvPr/>
        </p:nvSpPr>
        <p:spPr>
          <a:xfrm>
            <a:off x="430833" y="708312"/>
            <a:ext cx="68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Syllabus  p.148, les connecteurs de cause, de but et de conséquence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9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ulle ronde 37"/>
          <p:cNvSpPr/>
          <p:nvPr/>
        </p:nvSpPr>
        <p:spPr>
          <a:xfrm>
            <a:off x="6336943" y="474703"/>
            <a:ext cx="4007704" cy="2221476"/>
          </a:xfrm>
          <a:prstGeom prst="wedgeEllipseCallout">
            <a:avLst>
              <a:gd name="adj1" fmla="val -124993"/>
              <a:gd name="adj2" fmla="val 1346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701813" y="870036"/>
            <a:ext cx="37053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000" dirty="0"/>
              <a:t>Comme j’aime l’architecture</a:t>
            </a:r>
            <a:r>
              <a:rPr lang="fr-BE" sz="2000" dirty="0" smtClean="0"/>
              <a:t>,       je </a:t>
            </a:r>
            <a:r>
              <a:rPr lang="fr-BE" sz="2000" dirty="0"/>
              <a:t>me suis inscrite à une visite guidée afin d’en  savoir plus sur l’Art  nouveau.</a:t>
            </a:r>
            <a:endParaRPr lang="en-US" sz="2000" dirty="0">
              <a:effectLst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82670" y="5371975"/>
            <a:ext cx="377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j</a:t>
            </a:r>
            <a:r>
              <a:rPr lang="fr-BE" b="1" dirty="0" smtClean="0"/>
              <a:t>e me suis inscrite à une visite guidée</a:t>
            </a:r>
            <a:endParaRPr lang="en-US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09" y="3062429"/>
            <a:ext cx="2227069" cy="100661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00" y="3319081"/>
            <a:ext cx="1483159" cy="805850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755860" y="3565736"/>
            <a:ext cx="154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l</a:t>
            </a:r>
            <a:r>
              <a:rPr lang="fr-BE" b="1" dirty="0" smtClean="0"/>
              <a:t>’architecture</a:t>
            </a:r>
            <a:endParaRPr lang="en-US" b="1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678" y="2889242"/>
            <a:ext cx="2154969" cy="1206783"/>
          </a:xfrm>
          <a:prstGeom prst="rect">
            <a:avLst/>
          </a:prstGeom>
        </p:spPr>
      </p:pic>
      <p:sp>
        <p:nvSpPr>
          <p:cNvPr id="20" name="Flèche droite 19"/>
          <p:cNvSpPr/>
          <p:nvPr/>
        </p:nvSpPr>
        <p:spPr>
          <a:xfrm>
            <a:off x="3298413" y="3520361"/>
            <a:ext cx="771277" cy="46008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èche droite 20"/>
          <p:cNvSpPr/>
          <p:nvPr/>
        </p:nvSpPr>
        <p:spPr>
          <a:xfrm>
            <a:off x="6937735" y="3631472"/>
            <a:ext cx="771277" cy="46008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ZoneTexte 21"/>
          <p:cNvSpPr txBox="1"/>
          <p:nvPr/>
        </p:nvSpPr>
        <p:spPr>
          <a:xfrm>
            <a:off x="98912" y="5371975"/>
            <a:ext cx="313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 smtClean="0">
                <a:solidFill>
                  <a:srgbClr val="FF0000"/>
                </a:solidFill>
              </a:rPr>
              <a:t>Comme</a:t>
            </a:r>
            <a:r>
              <a:rPr lang="fr-BE" dirty="0" smtClean="0"/>
              <a:t> j’aime l’architecture</a:t>
            </a:r>
            <a:endParaRPr lang="en-US" dirty="0"/>
          </a:p>
        </p:txBody>
      </p:sp>
      <p:sp>
        <p:nvSpPr>
          <p:cNvPr id="23" name="ZoneTexte 22"/>
          <p:cNvSpPr txBox="1"/>
          <p:nvPr/>
        </p:nvSpPr>
        <p:spPr>
          <a:xfrm>
            <a:off x="8102378" y="5282724"/>
            <a:ext cx="371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rgbClr val="00B050"/>
                </a:solidFill>
              </a:rPr>
              <a:t>a</a:t>
            </a:r>
            <a:r>
              <a:rPr lang="fr-BE" b="1" dirty="0" smtClean="0">
                <a:solidFill>
                  <a:srgbClr val="00B050"/>
                </a:solidFill>
              </a:rPr>
              <a:t>fin d’</a:t>
            </a:r>
            <a:r>
              <a:rPr lang="fr-BE" dirty="0" smtClean="0"/>
              <a:t>en savoir plus sur l’Art nouveau</a:t>
            </a:r>
            <a:endParaRPr lang="en-US" dirty="0"/>
          </a:p>
        </p:txBody>
      </p:sp>
      <p:sp>
        <p:nvSpPr>
          <p:cNvPr id="35" name="ZoneTexte 34"/>
          <p:cNvSpPr txBox="1"/>
          <p:nvPr/>
        </p:nvSpPr>
        <p:spPr>
          <a:xfrm>
            <a:off x="824389" y="5715689"/>
            <a:ext cx="145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 smtClean="0">
                <a:solidFill>
                  <a:srgbClr val="FF0000"/>
                </a:solidFill>
              </a:rPr>
              <a:t>CAUSE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8934749" y="5785428"/>
            <a:ext cx="231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 smtClean="0">
                <a:solidFill>
                  <a:srgbClr val="00B050"/>
                </a:solidFill>
              </a:rPr>
              <a:t>BUT, INTENTION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716" y="439942"/>
            <a:ext cx="2004854" cy="2160686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273700" y="195688"/>
            <a:ext cx="200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Syllabus  p.148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94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67408" y="1272908"/>
            <a:ext cx="1038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Les connecteurs de cause : </a:t>
            </a:r>
            <a:r>
              <a:rPr lang="fr-BE" b="1" i="1" dirty="0" smtClean="0"/>
              <a:t>comme, parce que, puisque, grâce à, à cause de </a:t>
            </a:r>
          </a:p>
          <a:p>
            <a:r>
              <a:rPr lang="fr-BE" dirty="0" smtClean="0"/>
              <a:t>Choisissez le bon connecteur et écrivez la phrase dans votre syllabus au bon endroit.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28368" y="3050939"/>
            <a:ext cx="9735426" cy="20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 smtClean="0"/>
              <a:t>2. …………………. </a:t>
            </a:r>
            <a:r>
              <a:rPr lang="fr-FR" dirty="0"/>
              <a:t>l’art m’intéresse beaucoup, je vais régulièrement au Musée L</a:t>
            </a:r>
            <a:r>
              <a:rPr lang="fr-FR" dirty="0" smtClean="0"/>
              <a:t>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fr-FR" dirty="0" smtClean="0"/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 smtClean="0"/>
              <a:t>3</a:t>
            </a:r>
            <a:r>
              <a:rPr lang="fr-FR" sz="1600" dirty="0" smtClean="0"/>
              <a:t>. </a:t>
            </a:r>
            <a:r>
              <a:rPr lang="fr-FR" dirty="0"/>
              <a:t>Je leur ai offert le dernier album de Jean-Claude Servais </a:t>
            </a:r>
            <a:r>
              <a:rPr lang="fr-FR" dirty="0" smtClean="0"/>
              <a:t>………………………..  ils </a:t>
            </a:r>
            <a:r>
              <a:rPr lang="fr-FR" dirty="0"/>
              <a:t>sont passionnés de bande dessinée (BD). </a:t>
            </a:r>
            <a:endParaRPr lang="en-US" dirty="0"/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1028368" y="5774011"/>
            <a:ext cx="9634330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 smtClean="0"/>
              <a:t>5.  Vous </a:t>
            </a:r>
            <a:r>
              <a:rPr lang="fr-FR" dirty="0"/>
              <a:t>pourriez vous investir dans un kot à </a:t>
            </a:r>
            <a:r>
              <a:rPr lang="fr-FR" dirty="0" smtClean="0"/>
              <a:t>projet, </a:t>
            </a:r>
            <a:r>
              <a:rPr lang="fr-FR" dirty="0"/>
              <a:t>…………………………….. vous étudiez à l’</a:t>
            </a:r>
            <a:r>
              <a:rPr lang="fr-FR" dirty="0" err="1"/>
              <a:t>UCLouvain</a:t>
            </a:r>
            <a:r>
              <a:rPr lang="fr-FR" dirty="0" smtClean="0"/>
              <a:t>. 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028368" y="2179221"/>
            <a:ext cx="9831221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 smtClean="0"/>
              <a:t>1. Nous </a:t>
            </a:r>
            <a:r>
              <a:rPr lang="fr-FR" dirty="0"/>
              <a:t>vivrons une véritable expérience culturelle durant notre séjour </a:t>
            </a:r>
            <a:r>
              <a:rPr lang="fr-FR" dirty="0" smtClean="0"/>
              <a:t>…………………………… nombreux évènements </a:t>
            </a:r>
            <a:r>
              <a:rPr lang="fr-FR" dirty="0"/>
              <a:t>gratuits organisés par UCLouvain Culture.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1028368" y="5011997"/>
            <a:ext cx="7763215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900"/>
              </a:spcAft>
            </a:pPr>
            <a:r>
              <a:rPr lang="fr-FR" dirty="0" smtClean="0"/>
              <a:t>4. Elle </a:t>
            </a:r>
            <a:r>
              <a:rPr lang="fr-FR" dirty="0"/>
              <a:t>ne va presque plus à l’opéra </a:t>
            </a:r>
            <a:r>
              <a:rPr lang="fr-FR" dirty="0" smtClean="0"/>
              <a:t>…………………………… du </a:t>
            </a:r>
            <a:r>
              <a:rPr lang="fr-FR" dirty="0"/>
              <a:t>prix des billets.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341144" y="643594"/>
            <a:ext cx="4838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Syllabus  p.148 : </a:t>
            </a:r>
            <a:r>
              <a:rPr lang="fr-BE" b="1" dirty="0" smtClean="0">
                <a:solidFill>
                  <a:srgbClr val="FF0000"/>
                </a:solidFill>
              </a:rPr>
              <a:t>les connecteurs de cause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537" y="5661686"/>
            <a:ext cx="1483159" cy="8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1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0861" y="1532759"/>
            <a:ext cx="9435548" cy="2035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b="1" dirty="0"/>
              <a:t>Comme</a:t>
            </a:r>
            <a:r>
              <a:rPr lang="fr-FR" dirty="0"/>
              <a:t> l’art m’intéresse beaucoup, je vais régulièrement au Musée L</a:t>
            </a:r>
            <a:r>
              <a:rPr lang="fr-FR" dirty="0" smtClean="0"/>
              <a:t>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fr-FR" sz="1600" dirty="0" smtClean="0"/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 smtClean="0"/>
              <a:t>Je </a:t>
            </a:r>
            <a:r>
              <a:rPr lang="fr-FR" dirty="0"/>
              <a:t>leur ai offert le dernier album de Jean-Claude Servais </a:t>
            </a:r>
            <a:r>
              <a:rPr lang="fr-FR" b="1" dirty="0"/>
              <a:t>parce qu</a:t>
            </a:r>
            <a:r>
              <a:rPr lang="fr-FR" dirty="0"/>
              <a:t>’ils sont passionnés de bande </a:t>
            </a:r>
            <a:r>
              <a:rPr lang="fr-FR" dirty="0" smtClean="0"/>
              <a:t>dessinée  </a:t>
            </a:r>
            <a:r>
              <a:rPr lang="fr-FR" dirty="0"/>
              <a:t>(BD). </a:t>
            </a:r>
            <a:endParaRPr lang="en-US" dirty="0"/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1040861" y="3374353"/>
            <a:ext cx="879944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V</a:t>
            </a:r>
            <a:r>
              <a:rPr lang="fr-FR" dirty="0" smtClean="0"/>
              <a:t>ous </a:t>
            </a:r>
            <a:r>
              <a:rPr lang="fr-FR" dirty="0"/>
              <a:t>pourriez vous investir dans un kot à </a:t>
            </a:r>
            <a:r>
              <a:rPr lang="fr-FR" dirty="0" smtClean="0"/>
              <a:t>projet, </a:t>
            </a:r>
            <a:r>
              <a:rPr lang="fr-FR" b="1" dirty="0" smtClean="0"/>
              <a:t>puisque</a:t>
            </a:r>
            <a:r>
              <a:rPr lang="fr-FR" dirty="0" smtClean="0"/>
              <a:t> </a:t>
            </a:r>
            <a:r>
              <a:rPr lang="fr-FR" dirty="0"/>
              <a:t>vous étudiez à </a:t>
            </a:r>
            <a:r>
              <a:rPr lang="fr-FR" dirty="0" smtClean="0"/>
              <a:t>l’</a:t>
            </a:r>
            <a:r>
              <a:rPr lang="fr-FR" dirty="0" err="1" smtClean="0"/>
              <a:t>UCLouvain</a:t>
            </a:r>
            <a:r>
              <a:rPr lang="fr-FR" dirty="0" smtClean="0"/>
              <a:t>. 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132114" y="4227171"/>
            <a:ext cx="963433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Nous vivrons une véritable expérience culturelle durant notre séjour </a:t>
            </a:r>
            <a:r>
              <a:rPr lang="fr-FR" b="1" dirty="0"/>
              <a:t>grâce aux </a:t>
            </a:r>
            <a:r>
              <a:rPr lang="fr-FR" dirty="0"/>
              <a:t>nombreux événements gratuits organisés par </a:t>
            </a:r>
            <a:r>
              <a:rPr lang="fr-FR" dirty="0" err="1"/>
              <a:t>UCLouvain</a:t>
            </a:r>
            <a:r>
              <a:rPr lang="fr-FR" dirty="0"/>
              <a:t> Culture.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1132114" y="5376352"/>
            <a:ext cx="5688865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900"/>
              </a:spcAft>
            </a:pPr>
            <a:r>
              <a:rPr lang="fr-FR" dirty="0"/>
              <a:t>Elle ne va presque plus à l’opéra </a:t>
            </a:r>
            <a:r>
              <a:rPr lang="fr-FR" b="1" dirty="0"/>
              <a:t>à cause du </a:t>
            </a:r>
            <a:r>
              <a:rPr lang="fr-FR" dirty="0"/>
              <a:t>prix des billets.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1044270" y="623134"/>
            <a:ext cx="10380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Les connecteurs de cause : </a:t>
            </a:r>
            <a:r>
              <a:rPr lang="fr-BE" b="1" i="1" dirty="0" smtClean="0"/>
              <a:t>comme, parce que, puisque, grâce à, à cause de  </a:t>
            </a:r>
            <a:r>
              <a:rPr lang="fr-BE" sz="2800" b="1" dirty="0" smtClean="0">
                <a:solidFill>
                  <a:srgbClr val="FF0000"/>
                </a:solidFill>
              </a:rPr>
              <a:t>Corrigé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075" y="5896866"/>
            <a:ext cx="1483159" cy="8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1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-52388"/>
            <a:ext cx="8201025" cy="69627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82869" y="158974"/>
            <a:ext cx="200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Syllabus  p.148</a:t>
            </a:r>
          </a:p>
          <a:p>
            <a:r>
              <a:rPr lang="fr-BE" dirty="0" smtClean="0"/>
              <a:t>Récapitulatif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971" y="5957778"/>
            <a:ext cx="1483159" cy="8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1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86558" y="2717803"/>
            <a:ext cx="3159648" cy="3368675"/>
          </a:xfrm>
        </p:spPr>
        <p:txBody>
          <a:bodyPr/>
          <a:lstStyle/>
          <a:p>
            <a:r>
              <a:rPr lang="fr-BE" sz="2800" dirty="0" smtClean="0"/>
              <a:t>L’expression de la cause</a:t>
            </a:r>
          </a:p>
          <a:p>
            <a:r>
              <a:rPr lang="fr-BE" sz="2800" dirty="0" smtClean="0"/>
              <a:t>pp</a:t>
            </a:r>
            <a:r>
              <a:rPr lang="fr-BE" sz="2800" dirty="0" smtClean="0"/>
              <a:t>. 250-251 n°2, 4, 5.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72828" y="2760546"/>
            <a:ext cx="3103146" cy="3368675"/>
          </a:xfrm>
        </p:spPr>
        <p:txBody>
          <a:bodyPr/>
          <a:lstStyle/>
          <a:p>
            <a:r>
              <a:rPr lang="fr-BE" sz="2400" dirty="0" smtClean="0"/>
              <a:t>Préparer les textes des unités 1 à 3 pour l’examen oral</a:t>
            </a:r>
            <a:endParaRPr lang="fr-BE" sz="2400" dirty="0" smtClean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chemeClr val="accent1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</a:t>
            </a:r>
            <a:r>
              <a:rPr lang="fr-BE" dirty="0" err="1" smtClean="0"/>
              <a:t>MER</a:t>
            </a:r>
            <a:r>
              <a:rPr lang="fr-BE" dirty="0" err="1" smtClean="0">
                <a:solidFill>
                  <a:schemeClr val="bg1"/>
                </a:solidFill>
              </a:rPr>
              <a:t>credi</a:t>
            </a:r>
            <a:r>
              <a:rPr lang="fr-BE" dirty="0" smtClean="0">
                <a:solidFill>
                  <a:schemeClr val="bg1"/>
                </a:solidFill>
              </a:rPr>
              <a:t/>
            </a:r>
            <a:br>
              <a:rPr lang="fr-BE" dirty="0" smtClean="0">
                <a:solidFill>
                  <a:schemeClr val="bg1"/>
                </a:solidFill>
              </a:rPr>
            </a:br>
            <a:endParaRPr lang="fr-BE" sz="2800" b="1" dirty="0">
              <a:solidFill>
                <a:srgbClr val="FFFF00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388126" y="1418150"/>
            <a:ext cx="874196" cy="129410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4743910" y="1434596"/>
            <a:ext cx="1035412" cy="127766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029" y="1635931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502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BE" sz="2400" dirty="0" smtClean="0">
              <a:solidFill>
                <a:srgbClr val="FF0000"/>
              </a:solidFill>
            </a:endParaRPr>
          </a:p>
          <a:p>
            <a:r>
              <a:rPr lang="fr-BE" sz="2400" dirty="0" smtClean="0">
                <a:solidFill>
                  <a:srgbClr val="FF0000"/>
                </a:solidFill>
              </a:rPr>
              <a:t>Déposer le rapport du défi #3 pour le </a:t>
            </a:r>
            <a:r>
              <a:rPr lang="fr-BE" sz="2400" dirty="0" smtClean="0">
                <a:solidFill>
                  <a:srgbClr val="FF0000"/>
                </a:solidFill>
              </a:rPr>
              <a:t>4/05</a:t>
            </a:r>
            <a:endParaRPr lang="fr-BE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08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/>
              <a:t>Courage, vous êtes presque au bout </a:t>
            </a:r>
            <a:r>
              <a:rPr lang="fr-BE" smtClean="0"/>
              <a:t>de l’aventure du B1 !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860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1214</Words>
  <Application>Microsoft Office PowerPoint</Application>
  <PresentationFormat>Grand écran</PresentationFormat>
  <Paragraphs>135</Paragraphs>
  <Slides>31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ＭＳ Ｐゴシック</vt:lpstr>
      <vt:lpstr>Arial</vt:lpstr>
      <vt:lpstr>Calibri</vt:lpstr>
      <vt:lpstr>Corbel</vt:lpstr>
      <vt:lpstr>Gill Sans MT</vt:lpstr>
      <vt:lpstr>Wingdings 2</vt:lpstr>
      <vt:lpstr>Dividende</vt:lpstr>
      <vt:lpstr>Comprendre la Belgique LFRAN1301 – B1</vt:lpstr>
      <vt:lpstr>Doctorants ? C’est le Dernier jour pour voter !</vt:lpstr>
      <vt:lpstr>Comment se passe le rendez-vous surprise virtuel ?</vt:lpstr>
      <vt:lpstr>Présentation du défi #6</vt:lpstr>
      <vt:lpstr>Unité 4 – ceci n’est pas une pipe ! </vt:lpstr>
      <vt:lpstr>Travail en demi-classe (45 minutes)</vt:lpstr>
      <vt:lpstr>En petit groupe : le capitaine lance l’appel</vt:lpstr>
      <vt:lpstr>La Belgique, ses arts et ses loisirs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Mamy nicole découvre l’art nouveau : identifiez les lieux</vt:lpstr>
      <vt:lpstr>Mamy nicole découvre l’art nouveau</vt:lpstr>
      <vt:lpstr>Activité 3 : donnez votre opinion (mots utiles p. 154)</vt:lpstr>
      <vt:lpstr>Avec le professeur : demi-classe</vt:lpstr>
      <vt:lpstr>Présentation PowerPoint</vt:lpstr>
      <vt:lpstr>Présentation PowerPoint</vt:lpstr>
      <vt:lpstr>Présentation PowerPoint</vt:lpstr>
      <vt:lpstr>Présentation PowerPoint</vt:lpstr>
      <vt:lpstr>Pourquoi ? (pp. 145-146)</vt:lpstr>
      <vt:lpstr>Les expressions de la cause p. 145</vt:lpstr>
      <vt:lpstr>Quels mots pour introduire quel Type de cause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Tâches pour MERcredi </vt:lpstr>
      <vt:lpstr>Courage, vous êtes presque au bout de l’aventure du B1 !</vt:lpstr>
    </vt:vector>
  </TitlesOfParts>
  <Company>Université Catholique de Louvain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Nancy Verhulst</dc:creator>
  <cp:lastModifiedBy>Geneviève Briet</cp:lastModifiedBy>
  <cp:revision>75</cp:revision>
  <dcterms:created xsi:type="dcterms:W3CDTF">2019-11-11T07:43:45Z</dcterms:created>
  <dcterms:modified xsi:type="dcterms:W3CDTF">2020-04-29T15:15:30Z</dcterms:modified>
</cp:coreProperties>
</file>