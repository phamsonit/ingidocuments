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1"/>
  </p:notesMasterIdLst>
  <p:handoutMasterIdLst>
    <p:handoutMasterId r:id="rId32"/>
  </p:handoutMasterIdLst>
  <p:sldIdLst>
    <p:sldId id="338" r:id="rId2"/>
    <p:sldId id="257" r:id="rId3"/>
    <p:sldId id="409" r:id="rId4"/>
    <p:sldId id="405" r:id="rId5"/>
    <p:sldId id="401" r:id="rId6"/>
    <p:sldId id="382" r:id="rId7"/>
    <p:sldId id="383" r:id="rId8"/>
    <p:sldId id="386" r:id="rId9"/>
    <p:sldId id="341" r:id="rId10"/>
    <p:sldId id="389" r:id="rId11"/>
    <p:sldId id="390" r:id="rId12"/>
    <p:sldId id="392" r:id="rId13"/>
    <p:sldId id="394" r:id="rId14"/>
    <p:sldId id="395" r:id="rId15"/>
    <p:sldId id="396" r:id="rId16"/>
    <p:sldId id="397" r:id="rId17"/>
    <p:sldId id="398" r:id="rId18"/>
    <p:sldId id="387" r:id="rId19"/>
    <p:sldId id="388" r:id="rId20"/>
    <p:sldId id="402" r:id="rId21"/>
    <p:sldId id="412" r:id="rId22"/>
    <p:sldId id="403" r:id="rId23"/>
    <p:sldId id="404" r:id="rId24"/>
    <p:sldId id="413" r:id="rId25"/>
    <p:sldId id="400" r:id="rId26"/>
    <p:sldId id="410" r:id="rId27"/>
    <p:sldId id="411" r:id="rId28"/>
    <p:sldId id="414" r:id="rId29"/>
    <p:sldId id="316" r:id="rId30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00" y="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5" d="100"/>
        <a:sy n="6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2473" tIns="46237" rIns="92473" bIns="46237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50443" y="1"/>
            <a:ext cx="2945659" cy="498056"/>
          </a:xfrm>
          <a:prstGeom prst="rect">
            <a:avLst/>
          </a:prstGeom>
        </p:spPr>
        <p:txBody>
          <a:bodyPr vert="horz" lIns="92473" tIns="46237" rIns="92473" bIns="46237" rtlCol="0"/>
          <a:lstStyle>
            <a:lvl1pPr algn="r">
              <a:defRPr sz="1200"/>
            </a:lvl1pPr>
          </a:lstStyle>
          <a:p>
            <a:fld id="{DF2852D2-E680-43DE-8BE6-219A5B125531}" type="datetimeFigureOut">
              <a:rPr lang="fr-BE" smtClean="0"/>
              <a:t>05-02-20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2473" tIns="46237" rIns="92473" bIns="46237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2473" tIns="46237" rIns="92473" bIns="46237" rtlCol="0" anchor="b"/>
          <a:lstStyle>
            <a:lvl1pPr algn="r">
              <a:defRPr sz="1200"/>
            </a:lvl1pPr>
          </a:lstStyle>
          <a:p>
            <a:fld id="{1C2F42B8-79FA-40ED-933D-93A96F1DB7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040094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2473" tIns="46237" rIns="92473" bIns="46237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056"/>
          </a:xfrm>
          <a:prstGeom prst="rect">
            <a:avLst/>
          </a:prstGeom>
        </p:spPr>
        <p:txBody>
          <a:bodyPr vert="horz" lIns="92473" tIns="46237" rIns="92473" bIns="46237" rtlCol="0"/>
          <a:lstStyle>
            <a:lvl1pPr algn="r">
              <a:defRPr sz="1200"/>
            </a:lvl1pPr>
          </a:lstStyle>
          <a:p>
            <a:fld id="{7F0AD30C-EB7D-480E-B7F3-54F7514B8DED}" type="datetimeFigureOut">
              <a:rPr lang="fr-BE" smtClean="0"/>
              <a:t>05-02-20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73" tIns="46237" rIns="92473" bIns="46237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vert="horz" lIns="92473" tIns="46237" rIns="92473" bIns="46237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2473" tIns="46237" rIns="92473" bIns="46237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2473" tIns="46237" rIns="92473" bIns="46237" rtlCol="0" anchor="b"/>
          <a:lstStyle>
            <a:lvl1pPr algn="r">
              <a:defRPr sz="1200"/>
            </a:lvl1pPr>
          </a:lstStyle>
          <a:p>
            <a:fld id="{5CEA4E1A-0464-4D51-B906-9340FCC4281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62363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1E5BA3-7562-41F3-85A3-5244B451D190}" type="slidenum">
              <a:rPr lang="fr-FR" noProof="0" smtClean="0"/>
              <a:t>1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440340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 smtClean="0"/>
              <a:t>Attention</a:t>
            </a:r>
          </a:p>
          <a:p>
            <a:r>
              <a:rPr lang="fr-BE" dirty="0" smtClean="0"/>
              <a:t>Aujourd’hui 1heure de cours</a:t>
            </a:r>
          </a:p>
          <a:p>
            <a:endParaRPr lang="fr-BE" dirty="0" smtClean="0"/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EA4E1A-0464-4D51-B906-9340FCC42815}" type="slidenum">
              <a:rPr lang="fr-BE" smtClean="0"/>
              <a:t>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830565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 smtClean="0"/>
              <a:t>Regrouper</a:t>
            </a:r>
            <a:r>
              <a:rPr lang="fr-BE" baseline="0" dirty="0" smtClean="0"/>
              <a:t> les 10 phrases en 2 ou 3 paragraphes = même idée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2F754E-6CA8-4890-B99C-65CB1C3B51EB}" type="slidenum">
              <a:rPr lang="fr-BE" smtClean="0"/>
              <a:t>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94773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 smtClean="0"/>
              <a:t>On commence par le 1</a:t>
            </a:r>
            <a:r>
              <a:rPr lang="fr-BE" baseline="30000" dirty="0" smtClean="0"/>
              <a:t>e</a:t>
            </a:r>
            <a:r>
              <a:rPr lang="fr-BE" dirty="0" smtClean="0"/>
              <a:t> groupe</a:t>
            </a:r>
            <a:r>
              <a:rPr lang="fr-BE" baseline="0" dirty="0" smtClean="0"/>
              <a:t> ER: </a:t>
            </a:r>
            <a:r>
              <a:rPr lang="fr-BE" baseline="0" dirty="0" err="1" smtClean="0"/>
              <a:t>càd</a:t>
            </a:r>
            <a:r>
              <a:rPr lang="fr-BE" baseline="0" dirty="0" smtClean="0"/>
              <a:t> que l’on ajoute quelles désinences au radical ?</a:t>
            </a:r>
          </a:p>
          <a:p>
            <a:r>
              <a:rPr lang="fr-BE" baseline="0" dirty="0" smtClean="0"/>
              <a:t>Attention ici on a choisi spécifiquement des verbes difficiles : écouter bien : amener / amène/ acheter / achète / célébrer / célèbre…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4DFDF7-0983-47B5-82CE-132A6902A4B9}" type="slidenum">
              <a:rPr lang="fr-BE" smtClean="0"/>
              <a:t>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7275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EA4E1A-0464-4D51-B906-9340FCC42815}" type="slidenum">
              <a:rPr lang="fr-BE" smtClean="0"/>
              <a:t>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681295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 smtClean="0"/>
              <a:t>p.45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1016D4-FEE4-45FB-ABCA-963F0C74467B}" type="slidenum">
              <a:rPr lang="fr-BE" smtClean="0"/>
              <a:t>17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343898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 smtClean="0"/>
              <a:t>Avec classement au</a:t>
            </a:r>
            <a:r>
              <a:rPr lang="fr-BE" baseline="0" dirty="0" smtClean="0"/>
              <a:t> tableau</a:t>
            </a:r>
          </a:p>
          <a:p>
            <a:r>
              <a:rPr lang="fr-BE" baseline="0" dirty="0" smtClean="0"/>
              <a:t>Faire répéter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2F754E-6CA8-4890-B99C-65CB1C3B51EB}" type="slidenum">
              <a:rPr lang="fr-BE" smtClean="0"/>
              <a:t>20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592385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 smtClean="0"/>
              <a:t>Faire répéter</a:t>
            </a:r>
          </a:p>
          <a:p>
            <a:r>
              <a:rPr lang="fr-BE" dirty="0" smtClean="0"/>
              <a:t>Attirer l’attention sur les infinitifs entourés dans le syllabus qui ne se trouvent pas dans la catégorie attendue.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2F754E-6CA8-4890-B99C-65CB1C3B51EB}" type="slidenum">
              <a:rPr lang="fr-BE" smtClean="0"/>
              <a:t>22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75562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7B79BCA-323A-41B0-949C-BF1CD76517FD}" type="datetimeFigureOut">
              <a:rPr lang="fr-BE" smtClean="0"/>
              <a:t>05-02-20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13964CD-249A-4EC1-94E5-C848C82B8B0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470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9BCA-323A-41B0-949C-BF1CD76517FD}" type="datetimeFigureOut">
              <a:rPr lang="fr-BE" smtClean="0"/>
              <a:t>05-02-20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113964CD-249A-4EC1-94E5-C848C82B8B0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77138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7B79BCA-323A-41B0-949C-BF1CD76517FD}" type="datetimeFigureOut">
              <a:rPr lang="fr-BE" smtClean="0"/>
              <a:t>05-02-20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13964CD-249A-4EC1-94E5-C848C82B8B0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87419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9BCA-323A-41B0-949C-BF1CD76517FD}" type="datetimeFigureOut">
              <a:rPr lang="fr-BE" smtClean="0"/>
              <a:t>05-02-20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964CD-249A-4EC1-94E5-C848C82B8B0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0651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9BCA-323A-41B0-949C-BF1CD76517FD}" type="datetimeFigureOut">
              <a:rPr lang="fr-BE" smtClean="0"/>
              <a:t>05-02-20</a:t>
            </a:fld>
            <a:endParaRPr lang="fr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964CD-249A-4EC1-94E5-C848C82B8B0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89916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9BCA-323A-41B0-949C-BF1CD76517FD}" type="datetimeFigureOut">
              <a:rPr lang="fr-BE" smtClean="0"/>
              <a:t>05-02-20</a:t>
            </a:fld>
            <a:endParaRPr lang="fr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964CD-249A-4EC1-94E5-C848C82B8B0F}" type="slidenum">
              <a:rPr lang="fr-BE" smtClean="0"/>
              <a:t>‹N°›</a:t>
            </a:fld>
            <a:endParaRPr lang="fr-BE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338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9BCA-323A-41B0-949C-BF1CD76517FD}" type="datetimeFigureOut">
              <a:rPr lang="fr-BE" smtClean="0"/>
              <a:t>05-02-20</a:t>
            </a:fld>
            <a:endParaRPr lang="fr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964CD-249A-4EC1-94E5-C848C82B8B0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5088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7B79BCA-323A-41B0-949C-BF1CD76517FD}" type="datetimeFigureOut">
              <a:rPr lang="fr-BE" smtClean="0"/>
              <a:t>05-02-20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13964CD-249A-4EC1-94E5-C848C82B8B0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57794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9BCA-323A-41B0-949C-BF1CD76517FD}" type="datetimeFigureOut">
              <a:rPr lang="fr-BE" smtClean="0"/>
              <a:t>05-02-20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964CD-249A-4EC1-94E5-C848C82B8B0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09243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9BCA-323A-41B0-949C-BF1CD76517FD}" type="datetimeFigureOut">
              <a:rPr lang="fr-BE" smtClean="0"/>
              <a:t>05-02-20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964CD-249A-4EC1-94E5-C848C82B8B0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00610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7B79BCA-323A-41B0-949C-BF1CD76517FD}" type="datetimeFigureOut">
              <a:rPr lang="fr-BE" smtClean="0"/>
              <a:t>05-02-20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13964CD-249A-4EC1-94E5-C848C82B8B0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190173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Texte Images_Importa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’image 16">
            <a:extLst>
              <a:ext uri="{FF2B5EF4-FFF2-40B4-BE49-F238E27FC236}">
                <a16:creationId xmlns:a16="http://schemas.microsoft.com/office/drawing/2014/main" id="{D935D313-376E-4CA0-9732-D0CACCC07FA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64300" y="0"/>
            <a:ext cx="5727700" cy="6858000"/>
          </a:xfrm>
          <a:custGeom>
            <a:avLst/>
            <a:gdLst>
              <a:gd name="connsiteX0" fmla="*/ 1708150 w 5727700"/>
              <a:gd name="connsiteY0" fmla="*/ 0 h 6858000"/>
              <a:gd name="connsiteX1" fmla="*/ 5727700 w 5727700"/>
              <a:gd name="connsiteY1" fmla="*/ 0 h 6858000"/>
              <a:gd name="connsiteX2" fmla="*/ 5727700 w 5727700"/>
              <a:gd name="connsiteY2" fmla="*/ 6858000 h 6858000"/>
              <a:gd name="connsiteX3" fmla="*/ 0 w 5727700"/>
              <a:gd name="connsiteY3" fmla="*/ 6858000 h 6858000"/>
              <a:gd name="connsiteX4" fmla="*/ 0 w 5727700"/>
              <a:gd name="connsiteY4" fmla="*/ 68326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27700" h="6858000">
                <a:moveTo>
                  <a:pt x="1708150" y="0"/>
                </a:moveTo>
                <a:lnTo>
                  <a:pt x="5727700" y="0"/>
                </a:lnTo>
                <a:lnTo>
                  <a:pt x="5727700" y="6858000"/>
                </a:lnTo>
                <a:lnTo>
                  <a:pt x="0" y="6858000"/>
                </a:lnTo>
                <a:lnTo>
                  <a:pt x="0" y="6832600"/>
                </a:lnTo>
                <a:close/>
              </a:path>
            </a:pathLst>
          </a:custGeom>
        </p:spPr>
        <p:txBody>
          <a:bodyPr vert="horz" wrap="square" lIns="91440" tIns="45720" rIns="91440" bIns="45720" rtlCol="0" anchor="ctr" anchorCtr="1">
            <a:noAutofit/>
          </a:bodyPr>
          <a:lstStyle>
            <a:lvl1pPr marL="0" indent="0">
              <a:buNone/>
              <a:defRPr lang="en-GB" sz="1800"/>
            </a:lvl1pPr>
          </a:lstStyle>
          <a:p>
            <a:pPr marL="228600" lvl="0" indent="-228600" algn="ctr" rtl="0"/>
            <a:r>
              <a:rPr lang="fr-FR" noProof="0"/>
              <a:t>Insérer une image</a:t>
            </a:r>
          </a:p>
        </p:txBody>
      </p: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83A2DEF1-03FF-475D-994A-6FC6FB1414F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8087304" cy="6858000"/>
          </a:xfrm>
          <a:custGeom>
            <a:avLst/>
            <a:gdLst>
              <a:gd name="connsiteX0" fmla="*/ 0 w 8087304"/>
              <a:gd name="connsiteY0" fmla="*/ 0 h 6858000"/>
              <a:gd name="connsiteX1" fmla="*/ 8087304 w 8087304"/>
              <a:gd name="connsiteY1" fmla="*/ 0 h 6858000"/>
              <a:gd name="connsiteX2" fmla="*/ 8087304 w 8087304"/>
              <a:gd name="connsiteY2" fmla="*/ 7620 h 6858000"/>
              <a:gd name="connsiteX3" fmla="*/ 6368365 w 8087304"/>
              <a:gd name="connsiteY3" fmla="*/ 6858000 h 6858000"/>
              <a:gd name="connsiteX4" fmla="*/ 0 w 808730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87304" h="6858000">
                <a:moveTo>
                  <a:pt x="0" y="0"/>
                </a:moveTo>
                <a:lnTo>
                  <a:pt x="8087304" y="0"/>
                </a:lnTo>
                <a:lnTo>
                  <a:pt x="8087304" y="7620"/>
                </a:lnTo>
                <a:lnTo>
                  <a:pt x="636836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rtlCol="0" anchor="ctr" anchorCtr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marL="285750" marR="0" lvl="0" indent="-28575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 noProof="0"/>
              <a:t>Insérer une image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B48BA177-B717-42B2-884C-04576C2034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5586" y="5047107"/>
            <a:ext cx="5005614" cy="1005840"/>
          </a:xfrm>
        </p:spPr>
        <p:txBody>
          <a:bodyPr vert="horz" wrap="square" lIns="0" tIns="45720" rIns="0" bIns="45720" rtlCol="0" anchor="t">
            <a:noAutofit/>
          </a:bodyPr>
          <a:lstStyle>
            <a:lvl1pPr marL="0" indent="0">
              <a:buNone/>
              <a:defRPr lang="en-US" sz="16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57150" lvl="0" indent="-285750" rtl="0">
              <a:lnSpc>
                <a:spcPct val="100000"/>
              </a:lnSpc>
              <a:spcBef>
                <a:spcPct val="0"/>
              </a:spcBef>
            </a:pPr>
            <a:r>
              <a:rPr lang="fr-FR" noProof="0"/>
              <a:t>Modifiez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586" y="4081468"/>
            <a:ext cx="5005614" cy="822960"/>
          </a:xfrm>
        </p:spPr>
        <p:txBody>
          <a:bodyPr vert="horz" wrap="square" lIns="0" tIns="45720" rIns="91440" bIns="45720" rtlCol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GB" sz="2400" dirty="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pPr marL="0" lvl="0" rtl="0">
              <a:lnSpc>
                <a:spcPct val="100000"/>
              </a:lnSpc>
            </a:pPr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20" name="Espace réservé du numéro de diapositive 7">
            <a:extLst>
              <a:ext uri="{FF2B5EF4-FFF2-40B4-BE49-F238E27FC236}">
                <a16:creationId xmlns:a16="http://schemas.microsoft.com/office/drawing/2014/main" id="{1CEA3362-50AD-4D98-92C4-DA1D8C857A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1200" smtClean="0">
                <a:solidFill>
                  <a:schemeClr val="bg1"/>
                </a:solidFill>
              </a:defRPr>
            </a:lvl1pPr>
          </a:lstStyle>
          <a:p>
            <a:pPr algn="ctr" rtl="0"/>
            <a:fld id="{817179DE-9BF3-494C-804F-0C7C90AC8700}" type="slidenum">
              <a:rPr lang="fr-FR" noProof="0" smtClean="0"/>
              <a:pPr algn="ctr"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171743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1 Content_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A46D6285-06A8-4297-915D-0A280359C28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36125" y="0"/>
            <a:ext cx="5355875" cy="6858000"/>
          </a:xfrm>
        </p:spPr>
        <p:txBody>
          <a:bodyPr vert="horz" lIns="91440" tIns="45720" rIns="91440" bIns="45720" rtlCol="0" anchor="ctr" anchorCtr="1">
            <a:normAutofit/>
          </a:bodyPr>
          <a:lstStyle>
            <a:lvl1pPr>
              <a:defRPr lang="en-GB" sz="2400">
                <a:solidFill>
                  <a:schemeClr val="tx1"/>
                </a:solidFill>
              </a:defRPr>
            </a:lvl1pPr>
          </a:lstStyle>
          <a:p>
            <a:pPr marL="0" lvl="0" indent="0" rtl="0">
              <a:buNone/>
            </a:pPr>
            <a:r>
              <a:rPr lang="fr-FR" noProof="0"/>
              <a:t>Insérer une image</a:t>
            </a:r>
          </a:p>
        </p:txBody>
      </p: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C7F0E85E-786D-44FC-A9C8-8853277D7C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86558" y="2717803"/>
            <a:ext cx="2834640" cy="3368675"/>
          </a:xfrm>
        </p:spPr>
        <p:txBody>
          <a:bodyPr vert="horz" wrap="square" lIns="0" tIns="45720" rIns="0" bIns="45720" rtlCol="0" anchor="t">
            <a:noAutofit/>
          </a:bodyPr>
          <a:lstStyle>
            <a:lvl1pPr marL="0" indent="0">
              <a:buNone/>
              <a:defRPr lang="en-US" sz="1400" dirty="0" smtClean="0">
                <a:latin typeface="+mn-lt"/>
                <a:ea typeface="+mj-ea"/>
                <a:cs typeface="+mj-cs"/>
              </a:defRPr>
            </a:lvl1pPr>
          </a:lstStyle>
          <a:p>
            <a:pPr marL="57150" lvl="0" indent="-285750" rtl="0">
              <a:lnSpc>
                <a:spcPct val="100000"/>
              </a:lnSpc>
              <a:spcBef>
                <a:spcPct val="0"/>
              </a:spcBef>
            </a:pPr>
            <a:r>
              <a:rPr lang="fr-FR" noProof="0"/>
              <a:t>Modifiez les styles du texte du masque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B48BA177-B717-42B2-884C-04576C2034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2717803"/>
            <a:ext cx="2834640" cy="3368675"/>
          </a:xfrm>
        </p:spPr>
        <p:txBody>
          <a:bodyPr vert="horz" wrap="square" lIns="0" tIns="45720" rIns="0" bIns="45720" rtlCol="0" anchor="t">
            <a:noAutofit/>
          </a:bodyPr>
          <a:lstStyle>
            <a:lvl1pPr marL="0" indent="0">
              <a:buNone/>
              <a:defRPr lang="en-US" sz="1400" dirty="0" smtClean="0">
                <a:latin typeface="+mn-lt"/>
                <a:ea typeface="+mj-ea"/>
                <a:cs typeface="+mj-cs"/>
              </a:defRPr>
            </a:lvl1pPr>
          </a:lstStyle>
          <a:p>
            <a:pPr marL="57150" lvl="0" indent="-285750" rtl="0">
              <a:lnSpc>
                <a:spcPct val="100000"/>
              </a:lnSpc>
              <a:spcBef>
                <a:spcPct val="0"/>
              </a:spcBef>
            </a:pPr>
            <a:r>
              <a:rPr lang="fr-FR" noProof="0"/>
              <a:t>Modifiez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6" y="557439"/>
            <a:ext cx="6891564" cy="830997"/>
          </a:xfrm>
        </p:spPr>
        <p:txBody>
          <a:bodyPr vert="horz" wrap="square" lIns="0" tIns="45720" rIns="91440" bIns="45720" rtlCol="0" anchor="t">
            <a:noAutofit/>
          </a:bodyPr>
          <a:lstStyle>
            <a:lvl1pPr>
              <a:defRPr lang="en-GB" sz="2400">
                <a:latin typeface="Corbel" panose="020B0503020204020204" pitchFamily="34" charset="0"/>
              </a:defRPr>
            </a:lvl1pPr>
          </a:lstStyle>
          <a:p>
            <a:pPr lvl="0" rtl="0">
              <a:lnSpc>
                <a:spcPct val="100000"/>
              </a:lnSpc>
            </a:pPr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16" name="Espace réservé du contenu 15">
            <a:extLst>
              <a:ext uri="{FF2B5EF4-FFF2-40B4-BE49-F238E27FC236}">
                <a16:creationId xmlns:a16="http://schemas.microsoft.com/office/drawing/2014/main" id="{C1ABB07C-6957-412E-9A87-72242AA3EE8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06451" y="1981200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 rtl="0"/>
            <a:r>
              <a:rPr lang="fr-FR" noProof="0"/>
              <a:t>Icône</a:t>
            </a:r>
          </a:p>
        </p:txBody>
      </p:sp>
      <p:sp>
        <p:nvSpPr>
          <p:cNvPr id="17" name="Espace réservé du contenu 15">
            <a:extLst>
              <a:ext uri="{FF2B5EF4-FFF2-40B4-BE49-F238E27FC236}">
                <a16:creationId xmlns:a16="http://schemas.microsoft.com/office/drawing/2014/main" id="{6DF8CB66-232E-4CE3-96FC-CE37C74994E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645309" y="1981200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 rtl="0"/>
            <a:r>
              <a:rPr lang="fr-FR" noProof="0"/>
              <a:t>Icône</a:t>
            </a:r>
          </a:p>
        </p:txBody>
      </p:sp>
      <p:sp>
        <p:nvSpPr>
          <p:cNvPr id="18" name="Espace réservé du numéro de diapositive 7">
            <a:extLst>
              <a:ext uri="{FF2B5EF4-FFF2-40B4-BE49-F238E27FC236}">
                <a16:creationId xmlns:a16="http://schemas.microsoft.com/office/drawing/2014/main" id="{8728750D-82C7-4A8D-A7C7-5549346679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1200" smtClean="0">
                <a:solidFill>
                  <a:schemeClr val="bg1"/>
                </a:solidFill>
              </a:defRPr>
            </a:lvl1pPr>
          </a:lstStyle>
          <a:p>
            <a:pPr algn="ctr" rtl="0"/>
            <a:fld id="{817179DE-9BF3-494C-804F-0C7C90AC8700}" type="slidenum">
              <a:rPr lang="fr-FR" noProof="0" smtClean="0"/>
              <a:pPr algn="ctr"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269436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87B79BCA-323A-41B0-949C-BF1CD76517FD}" type="datetimeFigureOut">
              <a:rPr lang="fr-BE" smtClean="0"/>
              <a:t>05-02-20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113964CD-249A-4EC1-94E5-C848C82B8B0F}" type="slidenum">
              <a:rPr lang="fr-BE" smtClean="0"/>
              <a:t>‹N°›</a:t>
            </a:fld>
            <a:endParaRPr lang="fr-BE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84700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f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’image 4" descr="fille avec un casque, un sac à dos, et une pile de reliure/livres">
            <a:extLst>
              <a:ext uri="{FF2B5EF4-FFF2-40B4-BE49-F238E27FC236}">
                <a16:creationId xmlns:a16="http://schemas.microsoft.com/office/drawing/2014/main" id="{68B6FFC1-6A21-4DAC-82BC-F2966925C16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087304" cy="6858000"/>
          </a:xfrm>
        </p:spPr>
      </p:pic>
      <p:sp>
        <p:nvSpPr>
          <p:cNvPr id="14" name="Rectangle 13" descr="élément décoratif">
            <a:extLst>
              <a:ext uri="{FF2B5EF4-FFF2-40B4-BE49-F238E27FC236}">
                <a16:creationId xmlns:a16="http://schemas.microsoft.com/office/drawing/2014/main" id="{C862BC4D-BD7A-417E-A34A-59CE4D4A6AC8}"/>
              </a:ext>
            </a:extLst>
          </p:cNvPr>
          <p:cNvSpPr/>
          <p:nvPr/>
        </p:nvSpPr>
        <p:spPr>
          <a:xfrm>
            <a:off x="0" y="6355760"/>
            <a:ext cx="12192000" cy="91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15" name="Ovale 14" descr="élément décoratif">
            <a:extLst>
              <a:ext uri="{FF2B5EF4-FFF2-40B4-BE49-F238E27FC236}">
                <a16:creationId xmlns:a16="http://schemas.microsoft.com/office/drawing/2014/main" id="{652937FB-CDE3-46B3-8481-AB5DB8C4BABA}"/>
              </a:ext>
            </a:extLst>
          </p:cNvPr>
          <p:cNvSpPr/>
          <p:nvPr/>
        </p:nvSpPr>
        <p:spPr>
          <a:xfrm>
            <a:off x="11091210" y="6086479"/>
            <a:ext cx="600974" cy="60097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33" name="Titre 32">
            <a:extLst>
              <a:ext uri="{FF2B5EF4-FFF2-40B4-BE49-F238E27FC236}">
                <a16:creationId xmlns:a16="http://schemas.microsoft.com/office/drawing/2014/main" id="{18CDD97B-6E25-4FB4-B239-493E54AA0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343" y="5122000"/>
            <a:ext cx="5005614" cy="822960"/>
          </a:xfrm>
          <a:solidFill>
            <a:srgbClr val="C00000"/>
          </a:solidFill>
        </p:spPr>
        <p:txBody>
          <a:bodyPr rtlCol="0"/>
          <a:lstStyle/>
          <a:p>
            <a:pPr rtl="0"/>
            <a:r>
              <a:rPr lang="fr-FR" dirty="0" smtClean="0">
                <a:solidFill>
                  <a:schemeClr val="bg1"/>
                </a:solidFill>
              </a:rPr>
              <a:t>Comprendre la Belgique</a:t>
            </a:r>
            <a:br>
              <a:rPr lang="fr-FR" dirty="0" smtClean="0">
                <a:solidFill>
                  <a:schemeClr val="bg1"/>
                </a:solidFill>
              </a:rPr>
            </a:br>
            <a:r>
              <a:rPr lang="fr-FR" dirty="0" smtClean="0">
                <a:solidFill>
                  <a:schemeClr val="bg1"/>
                </a:solidFill>
              </a:rPr>
              <a:t>LFRAN1301 – B1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C2827A65-383D-4D68-9F51-F76C2370BF65}"/>
              </a:ext>
            </a:extLst>
          </p:cNvPr>
          <p:cNvSpPr txBox="1">
            <a:spLocks/>
          </p:cNvSpPr>
          <p:nvPr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fr-FR" sz="1200" smtClean="0">
                <a:solidFill>
                  <a:schemeClr val="bg1"/>
                </a:solidFill>
              </a:rPr>
              <a:pPr algn="ctr" rtl="0"/>
              <a:t>1</a:t>
            </a:fld>
            <a:endParaRPr lang="fr-FR" sz="1200">
              <a:solidFill>
                <a:schemeClr val="bg1"/>
              </a:solidFill>
            </a:endParaRPr>
          </a:p>
        </p:txBody>
      </p:sp>
      <p:pic>
        <p:nvPicPr>
          <p:cNvPr id="6" name="Espace réservé pour une image  5"/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82" r="22182"/>
          <a:stretch>
            <a:fillRect/>
          </a:stretch>
        </p:blipFill>
        <p:spPr/>
      </p:pic>
      <p:pic>
        <p:nvPicPr>
          <p:cNvPr id="8" name="Imag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0722" y="6056675"/>
            <a:ext cx="3371850" cy="781050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49438" y="6056675"/>
            <a:ext cx="803564" cy="77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961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6604697" cy="1475013"/>
          </a:xfrm>
        </p:spPr>
        <p:txBody>
          <a:bodyPr>
            <a:normAutofit/>
          </a:bodyPr>
          <a:lstStyle/>
          <a:p>
            <a:pPr algn="ctr"/>
            <a:r>
              <a:rPr lang="fr-BE" dirty="0" smtClean="0"/>
              <a:t>La vie étudiante</a:t>
            </a:r>
            <a:br>
              <a:rPr lang="fr-BE" dirty="0" smtClean="0"/>
            </a:br>
            <a:r>
              <a:rPr lang="fr-BE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Les activités festives</a:t>
            </a:r>
            <a:endParaRPr lang="fr-BE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81191" y="4325592"/>
            <a:ext cx="6604697" cy="1007371"/>
          </a:xfrm>
        </p:spPr>
        <p:txBody>
          <a:bodyPr>
            <a:noAutofit/>
          </a:bodyPr>
          <a:lstStyle/>
          <a:p>
            <a:pPr algn="l"/>
            <a:r>
              <a:rPr lang="fr-BE" sz="1800" dirty="0" smtClean="0">
                <a:solidFill>
                  <a:schemeClr val="bg1"/>
                </a:solidFill>
              </a:rPr>
              <a:t>LFRAN 1301-  cours 06 - Unité 1 L’université</a:t>
            </a:r>
          </a:p>
          <a:p>
            <a:pPr algn="l"/>
            <a:endParaRPr lang="fr-BE" sz="1800" dirty="0">
              <a:solidFill>
                <a:schemeClr val="bg1"/>
              </a:solidFill>
            </a:endParaRPr>
          </a:p>
          <a:p>
            <a:pPr algn="l"/>
            <a:endParaRPr lang="fr-BE" sz="1800" dirty="0" smtClean="0">
              <a:solidFill>
                <a:schemeClr val="bg1"/>
              </a:solidFill>
            </a:endParaRPr>
          </a:p>
        </p:txBody>
      </p:sp>
      <p:sp>
        <p:nvSpPr>
          <p:cNvPr id="4" name="AutoShape 2" descr="Image result for LLN Léon et Valérie"/>
          <p:cNvSpPr>
            <a:spLocks noChangeAspect="1" noChangeArrowheads="1"/>
          </p:cNvSpPr>
          <p:nvPr/>
        </p:nvSpPr>
        <p:spPr bwMode="auto">
          <a:xfrm>
            <a:off x="3600450" y="1557338"/>
            <a:ext cx="4991100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BE"/>
          </a:p>
        </p:txBody>
      </p:sp>
      <p:sp>
        <p:nvSpPr>
          <p:cNvPr id="6" name="AutoShape 2" descr="Résultat de recherche d'images pour &quot;kot à lln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BE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208" y="3303919"/>
            <a:ext cx="5160179" cy="289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303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laboratoire</a:t>
            </a:r>
            <a:endParaRPr lang="fr-BE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fr-BE" dirty="0" smtClean="0"/>
              <a:t>Parler : l’étoile du passé, par ma fenêtre, conjugaison du présent, correction du « </a:t>
            </a:r>
            <a:r>
              <a:rPr lang="fr-BE" dirty="0" err="1" smtClean="0"/>
              <a:t>brassikot</a:t>
            </a:r>
            <a:r>
              <a:rPr lang="fr-BE" dirty="0" smtClean="0"/>
              <a:t> »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461206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6921" y="477762"/>
            <a:ext cx="4448710" cy="6284685"/>
          </a:xfrm>
          <a:prstGeom prst="rect">
            <a:avLst/>
          </a:prstGeom>
        </p:spPr>
      </p:pic>
      <p:sp>
        <p:nvSpPr>
          <p:cNvPr id="2" name="Bulle ronde 1"/>
          <p:cNvSpPr/>
          <p:nvPr/>
        </p:nvSpPr>
        <p:spPr>
          <a:xfrm>
            <a:off x="644893" y="1896177"/>
            <a:ext cx="2502568" cy="1838425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400" dirty="0" smtClean="0"/>
              <a:t>Parler</a:t>
            </a:r>
          </a:p>
          <a:p>
            <a:pPr algn="ctr"/>
            <a:r>
              <a:rPr lang="fr-BE" dirty="0" smtClean="0"/>
              <a:t>Syllabus p. 61, avec votre voisin ou votre voisine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761475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DÉFI n°02 – Écriture </a:t>
            </a:r>
            <a:r>
              <a:rPr lang="fr-BE" dirty="0" smtClean="0"/>
              <a:t>– </a:t>
            </a:r>
            <a:r>
              <a:rPr lang="fr-BE" cap="none" dirty="0" smtClean="0"/>
              <a:t>Par ma fenêtre </a:t>
            </a:r>
            <a:r>
              <a:rPr lang="fr-BE" dirty="0" smtClean="0"/>
              <a:t>…</a:t>
            </a:r>
            <a:endParaRPr lang="fr-BE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half" idx="1"/>
          </p:nvPr>
        </p:nvSpPr>
        <p:spPr>
          <a:xfrm>
            <a:off x="581193" y="2935634"/>
            <a:ext cx="3770629" cy="2021206"/>
          </a:xfrm>
        </p:spPr>
        <p:txBody>
          <a:bodyPr/>
          <a:lstStyle/>
          <a:p>
            <a:endParaRPr lang="fr-BE" dirty="0"/>
          </a:p>
        </p:txBody>
      </p:sp>
      <p:sp>
        <p:nvSpPr>
          <p:cNvPr id="6" name="Espace réservé du contenu 5"/>
          <p:cNvSpPr>
            <a:spLocks noGrp="1"/>
          </p:cNvSpPr>
          <p:nvPr>
            <p:ph sz="half" idx="2"/>
          </p:nvPr>
        </p:nvSpPr>
        <p:spPr>
          <a:xfrm>
            <a:off x="4558300" y="2228003"/>
            <a:ext cx="7052509" cy="3633047"/>
          </a:xfrm>
        </p:spPr>
        <p:txBody>
          <a:bodyPr/>
          <a:lstStyle/>
          <a:p>
            <a:r>
              <a:rPr lang="fr-BE" dirty="0" smtClean="0"/>
              <a:t>Préparer les 10 phrases</a:t>
            </a:r>
          </a:p>
          <a:p>
            <a:pPr lvl="1"/>
            <a:r>
              <a:rPr lang="fr-BE" dirty="0" smtClean="0"/>
              <a:t>Voir (5)</a:t>
            </a:r>
          </a:p>
          <a:p>
            <a:pPr lvl="1"/>
            <a:r>
              <a:rPr lang="fr-BE" dirty="0" smtClean="0"/>
              <a:t>Entendre (5)</a:t>
            </a:r>
          </a:p>
          <a:p>
            <a:pPr lvl="1"/>
            <a:endParaRPr lang="fr-BE" dirty="0" smtClean="0"/>
          </a:p>
          <a:p>
            <a:r>
              <a:rPr lang="fr-BE" dirty="0" smtClean="0"/>
              <a:t>Les différentes parties </a:t>
            </a:r>
          </a:p>
          <a:p>
            <a:pPr lvl="1"/>
            <a:r>
              <a:rPr lang="fr-BE" dirty="0" smtClean="0"/>
              <a:t>Introduction</a:t>
            </a:r>
          </a:p>
          <a:p>
            <a:pPr lvl="1"/>
            <a:r>
              <a:rPr lang="fr-BE" dirty="0" smtClean="0"/>
              <a:t>Connecteurs chronologiques ou logiques</a:t>
            </a:r>
          </a:p>
          <a:p>
            <a:pPr lvl="1"/>
            <a:r>
              <a:rPr lang="fr-BE" dirty="0" smtClean="0"/>
              <a:t>Conclusion (répondre à 2 ou 3 questions a, b, c, d)</a:t>
            </a:r>
          </a:p>
        </p:txBody>
      </p:sp>
      <p:pic>
        <p:nvPicPr>
          <p:cNvPr id="4" name="Image 3"/>
          <p:cNvPicPr/>
          <p:nvPr/>
        </p:nvPicPr>
        <p:blipFill>
          <a:blip r:embed="rId3"/>
          <a:stretch>
            <a:fillRect/>
          </a:stretch>
        </p:blipFill>
        <p:spPr>
          <a:xfrm>
            <a:off x="374715" y="3033923"/>
            <a:ext cx="3770630" cy="2021205"/>
          </a:xfrm>
          <a:prstGeom prst="rect">
            <a:avLst/>
          </a:prstGeom>
        </p:spPr>
      </p:pic>
      <p:sp>
        <p:nvSpPr>
          <p:cNvPr id="7" name="Bulle ronde 6"/>
          <p:cNvSpPr/>
          <p:nvPr/>
        </p:nvSpPr>
        <p:spPr>
          <a:xfrm>
            <a:off x="7228573" y="1650487"/>
            <a:ext cx="2502568" cy="1838425"/>
          </a:xfrm>
          <a:prstGeom prst="wedgeEllipseCallou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400" dirty="0" smtClean="0"/>
              <a:t>Parler</a:t>
            </a:r>
          </a:p>
          <a:p>
            <a:pPr algn="ctr"/>
            <a:r>
              <a:rPr lang="fr-BE" dirty="0" smtClean="0"/>
              <a:t>Syllabus p. 52, avec votre voisin ou votre voisine</a:t>
            </a:r>
            <a:endParaRPr lang="fr-BE" dirty="0"/>
          </a:p>
        </p:txBody>
      </p:sp>
      <p:sp>
        <p:nvSpPr>
          <p:cNvPr id="8" name="Bulle ronde 7"/>
          <p:cNvSpPr/>
          <p:nvPr/>
        </p:nvSpPr>
        <p:spPr>
          <a:xfrm>
            <a:off x="9108241" y="3352555"/>
            <a:ext cx="2502568" cy="1838425"/>
          </a:xfrm>
          <a:prstGeom prst="wedgeEllipseCallou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400" dirty="0" smtClean="0"/>
              <a:t>Ecrire </a:t>
            </a:r>
          </a:p>
          <a:p>
            <a:pPr algn="ctr"/>
            <a:r>
              <a:rPr lang="fr-BE" dirty="0" smtClean="0"/>
              <a:t>Syllabus p. 53, à la maison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967119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Conjuguez les </a:t>
            </a:r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verbes au présent</a:t>
            </a:r>
            <a:endParaRPr lang="fr-B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251126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BE" sz="2000" dirty="0" smtClean="0"/>
              <a:t>Je (amener) le vin quand je (aller) manger chez des amis.</a:t>
            </a:r>
          </a:p>
          <a:p>
            <a:pPr marL="342900" indent="-342900">
              <a:buFont typeface="+mj-lt"/>
              <a:buAutoNum type="arabicPeriod"/>
            </a:pPr>
            <a:r>
              <a:rPr lang="fr-BE" sz="2000" dirty="0" smtClean="0"/>
              <a:t>Je (célébrer) mon anniversaire en Belgique cette année.</a:t>
            </a:r>
          </a:p>
          <a:p>
            <a:pPr marL="342900" indent="-342900">
              <a:buFont typeface="+mj-lt"/>
              <a:buAutoNum type="arabicPeriod"/>
            </a:pPr>
            <a:r>
              <a:rPr lang="fr-BE" sz="2000" dirty="0" smtClean="0"/>
              <a:t>Nous (commencer) à étudier tout de suite.</a:t>
            </a:r>
          </a:p>
          <a:p>
            <a:pPr marL="342900" indent="-342900">
              <a:buFont typeface="+mj-lt"/>
              <a:buAutoNum type="arabicPeriod"/>
            </a:pPr>
            <a:r>
              <a:rPr lang="fr-BE" sz="2000" dirty="0" smtClean="0"/>
              <a:t>Je (envoyer) une carte à mes parents toutes les semaines.</a:t>
            </a:r>
          </a:p>
          <a:p>
            <a:pPr marL="342900" indent="-342900">
              <a:buFont typeface="+mj-lt"/>
              <a:buAutoNum type="arabicPeriod"/>
            </a:pPr>
            <a:r>
              <a:rPr lang="fr-BE" sz="2000" dirty="0" smtClean="0"/>
              <a:t>Mes </a:t>
            </a:r>
            <a:r>
              <a:rPr lang="fr-BE" sz="2000" dirty="0" err="1" smtClean="0"/>
              <a:t>coloc’s</a:t>
            </a:r>
            <a:r>
              <a:rPr lang="fr-BE" sz="2000" dirty="0" smtClean="0"/>
              <a:t> (nettoyer) les </a:t>
            </a:r>
            <a:r>
              <a:rPr lang="fr-BE" sz="2000" dirty="0" err="1" smtClean="0"/>
              <a:t>commus</a:t>
            </a:r>
            <a:r>
              <a:rPr lang="fr-BE" sz="2000" dirty="0" smtClean="0"/>
              <a:t> tous les jours.</a:t>
            </a:r>
          </a:p>
          <a:p>
            <a:pPr marL="342900" indent="-342900">
              <a:buFont typeface="+mj-lt"/>
              <a:buAutoNum type="arabicPeriod"/>
            </a:pPr>
            <a:r>
              <a:rPr lang="fr-BE" sz="2000" dirty="0" smtClean="0"/>
              <a:t>Nous (voyager) toujours en train.</a:t>
            </a:r>
          </a:p>
          <a:p>
            <a:pPr marL="342900" indent="-342900">
              <a:buFont typeface="+mj-lt"/>
              <a:buAutoNum type="arabicPeriod"/>
            </a:pPr>
            <a:r>
              <a:rPr lang="fr-BE" sz="2000" dirty="0" smtClean="0"/>
              <a:t>Il (jeter) son chewing-gum dans un papier.</a:t>
            </a:r>
          </a:p>
          <a:p>
            <a:pPr marL="342900" indent="-342900">
              <a:buFont typeface="+mj-lt"/>
              <a:buAutoNum type="arabicPeriod"/>
            </a:pPr>
            <a:r>
              <a:rPr lang="fr-BE" sz="2000" dirty="0" smtClean="0"/>
              <a:t>Je (acheter) du pain tous les jours.</a:t>
            </a:r>
            <a:endParaRPr lang="fr-BE" sz="2000" dirty="0"/>
          </a:p>
        </p:txBody>
      </p:sp>
      <p:sp>
        <p:nvSpPr>
          <p:cNvPr id="4" name="Rectangle à coins arrondis 3"/>
          <p:cNvSpPr/>
          <p:nvPr/>
        </p:nvSpPr>
        <p:spPr>
          <a:xfrm>
            <a:off x="8342616" y="2955007"/>
            <a:ext cx="3268191" cy="270210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800" b="1" dirty="0" smtClean="0">
                <a:solidFill>
                  <a:srgbClr val="FF0000"/>
                </a:solidFill>
              </a:rPr>
              <a:t>AIDE</a:t>
            </a:r>
            <a:r>
              <a:rPr lang="fr-BE" dirty="0" smtClean="0"/>
              <a:t> </a:t>
            </a:r>
          </a:p>
          <a:p>
            <a:pPr algn="ctr"/>
            <a:r>
              <a:rPr lang="fr-BE" sz="2400" dirty="0" smtClean="0"/>
              <a:t>GRAMMAIRE page 76</a:t>
            </a:r>
          </a:p>
          <a:p>
            <a:pPr algn="ctr"/>
            <a:r>
              <a:rPr lang="fr-BE" sz="2400" dirty="0" smtClean="0"/>
              <a:t>+ exercices pages 77-79</a:t>
            </a:r>
            <a:endParaRPr lang="fr-BE" sz="2400" dirty="0"/>
          </a:p>
        </p:txBody>
      </p:sp>
      <p:sp>
        <p:nvSpPr>
          <p:cNvPr id="5" name="Bulle ronde 4"/>
          <p:cNvSpPr/>
          <p:nvPr/>
        </p:nvSpPr>
        <p:spPr>
          <a:xfrm>
            <a:off x="6708808" y="1453416"/>
            <a:ext cx="2329314" cy="1337202"/>
          </a:xfrm>
          <a:prstGeom prst="wedgeEllipseCallou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smtClean="0"/>
              <a:t>À trois, en conférence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026438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Correction </a:t>
            </a:r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endParaRPr lang="fr-B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179207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BE" sz="2000" dirty="0" smtClean="0"/>
              <a:t>J</a:t>
            </a:r>
            <a:r>
              <a:rPr lang="fr-BE" sz="2000" dirty="0" smtClean="0">
                <a:solidFill>
                  <a:schemeClr val="bg2">
                    <a:lumMod val="50000"/>
                  </a:schemeClr>
                </a:solidFill>
              </a:rPr>
              <a:t>e </a:t>
            </a:r>
            <a:r>
              <a:rPr lang="fr-BE" sz="2000" dirty="0" smtClean="0">
                <a:solidFill>
                  <a:srgbClr val="00B050"/>
                </a:solidFill>
              </a:rPr>
              <a:t>n’</a:t>
            </a:r>
            <a:r>
              <a:rPr lang="fr-BE" sz="2000" dirty="0" smtClean="0">
                <a:solidFill>
                  <a:srgbClr val="FF0000"/>
                </a:solidFill>
              </a:rPr>
              <a:t>amène</a:t>
            </a:r>
            <a:r>
              <a:rPr lang="fr-BE" sz="2000" dirty="0" smtClean="0"/>
              <a:t> </a:t>
            </a:r>
            <a:r>
              <a:rPr lang="fr-BE" sz="2000" u="sng" dirty="0" smtClean="0">
                <a:solidFill>
                  <a:srgbClr val="00B050"/>
                </a:solidFill>
              </a:rPr>
              <a:t>pas de </a:t>
            </a:r>
            <a:r>
              <a:rPr lang="fr-BE" sz="2000" dirty="0" smtClean="0"/>
              <a:t>vin </a:t>
            </a:r>
            <a:r>
              <a:rPr lang="fr-BE" sz="2000" dirty="0"/>
              <a:t>quand je </a:t>
            </a:r>
            <a:r>
              <a:rPr lang="fr-BE" sz="2000" dirty="0">
                <a:solidFill>
                  <a:schemeClr val="bg2">
                    <a:lumMod val="50000"/>
                  </a:schemeClr>
                </a:solidFill>
              </a:rPr>
              <a:t>vais</a:t>
            </a:r>
            <a:r>
              <a:rPr lang="fr-BE" sz="2000" dirty="0"/>
              <a:t> manger chez des amis.</a:t>
            </a:r>
          </a:p>
          <a:p>
            <a:pPr marL="342900" indent="-342900">
              <a:buFont typeface="+mj-lt"/>
              <a:buAutoNum type="arabicPeriod"/>
            </a:pPr>
            <a:r>
              <a:rPr lang="fr-BE" sz="2000" dirty="0"/>
              <a:t>Je </a:t>
            </a:r>
            <a:r>
              <a:rPr lang="fr-BE" sz="2000" dirty="0" smtClean="0">
                <a:solidFill>
                  <a:srgbClr val="00B050"/>
                </a:solidFill>
              </a:rPr>
              <a:t>ne</a:t>
            </a:r>
            <a:r>
              <a:rPr lang="fr-BE" sz="2000" dirty="0" smtClean="0"/>
              <a:t> </a:t>
            </a:r>
            <a:r>
              <a:rPr lang="fr-BE" sz="2000" dirty="0" smtClean="0">
                <a:solidFill>
                  <a:srgbClr val="FF0000"/>
                </a:solidFill>
              </a:rPr>
              <a:t>célèbre</a:t>
            </a:r>
            <a:r>
              <a:rPr lang="fr-BE" sz="2000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fr-BE" sz="2000" dirty="0" smtClean="0">
                <a:solidFill>
                  <a:srgbClr val="00B050"/>
                </a:solidFill>
              </a:rPr>
              <a:t>pas</a:t>
            </a:r>
            <a:r>
              <a:rPr lang="fr-BE" sz="2000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fr-BE" sz="2000" dirty="0" smtClean="0"/>
              <a:t>mon </a:t>
            </a:r>
            <a:r>
              <a:rPr lang="fr-BE" sz="2000" dirty="0"/>
              <a:t>anniversaire en Belgique cette année.</a:t>
            </a:r>
          </a:p>
          <a:p>
            <a:pPr marL="342900" indent="-342900">
              <a:buFont typeface="+mj-lt"/>
              <a:buAutoNum type="arabicPeriod"/>
            </a:pPr>
            <a:r>
              <a:rPr lang="fr-BE" sz="2000" dirty="0"/>
              <a:t>Nous </a:t>
            </a:r>
            <a:r>
              <a:rPr lang="fr-BE" sz="2000" dirty="0" smtClean="0">
                <a:solidFill>
                  <a:srgbClr val="00B050"/>
                </a:solidFill>
              </a:rPr>
              <a:t>ne</a:t>
            </a:r>
            <a:r>
              <a:rPr lang="fr-BE" sz="2000" dirty="0" smtClean="0"/>
              <a:t> </a:t>
            </a:r>
            <a:r>
              <a:rPr lang="fr-BE" sz="2000" dirty="0" smtClean="0">
                <a:solidFill>
                  <a:srgbClr val="FF0000"/>
                </a:solidFill>
              </a:rPr>
              <a:t>commençons</a:t>
            </a:r>
            <a:r>
              <a:rPr lang="fr-BE" sz="2000" dirty="0" smtClean="0"/>
              <a:t> </a:t>
            </a:r>
            <a:r>
              <a:rPr lang="fr-BE" sz="2000" dirty="0" smtClean="0">
                <a:solidFill>
                  <a:srgbClr val="00B050"/>
                </a:solidFill>
              </a:rPr>
              <a:t>pas</a:t>
            </a:r>
            <a:r>
              <a:rPr lang="fr-BE" sz="2000" dirty="0" smtClean="0"/>
              <a:t> à </a:t>
            </a:r>
            <a:r>
              <a:rPr lang="fr-BE" sz="2000" dirty="0"/>
              <a:t>étudier tout de suite.</a:t>
            </a:r>
          </a:p>
          <a:p>
            <a:pPr marL="342900" indent="-342900">
              <a:buFont typeface="+mj-lt"/>
              <a:buAutoNum type="arabicPeriod"/>
            </a:pPr>
            <a:r>
              <a:rPr lang="fr-BE" sz="2000" dirty="0" smtClean="0"/>
              <a:t>Je </a:t>
            </a:r>
            <a:r>
              <a:rPr lang="fr-BE" sz="2000" dirty="0" smtClean="0">
                <a:solidFill>
                  <a:srgbClr val="00B050"/>
                </a:solidFill>
              </a:rPr>
              <a:t>n’</a:t>
            </a:r>
            <a:r>
              <a:rPr lang="fr-BE" sz="2000" dirty="0" smtClean="0">
                <a:solidFill>
                  <a:srgbClr val="FF0000"/>
                </a:solidFill>
              </a:rPr>
              <a:t>envoie</a:t>
            </a:r>
            <a:r>
              <a:rPr lang="fr-BE" sz="2000" dirty="0" smtClean="0"/>
              <a:t> </a:t>
            </a:r>
            <a:r>
              <a:rPr lang="fr-BE" sz="2000" u="sng" dirty="0" smtClean="0">
                <a:solidFill>
                  <a:srgbClr val="00B050"/>
                </a:solidFill>
              </a:rPr>
              <a:t>pas de </a:t>
            </a:r>
            <a:r>
              <a:rPr lang="fr-BE" sz="2000" dirty="0"/>
              <a:t>carte à mes parents toutes les semaines.</a:t>
            </a:r>
          </a:p>
          <a:p>
            <a:pPr marL="342900" indent="-342900">
              <a:buFont typeface="+mj-lt"/>
              <a:buAutoNum type="arabicPeriod"/>
            </a:pPr>
            <a:r>
              <a:rPr lang="fr-BE" sz="2000" dirty="0"/>
              <a:t>Mes </a:t>
            </a:r>
            <a:r>
              <a:rPr lang="fr-BE" sz="2000" dirty="0" err="1"/>
              <a:t>coloc’s</a:t>
            </a:r>
            <a:r>
              <a:rPr lang="fr-BE" sz="2000" dirty="0"/>
              <a:t> </a:t>
            </a:r>
            <a:r>
              <a:rPr lang="fr-BE" sz="2000" dirty="0" smtClean="0">
                <a:solidFill>
                  <a:srgbClr val="00B050"/>
                </a:solidFill>
              </a:rPr>
              <a:t>ne</a:t>
            </a:r>
            <a:r>
              <a:rPr lang="fr-BE" sz="2000" dirty="0" smtClean="0"/>
              <a:t> </a:t>
            </a:r>
            <a:r>
              <a:rPr lang="fr-BE" sz="2000" dirty="0" smtClean="0">
                <a:solidFill>
                  <a:srgbClr val="FF0000"/>
                </a:solidFill>
              </a:rPr>
              <a:t>nettoient</a:t>
            </a:r>
            <a:r>
              <a:rPr lang="fr-BE" sz="2000" dirty="0"/>
              <a:t> </a:t>
            </a:r>
            <a:r>
              <a:rPr lang="fr-BE" sz="2000" dirty="0" smtClean="0">
                <a:solidFill>
                  <a:srgbClr val="00B050"/>
                </a:solidFill>
              </a:rPr>
              <a:t>pas</a:t>
            </a:r>
            <a:r>
              <a:rPr lang="fr-BE" sz="2000" dirty="0" smtClean="0"/>
              <a:t> les </a:t>
            </a:r>
            <a:r>
              <a:rPr lang="fr-BE" sz="2000" dirty="0" err="1"/>
              <a:t>commus</a:t>
            </a:r>
            <a:r>
              <a:rPr lang="fr-BE" sz="2000" dirty="0"/>
              <a:t> tous les jours.</a:t>
            </a:r>
          </a:p>
          <a:p>
            <a:pPr marL="342900" indent="-342900">
              <a:buFont typeface="+mj-lt"/>
              <a:buAutoNum type="arabicPeriod"/>
            </a:pPr>
            <a:r>
              <a:rPr lang="fr-BE" sz="2000" dirty="0"/>
              <a:t>Nous </a:t>
            </a:r>
            <a:r>
              <a:rPr lang="fr-BE" sz="2000" dirty="0" smtClean="0">
                <a:solidFill>
                  <a:srgbClr val="00B050"/>
                </a:solidFill>
              </a:rPr>
              <a:t>ne</a:t>
            </a:r>
            <a:r>
              <a:rPr lang="fr-BE" sz="2000" dirty="0" smtClean="0"/>
              <a:t> </a:t>
            </a:r>
            <a:r>
              <a:rPr lang="fr-BE" sz="2000" dirty="0" smtClean="0">
                <a:solidFill>
                  <a:srgbClr val="FF0000"/>
                </a:solidFill>
              </a:rPr>
              <a:t>voyageons</a:t>
            </a:r>
            <a:r>
              <a:rPr lang="fr-BE" sz="2000" dirty="0" smtClean="0"/>
              <a:t> </a:t>
            </a:r>
            <a:r>
              <a:rPr lang="fr-BE" sz="2000" dirty="0" smtClean="0">
                <a:solidFill>
                  <a:srgbClr val="00B050"/>
                </a:solidFill>
              </a:rPr>
              <a:t>pas</a:t>
            </a:r>
            <a:r>
              <a:rPr lang="fr-BE" sz="2000" dirty="0" smtClean="0"/>
              <a:t> toujours /  </a:t>
            </a:r>
            <a:r>
              <a:rPr lang="fr-BE" sz="2000" dirty="0" smtClean="0">
                <a:solidFill>
                  <a:srgbClr val="00B050"/>
                </a:solidFill>
              </a:rPr>
              <a:t>jamais</a:t>
            </a:r>
            <a:r>
              <a:rPr lang="fr-BE" sz="2000" dirty="0" smtClean="0"/>
              <a:t> </a:t>
            </a:r>
            <a:r>
              <a:rPr lang="fr-BE" sz="2000" dirty="0"/>
              <a:t>en train.</a:t>
            </a:r>
          </a:p>
          <a:p>
            <a:pPr marL="342900" indent="-342900">
              <a:buFont typeface="+mj-lt"/>
              <a:buAutoNum type="arabicPeriod"/>
            </a:pPr>
            <a:r>
              <a:rPr lang="fr-BE" sz="2000" dirty="0">
                <a:solidFill>
                  <a:schemeClr val="tx1"/>
                </a:solidFill>
              </a:rPr>
              <a:t>Il</a:t>
            </a:r>
            <a:r>
              <a:rPr lang="fr-BE" sz="2000" dirty="0">
                <a:solidFill>
                  <a:srgbClr val="00B050"/>
                </a:solidFill>
              </a:rPr>
              <a:t> </a:t>
            </a:r>
            <a:r>
              <a:rPr lang="fr-BE" sz="2000" dirty="0" smtClean="0">
                <a:solidFill>
                  <a:srgbClr val="00B050"/>
                </a:solidFill>
              </a:rPr>
              <a:t>ne </a:t>
            </a:r>
            <a:r>
              <a:rPr lang="fr-BE" sz="2000" dirty="0" smtClean="0">
                <a:solidFill>
                  <a:srgbClr val="FF0000"/>
                </a:solidFill>
              </a:rPr>
              <a:t>jette</a:t>
            </a:r>
            <a:r>
              <a:rPr lang="fr-BE" sz="2000" dirty="0" smtClean="0">
                <a:solidFill>
                  <a:srgbClr val="00B050"/>
                </a:solidFill>
              </a:rPr>
              <a:t> pas </a:t>
            </a:r>
            <a:r>
              <a:rPr lang="fr-BE" sz="2000" dirty="0" smtClean="0">
                <a:solidFill>
                  <a:schemeClr val="tx1"/>
                </a:solidFill>
              </a:rPr>
              <a:t>son </a:t>
            </a:r>
            <a:r>
              <a:rPr lang="fr-BE" sz="2000" dirty="0">
                <a:solidFill>
                  <a:schemeClr val="tx1"/>
                </a:solidFill>
              </a:rPr>
              <a:t>chewing-gum </a:t>
            </a:r>
            <a:r>
              <a:rPr lang="fr-BE" sz="2000" dirty="0" smtClean="0">
                <a:solidFill>
                  <a:schemeClr val="tx1"/>
                </a:solidFill>
              </a:rPr>
              <a:t>dans un papier</a:t>
            </a:r>
            <a:r>
              <a:rPr lang="fr-BE" sz="2000" dirty="0" smtClean="0">
                <a:solidFill>
                  <a:srgbClr val="00B050"/>
                </a:solidFill>
              </a:rPr>
              <a:t>.</a:t>
            </a:r>
            <a:endParaRPr lang="fr-BE" sz="2000" dirty="0">
              <a:solidFill>
                <a:srgbClr val="00B05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fr-BE" sz="2000" dirty="0" smtClean="0"/>
              <a:t>J</a:t>
            </a:r>
            <a:r>
              <a:rPr lang="fr-BE" sz="2000" dirty="0" smtClean="0">
                <a:solidFill>
                  <a:schemeClr val="bg2">
                    <a:lumMod val="50000"/>
                  </a:schemeClr>
                </a:solidFill>
              </a:rPr>
              <a:t>e </a:t>
            </a:r>
            <a:r>
              <a:rPr lang="fr-BE" sz="2000" dirty="0" smtClean="0">
                <a:solidFill>
                  <a:srgbClr val="00B050"/>
                </a:solidFill>
              </a:rPr>
              <a:t>n’ </a:t>
            </a:r>
            <a:r>
              <a:rPr lang="fr-BE" sz="2000" dirty="0">
                <a:solidFill>
                  <a:srgbClr val="FF0000"/>
                </a:solidFill>
              </a:rPr>
              <a:t>achète</a:t>
            </a:r>
            <a:r>
              <a:rPr lang="fr-BE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fr-BE" sz="2000" u="sng" dirty="0" smtClean="0">
                <a:solidFill>
                  <a:srgbClr val="00B050"/>
                </a:solidFill>
              </a:rPr>
              <a:t>pas</a:t>
            </a:r>
            <a:r>
              <a:rPr lang="fr-BE" sz="2000" u="sng" dirty="0" smtClean="0"/>
              <a:t> </a:t>
            </a:r>
            <a:r>
              <a:rPr lang="fr-BE" sz="2000" u="sng" dirty="0" smtClean="0">
                <a:solidFill>
                  <a:srgbClr val="00B050"/>
                </a:solidFill>
              </a:rPr>
              <a:t>de</a:t>
            </a:r>
            <a:r>
              <a:rPr lang="fr-BE" sz="2000" u="sng" dirty="0" smtClean="0"/>
              <a:t> </a:t>
            </a:r>
            <a:r>
              <a:rPr lang="fr-BE" sz="2000" dirty="0"/>
              <a:t>pain tous les jours.</a:t>
            </a:r>
          </a:p>
        </p:txBody>
      </p:sp>
      <p:sp>
        <p:nvSpPr>
          <p:cNvPr id="4" name="Rectangle à coins arrondis 3"/>
          <p:cNvSpPr/>
          <p:nvPr/>
        </p:nvSpPr>
        <p:spPr>
          <a:xfrm>
            <a:off x="8342616" y="2955007"/>
            <a:ext cx="3268191" cy="270210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800" b="1" dirty="0" smtClean="0">
                <a:solidFill>
                  <a:srgbClr val="FF0000"/>
                </a:solidFill>
              </a:rPr>
              <a:t>Complétez </a:t>
            </a:r>
            <a:r>
              <a:rPr lang="fr-BE" dirty="0" smtClean="0"/>
              <a:t> </a:t>
            </a:r>
          </a:p>
          <a:p>
            <a:pPr algn="ctr"/>
            <a:r>
              <a:rPr lang="fr-BE" sz="2400" dirty="0" smtClean="0"/>
              <a:t>Syllabus p. 49, la règle orthographique des verbes en -ER</a:t>
            </a:r>
            <a:endParaRPr lang="fr-BE" sz="2400" dirty="0"/>
          </a:p>
        </p:txBody>
      </p:sp>
    </p:spTree>
    <p:extLst>
      <p:ext uri="{BB962C8B-B14F-4D97-AF65-F5344CB8AC3E}">
        <p14:creationId xmlns:p14="http://schemas.microsoft.com/office/powerpoint/2010/main" val="1932568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6382" y="448752"/>
            <a:ext cx="11621653" cy="1107056"/>
          </a:xfrm>
        </p:spPr>
        <p:txBody>
          <a:bodyPr>
            <a:normAutofit/>
          </a:bodyPr>
          <a:lstStyle/>
          <a:p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les verbes en </a:t>
            </a:r>
            <a:r>
              <a:rPr lang="fr-BE" sz="31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IR-OIR-RE</a:t>
            </a:r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fr-BE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3769426" cy="3633047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fr-BE" sz="2200" dirty="0" smtClean="0"/>
              <a:t>Choisir, ils …</a:t>
            </a:r>
          </a:p>
          <a:p>
            <a:pPr marL="342900" indent="-342900">
              <a:buFont typeface="+mj-lt"/>
              <a:buAutoNum type="arabicPeriod"/>
            </a:pPr>
            <a:r>
              <a:rPr lang="fr-BE" sz="2200" dirty="0" smtClean="0"/>
              <a:t>Boire, vous …</a:t>
            </a:r>
          </a:p>
          <a:p>
            <a:pPr marL="342900" indent="-342900">
              <a:buFont typeface="+mj-lt"/>
              <a:buAutoNum type="arabicPeriod"/>
            </a:pPr>
            <a:r>
              <a:rPr lang="fr-BE" sz="2200" dirty="0" smtClean="0"/>
              <a:t>Comprendre, nous … </a:t>
            </a:r>
          </a:p>
          <a:p>
            <a:pPr marL="342900" indent="-342900">
              <a:buFont typeface="+mj-lt"/>
              <a:buAutoNum type="arabicPeriod"/>
            </a:pPr>
            <a:r>
              <a:rPr lang="fr-BE" sz="2200" dirty="0" smtClean="0"/>
              <a:t>S’asseoir, je …</a:t>
            </a:r>
          </a:p>
          <a:p>
            <a:pPr marL="342900" indent="-342900">
              <a:buFont typeface="+mj-lt"/>
              <a:buAutoNum type="arabicPeriod"/>
            </a:pPr>
            <a:r>
              <a:rPr lang="fr-BE" sz="2200" dirty="0" smtClean="0"/>
              <a:t>Mettre, tu …</a:t>
            </a:r>
          </a:p>
          <a:p>
            <a:pPr marL="342900" indent="-342900">
              <a:buFont typeface="+mj-lt"/>
              <a:buAutoNum type="arabicPeriod"/>
            </a:pPr>
            <a:r>
              <a:rPr lang="fr-BE" sz="2200" dirty="0" smtClean="0"/>
              <a:t>Réfléchir, elle …</a:t>
            </a:r>
          </a:p>
          <a:p>
            <a:pPr marL="342900" indent="-342900">
              <a:buFont typeface="+mj-lt"/>
              <a:buAutoNum type="arabicPeriod"/>
            </a:pPr>
            <a:r>
              <a:rPr lang="fr-BE" sz="2200" dirty="0" smtClean="0"/>
              <a:t>Lire, nous …</a:t>
            </a:r>
          </a:p>
          <a:p>
            <a:pPr marL="342900" indent="-342900">
              <a:buFont typeface="+mj-lt"/>
              <a:buAutoNum type="arabicPeriod"/>
            </a:pPr>
            <a:r>
              <a:rPr lang="fr-BE" sz="2200" dirty="0" smtClean="0"/>
              <a:t>Dire, vous …</a:t>
            </a:r>
          </a:p>
          <a:p>
            <a:endParaRPr lang="fr-BE" dirty="0"/>
          </a:p>
        </p:txBody>
      </p:sp>
      <p:sp>
        <p:nvSpPr>
          <p:cNvPr id="7" name="ZoneTexte 6"/>
          <p:cNvSpPr txBox="1"/>
          <p:nvPr/>
        </p:nvSpPr>
        <p:spPr>
          <a:xfrm>
            <a:off x="5861785" y="2153014"/>
            <a:ext cx="4533499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9"/>
            </a:pPr>
            <a:r>
              <a:rPr lang="fr-BE" sz="2000" dirty="0"/>
              <a:t>Ecrire, il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9"/>
            </a:pPr>
            <a:r>
              <a:rPr lang="fr-BE" sz="2000" dirty="0"/>
              <a:t>Obtenir, tu </a:t>
            </a:r>
            <a:r>
              <a:rPr lang="fr-BE" sz="2000" dirty="0" smtClean="0"/>
              <a:t>…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9"/>
            </a:pPr>
            <a:r>
              <a:rPr lang="fr-BE" sz="2000" dirty="0" smtClean="0"/>
              <a:t>Venir, elles …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9"/>
            </a:pPr>
            <a:r>
              <a:rPr lang="fr-BE" sz="2000" dirty="0" smtClean="0"/>
              <a:t>Rire, vous …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9"/>
            </a:pPr>
            <a:r>
              <a:rPr lang="fr-BE" sz="2000" dirty="0" smtClean="0"/>
              <a:t>Faire, vous …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9"/>
            </a:pPr>
            <a:r>
              <a:rPr lang="fr-BE" sz="2000" dirty="0" smtClean="0"/>
              <a:t>Vouloir, ils …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9"/>
            </a:pPr>
            <a:r>
              <a:rPr lang="fr-BE" sz="2000" dirty="0" smtClean="0"/>
              <a:t>Pouvoir, tu …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9"/>
            </a:pPr>
            <a:r>
              <a:rPr lang="fr-BE" sz="2000" dirty="0" smtClean="0"/>
              <a:t>Recevoir, je …</a:t>
            </a:r>
            <a:endParaRPr lang="fr-BE" dirty="0" smtClean="0"/>
          </a:p>
          <a:p>
            <a:pPr marL="342900" indent="-342900">
              <a:lnSpc>
                <a:spcPct val="150000"/>
              </a:lnSpc>
              <a:buFont typeface="+mj-lt"/>
              <a:buAutoNum type="arabicPeriod" startAt="9"/>
            </a:pP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866042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sz="quarter" idx="12"/>
          </p:nvPr>
        </p:nvSpPr>
        <p:spPr>
          <a:xfrm>
            <a:off x="4352544" y="2717803"/>
            <a:ext cx="2868654" cy="3368675"/>
          </a:xfrm>
        </p:spPr>
        <p:txBody>
          <a:bodyPr/>
          <a:lstStyle/>
          <a:p>
            <a:r>
              <a:rPr lang="fr-BE" sz="2800" dirty="0" smtClean="0"/>
              <a:t>Etudiez les participes passés et l’emploi de «être »</a:t>
            </a:r>
          </a:p>
          <a:p>
            <a:r>
              <a:rPr lang="fr-BE" sz="2800" dirty="0" smtClean="0">
                <a:solidFill>
                  <a:srgbClr val="FF0000"/>
                </a:solidFill>
              </a:rPr>
              <a:t>Pour la compétition de mercredi prochain !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BE" sz="2800" dirty="0"/>
              <a:t>Syllabus </a:t>
            </a:r>
            <a:r>
              <a:rPr lang="fr-BE" sz="2800" dirty="0" smtClean="0"/>
              <a:t>p. 62</a:t>
            </a:r>
            <a:endParaRPr lang="fr-BE" dirty="0" smtClean="0"/>
          </a:p>
          <a:p>
            <a:r>
              <a:rPr lang="fr-BE" sz="2400" dirty="0" smtClean="0"/>
              <a:t>Associez </a:t>
            </a:r>
            <a:r>
              <a:rPr lang="fr-BE" sz="2400" dirty="0"/>
              <a:t>les mots à leur définition à l’aide de vos amis belges, p. 62</a:t>
            </a:r>
            <a:endParaRPr lang="fr-BE" sz="4000" dirty="0"/>
          </a:p>
          <a:p>
            <a:endParaRPr lang="fr-BE" dirty="0" smtClean="0"/>
          </a:p>
        </p:txBody>
      </p:sp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626818" y="545562"/>
            <a:ext cx="10690365" cy="828000"/>
          </a:xfrm>
          <a:solidFill>
            <a:srgbClr val="002060"/>
          </a:solidFill>
        </p:spPr>
        <p:txBody>
          <a:bodyPr/>
          <a:lstStyle/>
          <a:p>
            <a:r>
              <a:rPr lang="fr-BE" dirty="0" smtClean="0">
                <a:solidFill>
                  <a:schemeClr val="bg1"/>
                </a:solidFill>
              </a:rPr>
              <a:t>Tâches pour le prochain cours </a:t>
            </a:r>
            <a:endParaRPr lang="fr-BE" dirty="0">
              <a:solidFill>
                <a:schemeClr val="bg1"/>
              </a:solidFill>
            </a:endParaRPr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1388126" y="1606671"/>
            <a:ext cx="676894" cy="1002032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9" name="Espace réservé du contenu 8"/>
          <p:cNvPicPr>
            <a:picLocks noGrp="1" noChangeAspect="1"/>
          </p:cNvPicPr>
          <p:nvPr>
            <p:ph sz="quarter" idx="14"/>
          </p:nvPr>
        </p:nvPicPr>
        <p:blipFill>
          <a:blip r:embed="rId4"/>
          <a:stretch>
            <a:fillRect/>
          </a:stretch>
        </p:blipFill>
        <p:spPr>
          <a:xfrm>
            <a:off x="4937920" y="1431699"/>
            <a:ext cx="1042255" cy="1286104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7025" y="1507520"/>
            <a:ext cx="1209675" cy="10763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40109" y="3065658"/>
            <a:ext cx="307707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BE" sz="2400" dirty="0" smtClean="0">
                <a:solidFill>
                  <a:srgbClr val="FF0000"/>
                </a:solidFill>
              </a:rPr>
              <a:t>Défi 2 : consignes p. 52 et critères d’évaluation sur Moodle, Unité 1</a:t>
            </a:r>
          </a:p>
          <a:p>
            <a:endParaRPr lang="fr-BE" sz="2400" dirty="0" smtClean="0">
              <a:solidFill>
                <a:srgbClr val="FF0000"/>
              </a:solidFill>
            </a:endParaRPr>
          </a:p>
          <a:p>
            <a:r>
              <a:rPr lang="fr-BE" sz="2400" dirty="0" smtClean="0"/>
              <a:t>Apporter votre texte imprimé </a:t>
            </a:r>
          </a:p>
          <a:p>
            <a:r>
              <a:rPr lang="fr-BE" sz="2400" dirty="0" smtClean="0">
                <a:solidFill>
                  <a:srgbClr val="FF0000"/>
                </a:solidFill>
              </a:rPr>
              <a:t>vendredi 28 février</a:t>
            </a:r>
            <a:endParaRPr lang="fr-BE" sz="2400" dirty="0"/>
          </a:p>
        </p:txBody>
      </p:sp>
    </p:spTree>
    <p:extLst>
      <p:ext uri="{BB962C8B-B14F-4D97-AF65-F5344CB8AC3E}">
        <p14:creationId xmlns:p14="http://schemas.microsoft.com/office/powerpoint/2010/main" val="3714669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Préparation à la lecture du texte sur le </a:t>
            </a:r>
            <a:r>
              <a:rPr lang="fr-BE" dirty="0" err="1" smtClean="0"/>
              <a:t>Brassikot</a:t>
            </a:r>
            <a:endParaRPr lang="en-US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BE" dirty="0" smtClean="0"/>
              <a:t> </a:t>
            </a:r>
          </a:p>
          <a:p>
            <a:pPr marL="0" indent="0">
              <a:buNone/>
            </a:pPr>
            <a:r>
              <a:rPr lang="fr-BE" sz="2400" dirty="0" smtClean="0"/>
              <a:t>Correction de l’exercice d’appariement de la </a:t>
            </a:r>
            <a:r>
              <a:rPr lang="fr-BE" sz="2400" b="1" dirty="0" smtClean="0"/>
              <a:t>page 46 </a:t>
            </a:r>
          </a:p>
          <a:p>
            <a:pPr marL="0" indent="0">
              <a:buNone/>
            </a:pPr>
            <a:r>
              <a:rPr lang="fr-BE" sz="2400" b="1" dirty="0" smtClean="0"/>
              <a:t>1e, 2i, 3n, 4a, 5h, 6c, 7j, 8g, 9d, 10f, 11e, 12b, 13k, 14l </a:t>
            </a:r>
          </a:p>
        </p:txBody>
      </p:sp>
      <p:pic>
        <p:nvPicPr>
          <p:cNvPr id="6" name="Image 5" descr="Image associée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8552" y="1934468"/>
            <a:ext cx="2793532" cy="34965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7616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1FA2CB-4E93-49A9-9E84-2366FD2C0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232" y="1965865"/>
            <a:ext cx="10932675" cy="42063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BE" sz="2800" b="1" dirty="0"/>
              <a:t>1. Qui est Joséphine ? </a:t>
            </a:r>
            <a:r>
              <a:rPr lang="fr-BE" sz="2400" dirty="0" smtClean="0"/>
              <a:t> Une représentante du </a:t>
            </a:r>
            <a:r>
              <a:rPr lang="fr-BE" sz="2400" dirty="0" err="1" smtClean="0"/>
              <a:t>Brassikot</a:t>
            </a:r>
            <a:r>
              <a:rPr lang="fr-BE" sz="2400" dirty="0" smtClean="0"/>
              <a:t>.</a:t>
            </a:r>
            <a:endParaRPr lang="fr-BE" sz="2800" dirty="0"/>
          </a:p>
          <a:p>
            <a:pPr marL="0" lvl="0" indent="0">
              <a:buNone/>
            </a:pPr>
            <a:r>
              <a:rPr lang="fr-BE" sz="2800" b="1" dirty="0"/>
              <a:t>2. </a:t>
            </a:r>
            <a:r>
              <a:rPr lang="fr-BE" sz="2800" b="1" dirty="0" smtClean="0"/>
              <a:t>Quelles sont les activités du </a:t>
            </a:r>
            <a:r>
              <a:rPr lang="fr-BE" sz="2800" b="1" dirty="0" err="1" smtClean="0"/>
              <a:t>Brassikot</a:t>
            </a:r>
            <a:r>
              <a:rPr lang="fr-BE" sz="2800" b="1" dirty="0"/>
              <a:t> ? </a:t>
            </a:r>
            <a:endParaRPr lang="fr-BE" sz="2800" b="1" dirty="0" smtClean="0"/>
          </a:p>
          <a:p>
            <a:pPr lvl="1">
              <a:buFont typeface="Wingdings" panose="05000000000000000000" pitchFamily="2" charset="2"/>
              <a:buChar char="q"/>
            </a:pPr>
            <a:r>
              <a:rPr lang="fr-BE" b="1" dirty="0">
                <a:solidFill>
                  <a:srgbClr val="00B050"/>
                </a:solidFill>
              </a:rPr>
              <a:t>Expérimenter et créer de nouvelles bières.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BE" b="1" dirty="0">
                <a:solidFill>
                  <a:srgbClr val="00B050"/>
                </a:solidFill>
              </a:rPr>
              <a:t>Organiser des soirées de dégustation de bières et de fromages</a:t>
            </a:r>
            <a:r>
              <a:rPr lang="fr-BE" dirty="0"/>
              <a:t>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BE" dirty="0"/>
              <a:t>Faire la promotion de la </a:t>
            </a:r>
            <a:r>
              <a:rPr lang="fr-BE" dirty="0" err="1"/>
              <a:t>Cara</a:t>
            </a:r>
            <a:r>
              <a:rPr lang="fr-BE" dirty="0"/>
              <a:t>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BE" dirty="0"/>
              <a:t>En guindaille, s’assurer que les étudiants boivent avec modération.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BE" b="1" dirty="0">
                <a:solidFill>
                  <a:srgbClr val="00B050"/>
                </a:solidFill>
              </a:rPr>
              <a:t>Préparer des colis de bières spéciales pour développer les connaissances brassicoles.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BE" b="1" dirty="0">
                <a:solidFill>
                  <a:srgbClr val="00B050"/>
                </a:solidFill>
              </a:rPr>
              <a:t>Sensibiliser aux gouts et parfums enivrants de la bière belge</a:t>
            </a:r>
            <a:r>
              <a:rPr lang="fr-BE" b="1" dirty="0" smtClean="0">
                <a:solidFill>
                  <a:srgbClr val="00B050"/>
                </a:solidFill>
              </a:rPr>
              <a:t>.</a:t>
            </a:r>
            <a:endParaRPr lang="fr-BE" sz="2400" dirty="0"/>
          </a:p>
          <a:p>
            <a:endParaRPr lang="fr-BE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Correctif : Lire – comprendre  et réagir</a:t>
            </a:r>
            <a:endParaRPr lang="en-US" dirty="0"/>
          </a:p>
        </p:txBody>
      </p:sp>
      <p:pic>
        <p:nvPicPr>
          <p:cNvPr id="6" name="Image 5" descr="Image associée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3566" y="2760617"/>
            <a:ext cx="1725432" cy="2316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4084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1FA2CB-4E93-49A9-9E84-2366FD2C0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138" y="1373682"/>
            <a:ext cx="1075508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BE" sz="2600" b="1" dirty="0"/>
              <a:t>3. Pourquoi leur évènement « la Brassicole » est différent des autres brassicoles belges ?</a:t>
            </a:r>
            <a:endParaRPr lang="fr-BE" sz="2600" dirty="0"/>
          </a:p>
          <a:p>
            <a:pPr marL="0" indent="0">
              <a:buNone/>
            </a:pPr>
            <a:r>
              <a:rPr lang="fr-BE" sz="2600" dirty="0"/>
              <a:t>	</a:t>
            </a:r>
            <a:r>
              <a:rPr lang="fr-BE" sz="2800" b="1" dirty="0">
                <a:solidFill>
                  <a:srgbClr val="00B050"/>
                </a:solidFill>
              </a:rPr>
              <a:t>Parce que le </a:t>
            </a:r>
            <a:r>
              <a:rPr lang="fr-BE" sz="2800" b="1" dirty="0" err="1">
                <a:solidFill>
                  <a:srgbClr val="00B050"/>
                </a:solidFill>
              </a:rPr>
              <a:t>Brassikot</a:t>
            </a:r>
            <a:r>
              <a:rPr lang="fr-BE" sz="2800" b="1" dirty="0">
                <a:solidFill>
                  <a:srgbClr val="00B050"/>
                </a:solidFill>
              </a:rPr>
              <a:t> rassemble les petites brasseries et </a:t>
            </a:r>
            <a:br>
              <a:rPr lang="fr-BE" sz="2800" b="1" dirty="0">
                <a:solidFill>
                  <a:srgbClr val="00B050"/>
                </a:solidFill>
              </a:rPr>
            </a:br>
            <a:r>
              <a:rPr lang="fr-BE" sz="2800" b="1" dirty="0">
                <a:solidFill>
                  <a:srgbClr val="00B050"/>
                </a:solidFill>
              </a:rPr>
              <a:t>les brasseurs amateurs.</a:t>
            </a:r>
          </a:p>
          <a:p>
            <a:pPr marL="0" indent="0">
              <a:buNone/>
            </a:pPr>
            <a:endParaRPr lang="fr-BE" sz="2600" dirty="0"/>
          </a:p>
          <a:p>
            <a:pPr marL="0" indent="0">
              <a:buNone/>
            </a:pPr>
            <a:r>
              <a:rPr lang="fr-BE" sz="2500" dirty="0" smtClean="0"/>
              <a:t> </a:t>
            </a:r>
            <a:endParaRPr lang="fr-BE" sz="2500" dirty="0"/>
          </a:p>
          <a:p>
            <a:endParaRPr lang="fr-BE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Corrigé, suite</a:t>
            </a:r>
            <a:endParaRPr lang="en-US" dirty="0"/>
          </a:p>
        </p:txBody>
      </p:sp>
      <p:pic>
        <p:nvPicPr>
          <p:cNvPr id="6" name="Image 5" descr="Image associée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1679" y="2960914"/>
            <a:ext cx="1783337" cy="25429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7176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Les avantages et les inconvénients</a:t>
            </a:r>
            <a:endParaRPr lang="en-US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 smtClean="0"/>
              <a:t>Les avantages</a:t>
            </a:r>
            <a:endParaRPr lang="en-US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BE" dirty="0" smtClean="0"/>
              <a:t>Les inconvénients</a:t>
            </a:r>
            <a:endParaRPr lang="en-US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fr-BE" dirty="0" smtClean="0"/>
          </a:p>
          <a:p>
            <a:endParaRPr lang="en-US" dirty="0"/>
          </a:p>
        </p:txBody>
      </p:sp>
      <p:pic>
        <p:nvPicPr>
          <p:cNvPr id="9" name="Image 8" descr="Image associée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3108" y="4328160"/>
            <a:ext cx="1365682" cy="21423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61030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Les avantages et les inconvénients</a:t>
            </a:r>
            <a:endParaRPr lang="en-US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 smtClean="0"/>
              <a:t>Les avantages</a:t>
            </a:r>
            <a:endParaRPr lang="en-US" dirty="0"/>
          </a:p>
        </p:txBody>
      </p:sp>
      <p:sp>
        <p:nvSpPr>
          <p:cNvPr id="6" name="Espace réservé du contenu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fr-BE" sz="2000" dirty="0" smtClean="0"/>
              <a:t>On n’est jamais </a:t>
            </a:r>
            <a:r>
              <a:rPr lang="fr-BE" sz="2000" dirty="0" err="1" smtClean="0"/>
              <a:t>seul.e</a:t>
            </a:r>
            <a:endParaRPr lang="fr-BE" sz="2000" dirty="0" smtClean="0"/>
          </a:p>
          <a:p>
            <a:r>
              <a:rPr lang="fr-BE" sz="2000" dirty="0" smtClean="0"/>
              <a:t>Il y a une ambiance familiale (cohésion)</a:t>
            </a:r>
          </a:p>
          <a:p>
            <a:r>
              <a:rPr lang="fr-BE" sz="2000" dirty="0" smtClean="0"/>
              <a:t>On s’investit dans un projet, on se consacre à un projet commun, on se donne pour le projet.</a:t>
            </a:r>
          </a:p>
          <a:p>
            <a:r>
              <a:rPr lang="fr-BE" sz="2000" dirty="0" smtClean="0"/>
              <a:t>On ressent les bienfaits en retour ( = on récolte le fruit de ses efforts)</a:t>
            </a:r>
          </a:p>
          <a:p>
            <a:r>
              <a:rPr lang="fr-BE" sz="2000" dirty="0" smtClean="0"/>
              <a:t>On s’ouvre à travers les rencontres</a:t>
            </a: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BE" dirty="0" smtClean="0"/>
              <a:t>Les inconvénients</a:t>
            </a:r>
            <a:endParaRPr lang="en-US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fr-BE" sz="2000" dirty="0"/>
              <a:t>On n’est jamais </a:t>
            </a:r>
            <a:r>
              <a:rPr lang="fr-BE" sz="2000" dirty="0" err="1" smtClean="0"/>
              <a:t>seul.e</a:t>
            </a:r>
            <a:endParaRPr lang="fr-BE" sz="2000" dirty="0" smtClean="0"/>
          </a:p>
          <a:p>
            <a:r>
              <a:rPr lang="fr-BE" sz="2000" dirty="0" smtClean="0"/>
              <a:t>Le kot est toujours sale. ( l’éternelle crasse résistante)</a:t>
            </a:r>
          </a:p>
          <a:p>
            <a:r>
              <a:rPr lang="fr-BE" sz="2000" dirty="0" smtClean="0"/>
              <a:t>Le projet prend beaucoup de temps et d’énergie.</a:t>
            </a:r>
            <a:endParaRPr lang="en-US" sz="2000" dirty="0"/>
          </a:p>
          <a:p>
            <a:endParaRPr lang="en-US" dirty="0"/>
          </a:p>
        </p:txBody>
      </p:sp>
      <p:pic>
        <p:nvPicPr>
          <p:cNvPr id="9" name="Image 8" descr="Image associée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9146" y="4715692"/>
            <a:ext cx="1365682" cy="21423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22351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96868B04-6C6E-4CD6-AD5E-E9A7F9CCAE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392868"/>
              </p:ext>
            </p:extLst>
          </p:nvPr>
        </p:nvGraphicFramePr>
        <p:xfrm>
          <a:off x="461553" y="1976846"/>
          <a:ext cx="11268892" cy="434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4108">
                  <a:extLst>
                    <a:ext uri="{9D8B030D-6E8A-4147-A177-3AD203B41FA5}">
                      <a16:colId xmlns:a16="http://schemas.microsoft.com/office/drawing/2014/main" val="1228392804"/>
                    </a:ext>
                  </a:extLst>
                </a:gridCol>
                <a:gridCol w="3303185">
                  <a:extLst>
                    <a:ext uri="{9D8B030D-6E8A-4147-A177-3AD203B41FA5}">
                      <a16:colId xmlns:a16="http://schemas.microsoft.com/office/drawing/2014/main" val="885404310"/>
                    </a:ext>
                  </a:extLst>
                </a:gridCol>
                <a:gridCol w="4091599">
                  <a:extLst>
                    <a:ext uri="{9D8B030D-6E8A-4147-A177-3AD203B41FA5}">
                      <a16:colId xmlns:a16="http://schemas.microsoft.com/office/drawing/2014/main" val="1694210383"/>
                    </a:ext>
                  </a:extLst>
                </a:gridCol>
              </a:tblGrid>
              <a:tr h="633912">
                <a:tc>
                  <a:txBody>
                    <a:bodyPr/>
                    <a:lstStyle/>
                    <a:p>
                      <a:r>
                        <a:rPr lang="fr-BE" sz="2400" b="1" dirty="0"/>
                        <a:t>Qualificatif </a:t>
                      </a:r>
                      <a:endParaRPr lang="fr-B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400" b="1" dirty="0"/>
                        <a:t>Synonyme dans le texte</a:t>
                      </a:r>
                      <a:endParaRPr lang="fr-B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400" b="1" dirty="0"/>
                        <a:t>Explication dans le texte</a:t>
                      </a:r>
                      <a:endParaRPr lang="fr-B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706941"/>
                  </a:ext>
                </a:extLst>
              </a:tr>
              <a:tr h="1056520">
                <a:tc>
                  <a:txBody>
                    <a:bodyPr/>
                    <a:lstStyle/>
                    <a:p>
                      <a:r>
                        <a:rPr lang="fr-BE" sz="2400" b="1" dirty="0"/>
                        <a:t>amusant</a:t>
                      </a:r>
                      <a:endParaRPr lang="fr-B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800" dirty="0">
                          <a:solidFill>
                            <a:srgbClr val="FF0000"/>
                          </a:solidFill>
                        </a:rPr>
                        <a:t>drôle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400" dirty="0"/>
                        <a:t>Car </a:t>
                      </a:r>
                      <a:r>
                        <a:rPr lang="fr-BE" sz="2400" dirty="0" err="1"/>
                        <a:t>Geof</a:t>
                      </a:r>
                      <a:r>
                        <a:rPr lang="fr-BE" sz="2400" dirty="0"/>
                        <a:t> a encore fait des siennes (= faire des sottises)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867363"/>
                  </a:ext>
                </a:extLst>
              </a:tr>
              <a:tr h="727825">
                <a:tc>
                  <a:txBody>
                    <a:bodyPr/>
                    <a:lstStyle/>
                    <a:p>
                      <a:r>
                        <a:rPr lang="fr-BE" sz="2400" b="1" dirty="0"/>
                        <a:t>Sensible // sentimental</a:t>
                      </a:r>
                      <a:endParaRPr lang="fr-B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800" dirty="0">
                          <a:solidFill>
                            <a:srgbClr val="FF0000"/>
                          </a:solidFill>
                        </a:rPr>
                        <a:t>affectif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400" dirty="0"/>
                        <a:t>Car Cam a de la tendresse à revendre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28152"/>
                  </a:ext>
                </a:extLst>
              </a:tr>
              <a:tr h="727825">
                <a:tc>
                  <a:txBody>
                    <a:bodyPr/>
                    <a:lstStyle/>
                    <a:p>
                      <a:r>
                        <a:rPr lang="fr-BE" sz="2400" b="1" dirty="0"/>
                        <a:t>franc // direct</a:t>
                      </a:r>
                      <a:endParaRPr lang="fr-B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800" dirty="0" smtClean="0">
                          <a:solidFill>
                            <a:srgbClr val="FF0000"/>
                          </a:solidFill>
                        </a:rPr>
                        <a:t>émotionnel</a:t>
                      </a:r>
                      <a:endParaRPr lang="fr-BE" sz="2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400" dirty="0"/>
                        <a:t>Car Hugo balance ce qu’il a sur le cœur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420815"/>
                  </a:ext>
                </a:extLst>
              </a:tr>
              <a:tr h="727825">
                <a:tc>
                  <a:txBody>
                    <a:bodyPr/>
                    <a:lstStyle/>
                    <a:p>
                      <a:r>
                        <a:rPr lang="fr-BE" sz="2300" b="1" dirty="0"/>
                        <a:t>Consciencieux // responsable</a:t>
                      </a:r>
                      <a:endParaRPr lang="fr-BE" sz="2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800" dirty="0" smtClean="0">
                          <a:solidFill>
                            <a:srgbClr val="FF0000"/>
                          </a:solidFill>
                        </a:rPr>
                        <a:t>sérieux</a:t>
                      </a:r>
                      <a:endParaRPr lang="fr-BE" sz="2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400" dirty="0"/>
                        <a:t>Car </a:t>
                      </a:r>
                      <a:r>
                        <a:rPr lang="fr-BE" sz="2400" dirty="0" err="1"/>
                        <a:t>Ched</a:t>
                      </a:r>
                      <a:r>
                        <a:rPr lang="fr-BE" sz="2400" dirty="0"/>
                        <a:t> est là pour nous rappeler à l’ordre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105972"/>
                  </a:ext>
                </a:extLst>
              </a:tr>
            </a:tbl>
          </a:graphicData>
        </a:graphic>
      </p:graphicFrame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99924"/>
          </a:xfrm>
        </p:spPr>
        <p:txBody>
          <a:bodyPr/>
          <a:lstStyle/>
          <a:p>
            <a:r>
              <a:rPr lang="fr-BE" dirty="0" smtClean="0"/>
              <a:t>Corrigé, suite</a:t>
            </a:r>
            <a:endParaRPr lang="en-US" dirty="0"/>
          </a:p>
        </p:txBody>
      </p:sp>
      <p:pic>
        <p:nvPicPr>
          <p:cNvPr id="6" name="Image 5" descr="Image associée"/>
          <p:cNvPicPr/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9955" y="172552"/>
            <a:ext cx="1320490" cy="16372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0280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7011118-0AA9-4C41-9EA5-7D23A8B6A00F}"/>
              </a:ext>
            </a:extLst>
          </p:cNvPr>
          <p:cNvSpPr/>
          <p:nvPr/>
        </p:nvSpPr>
        <p:spPr>
          <a:xfrm>
            <a:off x="470264" y="2061276"/>
            <a:ext cx="10883536" cy="2729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0"/>
              </a:spcAft>
            </a:pPr>
            <a:r>
              <a:rPr lang="fr-BE" sz="25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6. Qu’est-ce qui va le plus manquer à Joséphine ? </a:t>
            </a:r>
            <a:endParaRPr lang="fr-BE" sz="2500" b="1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0"/>
              </a:spcAft>
            </a:pPr>
            <a:endParaRPr lang="fr-BE" sz="25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fr-BE" sz="25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</a:t>
            </a:r>
            <a:r>
              <a:rPr lang="fr-BE" sz="25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dégustation de nouvelles </a:t>
            </a:r>
            <a:r>
              <a:rPr lang="fr-BE" sz="25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bières.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fr-BE" sz="25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L’éternelle </a:t>
            </a:r>
            <a:r>
              <a:rPr lang="fr-BE" sz="25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crasse résistante aux kots.</a:t>
            </a:r>
          </a:p>
          <a:p>
            <a:pPr marL="342900" lvl="1" indent="-342900">
              <a:lnSpc>
                <a:spcPct val="115000"/>
              </a:lnSpc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fr-BE" sz="2400" dirty="0">
                <a:solidFill>
                  <a:srgbClr val="00B050"/>
                </a:solidFill>
              </a:rPr>
              <a:t>Les lendemains de </a:t>
            </a:r>
            <a:r>
              <a:rPr lang="fr-BE" sz="2400" dirty="0" smtClean="0">
                <a:solidFill>
                  <a:srgbClr val="00B050"/>
                </a:solidFill>
              </a:rPr>
              <a:t>guindailles.</a:t>
            </a:r>
          </a:p>
          <a:p>
            <a:pPr marL="342900" lvl="1" indent="-342900">
              <a:lnSpc>
                <a:spcPct val="115000"/>
              </a:lnSpc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fr-BE" sz="25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 </a:t>
            </a:r>
            <a:r>
              <a:rPr lang="fr-BE" sz="25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retour du soleil et le chant des oiseaux.</a:t>
            </a:r>
            <a:endParaRPr lang="fr-BE" sz="25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Corrigé, fin</a:t>
            </a:r>
            <a:endParaRPr lang="en-US" dirty="0"/>
          </a:p>
        </p:txBody>
      </p:sp>
      <p:pic>
        <p:nvPicPr>
          <p:cNvPr id="4" name="Image 3" descr="Image associée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5062" y="2917371"/>
            <a:ext cx="1783337" cy="25429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7743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781300" cy="2143125"/>
          </a:xfrm>
          <a:prstGeom prst="rect">
            <a:avLst/>
          </a:prstGeom>
        </p:spPr>
      </p:pic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			</a:t>
            </a:r>
            <a:endParaRPr lang="fr-BE" dirty="0"/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200298" y="2055223"/>
            <a:ext cx="5279572" cy="412174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BE" sz="3200" b="1" dirty="0" smtClean="0"/>
              <a:t>KAP = ?</a:t>
            </a:r>
          </a:p>
          <a:p>
            <a:r>
              <a:rPr lang="fr-BE" i="1" dirty="0" smtClean="0"/>
              <a:t>École de vie</a:t>
            </a:r>
          </a:p>
          <a:p>
            <a:r>
              <a:rPr lang="fr-BE" i="1" dirty="0" smtClean="0"/>
              <a:t>Tenir un projet collectif avec des deadlines</a:t>
            </a:r>
          </a:p>
          <a:p>
            <a:r>
              <a:rPr lang="fr-BE" i="1" dirty="0" smtClean="0"/>
              <a:t>Vivre en communauté</a:t>
            </a:r>
          </a:p>
          <a:p>
            <a:pPr marL="0" indent="0">
              <a:buNone/>
            </a:pPr>
            <a:r>
              <a:rPr lang="fr-BE" sz="3200" b="1" dirty="0" smtClean="0"/>
              <a:t>Projet = ?</a:t>
            </a:r>
          </a:p>
          <a:p>
            <a:r>
              <a:rPr lang="fr-BE" i="1" dirty="0" smtClean="0"/>
              <a:t>Sensibilisation à la saveur de notre boisson nationale</a:t>
            </a:r>
          </a:p>
          <a:p>
            <a:r>
              <a:rPr lang="fr-BE" i="1" dirty="0" smtClean="0"/>
              <a:t>Déguster avec modération</a:t>
            </a:r>
          </a:p>
          <a:p>
            <a:pPr marL="0" indent="0">
              <a:buNone/>
            </a:pPr>
            <a:r>
              <a:rPr lang="fr-BE" sz="3200" b="1" dirty="0" smtClean="0"/>
              <a:t>Activités = ? </a:t>
            </a:r>
          </a:p>
          <a:p>
            <a:r>
              <a:rPr lang="fr-BE" i="1" dirty="0" smtClean="0"/>
              <a:t>La Brassicole</a:t>
            </a:r>
          </a:p>
          <a:p>
            <a:r>
              <a:rPr lang="fr-BE" i="1" dirty="0" smtClean="0"/>
              <a:t>« </a:t>
            </a:r>
            <a:r>
              <a:rPr lang="fr-BE" i="1" dirty="0" err="1" smtClean="0"/>
              <a:t>Cheese</a:t>
            </a:r>
            <a:r>
              <a:rPr lang="fr-BE" i="1" dirty="0" smtClean="0"/>
              <a:t> and </a:t>
            </a:r>
            <a:r>
              <a:rPr lang="fr-BE" i="1" dirty="0" err="1" smtClean="0"/>
              <a:t>beer</a:t>
            </a:r>
            <a:r>
              <a:rPr lang="fr-BE" i="1" dirty="0" smtClean="0"/>
              <a:t> »</a:t>
            </a:r>
          </a:p>
          <a:p>
            <a:r>
              <a:rPr lang="fr-BE" i="1" dirty="0" smtClean="0"/>
              <a:t>Brasser leur propre bière (5</a:t>
            </a:r>
            <a:r>
              <a:rPr lang="fr-BE" i="1" baseline="30000" dirty="0" smtClean="0"/>
              <a:t>e</a:t>
            </a:r>
            <a:r>
              <a:rPr lang="fr-BE" i="1" dirty="0" smtClean="0"/>
              <a:t> sur l’année)</a:t>
            </a:r>
          </a:p>
          <a:p>
            <a:r>
              <a:rPr lang="fr-BE" i="1" dirty="0" smtClean="0"/>
              <a:t>Packs de spéciales + carnet</a:t>
            </a:r>
          </a:p>
          <a:p>
            <a:endParaRPr lang="fr-BE" dirty="0"/>
          </a:p>
        </p:txBody>
      </p:sp>
      <p:sp>
        <p:nvSpPr>
          <p:cNvPr id="6" name="Espace réservé du contenu 5"/>
          <p:cNvSpPr>
            <a:spLocks noGrp="1"/>
          </p:cNvSpPr>
          <p:nvPr>
            <p:ph sz="half" idx="2"/>
          </p:nvPr>
        </p:nvSpPr>
        <p:spPr>
          <a:xfrm>
            <a:off x="5479869" y="1906587"/>
            <a:ext cx="5873931" cy="427037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BE" sz="3200" b="1" dirty="0" smtClean="0"/>
              <a:t>KAP &gt;&lt; kot traditionnel = ?</a:t>
            </a:r>
          </a:p>
          <a:p>
            <a:r>
              <a:rPr lang="fr-BE" i="1" dirty="0" smtClean="0"/>
              <a:t>Jamais seul</a:t>
            </a:r>
          </a:p>
          <a:p>
            <a:r>
              <a:rPr lang="fr-BE" i="1" dirty="0" smtClean="0"/>
              <a:t>Petite famille</a:t>
            </a:r>
          </a:p>
          <a:p>
            <a:r>
              <a:rPr lang="fr-BE" i="1" dirty="0" smtClean="0"/>
              <a:t>Participer à un mouvement pour lequel nous nous levons tous.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1300" y="581024"/>
            <a:ext cx="3524250" cy="9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016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3861" y="426730"/>
            <a:ext cx="10058400" cy="1115477"/>
          </a:xfrm>
        </p:spPr>
        <p:txBody>
          <a:bodyPr/>
          <a:lstStyle/>
          <a:p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Corrigés</a:t>
            </a:r>
            <a:endParaRPr lang="fr-B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00776" y="2196407"/>
            <a:ext cx="10027920" cy="4023360"/>
          </a:xfrm>
        </p:spPr>
        <p:txBody>
          <a:bodyPr>
            <a:normAutofit/>
          </a:bodyPr>
          <a:lstStyle/>
          <a:p>
            <a:r>
              <a:rPr lang="fr-BE" dirty="0" smtClean="0"/>
              <a:t>Grammaire </a:t>
            </a:r>
            <a:r>
              <a:rPr lang="fr-BE" dirty="0"/>
              <a:t>progressive du français : </a:t>
            </a:r>
          </a:p>
          <a:p>
            <a:pPr lvl="1"/>
            <a:r>
              <a:rPr lang="fr-BE" dirty="0" smtClean="0"/>
              <a:t>P.77, n°03</a:t>
            </a:r>
          </a:p>
          <a:p>
            <a:pPr lvl="1"/>
            <a:r>
              <a:rPr lang="fr-BE" dirty="0" smtClean="0"/>
              <a:t>P.79, n°02</a:t>
            </a:r>
          </a:p>
          <a:p>
            <a:pPr lvl="1"/>
            <a:r>
              <a:rPr lang="fr-BE" dirty="0" smtClean="0"/>
              <a:t>P</a:t>
            </a:r>
            <a:r>
              <a:rPr lang="fr-BE" dirty="0"/>
              <a:t>. 109, n°01 et 03</a:t>
            </a:r>
          </a:p>
          <a:p>
            <a:pPr lvl="1"/>
            <a:r>
              <a:rPr lang="fr-BE" dirty="0"/>
              <a:t>P.111, n°02, 03, 04</a:t>
            </a:r>
          </a:p>
          <a:p>
            <a:pPr lvl="1"/>
            <a:r>
              <a:rPr lang="fr-BE" dirty="0"/>
              <a:t>P.113, n°02</a:t>
            </a:r>
          </a:p>
          <a:p>
            <a:pPr lvl="1"/>
            <a:r>
              <a:rPr lang="fr-BE" dirty="0"/>
              <a:t>P.115, n°03</a:t>
            </a:r>
          </a:p>
          <a:p>
            <a:pPr lvl="1"/>
            <a:r>
              <a:rPr lang="fr-BE" dirty="0"/>
              <a:t>P.117, n°01 et 02</a:t>
            </a:r>
          </a:p>
          <a:p>
            <a:pPr lvl="1"/>
            <a:r>
              <a:rPr lang="fr-BE" dirty="0"/>
              <a:t>P.119, n°01 et </a:t>
            </a:r>
            <a:r>
              <a:rPr lang="fr-BE" dirty="0" smtClean="0"/>
              <a:t>02</a:t>
            </a:r>
          </a:p>
          <a:p>
            <a:pPr lvl="1"/>
            <a:r>
              <a:rPr lang="fr-BE" dirty="0" smtClean="0"/>
              <a:t>P.121, n°03</a:t>
            </a:r>
            <a:endParaRPr lang="fr-BE" dirty="0"/>
          </a:p>
          <a:p>
            <a:endParaRPr lang="fr-BE" dirty="0"/>
          </a:p>
        </p:txBody>
      </p:sp>
      <p:sp>
        <p:nvSpPr>
          <p:cNvPr id="4" name="ZoneTexte 3"/>
          <p:cNvSpPr txBox="1"/>
          <p:nvPr/>
        </p:nvSpPr>
        <p:spPr>
          <a:xfrm>
            <a:off x="3876676" y="524917"/>
            <a:ext cx="7727224" cy="175432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BE" dirty="0" smtClean="0"/>
              <a:t>p.77 n°03 - ER</a:t>
            </a:r>
          </a:p>
          <a:p>
            <a:r>
              <a:rPr lang="fr-BE" dirty="0" smtClean="0"/>
              <a:t>Nous partageons, nettoyons, essuyons, jetons [</a:t>
            </a:r>
            <a:r>
              <a:rPr lang="fr-BE" dirty="0" err="1" smtClean="0"/>
              <a:t>G+e+O</a:t>
            </a:r>
            <a:r>
              <a:rPr lang="fr-BE" dirty="0" smtClean="0"/>
              <a:t>, finale sonore]</a:t>
            </a:r>
          </a:p>
          <a:p>
            <a:r>
              <a:rPr lang="fr-BE" dirty="0" smtClean="0"/>
              <a:t>Je rejette, suggère, appelle [finale muette +  exception]</a:t>
            </a:r>
          </a:p>
          <a:p>
            <a:r>
              <a:rPr lang="fr-BE" dirty="0" smtClean="0"/>
              <a:t>Nous dirigeons, engageons, plaçons [ </a:t>
            </a:r>
            <a:r>
              <a:rPr lang="fr-BE" dirty="0" err="1" smtClean="0"/>
              <a:t>G+e+O</a:t>
            </a:r>
            <a:r>
              <a:rPr lang="fr-BE" dirty="0" smtClean="0"/>
              <a:t>, ç +O]</a:t>
            </a:r>
          </a:p>
          <a:p>
            <a:r>
              <a:rPr lang="fr-BE" dirty="0" smtClean="0"/>
              <a:t>J’essaie/ essaye, je change, je paie/paye [muette]</a:t>
            </a:r>
          </a:p>
          <a:p>
            <a:r>
              <a:rPr lang="fr-BE" dirty="0" smtClean="0"/>
              <a:t>Je voyage, j’emmène, j’envoie [</a:t>
            </a:r>
            <a:r>
              <a:rPr lang="fr-BE" dirty="0" err="1" smtClean="0"/>
              <a:t>G+e</a:t>
            </a:r>
            <a:r>
              <a:rPr lang="fr-BE" dirty="0" smtClean="0"/>
              <a:t>, muette]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3876675" y="2414022"/>
            <a:ext cx="7694295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BE" dirty="0" smtClean="0"/>
              <a:t>p. 79, n°02 - ER</a:t>
            </a:r>
          </a:p>
          <a:p>
            <a:r>
              <a:rPr lang="fr-BE" dirty="0" smtClean="0"/>
              <a:t>Je rentre, j’enlève (accent car muette), j’écoute, je téléphone, je prépare, aiment, je préfère (accent car muette), dînons, regardons, jouons.</a:t>
            </a:r>
            <a:endParaRPr lang="fr-BE" dirty="0"/>
          </a:p>
        </p:txBody>
      </p:sp>
      <p:sp>
        <p:nvSpPr>
          <p:cNvPr id="6" name="ZoneTexte 5"/>
          <p:cNvSpPr txBox="1"/>
          <p:nvPr/>
        </p:nvSpPr>
        <p:spPr>
          <a:xfrm>
            <a:off x="3876676" y="3491181"/>
            <a:ext cx="7694295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BE" dirty="0" smtClean="0"/>
              <a:t>p. 109 n° 01-02 IR – OIR – RE : verbes à 2 bases (1 au singulier + 1 au pluriel)</a:t>
            </a:r>
          </a:p>
          <a:p>
            <a:r>
              <a:rPr lang="fr-BE" dirty="0" smtClean="0"/>
              <a:t>Vous salissez; plantes guérissent ; vins vieillissent; tu réfléchis; nous grossissons; les gens applaudissent ; jeunes filles ne rougissent ; elles ne s’évanouissent.</a:t>
            </a:r>
            <a:endParaRPr lang="fr-BE" dirty="0"/>
          </a:p>
          <a:p>
            <a:endParaRPr lang="fr-BE" dirty="0"/>
          </a:p>
          <a:p>
            <a:r>
              <a:rPr lang="fr-BE" dirty="0" smtClean="0"/>
              <a:t>Vous partez ~ Non, je pars</a:t>
            </a:r>
          </a:p>
          <a:p>
            <a:r>
              <a:rPr lang="fr-BE" dirty="0" smtClean="0"/>
              <a:t>Vous sortez ~ Non, je sors</a:t>
            </a:r>
          </a:p>
          <a:p>
            <a:r>
              <a:rPr lang="fr-BE" dirty="0" smtClean="0"/>
              <a:t>Vous suivez ~ Non, je suis</a:t>
            </a:r>
          </a:p>
          <a:p>
            <a:r>
              <a:rPr lang="fr-BE" dirty="0" smtClean="0"/>
              <a:t>Vous dormez ~ Non, je dors</a:t>
            </a:r>
          </a:p>
        </p:txBody>
      </p:sp>
    </p:spTree>
    <p:extLst>
      <p:ext uri="{BB962C8B-B14F-4D97-AF65-F5344CB8AC3E}">
        <p14:creationId xmlns:p14="http://schemas.microsoft.com/office/powerpoint/2010/main" val="2004959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443" y="540067"/>
            <a:ext cx="10058400" cy="1115477"/>
          </a:xfrm>
        </p:spPr>
        <p:txBody>
          <a:bodyPr/>
          <a:lstStyle/>
          <a:p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Corrigés</a:t>
            </a:r>
            <a:endParaRPr lang="fr-B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74333" y="1925080"/>
            <a:ext cx="10027920" cy="2734491"/>
          </a:xfrm>
        </p:spPr>
        <p:txBody>
          <a:bodyPr>
            <a:normAutofit fontScale="92500" lnSpcReduction="10000"/>
          </a:bodyPr>
          <a:lstStyle/>
          <a:p>
            <a:r>
              <a:rPr lang="fr-BE" dirty="0" smtClean="0"/>
              <a:t>Grammaire </a:t>
            </a:r>
            <a:r>
              <a:rPr lang="fr-BE" dirty="0"/>
              <a:t>progressive du français : </a:t>
            </a:r>
          </a:p>
          <a:p>
            <a:pPr marL="201168" lvl="1" indent="0">
              <a:buNone/>
            </a:pPr>
            <a:endParaRPr lang="fr-BE" dirty="0"/>
          </a:p>
          <a:p>
            <a:pPr lvl="1"/>
            <a:r>
              <a:rPr lang="fr-BE" dirty="0"/>
              <a:t>P.111, n°02, 03, 04</a:t>
            </a:r>
          </a:p>
          <a:p>
            <a:pPr lvl="1"/>
            <a:r>
              <a:rPr lang="fr-BE" dirty="0"/>
              <a:t>P.113, n°02</a:t>
            </a:r>
          </a:p>
          <a:p>
            <a:pPr lvl="1"/>
            <a:r>
              <a:rPr lang="fr-BE" dirty="0"/>
              <a:t>P.115, n°03</a:t>
            </a:r>
          </a:p>
          <a:p>
            <a:pPr lvl="1"/>
            <a:r>
              <a:rPr lang="fr-BE" dirty="0"/>
              <a:t>P.117, n°01 et 02</a:t>
            </a:r>
          </a:p>
          <a:p>
            <a:pPr lvl="1"/>
            <a:r>
              <a:rPr lang="fr-BE" dirty="0"/>
              <a:t>P.119, n°01 et </a:t>
            </a:r>
            <a:r>
              <a:rPr lang="fr-BE" dirty="0" smtClean="0"/>
              <a:t>02</a:t>
            </a:r>
          </a:p>
          <a:p>
            <a:pPr lvl="1"/>
            <a:r>
              <a:rPr lang="fr-BE" dirty="0" smtClean="0"/>
              <a:t>P.121, n°03</a:t>
            </a:r>
            <a:endParaRPr lang="fr-BE" dirty="0"/>
          </a:p>
          <a:p>
            <a:endParaRPr lang="fr-BE" dirty="0"/>
          </a:p>
        </p:txBody>
      </p:sp>
      <p:sp>
        <p:nvSpPr>
          <p:cNvPr id="4" name="ZoneTexte 3"/>
          <p:cNvSpPr txBox="1"/>
          <p:nvPr/>
        </p:nvSpPr>
        <p:spPr>
          <a:xfrm>
            <a:off x="4164059" y="85884"/>
            <a:ext cx="7727224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BE" dirty="0" smtClean="0"/>
              <a:t>p.111, n°02</a:t>
            </a:r>
          </a:p>
          <a:p>
            <a:r>
              <a:rPr lang="fr-BE" dirty="0" smtClean="0"/>
              <a:t>Tu mets, tu conduis ; Je grossis, vous maigrissez ; vos enfants sortent, ils éteignent ; Vous reconnaissez, </a:t>
            </a:r>
            <a:r>
              <a:rPr lang="fr-BE" dirty="0" smtClean="0">
                <a:solidFill>
                  <a:srgbClr val="FF0000"/>
                </a:solidFill>
              </a:rPr>
              <a:t>vous les </a:t>
            </a:r>
            <a:r>
              <a:rPr lang="fr-BE" dirty="0" smtClean="0"/>
              <a:t>avez; les automobilistes </a:t>
            </a:r>
            <a:r>
              <a:rPr lang="fr-BE" dirty="0" smtClean="0">
                <a:solidFill>
                  <a:srgbClr val="FF0000"/>
                </a:solidFill>
              </a:rPr>
              <a:t>voient</a:t>
            </a:r>
            <a:r>
              <a:rPr lang="fr-BE" dirty="0" smtClean="0"/>
              <a:t>, ils ralentissent; vos amis choisissent, </a:t>
            </a:r>
            <a:r>
              <a:rPr lang="fr-BE" dirty="0" smtClean="0">
                <a:solidFill>
                  <a:srgbClr val="FF0000"/>
                </a:solidFill>
              </a:rPr>
              <a:t>ils vous </a:t>
            </a:r>
            <a:r>
              <a:rPr lang="fr-BE" dirty="0" smtClean="0"/>
              <a:t>offrent.</a:t>
            </a:r>
          </a:p>
          <a:p>
            <a:r>
              <a:rPr lang="fr-BE" dirty="0" smtClean="0"/>
              <a:t>n°03</a:t>
            </a:r>
          </a:p>
          <a:p>
            <a:r>
              <a:rPr lang="fr-BE" dirty="0" smtClean="0"/>
              <a:t>Les lecteurs lis</a:t>
            </a:r>
            <a:r>
              <a:rPr lang="fr-BE" dirty="0" smtClean="0">
                <a:solidFill>
                  <a:srgbClr val="00B050"/>
                </a:solidFill>
              </a:rPr>
              <a:t>ent</a:t>
            </a:r>
            <a:r>
              <a:rPr lang="fr-BE" dirty="0" smtClean="0"/>
              <a:t>; Les vendeurs vend</a:t>
            </a:r>
            <a:r>
              <a:rPr lang="fr-BE" dirty="0" smtClean="0">
                <a:solidFill>
                  <a:srgbClr val="00B050"/>
                </a:solidFill>
              </a:rPr>
              <a:t>ent</a:t>
            </a:r>
            <a:r>
              <a:rPr lang="fr-BE" dirty="0" smtClean="0"/>
              <a:t> ; les serveurs serv</a:t>
            </a:r>
            <a:r>
              <a:rPr lang="fr-BE" dirty="0" smtClean="0">
                <a:solidFill>
                  <a:srgbClr val="00B050"/>
                </a:solidFill>
              </a:rPr>
              <a:t>ent</a:t>
            </a:r>
            <a:r>
              <a:rPr lang="fr-BE" dirty="0" smtClean="0"/>
              <a:t>; les peintres pei</a:t>
            </a:r>
            <a:r>
              <a:rPr lang="fr-BE" dirty="0" smtClean="0">
                <a:solidFill>
                  <a:srgbClr val="FF0000"/>
                </a:solidFill>
              </a:rPr>
              <a:t>gn</a:t>
            </a:r>
            <a:r>
              <a:rPr lang="fr-BE" dirty="0" smtClean="0">
                <a:solidFill>
                  <a:srgbClr val="00B050"/>
                </a:solidFill>
              </a:rPr>
              <a:t>ent</a:t>
            </a:r>
            <a:r>
              <a:rPr lang="fr-BE" dirty="0" smtClean="0"/>
              <a:t>; les traducteurs traduis</a:t>
            </a:r>
            <a:r>
              <a:rPr lang="fr-BE" dirty="0" smtClean="0">
                <a:solidFill>
                  <a:srgbClr val="00B050"/>
                </a:solidFill>
              </a:rPr>
              <a:t>ent</a:t>
            </a:r>
            <a:r>
              <a:rPr lang="fr-BE" dirty="0" smtClean="0"/>
              <a:t>; les coureurs cour</a:t>
            </a:r>
            <a:r>
              <a:rPr lang="fr-BE" dirty="0" smtClean="0">
                <a:solidFill>
                  <a:srgbClr val="00B050"/>
                </a:solidFill>
              </a:rPr>
              <a:t>ent</a:t>
            </a:r>
            <a:r>
              <a:rPr lang="fr-BE" dirty="0" smtClean="0"/>
              <a:t>; les menteurs ment</a:t>
            </a:r>
            <a:r>
              <a:rPr lang="fr-BE" dirty="0" smtClean="0">
                <a:solidFill>
                  <a:srgbClr val="00B050"/>
                </a:solidFill>
              </a:rPr>
              <a:t>ent</a:t>
            </a:r>
            <a:r>
              <a:rPr lang="fr-BE" dirty="0" smtClean="0"/>
              <a:t>.</a:t>
            </a:r>
          </a:p>
          <a:p>
            <a:r>
              <a:rPr lang="fr-BE" dirty="0" smtClean="0"/>
              <a:t>n°04</a:t>
            </a:r>
          </a:p>
          <a:p>
            <a:r>
              <a:rPr lang="fr-BE" dirty="0" smtClean="0"/>
              <a:t>Ils perd</a:t>
            </a:r>
            <a:r>
              <a:rPr lang="fr-BE" dirty="0" smtClean="0">
                <a:solidFill>
                  <a:srgbClr val="00B050"/>
                </a:solidFill>
              </a:rPr>
              <a:t>ent</a:t>
            </a:r>
            <a:r>
              <a:rPr lang="fr-BE" dirty="0" smtClean="0"/>
              <a:t>; ils part</a:t>
            </a:r>
            <a:r>
              <a:rPr lang="fr-BE" dirty="0" smtClean="0">
                <a:solidFill>
                  <a:srgbClr val="00B050"/>
                </a:solidFill>
              </a:rPr>
              <a:t>ent</a:t>
            </a:r>
            <a:r>
              <a:rPr lang="fr-BE" dirty="0" smtClean="0"/>
              <a:t>; ils descend</a:t>
            </a:r>
            <a:r>
              <a:rPr lang="fr-BE" dirty="0" smtClean="0">
                <a:solidFill>
                  <a:srgbClr val="00B050"/>
                </a:solidFill>
              </a:rPr>
              <a:t>ent</a:t>
            </a:r>
            <a:r>
              <a:rPr lang="fr-BE" dirty="0" smtClean="0"/>
              <a:t>; ils vend</a:t>
            </a:r>
            <a:r>
              <a:rPr lang="fr-BE" dirty="0" smtClean="0">
                <a:solidFill>
                  <a:srgbClr val="00B050"/>
                </a:solidFill>
              </a:rPr>
              <a:t>ent</a:t>
            </a:r>
            <a:r>
              <a:rPr lang="fr-BE" dirty="0" smtClean="0"/>
              <a:t>; ils étei</a:t>
            </a:r>
            <a:r>
              <a:rPr lang="fr-BE" dirty="0" smtClean="0">
                <a:solidFill>
                  <a:srgbClr val="FF0000"/>
                </a:solidFill>
              </a:rPr>
              <a:t>gn</a:t>
            </a:r>
            <a:r>
              <a:rPr lang="fr-BE" dirty="0" smtClean="0">
                <a:solidFill>
                  <a:srgbClr val="00B050"/>
                </a:solidFill>
              </a:rPr>
              <a:t>ent</a:t>
            </a:r>
            <a:r>
              <a:rPr lang="fr-BE" dirty="0" smtClean="0"/>
              <a:t>; ils maigriss</a:t>
            </a:r>
            <a:r>
              <a:rPr lang="fr-BE" dirty="0" smtClean="0">
                <a:solidFill>
                  <a:srgbClr val="00B050"/>
                </a:solidFill>
              </a:rPr>
              <a:t>ent</a:t>
            </a:r>
            <a:r>
              <a:rPr lang="fr-BE" dirty="0" smtClean="0"/>
              <a:t>; ils construis</a:t>
            </a:r>
            <a:r>
              <a:rPr lang="fr-BE" dirty="0" smtClean="0">
                <a:solidFill>
                  <a:srgbClr val="00B050"/>
                </a:solidFill>
              </a:rPr>
              <a:t>ent</a:t>
            </a:r>
            <a:r>
              <a:rPr lang="fr-BE" dirty="0" smtClean="0"/>
              <a:t>.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4164059" y="3270275"/>
            <a:ext cx="7694295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BE" dirty="0" smtClean="0"/>
              <a:t>p. 117, n°01</a:t>
            </a:r>
          </a:p>
          <a:p>
            <a:r>
              <a:rPr lang="fr-BE" dirty="0" smtClean="0"/>
              <a:t>Je prends, je prends, je mets, je prends, je prends, je mets, je mets, prend/met.</a:t>
            </a:r>
          </a:p>
          <a:p>
            <a:r>
              <a:rPr lang="fr-BE" dirty="0" smtClean="0"/>
              <a:t>Mon mari et mes fils font, ils jouent, nous </a:t>
            </a:r>
            <a:r>
              <a:rPr lang="fr-BE" dirty="0" smtClean="0">
                <a:solidFill>
                  <a:srgbClr val="FF0000"/>
                </a:solidFill>
              </a:rPr>
              <a:t>faisons</a:t>
            </a:r>
            <a:r>
              <a:rPr lang="fr-BE" dirty="0" smtClean="0"/>
              <a:t>, jouons; il fait; jouons, joue, joue, joue</a:t>
            </a:r>
            <a:endParaRPr lang="fr-BE" dirty="0"/>
          </a:p>
        </p:txBody>
      </p:sp>
      <p:sp>
        <p:nvSpPr>
          <p:cNvPr id="6" name="ZoneTexte 5"/>
          <p:cNvSpPr txBox="1"/>
          <p:nvPr/>
        </p:nvSpPr>
        <p:spPr>
          <a:xfrm>
            <a:off x="4164058" y="4537725"/>
            <a:ext cx="7694295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BE" dirty="0" smtClean="0"/>
              <a:t>P.119, n°01</a:t>
            </a:r>
          </a:p>
          <a:p>
            <a:r>
              <a:rPr lang="fr-BE" dirty="0" smtClean="0"/>
              <a:t>Oui, je peux courir / non, je </a:t>
            </a:r>
            <a:r>
              <a:rPr lang="fr-BE" dirty="0" smtClean="0">
                <a:solidFill>
                  <a:srgbClr val="FF0000"/>
                </a:solidFill>
              </a:rPr>
              <a:t>ne</a:t>
            </a:r>
            <a:r>
              <a:rPr lang="fr-BE" dirty="0" smtClean="0"/>
              <a:t> </a:t>
            </a:r>
            <a:r>
              <a:rPr lang="fr-BE" dirty="0" smtClean="0">
                <a:solidFill>
                  <a:srgbClr val="00B050"/>
                </a:solidFill>
              </a:rPr>
              <a:t>peux</a:t>
            </a:r>
            <a:r>
              <a:rPr lang="fr-BE" dirty="0" smtClean="0"/>
              <a:t> </a:t>
            </a:r>
            <a:r>
              <a:rPr lang="fr-BE" dirty="0" smtClean="0">
                <a:solidFill>
                  <a:srgbClr val="FF0000"/>
                </a:solidFill>
              </a:rPr>
              <a:t>pas</a:t>
            </a:r>
            <a:r>
              <a:rPr lang="fr-BE" dirty="0" smtClean="0"/>
              <a:t> </a:t>
            </a:r>
            <a:r>
              <a:rPr lang="fr-BE" dirty="0" smtClean="0">
                <a:solidFill>
                  <a:srgbClr val="00B050"/>
                </a:solidFill>
              </a:rPr>
              <a:t>courir</a:t>
            </a:r>
            <a:r>
              <a:rPr lang="fr-BE" dirty="0"/>
              <a:t> </a:t>
            </a:r>
            <a:r>
              <a:rPr lang="fr-BE" dirty="0" smtClean="0"/>
              <a:t>(etc.)</a:t>
            </a:r>
          </a:p>
          <a:p>
            <a:r>
              <a:rPr lang="fr-BE" dirty="0" smtClean="0"/>
              <a:t>n°02</a:t>
            </a:r>
          </a:p>
          <a:p>
            <a:r>
              <a:rPr lang="fr-BE" dirty="0" smtClean="0"/>
              <a:t>On doit faire (obligation); on peut avoir (permission);</a:t>
            </a:r>
          </a:p>
          <a:p>
            <a:r>
              <a:rPr lang="fr-BE" dirty="0" smtClean="0"/>
              <a:t> on doit passer (obligation ; on ne peut pas (interdiction); on ne peut pas (interdiction); on doit attacher (obligation); on peut écouter (permission), on peut s’allonger (permission), on peut acheter (permission)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374333" y="4548277"/>
            <a:ext cx="3579222" cy="175432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BE" dirty="0" smtClean="0"/>
              <a:t>p.121</a:t>
            </a:r>
          </a:p>
          <a:p>
            <a:r>
              <a:rPr lang="fr-BE" dirty="0" smtClean="0"/>
              <a:t>Je voudrais (souhait)/ je pourrais (permission); vous voulez; je sais (+ verbe) ; veut ; je connais (+ nom); peut (possibilité); il veut; il peut dire; connais (+ nom).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252919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Grammaire : le passé composé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4438268"/>
          </a:xfrm>
          <a:ln>
            <a:solidFill>
              <a:srgbClr val="002060"/>
            </a:solidFill>
          </a:ln>
        </p:spPr>
        <p:txBody>
          <a:bodyPr/>
          <a:lstStyle/>
          <a:p>
            <a:endParaRPr lang="fr-BE" sz="2800" dirty="0" smtClean="0"/>
          </a:p>
          <a:p>
            <a:pPr marL="0" indent="0">
              <a:buNone/>
            </a:pPr>
            <a:r>
              <a:rPr lang="fr-BE" sz="2800" dirty="0" smtClean="0"/>
              <a:t>Découvrir (en solo) p.55</a:t>
            </a:r>
          </a:p>
          <a:p>
            <a:pPr lvl="1"/>
            <a:r>
              <a:rPr lang="fr-BE" sz="2400" dirty="0" smtClean="0"/>
              <a:t>Souligner les verbes</a:t>
            </a:r>
          </a:p>
          <a:p>
            <a:pPr lvl="1"/>
            <a:r>
              <a:rPr lang="fr-BE" sz="2400" dirty="0" smtClean="0"/>
              <a:t>Entourer le participe passé</a:t>
            </a:r>
          </a:p>
          <a:p>
            <a:pPr lvl="1"/>
            <a:endParaRPr lang="fr-BE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4438268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fr-BE" sz="2800" dirty="0" smtClean="0">
                <a:sym typeface="Webdings" panose="05030102010509060703" pitchFamily="18" charset="2"/>
              </a:rPr>
              <a:t></a:t>
            </a:r>
            <a:r>
              <a:rPr lang="fr-BE" sz="2800" dirty="0" smtClean="0"/>
              <a:t>Lire à voix haute (ensemble)</a:t>
            </a:r>
          </a:p>
          <a:p>
            <a:pPr marL="324000" lvl="1" indent="0">
              <a:buNone/>
            </a:pPr>
            <a:r>
              <a:rPr lang="fr-BE" sz="3200" dirty="0" smtClean="0">
                <a:sym typeface="Webdings" panose="05030102010509060703" pitchFamily="18" charset="2"/>
              </a:rPr>
              <a:t>1. </a:t>
            </a:r>
            <a:r>
              <a:rPr lang="fr-BE" sz="3600" dirty="0" smtClean="0"/>
              <a:t>J’entends quoi ?</a:t>
            </a:r>
          </a:p>
          <a:p>
            <a:pPr marL="324000" lvl="1" indent="0">
              <a:buNone/>
            </a:pPr>
            <a:r>
              <a:rPr lang="fr-BE" dirty="0" smtClean="0"/>
              <a:t>	</a:t>
            </a:r>
            <a:r>
              <a:rPr lang="fr-BE" sz="3600" dirty="0" smtClean="0"/>
              <a:t>[i]		 [y]		[e]…	[</a:t>
            </a:r>
            <a:r>
              <a:rPr lang="fr-BE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ƐR]</a:t>
            </a:r>
          </a:p>
          <a:p>
            <a:pPr marL="324000" lvl="1" indent="0">
              <a:buNone/>
            </a:pPr>
            <a:r>
              <a:rPr lang="fr-BE" sz="3600" dirty="0" smtClean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2.  J’écris quoi ?</a:t>
            </a:r>
            <a:endParaRPr lang="fr-BE" sz="36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667" y="1959869"/>
            <a:ext cx="2387370" cy="1638564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6188417" y="6020543"/>
            <a:ext cx="509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 dirty="0" smtClean="0">
                <a:solidFill>
                  <a:srgbClr val="FF0000"/>
                </a:solidFill>
              </a:rPr>
              <a:t>Compléter le graphe p. 56</a:t>
            </a:r>
            <a:endParaRPr lang="fr-BE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610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904" y="1276350"/>
            <a:ext cx="10829035" cy="5549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85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Grammaire : le participe passé ( tableau pp. 56 - 57)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BE" sz="3600" dirty="0" smtClean="0">
                <a:sym typeface="Webdings" panose="05030102010509060703" pitchFamily="18" charset="2"/>
              </a:rPr>
              <a:t></a:t>
            </a:r>
            <a:r>
              <a:rPr lang="fr-BE" sz="2000" dirty="0" smtClean="0"/>
              <a:t>Écouter le professeur et lire en même temps</a:t>
            </a:r>
          </a:p>
          <a:p>
            <a:r>
              <a:rPr lang="fr-BE" sz="2000" dirty="0"/>
              <a:t> </a:t>
            </a:r>
            <a:r>
              <a:rPr lang="fr-BE" sz="3200" dirty="0" smtClean="0">
                <a:sym typeface="Webdings" panose="05030102010509060703" pitchFamily="18" charset="2"/>
              </a:rPr>
              <a:t></a:t>
            </a:r>
            <a:r>
              <a:rPr lang="fr-BE" sz="2000" dirty="0" smtClean="0">
                <a:sym typeface="Webdings" panose="05030102010509060703" pitchFamily="18" charset="2"/>
              </a:rPr>
              <a:t> </a:t>
            </a:r>
            <a:r>
              <a:rPr lang="fr-BE" sz="2000" dirty="0" smtClean="0"/>
              <a:t>Entourer les participes passés surprenants</a:t>
            </a:r>
          </a:p>
          <a:p>
            <a:endParaRPr lang="fr-BE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BE" sz="3200" dirty="0" smtClean="0">
                <a:sym typeface="Wingdings" panose="05000000000000000000" pitchFamily="2" charset="2"/>
              </a:rPr>
              <a:t> </a:t>
            </a:r>
            <a:r>
              <a:rPr lang="fr-BE" dirty="0" smtClean="0"/>
              <a:t>Imaginer une histoire avec les participes passés que vous avez entourés et si cela rime, c’est encore plus facile !!</a:t>
            </a:r>
          </a:p>
          <a:p>
            <a:pPr marL="0" indent="0">
              <a:buNone/>
            </a:pPr>
            <a:r>
              <a:rPr lang="fr-BE" dirty="0" smtClean="0"/>
              <a:t> Exemple :  « </a:t>
            </a:r>
            <a:r>
              <a:rPr lang="fr-BE" sz="2400" b="1" dirty="0" smtClean="0">
                <a:latin typeface="Bradley Hand ITC" panose="03070402050302030203" pitchFamily="66" charset="0"/>
              </a:rPr>
              <a:t>Hier, j’ai offert un verre à mes colocataires…</a:t>
            </a:r>
            <a:r>
              <a:rPr lang="fr-BE" dirty="0" smtClean="0"/>
              <a:t> »</a:t>
            </a:r>
            <a:endParaRPr lang="fr-BE" dirty="0"/>
          </a:p>
        </p:txBody>
      </p:sp>
      <p:sp>
        <p:nvSpPr>
          <p:cNvPr id="5" name="AutoShape 2" descr="Résultat de recherche d'images pour &quot;étonnant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BE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159" y="4704428"/>
            <a:ext cx="1719424" cy="1666635"/>
          </a:xfrm>
          <a:prstGeom prst="rect">
            <a:avLst/>
          </a:prstGeom>
        </p:spPr>
      </p:pic>
      <p:sp>
        <p:nvSpPr>
          <p:cNvPr id="7" name="Bulle ronde 6"/>
          <p:cNvSpPr/>
          <p:nvPr/>
        </p:nvSpPr>
        <p:spPr>
          <a:xfrm>
            <a:off x="8083296" y="4882896"/>
            <a:ext cx="2962656" cy="1590802"/>
          </a:xfrm>
          <a:prstGeom prst="wedgeEllipseCallou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800" baseline="-25000" dirty="0"/>
              <a:t>GPF 187 n°3, 4, 188 n°1</a:t>
            </a:r>
            <a:endParaRPr lang="fr-BE" sz="2800" dirty="0"/>
          </a:p>
        </p:txBody>
      </p:sp>
    </p:spTree>
    <p:extLst>
      <p:ext uri="{BB962C8B-B14F-4D97-AF65-F5344CB8AC3E}">
        <p14:creationId xmlns:p14="http://schemas.microsoft.com/office/powerpoint/2010/main" val="2133241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Texte – Découvrir – lire et classer (P. 58)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ln>
            <a:solidFill>
              <a:srgbClr val="002060"/>
            </a:solidFill>
          </a:ln>
        </p:spPr>
        <p:txBody>
          <a:bodyPr>
            <a:normAutofit/>
          </a:bodyPr>
          <a:lstStyle/>
          <a:p>
            <a:r>
              <a:rPr lang="fr-BE" sz="2400" dirty="0" smtClean="0"/>
              <a:t>Lire les 4 témoignages</a:t>
            </a:r>
          </a:p>
          <a:p>
            <a:r>
              <a:rPr lang="fr-BE" sz="2400" dirty="0" smtClean="0"/>
              <a:t>Classer les participes passé conjugués avec </a:t>
            </a:r>
            <a:r>
              <a:rPr lang="fr-BE" sz="3600" b="1" dirty="0" smtClean="0"/>
              <a:t>être</a:t>
            </a:r>
            <a:r>
              <a:rPr lang="fr-BE" sz="2400" dirty="0" smtClean="0"/>
              <a:t> ou </a:t>
            </a:r>
            <a:r>
              <a:rPr lang="fr-BE" sz="3600" b="1" dirty="0" smtClean="0"/>
              <a:t>avoir</a:t>
            </a:r>
            <a:endParaRPr lang="fr-BE" sz="24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ln>
            <a:solidFill>
              <a:srgbClr val="002060"/>
            </a:solidFill>
          </a:ln>
        </p:spPr>
        <p:txBody>
          <a:bodyPr/>
          <a:lstStyle/>
          <a:p>
            <a:r>
              <a:rPr lang="fr-BE" sz="2800" dirty="0" smtClean="0">
                <a:sym typeface="Webdings" panose="05030102010509060703" pitchFamily="18" charset="2"/>
              </a:rPr>
              <a:t>Pourquoi certains participes passés sont employés avec « être » ?</a:t>
            </a:r>
            <a:endParaRPr lang="fr-BE" sz="2800" dirty="0"/>
          </a:p>
        </p:txBody>
      </p:sp>
      <p:sp>
        <p:nvSpPr>
          <p:cNvPr id="5" name="ZoneTexte 4"/>
          <p:cNvSpPr txBox="1"/>
          <p:nvPr/>
        </p:nvSpPr>
        <p:spPr>
          <a:xfrm>
            <a:off x="6349429" y="5054885"/>
            <a:ext cx="51781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200" dirty="0" smtClean="0">
                <a:solidFill>
                  <a:srgbClr val="FF0000"/>
                </a:solidFill>
              </a:rPr>
              <a:t>AVOIR ou ÊTRE ??? (p. 59)</a:t>
            </a:r>
            <a:endParaRPr lang="fr-BE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6238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B6BE03AF-E933-4DC3-ADE6-D9C199B77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283" y="856207"/>
            <a:ext cx="10366489" cy="5505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346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Jeux par groupe : petit bac (syllabus p. 54) </a:t>
            </a:r>
            <a:endParaRPr lang="fr-B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75896" y="2140309"/>
            <a:ext cx="4593500" cy="3633787"/>
          </a:xfrm>
          <a:prstGeom prst="rect">
            <a:avLst/>
          </a:prstGeom>
        </p:spPr>
      </p:pic>
      <p:sp>
        <p:nvSpPr>
          <p:cNvPr id="3" name="Espace réservé du contenu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fr-BE" sz="2400" dirty="0" smtClean="0"/>
              <a:t>Qui sera le champion ou la championne de la table ?</a:t>
            </a:r>
          </a:p>
          <a:p>
            <a:r>
              <a:rPr lang="fr-BE" sz="2400" dirty="0" smtClean="0"/>
              <a:t>Vitesse et exactitude !</a:t>
            </a:r>
            <a:endParaRPr lang="fr-BE" sz="2400" dirty="0"/>
          </a:p>
        </p:txBody>
      </p:sp>
    </p:spTree>
    <p:extLst>
      <p:ext uri="{BB962C8B-B14F-4D97-AF65-F5344CB8AC3E}">
        <p14:creationId xmlns:p14="http://schemas.microsoft.com/office/powerpoint/2010/main" val="2065206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17" y="1681162"/>
            <a:ext cx="10747127" cy="4402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007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684" y="1386038"/>
            <a:ext cx="10743327" cy="412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952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85" y="846179"/>
            <a:ext cx="5046996" cy="538648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595" y="846179"/>
            <a:ext cx="6267450" cy="2162175"/>
          </a:xfrm>
          <a:prstGeom prst="rect">
            <a:avLst/>
          </a:prstGeom>
        </p:spPr>
      </p:pic>
      <p:sp>
        <p:nvSpPr>
          <p:cNvPr id="4" name="Bulle ronde 3"/>
          <p:cNvSpPr/>
          <p:nvPr/>
        </p:nvSpPr>
        <p:spPr>
          <a:xfrm>
            <a:off x="7639050" y="3676650"/>
            <a:ext cx="3771900" cy="2308098"/>
          </a:xfrm>
          <a:prstGeom prst="wedgeEllipseCallou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800" dirty="0" smtClean="0"/>
              <a:t>GPF p. 187 n°3, 4, p. 188 n°1</a:t>
            </a:r>
            <a:endParaRPr lang="fr-BE" sz="2800" dirty="0"/>
          </a:p>
        </p:txBody>
      </p:sp>
    </p:spTree>
    <p:extLst>
      <p:ext uri="{BB962C8B-B14F-4D97-AF65-F5344CB8AC3E}">
        <p14:creationId xmlns:p14="http://schemas.microsoft.com/office/powerpoint/2010/main" val="1213094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BE" dirty="0" smtClean="0"/>
              <a:t>Merci et à bientôt !</a:t>
            </a:r>
            <a:endParaRPr lang="fr-BE" dirty="0"/>
          </a:p>
        </p:txBody>
      </p:sp>
      <p:sp>
        <p:nvSpPr>
          <p:cNvPr id="6" name="Sous-titre 5"/>
          <p:cNvSpPr>
            <a:spLocks noGrp="1"/>
          </p:cNvSpPr>
          <p:nvPr>
            <p:ph type="subTitle" idx="1"/>
          </p:nvPr>
        </p:nvSpPr>
        <p:spPr>
          <a:xfrm>
            <a:off x="581191" y="3773639"/>
            <a:ext cx="10993546" cy="590321"/>
          </a:xfrm>
        </p:spPr>
        <p:txBody>
          <a:bodyPr>
            <a:normAutofit/>
          </a:bodyPr>
          <a:lstStyle/>
          <a:p>
            <a:pPr algn="ctr"/>
            <a:r>
              <a:rPr lang="fr-BE" sz="2800" dirty="0" smtClean="0">
                <a:solidFill>
                  <a:schemeClr val="bg1"/>
                </a:solidFill>
              </a:rPr>
              <a:t>Contact : </a:t>
            </a:r>
            <a:r>
              <a:rPr lang="fr-BE" sz="2800" cap="none" dirty="0" smtClean="0">
                <a:solidFill>
                  <a:schemeClr val="bg1"/>
                </a:solidFill>
              </a:rPr>
              <a:t>genevieve.briet@uclouvain.be</a:t>
            </a:r>
            <a:endParaRPr lang="fr-BE" sz="2800" cap="non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7144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vidende">
  <a:themeElements>
    <a:clrScheme name="Dividende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e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Dividende</Template>
  <TotalTime>1676</TotalTime>
  <Words>1558</Words>
  <Application>Microsoft Office PowerPoint</Application>
  <PresentationFormat>Grand écran</PresentationFormat>
  <Paragraphs>239</Paragraphs>
  <Slides>29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9" baseType="lpstr">
      <vt:lpstr>Arial</vt:lpstr>
      <vt:lpstr>Bradley Hand ITC</vt:lpstr>
      <vt:lpstr>Calibri</vt:lpstr>
      <vt:lpstr>Corbel</vt:lpstr>
      <vt:lpstr>Gill Sans MT</vt:lpstr>
      <vt:lpstr>Times New Roman</vt:lpstr>
      <vt:lpstr>Webdings</vt:lpstr>
      <vt:lpstr>Wingdings</vt:lpstr>
      <vt:lpstr>Wingdings 2</vt:lpstr>
      <vt:lpstr>Dividende</vt:lpstr>
      <vt:lpstr>Comprendre la Belgique LFRAN1301 – B1</vt:lpstr>
      <vt:lpstr>La vie étudiante Les activités festives</vt:lpstr>
      <vt:lpstr>laboratoire</vt:lpstr>
      <vt:lpstr>Présentation PowerPoint</vt:lpstr>
      <vt:lpstr>DÉFI n°02 – Écriture – Par ma fenêtre …</vt:lpstr>
      <vt:lpstr>Conjuguez les verbes au présent</vt:lpstr>
      <vt:lpstr>Correction : </vt:lpstr>
      <vt:lpstr>les verbes en IR-OIR-RE </vt:lpstr>
      <vt:lpstr>Tâches pour le prochain cours </vt:lpstr>
      <vt:lpstr>Préparation à la lecture du texte sur le Brassikot</vt:lpstr>
      <vt:lpstr>Correctif : Lire – comprendre  et réagir</vt:lpstr>
      <vt:lpstr>Corrigé, suite</vt:lpstr>
      <vt:lpstr>Les avantages et les inconvénients</vt:lpstr>
      <vt:lpstr>Les avantages et les inconvénients</vt:lpstr>
      <vt:lpstr>Corrigé, suite</vt:lpstr>
      <vt:lpstr>Corrigé, fin</vt:lpstr>
      <vt:lpstr>   </vt:lpstr>
      <vt:lpstr>Corrigés</vt:lpstr>
      <vt:lpstr>Corrigés</vt:lpstr>
      <vt:lpstr>Grammaire : le passé composé</vt:lpstr>
      <vt:lpstr>Présentation PowerPoint</vt:lpstr>
      <vt:lpstr>Grammaire : le participe passé ( tableau pp. 56 - 57)</vt:lpstr>
      <vt:lpstr>Texte – Découvrir – lire et classer (P. 58)</vt:lpstr>
      <vt:lpstr>Présentation PowerPoint</vt:lpstr>
      <vt:lpstr>Jeux par groupe : petit bac (syllabus p. 54) </vt:lpstr>
      <vt:lpstr>Présentation PowerPoint</vt:lpstr>
      <vt:lpstr>Présentation PowerPoint</vt:lpstr>
      <vt:lpstr>Présentation PowerPoint</vt:lpstr>
      <vt:lpstr>Merci et à bientôt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 vie à LLN…</dc:title>
  <dc:creator>renardch@oasis.uclouvain.be</dc:creator>
  <cp:lastModifiedBy>Geneviève Briet</cp:lastModifiedBy>
  <cp:revision>140</cp:revision>
  <cp:lastPrinted>2019-09-24T15:31:58Z</cp:lastPrinted>
  <dcterms:created xsi:type="dcterms:W3CDTF">2017-09-24T08:32:52Z</dcterms:created>
  <dcterms:modified xsi:type="dcterms:W3CDTF">2020-02-05T16:28:38Z</dcterms:modified>
</cp:coreProperties>
</file>