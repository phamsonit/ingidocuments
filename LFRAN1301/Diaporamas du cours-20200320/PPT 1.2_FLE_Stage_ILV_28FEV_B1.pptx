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304" r:id="rId2"/>
    <p:sldId id="269" r:id="rId3"/>
    <p:sldId id="257" r:id="rId4"/>
    <p:sldId id="317" r:id="rId5"/>
    <p:sldId id="293" r:id="rId6"/>
    <p:sldId id="333" r:id="rId7"/>
    <p:sldId id="329" r:id="rId8"/>
    <p:sldId id="327" r:id="rId9"/>
    <p:sldId id="326" r:id="rId10"/>
    <p:sldId id="330" r:id="rId11"/>
    <p:sldId id="335" r:id="rId12"/>
    <p:sldId id="332" r:id="rId13"/>
    <p:sldId id="316" r:id="rId14"/>
    <p:sldId id="270" r:id="rId15"/>
    <p:sldId id="336" r:id="rId16"/>
    <p:sldId id="318" r:id="rId17"/>
    <p:sldId id="319" r:id="rId18"/>
    <p:sldId id="320" r:id="rId19"/>
    <p:sldId id="286" r:id="rId20"/>
    <p:sldId id="288" r:id="rId21"/>
    <p:sldId id="28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C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44" autoAdjust="0"/>
    <p:restoredTop sz="96374" autoAdjust="0"/>
  </p:normalViewPr>
  <p:slideViewPr>
    <p:cSldViewPr snapToGrid="0">
      <p:cViewPr varScale="1">
        <p:scale>
          <a:sx n="55" d="100"/>
          <a:sy n="55" d="100"/>
        </p:scale>
        <p:origin x="102"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0FE06-145A-4D30-9853-3D0C7234F452}" type="datetimeFigureOut">
              <a:rPr lang="fr-FR" smtClean="0"/>
              <a:t>24/02/2020</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22DBEE-CFA4-4361-B3A7-6D31190CFB02}" type="slidenum">
              <a:rPr lang="fr-FR" smtClean="0"/>
              <a:t>‹N°›</a:t>
            </a:fld>
            <a:endParaRPr lang="fr-FR"/>
          </a:p>
        </p:txBody>
      </p:sp>
    </p:spTree>
    <p:extLst>
      <p:ext uri="{BB962C8B-B14F-4D97-AF65-F5344CB8AC3E}">
        <p14:creationId xmlns:p14="http://schemas.microsoft.com/office/powerpoint/2010/main" val="741768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3Dp9VSzRyk8&amp;list=PL_T6jW3tBfSyULUruapxlwz2aeOmuHnlu"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www.youtube.com/watch?v=gXLGV6hinUA" TargetMode="External"/><Relationship Id="rId4" Type="http://schemas.openxmlformats.org/officeDocument/2006/relationships/hyperlink" Target="https://www.podcastfrancaisfacile.com/podcast/prononciation-de-plus.html"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efrancaisentrequatzyeux.blogspot.com/2017/03/laccord-du-participe-passe-avec-avoir.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lecoinderoseaux.blogspot.com/2019/03/verbes-avec-etre-au-passe-compose.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orthophile.jimdofree.com/2019-05-22-carte-mentale-l-accord-du-participe-pass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b="1" dirty="0"/>
              <a:t>Type de public : </a:t>
            </a:r>
            <a:r>
              <a:rPr lang="fr-BE" dirty="0"/>
              <a:t>universitaire</a:t>
            </a:r>
          </a:p>
          <a:p>
            <a:endParaRPr lang="fr-BE" dirty="0"/>
          </a:p>
          <a:p>
            <a:r>
              <a:rPr lang="fr-BE" b="1" dirty="0"/>
              <a:t>Les objectifs pour les apprenants </a:t>
            </a:r>
          </a:p>
          <a:p>
            <a:endParaRPr lang="fr-BE" dirty="0"/>
          </a:p>
          <a:p>
            <a:pPr marL="171450" indent="-171450">
              <a:buFontTx/>
              <a:buChar char="-"/>
            </a:pPr>
            <a:r>
              <a:rPr lang="fr-BE" b="1" dirty="0"/>
              <a:t>Communicatifs : </a:t>
            </a:r>
          </a:p>
          <a:p>
            <a:pPr marL="628650" lvl="1" indent="-171450">
              <a:buFontTx/>
              <a:buChar char="-"/>
            </a:pPr>
            <a:r>
              <a:rPr lang="fr-BE" b="0" dirty="0"/>
              <a:t>Être capable d’exprimer une idée au moyen du superlatif et du comparatif</a:t>
            </a:r>
            <a:endParaRPr lang="fr-FR" b="0" dirty="0"/>
          </a:p>
          <a:p>
            <a:pPr marL="171450" indent="-171450">
              <a:buFontTx/>
              <a:buChar char="-"/>
            </a:pPr>
            <a:r>
              <a:rPr lang="fr-FR" b="1" dirty="0"/>
              <a:t>Linguistiques : </a:t>
            </a:r>
          </a:p>
          <a:p>
            <a:pPr marL="628650" lvl="1" indent="-171450">
              <a:buFontTx/>
              <a:buChar char="-"/>
            </a:pPr>
            <a:r>
              <a:rPr lang="fr-FR" b="0" dirty="0"/>
              <a:t>Exprimer le comparatif au moyen d’adjectifs, de noms, d’adverbes et de verbes dans des phrases articulées et cohérentes </a:t>
            </a:r>
            <a:r>
              <a:rPr lang="fr-FR" dirty="0"/>
              <a:t>sur des sujets concrets ou abstraits relatifs aux domaines familiers</a:t>
            </a:r>
          </a:p>
          <a:p>
            <a:pPr marL="628650" lvl="1" indent="-171450">
              <a:buFontTx/>
              <a:buChar char="-"/>
            </a:pPr>
            <a:r>
              <a:rPr lang="fr-FR" dirty="0"/>
              <a:t>Au niveau de la compréhension orale, l’étudiant est capable de comprendre les points essentiels d’une intervention énoncée dans un langage clair et standard</a:t>
            </a:r>
          </a:p>
          <a:p>
            <a:pPr marL="171450" indent="-171450">
              <a:buFontTx/>
              <a:buChar char="-"/>
            </a:pPr>
            <a:r>
              <a:rPr lang="fr-FR" b="1" dirty="0"/>
              <a:t>Socioculturels : </a:t>
            </a:r>
          </a:p>
          <a:p>
            <a:pPr marL="628650" lvl="1" indent="-171450">
              <a:buFontTx/>
              <a:buChar char="-"/>
            </a:pPr>
            <a:r>
              <a:rPr lang="fr-FR" b="0" dirty="0"/>
              <a:t>Découvrir un Youtubeur belge </a:t>
            </a:r>
          </a:p>
          <a:p>
            <a:pPr marL="628650" lvl="1" indent="-171450">
              <a:buFontTx/>
              <a:buChar char="-"/>
            </a:pPr>
            <a:r>
              <a:rPr lang="fr-FR" b="0" dirty="0"/>
              <a:t>S’intéresser aux vidéos et chaînes </a:t>
            </a:r>
            <a:r>
              <a:rPr lang="fr-FR" b="0" dirty="0" err="1"/>
              <a:t>Youtube</a:t>
            </a:r>
            <a:r>
              <a:rPr lang="fr-FR" b="0" dirty="0"/>
              <a:t> consultées par les autres étudiants</a:t>
            </a:r>
          </a:p>
          <a:p>
            <a:pPr marL="171450" indent="-171450">
              <a:buFontTx/>
              <a:buChar char="-"/>
            </a:pPr>
            <a:endParaRPr lang="fr-FR" dirty="0"/>
          </a:p>
          <a:p>
            <a:pPr marL="0" indent="0">
              <a:buFontTx/>
              <a:buNone/>
            </a:pPr>
            <a:r>
              <a:rPr lang="fr-BE" b="1" dirty="0"/>
              <a:t>Les objectifs pour le stagiaire</a:t>
            </a:r>
            <a:r>
              <a:rPr lang="fr-BE" dirty="0"/>
              <a:t> </a:t>
            </a:r>
          </a:p>
          <a:p>
            <a:pPr marL="628650" lvl="1" indent="-171450">
              <a:buFontTx/>
              <a:buChar char="-"/>
            </a:pPr>
            <a:r>
              <a:rPr lang="fr-BE" dirty="0"/>
              <a:t>Stratégies pédagogiques qu’on entend essayer/appliquer : </a:t>
            </a:r>
          </a:p>
          <a:p>
            <a:pPr marL="0" indent="0">
              <a:buFontTx/>
              <a:buNone/>
            </a:pPr>
            <a:endParaRPr lang="fr-BE" dirty="0"/>
          </a:p>
          <a:p>
            <a:pPr marL="0" indent="0">
              <a:buFontTx/>
              <a:buNone/>
            </a:pPr>
            <a:r>
              <a:rPr lang="fr-BE" b="1" dirty="0"/>
              <a:t>Bibliographie : </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M. Grégoire. Grammaire progressive du français. Niveau intermédiaire, CLE International</a:t>
            </a:r>
          </a:p>
          <a:p>
            <a:pPr marL="171450" indent="-171450">
              <a:buFont typeface="Arial" panose="020B0604020202020204" pitchFamily="34" charset="0"/>
              <a:buChar char="•"/>
            </a:pPr>
            <a:r>
              <a:rPr lang="fr-BE" b="0" dirty="0"/>
              <a:t>PPT de la maître de stage (Mme. BRIET Geneviève)</a:t>
            </a:r>
          </a:p>
          <a:p>
            <a:pPr marL="628650" lvl="1" indent="-171450">
              <a:buFontTx/>
              <a:buChar char="-"/>
            </a:pPr>
            <a:r>
              <a:rPr lang="fr-BE" b="0" dirty="0"/>
              <a:t>Diaporamas de prononciation &gt; Prononcer plus.pptx</a:t>
            </a:r>
          </a:p>
          <a:p>
            <a:pPr marL="628650" lvl="1" indent="-171450">
              <a:buFontTx/>
              <a:buChar char="-"/>
            </a:pPr>
            <a:r>
              <a:rPr lang="fr-BE" b="0" dirty="0"/>
              <a:t>Diaporamas du cours &gt; 02_mentalité 1.1.pptx</a:t>
            </a:r>
          </a:p>
          <a:p>
            <a:pPr marL="0" indent="0">
              <a:buFontTx/>
              <a:buNone/>
            </a:pPr>
            <a:endParaRPr lang="fr-BE" b="1" dirty="0"/>
          </a:p>
          <a:p>
            <a:pPr marL="0" indent="0">
              <a:buFontTx/>
              <a:buNone/>
            </a:pPr>
            <a:r>
              <a:rPr lang="fr-BE" b="1" dirty="0"/>
              <a:t>Sitographie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hlinkClick r:id="rId3"/>
              </a:rPr>
              <a:t>https://www.youtube.com/watch?v=3Dp9VSzRyk8&amp;list=PL_T6jW3tBfSyULUruapxlwz2aeOmuHnlu</a:t>
            </a:r>
            <a:endParaRPr lang="fr-FR"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hlinkClick r:id="rId4"/>
              </a:rPr>
              <a:t>https://www.podcastfrancaisfacile.com/podcast/prononciation-de-plus.html</a:t>
            </a:r>
            <a:endParaRPr lang="fr-FR"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hlinkClick r:id="rId5"/>
              </a:rPr>
              <a:t>https://www.youtube.com/watch?v=gXLGV6hinUA</a:t>
            </a:r>
            <a:endParaRPr lang="fr-BE"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a:t>
            </a:fld>
            <a:endParaRPr lang="fr-FR"/>
          </a:p>
        </p:txBody>
      </p:sp>
    </p:spTree>
    <p:extLst>
      <p:ext uri="{BB962C8B-B14F-4D97-AF65-F5344CB8AC3E}">
        <p14:creationId xmlns:p14="http://schemas.microsoft.com/office/powerpoint/2010/main" val="4200878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On fait découvrir ces deux BD aux étudiants</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2</a:t>
            </a:fld>
            <a:endParaRPr lang="fr-FR"/>
          </a:p>
        </p:txBody>
      </p:sp>
    </p:spTree>
    <p:extLst>
      <p:ext uri="{BB962C8B-B14F-4D97-AF65-F5344CB8AC3E}">
        <p14:creationId xmlns:p14="http://schemas.microsoft.com/office/powerpoint/2010/main" val="2638481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sz="1200" b="1" kern="1200" dirty="0">
                <a:solidFill>
                  <a:schemeClr val="tx1"/>
                </a:solidFill>
                <a:effectLst/>
                <a:latin typeface="+mn-lt"/>
                <a:ea typeface="+mn-ea"/>
                <a:cs typeface="+mn-cs"/>
              </a:rPr>
              <a:t>(Voir descriptif Dia n°2)</a:t>
            </a:r>
            <a:endParaRPr lang="fr-FR" sz="1100" b="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3</a:t>
            </a:fld>
            <a:endParaRPr lang="fr-FR"/>
          </a:p>
        </p:txBody>
      </p:sp>
    </p:spTree>
    <p:extLst>
      <p:ext uri="{BB962C8B-B14F-4D97-AF65-F5344CB8AC3E}">
        <p14:creationId xmlns:p14="http://schemas.microsoft.com/office/powerpoint/2010/main" val="4095230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Action – debout – on circule dans la classe </a:t>
            </a:r>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4</a:t>
            </a:fld>
            <a:endParaRPr lang="fr-FR"/>
          </a:p>
        </p:txBody>
      </p:sp>
    </p:spTree>
    <p:extLst>
      <p:ext uri="{BB962C8B-B14F-4D97-AF65-F5344CB8AC3E}">
        <p14:creationId xmlns:p14="http://schemas.microsoft.com/office/powerpoint/2010/main" val="762575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b="1" dirty="0">
              <a:solidFill>
                <a:schemeClr val="bg1"/>
              </a:solidFill>
            </a:endParaRPr>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5</a:t>
            </a:fld>
            <a:endParaRPr lang="fr-FR"/>
          </a:p>
        </p:txBody>
      </p:sp>
    </p:spTree>
    <p:extLst>
      <p:ext uri="{BB962C8B-B14F-4D97-AF65-F5344CB8AC3E}">
        <p14:creationId xmlns:p14="http://schemas.microsoft.com/office/powerpoint/2010/main" val="1576045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hlinkClick r:id="rId3"/>
              </a:rPr>
              <a:t>https://lefrancaisentrequatzyeux.blogspot.com/2017/03/laccord-du-participe-passe-avec-avoir.html</a:t>
            </a:r>
            <a:endParaRPr lang="fr-FR" dirty="0"/>
          </a:p>
          <a:p>
            <a:endParaRPr lang="fr-FR" dirty="0"/>
          </a:p>
          <a:p>
            <a:r>
              <a:rPr lang="fr-FR" dirty="0"/>
              <a:t>Éviter les termes grammaticaux COI COD</a:t>
            </a:r>
          </a:p>
          <a:p>
            <a:r>
              <a:rPr lang="fr-FR" dirty="0">
                <a:sym typeface="Wingdings" panose="05000000000000000000" pitchFamily="2" charset="2"/>
              </a:rPr>
              <a:t> Privilégier préposition « A qui » </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8</a:t>
            </a:fld>
            <a:endParaRPr lang="fr-FR"/>
          </a:p>
        </p:txBody>
      </p:sp>
    </p:spTree>
    <p:extLst>
      <p:ext uri="{BB962C8B-B14F-4D97-AF65-F5344CB8AC3E}">
        <p14:creationId xmlns:p14="http://schemas.microsoft.com/office/powerpoint/2010/main" val="330096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hlinkClick r:id="rId3"/>
              </a:rPr>
              <a:t>http://lecoinderoseaux.blogspot.com/2019/03/verbes-avec-etre-au-passe-compose.html</a:t>
            </a:r>
            <a:endParaRPr lang="fr-FR" dirty="0"/>
          </a:p>
          <a:p>
            <a:r>
              <a:rPr lang="fr-FR" dirty="0"/>
              <a:t>Bleufr.blogspot.be</a:t>
            </a:r>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9</a:t>
            </a:fld>
            <a:endParaRPr lang="fr-FR"/>
          </a:p>
        </p:txBody>
      </p:sp>
    </p:spTree>
    <p:extLst>
      <p:ext uri="{BB962C8B-B14F-4D97-AF65-F5344CB8AC3E}">
        <p14:creationId xmlns:p14="http://schemas.microsoft.com/office/powerpoint/2010/main" val="493439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hlinkClick r:id="rId3"/>
              </a:rPr>
              <a:t>https://orthophile.jimdofree.com/2019-05-22-carte-mentale-l-accord-du-participe-passe/</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10</a:t>
            </a:fld>
            <a:endParaRPr lang="fr-FR"/>
          </a:p>
        </p:txBody>
      </p:sp>
    </p:spTree>
    <p:extLst>
      <p:ext uri="{BB962C8B-B14F-4D97-AF65-F5344CB8AC3E}">
        <p14:creationId xmlns:p14="http://schemas.microsoft.com/office/powerpoint/2010/main" val="1593558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Imaginer un exercice (remettre les mots dans le bon ordre)</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11</a:t>
            </a:fld>
            <a:endParaRPr lang="fr-FR"/>
          </a:p>
        </p:txBody>
      </p:sp>
    </p:spTree>
    <p:extLst>
      <p:ext uri="{BB962C8B-B14F-4D97-AF65-F5344CB8AC3E}">
        <p14:creationId xmlns:p14="http://schemas.microsoft.com/office/powerpoint/2010/main" val="2880320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Imaginer un exercice (remettre les mots dans le bon ordre)</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12</a:t>
            </a:fld>
            <a:endParaRPr lang="fr-FR"/>
          </a:p>
        </p:txBody>
      </p:sp>
    </p:spTree>
    <p:extLst>
      <p:ext uri="{BB962C8B-B14F-4D97-AF65-F5344CB8AC3E}">
        <p14:creationId xmlns:p14="http://schemas.microsoft.com/office/powerpoint/2010/main" val="3051670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13</a:t>
            </a:fld>
            <a:endParaRPr lang="fr-FR"/>
          </a:p>
        </p:txBody>
      </p:sp>
    </p:spTree>
    <p:extLst>
      <p:ext uri="{BB962C8B-B14F-4D97-AF65-F5344CB8AC3E}">
        <p14:creationId xmlns:p14="http://schemas.microsoft.com/office/powerpoint/2010/main" val="602089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14</a:t>
            </a:fld>
            <a:endParaRPr lang="fr-FR"/>
          </a:p>
        </p:txBody>
      </p:sp>
    </p:spTree>
    <p:extLst>
      <p:ext uri="{BB962C8B-B14F-4D97-AF65-F5344CB8AC3E}">
        <p14:creationId xmlns:p14="http://schemas.microsoft.com/office/powerpoint/2010/main" val="1503954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sz="1200" b="1" kern="1200" dirty="0">
                <a:solidFill>
                  <a:schemeClr val="tx1"/>
                </a:solidFill>
                <a:effectLst/>
                <a:latin typeface="+mn-lt"/>
                <a:ea typeface="+mn-ea"/>
                <a:cs typeface="+mn-cs"/>
              </a:rPr>
              <a:t>Conceptualisation des différentes prononciations de « plus » - thème abordé en phonétique</a:t>
            </a:r>
          </a:p>
          <a:p>
            <a:endParaRPr lang="fr-BE" sz="1200" b="1"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 Temps estimé pour l’activité : </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30 minutes</a:t>
            </a:r>
          </a:p>
          <a:p>
            <a:endParaRPr lang="fr-BE" sz="1200" b="1"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Matériel</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Diapositives n°18-21</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Vidéo de la chanson « Plus loin que dans mes rêves » (Le Cygne et la Princesse)</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Pour les étudiants - Texte lacunaire basé sur la chanson « Plus loin que dans mes rêves »</a:t>
            </a:r>
          </a:p>
          <a:p>
            <a:pPr marL="0" indent="0">
              <a:buFont typeface="Arial" panose="020B0604020202020204" pitchFamily="34" charset="0"/>
              <a:buNone/>
            </a:pPr>
            <a:endParaRPr lang="fr-FR" sz="1100" b="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Contenu</a:t>
            </a:r>
          </a:p>
          <a:p>
            <a:pPr marL="171450" indent="-171450">
              <a:buFont typeface="Arial" panose="020B0604020202020204" pitchFamily="34" charset="0"/>
              <a:buChar char="•"/>
            </a:pPr>
            <a:r>
              <a:rPr lang="fr-BE" sz="1100" kern="1200" dirty="0">
                <a:solidFill>
                  <a:schemeClr val="tx1"/>
                </a:solidFill>
                <a:effectLst/>
                <a:latin typeface="+mn-lt"/>
                <a:ea typeface="+mn-ea"/>
                <a:cs typeface="+mn-cs"/>
              </a:rPr>
              <a:t>Fiches résumées (18-20) contenant les règles générales et des exemples sur les différentes prononciations de « plus »</a:t>
            </a:r>
          </a:p>
          <a:p>
            <a:pPr marL="171450" indent="-171450">
              <a:buFont typeface="Arial" panose="020B0604020202020204" pitchFamily="34" charset="0"/>
              <a:buChar char="•"/>
            </a:pPr>
            <a:endParaRPr lang="fr-FR" sz="110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Démarche</a:t>
            </a:r>
            <a:endParaRPr lang="fr-FR" sz="1100" kern="1200" dirty="0">
              <a:solidFill>
                <a:schemeClr val="tx1"/>
              </a:solidFill>
              <a:effectLst/>
              <a:latin typeface="+mn-lt"/>
              <a:ea typeface="+mn-ea"/>
              <a:cs typeface="+mn-cs"/>
            </a:endParaRP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Le stagiaire présente les différentes prononciations possibles pour le mot « plus »</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Pour chaque règle, le stagiaire demande à un étudiant au hasard de créer une nouvelle phrase en s’aidant de l’exemple donné.</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Ensuite, le stagiaire propose la vidéo « Plus loin que dans mes rêves » aux étudiants.</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1</a:t>
            </a:r>
            <a:r>
              <a:rPr lang="fr-BE" sz="1200" kern="1200" baseline="30000" dirty="0">
                <a:solidFill>
                  <a:schemeClr val="tx1"/>
                </a:solidFill>
                <a:effectLst/>
                <a:latin typeface="+mn-lt"/>
                <a:ea typeface="+mn-ea"/>
                <a:cs typeface="+mn-cs"/>
              </a:rPr>
              <a:t>e</a:t>
            </a:r>
            <a:r>
              <a:rPr lang="fr-BE" sz="1200" kern="1200" dirty="0">
                <a:solidFill>
                  <a:schemeClr val="tx1"/>
                </a:solidFill>
                <a:effectLst/>
                <a:latin typeface="+mn-lt"/>
                <a:ea typeface="+mn-ea"/>
                <a:cs typeface="+mn-cs"/>
              </a:rPr>
              <a:t> écoute - Les étudiants doivent remplir le texte lacunaire contenant les paroles de la chanson (tous les « plus » sont enlevés des paroles).</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2</a:t>
            </a:r>
            <a:r>
              <a:rPr lang="fr-BE" sz="1200" kern="1200" baseline="30000" dirty="0">
                <a:solidFill>
                  <a:schemeClr val="tx1"/>
                </a:solidFill>
                <a:effectLst/>
                <a:latin typeface="+mn-lt"/>
                <a:ea typeface="+mn-ea"/>
                <a:cs typeface="+mn-cs"/>
              </a:rPr>
              <a:t>e</a:t>
            </a:r>
            <a:r>
              <a:rPr lang="fr-BE" sz="1200" kern="1200" dirty="0">
                <a:solidFill>
                  <a:schemeClr val="tx1"/>
                </a:solidFill>
                <a:effectLst/>
                <a:latin typeface="+mn-lt"/>
                <a:ea typeface="+mn-ea"/>
                <a:cs typeface="+mn-cs"/>
              </a:rPr>
              <a:t> écoute – Les étudiants doivent déterminer la bonne prononciation de « plus » dans la vidéo</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Attention ! Un des « plus » est mal prononcé par les chanteurs, les étudiants doivent le repérer en s’aider des règles énoncées avant l’exercice. Cette prononciation erronée doit permettre aux étudiants de réaliser qu’il ne faut pas toujours se fier à la prononciation dans les chansons, les interprètes peuvent altérer la prononciation dans un but stylistique.</a:t>
            </a:r>
          </a:p>
          <a:p>
            <a:pPr marL="0" lvl="0" indent="0">
              <a:buFont typeface="Arial" panose="020B0604020202020204" pitchFamily="34" charset="0"/>
              <a:buNone/>
            </a:pPr>
            <a:endParaRPr lang="fr-FR" sz="110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Consigne exacte dite par l’enseignant</a:t>
            </a:r>
            <a:endParaRPr lang="fr-FR" sz="1100" kern="1200" dirty="0">
              <a:solidFill>
                <a:schemeClr val="tx1"/>
              </a:solidFill>
              <a:effectLst/>
              <a:latin typeface="+mn-lt"/>
              <a:ea typeface="+mn-ea"/>
              <a:cs typeface="+mn-cs"/>
            </a:endParaRPr>
          </a:p>
          <a:p>
            <a:pPr marL="171450" indent="-171450">
              <a:buFont typeface="Arial" panose="020B0604020202020204" pitchFamily="34" charset="0"/>
              <a:buChar char="•"/>
            </a:pPr>
            <a:r>
              <a:rPr lang="fr-BE" sz="1200" kern="1200" dirty="0">
                <a:solidFill>
                  <a:schemeClr val="tx1"/>
                </a:solidFill>
                <a:effectLst/>
                <a:latin typeface="+mn-lt"/>
                <a:ea typeface="+mn-ea"/>
                <a:cs typeface="+mn-cs"/>
              </a:rPr>
              <a:t>(nom de l’étudiant), peux-tu imaginer une autre phrase en employant cet exemple ?</a:t>
            </a:r>
          </a:p>
          <a:p>
            <a:pPr marL="0" indent="0">
              <a:buFont typeface="Arial" panose="020B0604020202020204" pitchFamily="34" charset="0"/>
              <a:buNone/>
            </a:pPr>
            <a:endParaRPr lang="fr-BE" sz="1200" b="1"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Ce que font les apprenants : groupes de deux, trois, atelier, 2 groupes, debout…</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Les étudiants sont assis</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16</a:t>
            </a:fld>
            <a:endParaRPr lang="fr-FR"/>
          </a:p>
        </p:txBody>
      </p:sp>
    </p:spTree>
    <p:extLst>
      <p:ext uri="{BB962C8B-B14F-4D97-AF65-F5344CB8AC3E}">
        <p14:creationId xmlns:p14="http://schemas.microsoft.com/office/powerpoint/2010/main" val="2032377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200" b="1" kern="1200" dirty="0">
                <a:solidFill>
                  <a:schemeClr val="tx1"/>
                </a:solidFill>
                <a:effectLst/>
                <a:latin typeface="+mn-lt"/>
                <a:ea typeface="+mn-ea"/>
                <a:cs typeface="+mn-cs"/>
              </a:rPr>
              <a:t>(Voir descriptif Dia n°18)</a:t>
            </a:r>
            <a:endParaRPr lang="fr-FR" sz="1100" b="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17</a:t>
            </a:fld>
            <a:endParaRPr lang="fr-FR"/>
          </a:p>
        </p:txBody>
      </p:sp>
    </p:spTree>
    <p:extLst>
      <p:ext uri="{BB962C8B-B14F-4D97-AF65-F5344CB8AC3E}">
        <p14:creationId xmlns:p14="http://schemas.microsoft.com/office/powerpoint/2010/main" val="1052499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200" b="1" kern="1200" dirty="0">
                <a:solidFill>
                  <a:schemeClr val="tx1"/>
                </a:solidFill>
                <a:effectLst/>
                <a:latin typeface="+mn-lt"/>
                <a:ea typeface="+mn-ea"/>
                <a:cs typeface="+mn-cs"/>
              </a:rPr>
              <a:t>(Voir descriptif Dia n°18)</a:t>
            </a:r>
            <a:endParaRPr lang="fr-FR" sz="1100" b="0" kern="1200" dirty="0">
              <a:solidFill>
                <a:schemeClr val="tx1"/>
              </a:solidFill>
              <a:effectLst/>
              <a:latin typeface="+mn-lt"/>
              <a:ea typeface="+mn-ea"/>
              <a:cs typeface="+mn-cs"/>
            </a:endParaRP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18</a:t>
            </a:fld>
            <a:endParaRPr lang="fr-FR"/>
          </a:p>
        </p:txBody>
      </p:sp>
    </p:spTree>
    <p:extLst>
      <p:ext uri="{BB962C8B-B14F-4D97-AF65-F5344CB8AC3E}">
        <p14:creationId xmlns:p14="http://schemas.microsoft.com/office/powerpoint/2010/main" val="136676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Imprimer l’exercice pour les étudiants</a:t>
            </a:r>
          </a:p>
          <a:p>
            <a:endParaRPr lang="fr-BE" dirty="0"/>
          </a:p>
          <a:p>
            <a:r>
              <a:rPr lang="fr-BE" dirty="0"/>
              <a:t>Mieux estimer le temps consacré à chaque étape </a:t>
            </a:r>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19</a:t>
            </a:fld>
            <a:endParaRPr lang="fr-FR"/>
          </a:p>
        </p:txBody>
      </p:sp>
    </p:spTree>
    <p:extLst>
      <p:ext uri="{BB962C8B-B14F-4D97-AF65-F5344CB8AC3E}">
        <p14:creationId xmlns:p14="http://schemas.microsoft.com/office/powerpoint/2010/main" val="41692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b="1" dirty="0"/>
              <a:t>Annonce des devoirs à faire</a:t>
            </a:r>
          </a:p>
          <a:p>
            <a:endParaRPr lang="fr-BE" b="1" dirty="0"/>
          </a:p>
          <a:p>
            <a:r>
              <a:rPr lang="fr-BE" sz="1200" b="1" kern="1200" dirty="0">
                <a:solidFill>
                  <a:schemeClr val="tx1"/>
                </a:solidFill>
                <a:effectLst/>
                <a:latin typeface="+mn-lt"/>
                <a:ea typeface="+mn-ea"/>
                <a:cs typeface="+mn-cs"/>
              </a:rPr>
              <a:t>Temps estimé pour l’activité : </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 2-5 minutes</a:t>
            </a:r>
          </a:p>
          <a:p>
            <a:endParaRPr lang="fr-BE" sz="1200" b="1"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Matériel</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 PPT avec l’ensemble des informations relatives aux devoirs à réaliser (diapositives 23-25)</a:t>
            </a:r>
          </a:p>
          <a:p>
            <a:pPr marL="171450" indent="-171450">
              <a:buFont typeface="Arial" panose="020B0604020202020204" pitchFamily="34" charset="0"/>
              <a:buChar char="•"/>
            </a:pPr>
            <a:endParaRPr lang="fr-FR" sz="1100" b="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Contenu</a:t>
            </a:r>
          </a:p>
          <a:p>
            <a:pPr marL="171450" indent="-171450">
              <a:buFont typeface="Arial" panose="020B0604020202020204" pitchFamily="34" charset="0"/>
              <a:buChar char="•"/>
            </a:pPr>
            <a:r>
              <a:rPr lang="fr-BE" sz="1100" kern="1200" dirty="0">
                <a:solidFill>
                  <a:schemeClr val="tx1"/>
                </a:solidFill>
                <a:effectLst/>
                <a:latin typeface="+mn-lt"/>
                <a:ea typeface="+mn-ea"/>
                <a:cs typeface="+mn-cs"/>
              </a:rPr>
              <a:t>Voir le « Matériel »</a:t>
            </a:r>
          </a:p>
          <a:p>
            <a:pPr marL="0" indent="0">
              <a:buFont typeface="Arial" panose="020B0604020202020204" pitchFamily="34" charset="0"/>
              <a:buNone/>
            </a:pPr>
            <a:endParaRPr lang="fr-FR" sz="110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Démarche</a:t>
            </a:r>
            <a:endParaRPr lang="fr-FR" sz="1100" kern="1200" dirty="0">
              <a:solidFill>
                <a:schemeClr val="tx1"/>
              </a:solidFill>
              <a:effectLst/>
              <a:latin typeface="+mn-lt"/>
              <a:ea typeface="+mn-ea"/>
              <a:cs typeface="+mn-cs"/>
            </a:endParaRP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Le stagiaire explique aux étudiants quels devoirs sont à faire dans les prochains jours</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La diapositive n°23 contient des exercices annexes </a:t>
            </a:r>
            <a:r>
              <a:rPr lang="fr-BE" sz="1200" b="1" i="1" kern="1200" dirty="0">
                <a:solidFill>
                  <a:schemeClr val="tx1"/>
                </a:solidFill>
                <a:effectLst/>
                <a:latin typeface="+mn-lt"/>
                <a:ea typeface="+mn-ea"/>
                <a:cs typeface="+mn-cs"/>
              </a:rPr>
              <a:t>intéressants</a:t>
            </a:r>
            <a:r>
              <a:rPr lang="fr-BE" sz="1200" kern="1200" dirty="0">
                <a:solidFill>
                  <a:schemeClr val="tx1"/>
                </a:solidFill>
                <a:effectLst/>
                <a:latin typeface="+mn-lt"/>
                <a:ea typeface="+mn-ea"/>
                <a:cs typeface="+mn-cs"/>
              </a:rPr>
              <a:t> à réaliser</a:t>
            </a:r>
          </a:p>
          <a:p>
            <a:pPr marL="171450" lvl="0" indent="-171450">
              <a:buFont typeface="Arial" panose="020B0604020202020204" pitchFamily="34" charset="0"/>
              <a:buChar char="•"/>
            </a:pPr>
            <a:r>
              <a:rPr lang="fr-BE" sz="1200" kern="1200" dirty="0">
                <a:solidFill>
                  <a:schemeClr val="tx1"/>
                </a:solidFill>
                <a:effectLst/>
                <a:latin typeface="+mn-lt"/>
                <a:ea typeface="+mn-ea"/>
                <a:cs typeface="+mn-cs"/>
              </a:rPr>
              <a:t>Les exercices renseignés sur les diapositives n°24 et 25 sont </a:t>
            </a:r>
            <a:r>
              <a:rPr lang="fr-BE" sz="1200" b="1" i="1" kern="1200" dirty="0">
                <a:solidFill>
                  <a:schemeClr val="tx1"/>
                </a:solidFill>
                <a:effectLst/>
                <a:latin typeface="+mn-lt"/>
                <a:ea typeface="+mn-ea"/>
                <a:cs typeface="+mn-cs"/>
              </a:rPr>
              <a:t>obligatoires</a:t>
            </a:r>
          </a:p>
          <a:p>
            <a:pPr marL="0" lvl="0" indent="0">
              <a:buFont typeface="Arial" panose="020B0604020202020204" pitchFamily="34" charset="0"/>
              <a:buNone/>
            </a:pPr>
            <a:endParaRPr lang="fr-FR" sz="1100"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Consigne exacte dite par l’enseignant</a:t>
            </a:r>
            <a:endParaRPr lang="fr-FR" sz="1100" kern="1200" dirty="0">
              <a:solidFill>
                <a:schemeClr val="tx1"/>
              </a:solidFill>
              <a:effectLst/>
              <a:latin typeface="+mn-lt"/>
              <a:ea typeface="+mn-ea"/>
              <a:cs typeface="+mn-cs"/>
            </a:endParaRP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Pour le prochain cours, réalisez les exercices mentionnés sur cette slide. </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Au début du prochain cours, nous réaliserons </a:t>
            </a:r>
            <a:r>
              <a:rPr lang="fr-BE" sz="1200" b="0" kern="1200" dirty="0">
                <a:solidFill>
                  <a:schemeClr val="tx1"/>
                </a:solidFill>
                <a:effectLst/>
                <a:highlight>
                  <a:srgbClr val="FFFF00"/>
                </a:highlight>
                <a:latin typeface="+mn-lt"/>
                <a:ea typeface="+mn-ea"/>
                <a:cs typeface="+mn-cs"/>
              </a:rPr>
              <a:t>corrigerons les exercices </a:t>
            </a:r>
            <a:r>
              <a:rPr lang="fr-BE" sz="1200" b="0" kern="1200" dirty="0">
                <a:solidFill>
                  <a:schemeClr val="tx1"/>
                </a:solidFill>
                <a:effectLst/>
                <a:latin typeface="+mn-lt"/>
                <a:ea typeface="+mn-ea"/>
                <a:cs typeface="+mn-cs"/>
              </a:rPr>
              <a:t>ensemble et nous ferons un jeu pour vérifier que vous connaissez bien la matière.</a:t>
            </a:r>
          </a:p>
          <a:p>
            <a:pPr marL="0" indent="0">
              <a:buFont typeface="Arial" panose="020B0604020202020204" pitchFamily="34" charset="0"/>
              <a:buNone/>
            </a:pPr>
            <a:endParaRPr lang="fr-BE" sz="1200" b="1" kern="1200" dirty="0">
              <a:solidFill>
                <a:schemeClr val="tx1"/>
              </a:solidFill>
              <a:effectLst/>
              <a:latin typeface="+mn-lt"/>
              <a:ea typeface="+mn-ea"/>
              <a:cs typeface="+mn-cs"/>
            </a:endParaRPr>
          </a:p>
          <a:p>
            <a:r>
              <a:rPr lang="fr-BE" sz="1200" b="1" kern="1200" dirty="0">
                <a:solidFill>
                  <a:schemeClr val="tx1"/>
                </a:solidFill>
                <a:effectLst/>
                <a:latin typeface="+mn-lt"/>
                <a:ea typeface="+mn-ea"/>
                <a:cs typeface="+mn-cs"/>
              </a:rPr>
              <a:t>Ce que font les apprenants : groupes de deux, trois, atelier, 2 groupes, debout…</a:t>
            </a:r>
          </a:p>
          <a:p>
            <a:pPr marL="171450" indent="-171450">
              <a:buFont typeface="Arial" panose="020B0604020202020204" pitchFamily="34" charset="0"/>
              <a:buChar char="•"/>
            </a:pPr>
            <a:r>
              <a:rPr lang="fr-BE" sz="1200" b="0" kern="1200" dirty="0">
                <a:solidFill>
                  <a:schemeClr val="tx1"/>
                </a:solidFill>
                <a:effectLst/>
                <a:latin typeface="+mn-lt"/>
                <a:ea typeface="+mn-ea"/>
                <a:cs typeface="+mn-cs"/>
              </a:rPr>
              <a:t>Les étudiants travaillent en duo au laboratoire (Emploi des casques et des ordinateurs)</a:t>
            </a:r>
            <a:endParaRPr lang="fr-FR" dirty="0"/>
          </a:p>
          <a:p>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20</a:t>
            </a:fld>
            <a:endParaRPr lang="fr-FR"/>
          </a:p>
        </p:txBody>
      </p:sp>
    </p:spTree>
    <p:extLst>
      <p:ext uri="{BB962C8B-B14F-4D97-AF65-F5344CB8AC3E}">
        <p14:creationId xmlns:p14="http://schemas.microsoft.com/office/powerpoint/2010/main" val="998885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200" b="1" kern="1200" dirty="0">
                <a:solidFill>
                  <a:schemeClr val="tx1"/>
                </a:solidFill>
                <a:effectLst/>
                <a:latin typeface="+mn-lt"/>
                <a:ea typeface="+mn-ea"/>
                <a:cs typeface="+mn-cs"/>
              </a:rPr>
              <a:t>(Voir descriptif Dia n°24)</a:t>
            </a:r>
            <a:endParaRPr lang="fr-FR" sz="1100" b="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5"/>
          </p:nvPr>
        </p:nvSpPr>
        <p:spPr/>
        <p:txBody>
          <a:bodyPr/>
          <a:lstStyle/>
          <a:p>
            <a:fld id="{5222DBEE-CFA4-4361-B3A7-6D31190CFB02}" type="slidenum">
              <a:rPr lang="fr-FR" smtClean="0"/>
              <a:t>21</a:t>
            </a:fld>
            <a:endParaRPr lang="fr-FR"/>
          </a:p>
        </p:txBody>
      </p:sp>
    </p:spTree>
    <p:extLst>
      <p:ext uri="{BB962C8B-B14F-4D97-AF65-F5344CB8AC3E}">
        <p14:creationId xmlns:p14="http://schemas.microsoft.com/office/powerpoint/2010/main" val="2930357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fr-FR"/>
              <a:t>Modifiez le style du titre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fr-FR"/>
              <a:t>Modifiez le style du titre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18000"/>
            <a:lum/>
            <a:extLst>
              <a:ext uri="{BEBA8EAE-BF5A-486C-A8C5-ECC9F3942E4B}">
                <a14:imgProps xmlns:a14="http://schemas.microsoft.com/office/drawing/2010/main">
                  <a14:imgLayer r:embed="rId20">
                    <a14:imgEffect>
                      <a14:brightnessContrast bright="-14000"/>
                    </a14:imgEffect>
                  </a14:imgLayer>
                </a14:imgProps>
              </a:ext>
            </a:extLst>
          </a:blip>
          <a:srcRect/>
          <a:stretch>
            <a:fillRect t="-27000" b="-2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2/24/2020</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E9176-1ACE-4ECD-98B6-8DC43323EB7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B52D7BB-4972-4FBB-9181-EBCBB2359B4D}"/>
              </a:ext>
            </a:extLst>
          </p:cNvPr>
          <p:cNvSpPr>
            <a:spLocks noGrp="1"/>
          </p:cNvSpPr>
          <p:nvPr>
            <p:ph idx="1"/>
          </p:nvPr>
        </p:nvSpPr>
        <p:spPr/>
        <p:txBody>
          <a:bodyPr/>
          <a:lstStyle/>
          <a:p>
            <a:endParaRPr lang="fr-FR"/>
          </a:p>
        </p:txBody>
      </p:sp>
      <p:pic>
        <p:nvPicPr>
          <p:cNvPr id="4" name="Espace réservé d’image 4" descr="fille avec un casque, un sac à dos, et une pile de reliure/livres">
            <a:extLst>
              <a:ext uri="{FF2B5EF4-FFF2-40B4-BE49-F238E27FC236}">
                <a16:creationId xmlns:a16="http://schemas.microsoft.com/office/drawing/2014/main" id="{68B6FFC1-6A21-4DAC-82BC-F2966925C165}"/>
              </a:ext>
            </a:extLst>
          </p:cNvPr>
          <p:cNvPicPr>
            <a:picLocks noGrp="1"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8087304" cy="6858000"/>
          </a:xfrm>
          <a:custGeom>
            <a:avLst/>
            <a:gdLst>
              <a:gd name="connsiteX0" fmla="*/ 0 w 8087304"/>
              <a:gd name="connsiteY0" fmla="*/ 0 h 6858000"/>
              <a:gd name="connsiteX1" fmla="*/ 8087304 w 8087304"/>
              <a:gd name="connsiteY1" fmla="*/ 0 h 6858000"/>
              <a:gd name="connsiteX2" fmla="*/ 8087304 w 8087304"/>
              <a:gd name="connsiteY2" fmla="*/ 7620 h 6858000"/>
              <a:gd name="connsiteX3" fmla="*/ 6368365 w 8087304"/>
              <a:gd name="connsiteY3" fmla="*/ 6858000 h 6858000"/>
              <a:gd name="connsiteX4" fmla="*/ 0 w 808730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304" h="6858000">
                <a:moveTo>
                  <a:pt x="0" y="0"/>
                </a:moveTo>
                <a:lnTo>
                  <a:pt x="8087304" y="0"/>
                </a:lnTo>
                <a:lnTo>
                  <a:pt x="8087304" y="7620"/>
                </a:lnTo>
                <a:lnTo>
                  <a:pt x="6368365" y="6858000"/>
                </a:lnTo>
                <a:lnTo>
                  <a:pt x="0" y="6858000"/>
                </a:lnTo>
                <a:close/>
              </a:path>
            </a:pathLst>
          </a:custGeom>
        </p:spPr>
      </p:pic>
      <p:pic>
        <p:nvPicPr>
          <p:cNvPr id="5" name="Espace réservé pour une image  5">
            <a:extLst>
              <a:ext uri="{FF2B5EF4-FFF2-40B4-BE49-F238E27FC236}">
                <a16:creationId xmlns:a16="http://schemas.microsoft.com/office/drawing/2014/main" id="{10258833-58A9-4BB6-ADC8-41146198E417}"/>
              </a:ext>
            </a:extLst>
          </p:cNvPr>
          <p:cNvPicPr>
            <a:picLocks noGrp="1" noChangeAspect="1"/>
          </p:cNvPicPr>
          <p:nvPr/>
        </p:nvPicPr>
        <p:blipFill>
          <a:blip r:embed="rId4">
            <a:extLst>
              <a:ext uri="{28A0092B-C50C-407E-A947-70E740481C1C}">
                <a14:useLocalDpi xmlns:a14="http://schemas.microsoft.com/office/drawing/2010/main" val="0"/>
              </a:ext>
            </a:extLst>
          </a:blip>
          <a:srcRect l="22182" r="22182"/>
          <a:stretch>
            <a:fillRect/>
          </a:stretch>
        </p:blipFill>
        <p:spPr>
          <a:xfrm>
            <a:off x="6312310" y="0"/>
            <a:ext cx="5879690" cy="6858000"/>
          </a:xfrm>
          <a:custGeom>
            <a:avLst/>
            <a:gdLst>
              <a:gd name="connsiteX0" fmla="*/ 1708150 w 5727700"/>
              <a:gd name="connsiteY0" fmla="*/ 0 h 6858000"/>
              <a:gd name="connsiteX1" fmla="*/ 5727700 w 5727700"/>
              <a:gd name="connsiteY1" fmla="*/ 0 h 6858000"/>
              <a:gd name="connsiteX2" fmla="*/ 5727700 w 5727700"/>
              <a:gd name="connsiteY2" fmla="*/ 6858000 h 6858000"/>
              <a:gd name="connsiteX3" fmla="*/ 0 w 5727700"/>
              <a:gd name="connsiteY3" fmla="*/ 6858000 h 6858000"/>
              <a:gd name="connsiteX4" fmla="*/ 0 w 5727700"/>
              <a:gd name="connsiteY4" fmla="*/ 68326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00" h="6858000">
                <a:moveTo>
                  <a:pt x="1708150" y="0"/>
                </a:moveTo>
                <a:lnTo>
                  <a:pt x="5727700" y="0"/>
                </a:lnTo>
                <a:lnTo>
                  <a:pt x="5727700" y="6858000"/>
                </a:lnTo>
                <a:lnTo>
                  <a:pt x="0" y="6858000"/>
                </a:lnTo>
                <a:lnTo>
                  <a:pt x="0" y="6832600"/>
                </a:lnTo>
                <a:close/>
              </a:path>
            </a:pathLst>
          </a:custGeom>
        </p:spPr>
      </p:pic>
      <p:sp>
        <p:nvSpPr>
          <p:cNvPr id="6" name="Titre 32">
            <a:extLst>
              <a:ext uri="{FF2B5EF4-FFF2-40B4-BE49-F238E27FC236}">
                <a16:creationId xmlns:a16="http://schemas.microsoft.com/office/drawing/2014/main" id="{18CDD97B-6E25-4FB4-B239-493E54AA0830}"/>
              </a:ext>
            </a:extLst>
          </p:cNvPr>
          <p:cNvSpPr>
            <a:spLocks noGrp="1"/>
          </p:cNvSpPr>
          <p:nvPr/>
        </p:nvSpPr>
        <p:spPr>
          <a:xfrm>
            <a:off x="437039" y="5661660"/>
            <a:ext cx="5005614" cy="822960"/>
          </a:xfrm>
          <a:prstGeom prst="rect">
            <a:avLst/>
          </a:prstGeom>
          <a:solidFill>
            <a:srgbClr val="C00000"/>
          </a:solidFill>
        </p:spPr>
        <p:txBody>
          <a:bodyPr vert="horz" wrap="square" lIns="0" tIns="45720" rIns="91440" bIns="45720" rtlCol="0" anchor="t">
            <a:noAutofit/>
          </a:bodyPr>
          <a:lstStyle>
            <a:lvl1pPr marL="0" indent="0" algn="l" defTabSz="457200" rtl="0" eaLnBrk="1" latinLnBrk="0" hangingPunct="1">
              <a:spcBef>
                <a:spcPct val="0"/>
              </a:spcBef>
              <a:buFont typeface="Arial" panose="020B0604020202020204" pitchFamily="34" charset="0"/>
              <a:buNone/>
              <a:defRPr lang="en-GB" sz="2400" b="0" kern="1200" cap="all" dirty="0">
                <a:solidFill>
                  <a:schemeClr val="tx1"/>
                </a:solidFill>
                <a:latin typeface="Corbel" panose="020B0503020204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0"/>
            <a:r>
              <a:rPr lang="fr-FR" dirty="0">
                <a:solidFill>
                  <a:schemeClr val="bg1"/>
                </a:solidFill>
              </a:rPr>
              <a:t>Comprendre la Belgique</a:t>
            </a:r>
            <a:br>
              <a:rPr lang="fr-FR" dirty="0">
                <a:solidFill>
                  <a:schemeClr val="bg1"/>
                </a:solidFill>
              </a:rPr>
            </a:br>
            <a:r>
              <a:rPr lang="fr-FR" dirty="0">
                <a:solidFill>
                  <a:schemeClr val="bg1"/>
                </a:solidFill>
              </a:rPr>
              <a:t>LFRAN1301 – B1</a:t>
            </a:r>
          </a:p>
        </p:txBody>
      </p:sp>
      <p:pic>
        <p:nvPicPr>
          <p:cNvPr id="7" name="Image 6">
            <a:extLst>
              <a:ext uri="{FF2B5EF4-FFF2-40B4-BE49-F238E27FC236}">
                <a16:creationId xmlns:a16="http://schemas.microsoft.com/office/drawing/2014/main" id="{39334034-8F64-4702-B893-0D77EA58DCB3}"/>
              </a:ext>
            </a:extLst>
          </p:cNvPr>
          <p:cNvPicPr>
            <a:picLocks noChangeAspect="1"/>
          </p:cNvPicPr>
          <p:nvPr/>
        </p:nvPicPr>
        <p:blipFill>
          <a:blip r:embed="rId5"/>
          <a:stretch>
            <a:fillRect/>
          </a:stretch>
        </p:blipFill>
        <p:spPr>
          <a:xfrm>
            <a:off x="6838418" y="5828071"/>
            <a:ext cx="3371850" cy="781050"/>
          </a:xfrm>
          <a:prstGeom prst="rect">
            <a:avLst/>
          </a:prstGeom>
        </p:spPr>
      </p:pic>
      <p:pic>
        <p:nvPicPr>
          <p:cNvPr id="8" name="Image 7">
            <a:extLst>
              <a:ext uri="{FF2B5EF4-FFF2-40B4-BE49-F238E27FC236}">
                <a16:creationId xmlns:a16="http://schemas.microsoft.com/office/drawing/2014/main" id="{E44CFCDB-F6E8-4710-A7B8-18B91146815A}"/>
              </a:ext>
            </a:extLst>
          </p:cNvPr>
          <p:cNvPicPr>
            <a:picLocks noChangeAspect="1"/>
          </p:cNvPicPr>
          <p:nvPr/>
        </p:nvPicPr>
        <p:blipFill>
          <a:blip r:embed="rId6"/>
          <a:stretch>
            <a:fillRect/>
          </a:stretch>
        </p:blipFill>
        <p:spPr>
          <a:xfrm>
            <a:off x="10941565" y="5830812"/>
            <a:ext cx="803564" cy="778309"/>
          </a:xfrm>
          <a:prstGeom prst="rect">
            <a:avLst/>
          </a:prstGeom>
        </p:spPr>
      </p:pic>
    </p:spTree>
    <p:extLst>
      <p:ext uri="{BB962C8B-B14F-4D97-AF65-F5344CB8AC3E}">
        <p14:creationId xmlns:p14="http://schemas.microsoft.com/office/powerpoint/2010/main" val="80075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C88D0-FE3F-4D08-ADD4-C39A3871924B}"/>
              </a:ext>
            </a:extLst>
          </p:cNvPr>
          <p:cNvSpPr>
            <a:spLocks noGrp="1"/>
          </p:cNvSpPr>
          <p:nvPr>
            <p:ph type="title"/>
          </p:nvPr>
        </p:nvSpPr>
        <p:spPr/>
        <p:txBody>
          <a:bodyPr>
            <a:normAutofit/>
          </a:bodyPr>
          <a:lstStyle/>
          <a:p>
            <a:r>
              <a:rPr lang="fr-FR" sz="4400" b="1" dirty="0">
                <a:solidFill>
                  <a:schemeClr val="bg1"/>
                </a:solidFill>
              </a:rPr>
              <a:t>Cours N° – </a:t>
            </a:r>
            <a:br>
              <a:rPr lang="fr-FR" sz="4400" b="1" dirty="0">
                <a:solidFill>
                  <a:schemeClr val="bg1"/>
                </a:solidFill>
              </a:rPr>
            </a:br>
            <a:r>
              <a:rPr lang="fr-FR" sz="4400" b="1" dirty="0">
                <a:solidFill>
                  <a:schemeClr val="bg1"/>
                </a:solidFill>
              </a:rPr>
              <a:t>28 Fév. 2020</a:t>
            </a:r>
          </a:p>
        </p:txBody>
      </p:sp>
      <p:pic>
        <p:nvPicPr>
          <p:cNvPr id="1030" name="Picture 6" descr="Image associée">
            <a:extLst>
              <a:ext uri="{FF2B5EF4-FFF2-40B4-BE49-F238E27FC236}">
                <a16:creationId xmlns:a16="http://schemas.microsoft.com/office/drawing/2014/main" id="{0157FEA2-113E-41C9-A2E8-1DAB92E21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5288" y="1777641"/>
            <a:ext cx="3381375" cy="4762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ésultat de recherche d'images pour &quot;lanfeust de troy&quot;">
            <a:extLst>
              <a:ext uri="{FF2B5EF4-FFF2-40B4-BE49-F238E27FC236}">
                <a16:creationId xmlns:a16="http://schemas.microsoft.com/office/drawing/2014/main" id="{0EA749AF-9744-4A5D-9B55-EE1A9D6D9F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948479">
            <a:off x="5143729" y="815509"/>
            <a:ext cx="3670231" cy="4661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076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6C762F-EB9F-4BD2-9A30-DCB9AD47FD62}"/>
              </a:ext>
            </a:extLst>
          </p:cNvPr>
          <p:cNvSpPr>
            <a:spLocks noGrp="1"/>
          </p:cNvSpPr>
          <p:nvPr>
            <p:ph type="title"/>
          </p:nvPr>
        </p:nvSpPr>
        <p:spPr/>
        <p:txBody>
          <a:bodyPr/>
          <a:lstStyle/>
          <a:p>
            <a:r>
              <a:rPr lang="fr-BE" b="1" dirty="0">
                <a:solidFill>
                  <a:schemeClr val="bg1"/>
                </a:solidFill>
                <a:latin typeface="Comic Sans MS" panose="030F0702030302020204" pitchFamily="66" charset="0"/>
              </a:rPr>
              <a:t>Le programme d'aujourd'hui</a:t>
            </a:r>
            <a:endParaRPr lang="fr-FR" b="1" dirty="0">
              <a:solidFill>
                <a:schemeClr val="bg1"/>
              </a:solidFill>
              <a:latin typeface="Comic Sans MS" panose="030F0702030302020204" pitchFamily="66" charset="0"/>
            </a:endParaRPr>
          </a:p>
        </p:txBody>
      </p:sp>
      <p:sp>
        <p:nvSpPr>
          <p:cNvPr id="3" name="Espace réservé du contenu 2">
            <a:extLst>
              <a:ext uri="{FF2B5EF4-FFF2-40B4-BE49-F238E27FC236}">
                <a16:creationId xmlns:a16="http://schemas.microsoft.com/office/drawing/2014/main" id="{5A27A58F-42D2-4A81-B443-134113F14E3E}"/>
              </a:ext>
            </a:extLst>
          </p:cNvPr>
          <p:cNvSpPr>
            <a:spLocks noGrp="1"/>
          </p:cNvSpPr>
          <p:nvPr>
            <p:ph idx="1"/>
          </p:nvPr>
        </p:nvSpPr>
        <p:spPr>
          <a:xfrm>
            <a:off x="170656" y="2065867"/>
            <a:ext cx="12021344" cy="4136199"/>
          </a:xfrm>
        </p:spPr>
        <p:txBody>
          <a:bodyPr>
            <a:normAutofit/>
          </a:bodyPr>
          <a:lstStyle/>
          <a:p>
            <a:r>
              <a:rPr lang="fr-BE" sz="3600" b="1" dirty="0">
                <a:solidFill>
                  <a:srgbClr val="00B050"/>
                </a:solidFill>
                <a:latin typeface="Comic Sans MS" panose="030F0702030302020204" pitchFamily="66" charset="0"/>
              </a:rPr>
              <a:t>Jeu</a:t>
            </a:r>
            <a:r>
              <a:rPr lang="fr-BE" sz="3600" b="1" dirty="0">
                <a:solidFill>
                  <a:schemeClr val="bg1"/>
                </a:solidFill>
                <a:latin typeface="Comic Sans MS" panose="030F0702030302020204" pitchFamily="66" charset="0"/>
              </a:rPr>
              <a:t> : le comparatif et le superlatif</a:t>
            </a:r>
          </a:p>
          <a:p>
            <a:r>
              <a:rPr lang="fr-BE" sz="3600" b="1" dirty="0">
                <a:solidFill>
                  <a:srgbClr val="7030A0"/>
                </a:solidFill>
                <a:latin typeface="Comic Sans MS" panose="030F0702030302020204" pitchFamily="66" charset="0"/>
              </a:rPr>
              <a:t>Grammaire</a:t>
            </a:r>
            <a:r>
              <a:rPr lang="fr-BE" sz="3600" b="1" dirty="0">
                <a:solidFill>
                  <a:srgbClr val="00B050"/>
                </a:solidFill>
                <a:latin typeface="Comic Sans MS" panose="030F0702030302020204" pitchFamily="66" charset="0"/>
              </a:rPr>
              <a:t> </a:t>
            </a:r>
            <a:r>
              <a:rPr lang="fr-BE" sz="3600" b="1" dirty="0">
                <a:solidFill>
                  <a:schemeClr val="bg1"/>
                </a:solidFill>
                <a:latin typeface="Comic Sans MS" panose="030F0702030302020204" pitchFamily="66" charset="0"/>
              </a:rPr>
              <a:t>: parler du passé</a:t>
            </a:r>
          </a:p>
          <a:p>
            <a:r>
              <a:rPr lang="fr-BE" sz="3600" b="1" dirty="0">
                <a:solidFill>
                  <a:schemeClr val="accent3">
                    <a:lumMod val="75000"/>
                  </a:schemeClr>
                </a:solidFill>
                <a:latin typeface="Comic Sans MS" panose="030F0702030302020204" pitchFamily="66" charset="0"/>
              </a:rPr>
              <a:t>Laboratoire</a:t>
            </a:r>
            <a:r>
              <a:rPr lang="fr-BE" sz="3600" b="1" dirty="0">
                <a:solidFill>
                  <a:schemeClr val="bg1"/>
                </a:solidFill>
                <a:latin typeface="Comic Sans MS" panose="030F0702030302020204" pitchFamily="66" charset="0"/>
              </a:rPr>
              <a:t> : Phonétique - « plus »</a:t>
            </a:r>
          </a:p>
          <a:p>
            <a:r>
              <a:rPr lang="fr-BE" sz="3600" b="1" dirty="0">
                <a:solidFill>
                  <a:srgbClr val="FFC000"/>
                </a:solidFill>
                <a:latin typeface="Comic Sans MS" panose="030F0702030302020204" pitchFamily="66" charset="0"/>
              </a:rPr>
              <a:t>Discussion</a:t>
            </a:r>
            <a:r>
              <a:rPr lang="fr-BE" sz="3600" b="1" dirty="0">
                <a:solidFill>
                  <a:schemeClr val="bg1"/>
                </a:solidFill>
                <a:latin typeface="Comic Sans MS" panose="030F0702030302020204" pitchFamily="66" charset="0"/>
              </a:rPr>
              <a:t> : parler d’une chaine ou d’un Youtubeur</a:t>
            </a:r>
            <a:endParaRPr lang="fr-FR" sz="3600" b="1" dirty="0">
              <a:solidFill>
                <a:schemeClr val="bg1"/>
              </a:solidFill>
              <a:latin typeface="Comic Sans MS" panose="030F0702030302020204" pitchFamily="66" charset="0"/>
            </a:endParaRPr>
          </a:p>
        </p:txBody>
      </p:sp>
      <p:pic>
        <p:nvPicPr>
          <p:cNvPr id="1026" name="Picture 2" descr="Résultat de recherche d'images pour &quot;programme&quot;">
            <a:extLst>
              <a:ext uri="{FF2B5EF4-FFF2-40B4-BE49-F238E27FC236}">
                <a16:creationId xmlns:a16="http://schemas.microsoft.com/office/drawing/2014/main" id="{A81E0A74-1618-4BBA-BB72-03CE17E28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240780">
            <a:off x="9120593" y="1701804"/>
            <a:ext cx="2367079" cy="1672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30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0207D4-F7B8-4119-AFEB-1F0CDDE3E367}"/>
              </a:ext>
            </a:extLst>
          </p:cNvPr>
          <p:cNvSpPr>
            <a:spLocks noGrp="1"/>
          </p:cNvSpPr>
          <p:nvPr>
            <p:ph type="title"/>
          </p:nvPr>
        </p:nvSpPr>
        <p:spPr>
          <a:xfrm>
            <a:off x="182880" y="609600"/>
            <a:ext cx="11848011" cy="1456267"/>
          </a:xfrm>
        </p:spPr>
        <p:txBody>
          <a:bodyPr/>
          <a:lstStyle/>
          <a:p>
            <a:r>
              <a:rPr lang="fr-FR" b="1" dirty="0">
                <a:solidFill>
                  <a:schemeClr val="bg1"/>
                </a:solidFill>
                <a:latin typeface="Comic Sans MS" panose="030F0702030302020204" pitchFamily="66" charset="0"/>
              </a:rPr>
              <a:t>Révision du comparatif et du superlatif</a:t>
            </a:r>
          </a:p>
        </p:txBody>
      </p:sp>
      <p:pic>
        <p:nvPicPr>
          <p:cNvPr id="1026" name="Picture 2" descr="Résultat de recherche d'images pour &quot;BD belge&quot;">
            <a:extLst>
              <a:ext uri="{FF2B5EF4-FFF2-40B4-BE49-F238E27FC236}">
                <a16:creationId xmlns:a16="http://schemas.microsoft.com/office/drawing/2014/main" id="{8E87858E-B9E9-4E1B-9B66-8130EA807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268" y="1804988"/>
            <a:ext cx="10634132" cy="4772025"/>
          </a:xfrm>
          <a:prstGeom prst="rect">
            <a:avLst/>
          </a:prstGeom>
          <a:noFill/>
          <a:extLst>
            <a:ext uri="{909E8E84-426E-40DD-AFC4-6F175D3DCCD1}">
              <a14:hiddenFill xmlns:a14="http://schemas.microsoft.com/office/drawing/2010/main">
                <a:solidFill>
                  <a:srgbClr val="FFFFFF"/>
                </a:solidFill>
              </a14:hiddenFill>
            </a:ext>
          </a:extLst>
        </p:spPr>
      </p:pic>
      <p:sp>
        <p:nvSpPr>
          <p:cNvPr id="4" name="Bulle narrative : ronde 3">
            <a:extLst>
              <a:ext uri="{FF2B5EF4-FFF2-40B4-BE49-F238E27FC236}">
                <a16:creationId xmlns:a16="http://schemas.microsoft.com/office/drawing/2014/main" id="{427419B5-BADB-4EB9-8247-DA72061F0E07}"/>
              </a:ext>
            </a:extLst>
          </p:cNvPr>
          <p:cNvSpPr/>
          <p:nvPr/>
        </p:nvSpPr>
        <p:spPr>
          <a:xfrm>
            <a:off x="182880" y="1711855"/>
            <a:ext cx="2628053" cy="1549400"/>
          </a:xfrm>
          <a:prstGeom prst="wedgeEllipseCallout">
            <a:avLst>
              <a:gd name="adj1" fmla="val 66667"/>
              <a:gd name="adj2" fmla="val 7561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800" b="1" dirty="0">
                <a:solidFill>
                  <a:schemeClr val="bg1"/>
                </a:solidFill>
              </a:rPr>
              <a:t>Je suis le plus grand.</a:t>
            </a:r>
            <a:endParaRPr lang="fr-FR" sz="2800" b="1" dirty="0">
              <a:solidFill>
                <a:schemeClr val="bg1"/>
              </a:solidFill>
            </a:endParaRPr>
          </a:p>
        </p:txBody>
      </p:sp>
      <p:sp>
        <p:nvSpPr>
          <p:cNvPr id="6" name="Bulle narrative : ronde 5">
            <a:extLst>
              <a:ext uri="{FF2B5EF4-FFF2-40B4-BE49-F238E27FC236}">
                <a16:creationId xmlns:a16="http://schemas.microsoft.com/office/drawing/2014/main" id="{7046C5DD-020B-44D1-B4A7-8684642CA08D}"/>
              </a:ext>
            </a:extLst>
          </p:cNvPr>
          <p:cNvSpPr/>
          <p:nvPr/>
        </p:nvSpPr>
        <p:spPr>
          <a:xfrm>
            <a:off x="8432799" y="1849967"/>
            <a:ext cx="3200400" cy="1549400"/>
          </a:xfrm>
          <a:prstGeom prst="wedgeEllipseCallout">
            <a:avLst>
              <a:gd name="adj1" fmla="val -9713"/>
              <a:gd name="adj2" fmla="val 854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800" b="1" dirty="0">
                <a:solidFill>
                  <a:schemeClr val="bg1"/>
                </a:solidFill>
              </a:rPr>
              <a:t>Je suis plus petit que lui.</a:t>
            </a:r>
            <a:endParaRPr lang="fr-FR" sz="2800" b="1" dirty="0">
              <a:solidFill>
                <a:schemeClr val="bg1"/>
              </a:solidFill>
            </a:endParaRPr>
          </a:p>
        </p:txBody>
      </p:sp>
    </p:spTree>
    <p:extLst>
      <p:ext uri="{BB962C8B-B14F-4D97-AF65-F5344CB8AC3E}">
        <p14:creationId xmlns:p14="http://schemas.microsoft.com/office/powerpoint/2010/main" val="3194267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5997F3-FEFF-49EB-8FE2-1225C80BDCE5}"/>
              </a:ext>
            </a:extLst>
          </p:cNvPr>
          <p:cNvSpPr>
            <a:spLocks noGrp="1"/>
          </p:cNvSpPr>
          <p:nvPr>
            <p:ph type="title"/>
          </p:nvPr>
        </p:nvSpPr>
        <p:spPr>
          <a:xfrm>
            <a:off x="547194" y="335422"/>
            <a:ext cx="11644806" cy="1456267"/>
          </a:xfrm>
        </p:spPr>
        <p:txBody>
          <a:bodyPr/>
          <a:lstStyle/>
          <a:p>
            <a:r>
              <a:rPr lang="fr-BE" b="1" dirty="0">
                <a:solidFill>
                  <a:schemeClr val="bg1"/>
                </a:solidFill>
                <a:latin typeface="Arial" panose="020B0604020202020204" pitchFamily="34" charset="0"/>
                <a:cs typeface="Arial" panose="020B0604020202020204" pitchFamily="34" charset="0"/>
              </a:rPr>
              <a:t>Qu’avez-vous fait le weekend dernier ?</a:t>
            </a:r>
            <a:endParaRPr lang="fr-FR" b="1" dirty="0">
              <a:solidFill>
                <a:schemeClr val="bg1"/>
              </a:solidFill>
              <a:latin typeface="Arial" panose="020B0604020202020204" pitchFamily="34"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4FF2B627-5EB2-45CA-B99F-61DAABF8B4D2}"/>
              </a:ext>
            </a:extLst>
          </p:cNvPr>
          <p:cNvSpPr>
            <a:spLocks noGrp="1"/>
          </p:cNvSpPr>
          <p:nvPr>
            <p:ph idx="1"/>
          </p:nvPr>
        </p:nvSpPr>
        <p:spPr>
          <a:xfrm>
            <a:off x="1244601" y="1791689"/>
            <a:ext cx="4233332" cy="4724401"/>
          </a:xfrm>
        </p:spPr>
        <p:txBody>
          <a:bodyPr>
            <a:normAutofit/>
          </a:bodyPr>
          <a:lstStyle/>
          <a:p>
            <a:r>
              <a:rPr lang="fr-BE" sz="3200" b="1" dirty="0">
                <a:solidFill>
                  <a:schemeClr val="bg1"/>
                </a:solidFill>
              </a:rPr>
              <a:t>Regarder une série</a:t>
            </a:r>
          </a:p>
          <a:p>
            <a:r>
              <a:rPr lang="fr-BE" sz="3200" b="1" dirty="0">
                <a:solidFill>
                  <a:schemeClr val="bg1"/>
                </a:solidFill>
              </a:rPr>
              <a:t>Faire le ménage</a:t>
            </a:r>
          </a:p>
          <a:p>
            <a:r>
              <a:rPr lang="fr-BE" sz="3200" b="1" dirty="0">
                <a:solidFill>
                  <a:schemeClr val="bg1"/>
                </a:solidFill>
              </a:rPr>
              <a:t>Manger au restaurant</a:t>
            </a:r>
          </a:p>
          <a:p>
            <a:r>
              <a:rPr lang="fr-BE" sz="3200" b="1" dirty="0">
                <a:solidFill>
                  <a:schemeClr val="bg1"/>
                </a:solidFill>
              </a:rPr>
              <a:t>Écrire un email</a:t>
            </a:r>
          </a:p>
          <a:p>
            <a:r>
              <a:rPr lang="fr-BE" sz="3200" b="1" dirty="0">
                <a:solidFill>
                  <a:schemeClr val="bg1"/>
                </a:solidFill>
              </a:rPr>
              <a:t>Voir des amis</a:t>
            </a:r>
          </a:p>
          <a:p>
            <a:endParaRPr lang="fr-BE" sz="2800" b="1" dirty="0">
              <a:solidFill>
                <a:schemeClr val="bg1"/>
              </a:solidFill>
            </a:endParaRPr>
          </a:p>
        </p:txBody>
      </p:sp>
      <p:sp>
        <p:nvSpPr>
          <p:cNvPr id="5" name="Espace réservé du contenu 2">
            <a:extLst>
              <a:ext uri="{FF2B5EF4-FFF2-40B4-BE49-F238E27FC236}">
                <a16:creationId xmlns:a16="http://schemas.microsoft.com/office/drawing/2014/main" id="{7D9BB275-13EA-4F55-AE02-39ED7F2FFB62}"/>
              </a:ext>
            </a:extLst>
          </p:cNvPr>
          <p:cNvSpPr txBox="1">
            <a:spLocks/>
          </p:cNvSpPr>
          <p:nvPr/>
        </p:nvSpPr>
        <p:spPr>
          <a:xfrm>
            <a:off x="6714068" y="1989668"/>
            <a:ext cx="5204335" cy="452966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3200" b="1" dirty="0">
                <a:solidFill>
                  <a:schemeClr val="bg1"/>
                </a:solidFill>
              </a:rPr>
              <a:t>Aller en ville</a:t>
            </a:r>
            <a:endParaRPr lang="fr-FR" sz="3200" b="1" dirty="0">
              <a:solidFill>
                <a:schemeClr val="bg1"/>
              </a:solidFill>
            </a:endParaRPr>
          </a:p>
          <a:p>
            <a:r>
              <a:rPr lang="fr-FR" sz="3200" b="1" dirty="0">
                <a:solidFill>
                  <a:schemeClr val="bg1"/>
                </a:solidFill>
              </a:rPr>
              <a:t>Se reposer</a:t>
            </a:r>
          </a:p>
          <a:p>
            <a:r>
              <a:rPr lang="fr-FR" sz="3200" b="1" dirty="0">
                <a:solidFill>
                  <a:schemeClr val="bg1"/>
                </a:solidFill>
              </a:rPr>
              <a:t>Passer au magasin de vêtements</a:t>
            </a:r>
          </a:p>
          <a:p>
            <a:r>
              <a:rPr lang="fr-FR" sz="3200" b="1" dirty="0">
                <a:solidFill>
                  <a:schemeClr val="bg1"/>
                </a:solidFill>
              </a:rPr>
              <a:t>Rester à Louvain-la-Neuve</a:t>
            </a:r>
          </a:p>
          <a:p>
            <a:endParaRPr lang="fr-FR" sz="3200" b="1" dirty="0">
              <a:solidFill>
                <a:schemeClr val="bg1"/>
              </a:solidFill>
            </a:endParaRPr>
          </a:p>
        </p:txBody>
      </p:sp>
    </p:spTree>
    <p:extLst>
      <p:ext uri="{BB962C8B-B14F-4D97-AF65-F5344CB8AC3E}">
        <p14:creationId xmlns:p14="http://schemas.microsoft.com/office/powerpoint/2010/main" val="1449938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D3CCF5-E650-450B-8465-E2F21101A6FE}"/>
              </a:ext>
            </a:extLst>
          </p:cNvPr>
          <p:cNvSpPr>
            <a:spLocks noGrp="1"/>
          </p:cNvSpPr>
          <p:nvPr>
            <p:ph type="title"/>
          </p:nvPr>
        </p:nvSpPr>
        <p:spPr/>
        <p:txBody>
          <a:bodyPr/>
          <a:lstStyle/>
          <a:p>
            <a:r>
              <a:rPr lang="fr-BE" b="1" dirty="0">
                <a:solidFill>
                  <a:schemeClr val="bg1"/>
                </a:solidFill>
              </a:rPr>
              <a:t>Vos réponses : </a:t>
            </a:r>
            <a:endParaRPr lang="fr-FR" b="1" dirty="0">
              <a:solidFill>
                <a:schemeClr val="bg1"/>
              </a:solidFill>
            </a:endParaRPr>
          </a:p>
        </p:txBody>
      </p:sp>
      <p:sp>
        <p:nvSpPr>
          <p:cNvPr id="3" name="Espace réservé du contenu 2">
            <a:extLst>
              <a:ext uri="{FF2B5EF4-FFF2-40B4-BE49-F238E27FC236}">
                <a16:creationId xmlns:a16="http://schemas.microsoft.com/office/drawing/2014/main" id="{F993695B-5EBA-4908-8A71-EC32888F5279}"/>
              </a:ext>
            </a:extLst>
          </p:cNvPr>
          <p:cNvSpPr>
            <a:spLocks noGrp="1"/>
          </p:cNvSpPr>
          <p:nvPr>
            <p:ph idx="1"/>
          </p:nvPr>
        </p:nvSpPr>
        <p:spPr/>
        <p:txBody>
          <a:bodyPr/>
          <a:lstStyle/>
          <a:p>
            <a:endParaRPr lang="fr-FR" dirty="0"/>
          </a:p>
        </p:txBody>
      </p:sp>
    </p:spTree>
    <p:extLst>
      <p:ext uri="{BB962C8B-B14F-4D97-AF65-F5344CB8AC3E}">
        <p14:creationId xmlns:p14="http://schemas.microsoft.com/office/powerpoint/2010/main" val="3462844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5587AF-25F4-46B9-BEC5-98A9B068B300}"/>
              </a:ext>
            </a:extLst>
          </p:cNvPr>
          <p:cNvSpPr>
            <a:spLocks noGrp="1"/>
          </p:cNvSpPr>
          <p:nvPr>
            <p:ph type="title"/>
          </p:nvPr>
        </p:nvSpPr>
        <p:spPr>
          <a:xfrm>
            <a:off x="313509" y="609600"/>
            <a:ext cx="11743508" cy="1456267"/>
          </a:xfrm>
        </p:spPr>
        <p:txBody>
          <a:bodyPr/>
          <a:lstStyle/>
          <a:p>
            <a:r>
              <a:rPr lang="fr-BE" b="1" dirty="0">
                <a:solidFill>
                  <a:schemeClr val="bg1"/>
                </a:solidFill>
                <a:latin typeface="Comic Sans MS" panose="030F0702030302020204" pitchFamily="66" charset="0"/>
              </a:rPr>
              <a:t>Le participe passé employé avec « Être »</a:t>
            </a:r>
            <a:endParaRPr lang="fr-FR" dirty="0"/>
          </a:p>
        </p:txBody>
      </p:sp>
      <p:sp>
        <p:nvSpPr>
          <p:cNvPr id="4" name="Rectangle : coins arrondis 3">
            <a:extLst>
              <a:ext uri="{FF2B5EF4-FFF2-40B4-BE49-F238E27FC236}">
                <a16:creationId xmlns:a16="http://schemas.microsoft.com/office/drawing/2014/main" id="{0F13F7AA-BDF4-4CBA-B086-755819A96920}"/>
              </a:ext>
            </a:extLst>
          </p:cNvPr>
          <p:cNvSpPr/>
          <p:nvPr/>
        </p:nvSpPr>
        <p:spPr>
          <a:xfrm>
            <a:off x="494207" y="2065867"/>
            <a:ext cx="5003084" cy="42839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800" dirty="0">
                <a:solidFill>
                  <a:schemeClr val="bg1"/>
                </a:solidFill>
              </a:rPr>
              <a:t>L’accord se fait en genre et en nombre avec le </a:t>
            </a:r>
            <a:r>
              <a:rPr lang="fr-BE" sz="2800" b="1" u="sng" dirty="0">
                <a:solidFill>
                  <a:srgbClr val="FFFF00"/>
                </a:solidFill>
              </a:rPr>
              <a:t>sujet</a:t>
            </a:r>
            <a:endParaRPr lang="fr-BE" sz="2800" u="sng" dirty="0">
              <a:solidFill>
                <a:srgbClr val="FFFF00"/>
              </a:solidFill>
            </a:endParaRPr>
          </a:p>
          <a:p>
            <a:pPr algn="ctr"/>
            <a:endParaRPr lang="fr-BE" sz="2800" dirty="0">
              <a:solidFill>
                <a:srgbClr val="0070C0"/>
              </a:solidFill>
            </a:endParaRPr>
          </a:p>
          <a:p>
            <a:pPr algn="ctr"/>
            <a:endParaRPr lang="fr-BE" sz="2800" dirty="0">
              <a:solidFill>
                <a:schemeClr val="bg1"/>
              </a:solidFill>
            </a:endParaRPr>
          </a:p>
          <a:p>
            <a:pPr algn="ctr"/>
            <a:r>
              <a:rPr lang="fr-BE" sz="2800" b="1" u="sng" dirty="0">
                <a:solidFill>
                  <a:srgbClr val="FFFF00"/>
                </a:solidFill>
              </a:rPr>
              <a:t>Les oiseaux </a:t>
            </a:r>
            <a:r>
              <a:rPr lang="fr-BE" sz="2800" dirty="0">
                <a:solidFill>
                  <a:schemeClr val="bg1"/>
                </a:solidFill>
              </a:rPr>
              <a:t>sont part</a:t>
            </a:r>
            <a:r>
              <a:rPr lang="fr-BE" sz="2800" b="1" dirty="0">
                <a:solidFill>
                  <a:schemeClr val="tx1"/>
                </a:solidFill>
                <a:highlight>
                  <a:srgbClr val="FF00FF"/>
                </a:highlight>
              </a:rPr>
              <a:t>is</a:t>
            </a:r>
            <a:r>
              <a:rPr lang="fr-BE" sz="2800" dirty="0">
                <a:solidFill>
                  <a:schemeClr val="bg1"/>
                </a:solidFill>
              </a:rPr>
              <a:t>.</a:t>
            </a:r>
          </a:p>
        </p:txBody>
      </p:sp>
      <p:sp>
        <p:nvSpPr>
          <p:cNvPr id="5" name="Rectangle : coins arrondis 4">
            <a:extLst>
              <a:ext uri="{FF2B5EF4-FFF2-40B4-BE49-F238E27FC236}">
                <a16:creationId xmlns:a16="http://schemas.microsoft.com/office/drawing/2014/main" id="{255528B8-FF87-438C-B4C8-D2AB461283C3}"/>
              </a:ext>
            </a:extLst>
          </p:cNvPr>
          <p:cNvSpPr/>
          <p:nvPr/>
        </p:nvSpPr>
        <p:spPr>
          <a:xfrm>
            <a:off x="5917473" y="2142067"/>
            <a:ext cx="5588725" cy="4207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800" dirty="0">
                <a:solidFill>
                  <a:schemeClr val="bg1"/>
                </a:solidFill>
              </a:rPr>
              <a:t>L’accord se fait en genre et en nombre avec le pronom réflexif quand il est </a:t>
            </a:r>
            <a:r>
              <a:rPr lang="fr-BE" sz="2800" b="1" dirty="0">
                <a:solidFill>
                  <a:srgbClr val="FF0000"/>
                </a:solidFill>
              </a:rPr>
              <a:t>COD</a:t>
            </a:r>
          </a:p>
          <a:p>
            <a:pPr algn="ctr"/>
            <a:endParaRPr lang="fr-BE" sz="2800" dirty="0">
              <a:solidFill>
                <a:schemeClr val="bg1"/>
              </a:solidFill>
            </a:endParaRPr>
          </a:p>
          <a:p>
            <a:pPr algn="ctr"/>
            <a:r>
              <a:rPr lang="fr-BE" sz="2800" b="1" u="sng" dirty="0">
                <a:solidFill>
                  <a:srgbClr val="FFFF00"/>
                </a:solidFill>
              </a:rPr>
              <a:t>Elle</a:t>
            </a:r>
            <a:r>
              <a:rPr lang="fr-BE" sz="2800" dirty="0">
                <a:solidFill>
                  <a:schemeClr val="bg1"/>
                </a:solidFill>
              </a:rPr>
              <a:t> </a:t>
            </a:r>
            <a:r>
              <a:rPr lang="fr-BE" sz="2800" b="1" dirty="0">
                <a:solidFill>
                  <a:srgbClr val="FF0000"/>
                </a:solidFill>
              </a:rPr>
              <a:t>s’</a:t>
            </a:r>
            <a:r>
              <a:rPr lang="fr-BE" sz="2800" b="1" dirty="0">
                <a:solidFill>
                  <a:srgbClr val="0070C0"/>
                </a:solidFill>
              </a:rPr>
              <a:t>est</a:t>
            </a:r>
            <a:r>
              <a:rPr lang="fr-BE" sz="2800" dirty="0">
                <a:solidFill>
                  <a:srgbClr val="0070C0"/>
                </a:solidFill>
              </a:rPr>
              <a:t> assis</a:t>
            </a:r>
            <a:r>
              <a:rPr lang="fr-BE" sz="2800" dirty="0">
                <a:solidFill>
                  <a:schemeClr val="tx1"/>
                </a:solidFill>
                <a:highlight>
                  <a:srgbClr val="FF00FF"/>
                </a:highlight>
              </a:rPr>
              <a:t>e</a:t>
            </a:r>
            <a:r>
              <a:rPr lang="fr-BE" sz="2800" dirty="0">
                <a:solidFill>
                  <a:srgbClr val="0070C0"/>
                </a:solidFill>
              </a:rPr>
              <a:t> </a:t>
            </a:r>
            <a:r>
              <a:rPr lang="fr-BE" sz="2800" dirty="0">
                <a:solidFill>
                  <a:schemeClr val="bg1"/>
                </a:solidFill>
              </a:rPr>
              <a:t>sur la chaise</a:t>
            </a:r>
          </a:p>
          <a:p>
            <a:pPr algn="ctr"/>
            <a:r>
              <a:rPr lang="fr-BE" sz="2800" dirty="0">
                <a:solidFill>
                  <a:schemeClr val="bg1"/>
                </a:solidFill>
              </a:rPr>
              <a:t>=/=</a:t>
            </a:r>
          </a:p>
          <a:p>
            <a:pPr algn="ctr"/>
            <a:r>
              <a:rPr lang="fr-BE" sz="2800" b="1" u="sng" dirty="0">
                <a:solidFill>
                  <a:srgbClr val="FFFF00"/>
                </a:solidFill>
              </a:rPr>
              <a:t>Elle</a:t>
            </a:r>
            <a:r>
              <a:rPr lang="fr-BE" sz="2800" dirty="0">
                <a:solidFill>
                  <a:schemeClr val="bg1"/>
                </a:solidFill>
              </a:rPr>
              <a:t> s’</a:t>
            </a:r>
            <a:r>
              <a:rPr lang="fr-BE" sz="2800" b="1" dirty="0">
                <a:solidFill>
                  <a:srgbClr val="0070C0"/>
                </a:solidFill>
              </a:rPr>
              <a:t>est</a:t>
            </a:r>
            <a:r>
              <a:rPr lang="fr-BE" sz="2800" dirty="0">
                <a:solidFill>
                  <a:srgbClr val="0070C0"/>
                </a:solidFill>
              </a:rPr>
              <a:t> posé </a:t>
            </a:r>
            <a:r>
              <a:rPr lang="fr-BE" sz="2800" dirty="0">
                <a:solidFill>
                  <a:srgbClr val="FF0000"/>
                </a:solidFill>
              </a:rPr>
              <a:t>des questions</a:t>
            </a:r>
          </a:p>
        </p:txBody>
      </p:sp>
    </p:spTree>
    <p:extLst>
      <p:ext uri="{BB962C8B-B14F-4D97-AF65-F5344CB8AC3E}">
        <p14:creationId xmlns:p14="http://schemas.microsoft.com/office/powerpoint/2010/main" val="2578881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178099-8959-4C24-9FCB-A31F03749193}"/>
              </a:ext>
            </a:extLst>
          </p:cNvPr>
          <p:cNvSpPr>
            <a:spLocks noGrp="1"/>
          </p:cNvSpPr>
          <p:nvPr>
            <p:ph type="title"/>
          </p:nvPr>
        </p:nvSpPr>
        <p:spPr>
          <a:xfrm>
            <a:off x="338667" y="1"/>
            <a:ext cx="11853333" cy="1016000"/>
          </a:xfrm>
        </p:spPr>
        <p:txBody>
          <a:bodyPr/>
          <a:lstStyle/>
          <a:p>
            <a:r>
              <a:rPr lang="fr-BE" b="1" dirty="0">
                <a:solidFill>
                  <a:schemeClr val="bg1"/>
                </a:solidFill>
                <a:latin typeface="Comic Sans MS" panose="030F0702030302020204" pitchFamily="66" charset="0"/>
              </a:rPr>
              <a:t>Le participe passé employé avec « avoir »</a:t>
            </a:r>
            <a:endParaRPr lang="fr-FR" b="1" dirty="0">
              <a:solidFill>
                <a:schemeClr val="bg1"/>
              </a:solidFill>
              <a:latin typeface="Comic Sans MS" panose="030F0702030302020204" pitchFamily="66" charset="0"/>
            </a:endParaRPr>
          </a:p>
        </p:txBody>
      </p:sp>
      <p:sp>
        <p:nvSpPr>
          <p:cNvPr id="6" name="Rectangle : coins arrondis 5">
            <a:extLst>
              <a:ext uri="{FF2B5EF4-FFF2-40B4-BE49-F238E27FC236}">
                <a16:creationId xmlns:a16="http://schemas.microsoft.com/office/drawing/2014/main" id="{CA716E15-7801-41B8-8D05-7E587A7C0C75}"/>
              </a:ext>
            </a:extLst>
          </p:cNvPr>
          <p:cNvSpPr/>
          <p:nvPr/>
        </p:nvSpPr>
        <p:spPr>
          <a:xfrm>
            <a:off x="385414" y="1390813"/>
            <a:ext cx="5334000" cy="51065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800" dirty="0">
                <a:solidFill>
                  <a:schemeClr val="bg1"/>
                </a:solidFill>
              </a:rPr>
              <a:t>L’accord se fait en genre et en nombre avec le </a:t>
            </a:r>
            <a:r>
              <a:rPr lang="fr-BE" sz="2800" b="1" dirty="0">
                <a:solidFill>
                  <a:srgbClr val="FF0000"/>
                </a:solidFill>
              </a:rPr>
              <a:t>COD</a:t>
            </a:r>
            <a:r>
              <a:rPr lang="fr-BE" sz="2800" dirty="0">
                <a:solidFill>
                  <a:schemeClr val="bg1"/>
                </a:solidFill>
              </a:rPr>
              <a:t> s’il est placé AVANT le </a:t>
            </a:r>
            <a:r>
              <a:rPr lang="fr-BE" sz="2800" dirty="0">
                <a:solidFill>
                  <a:srgbClr val="0070C0"/>
                </a:solidFill>
              </a:rPr>
              <a:t>VERBE</a:t>
            </a:r>
          </a:p>
          <a:p>
            <a:pPr algn="ctr"/>
            <a:endParaRPr lang="fr-BE" sz="2800" dirty="0">
              <a:solidFill>
                <a:srgbClr val="0070C0"/>
              </a:solidFill>
            </a:endParaRPr>
          </a:p>
          <a:p>
            <a:pPr algn="ctr"/>
            <a:endParaRPr lang="fr-BE" sz="2800" dirty="0">
              <a:solidFill>
                <a:schemeClr val="bg1"/>
              </a:solidFill>
            </a:endParaRPr>
          </a:p>
          <a:p>
            <a:pPr algn="ctr"/>
            <a:r>
              <a:rPr lang="fr-BE" sz="2800" dirty="0">
                <a:solidFill>
                  <a:srgbClr val="FF0000"/>
                </a:solidFill>
              </a:rPr>
              <a:t>La tarte </a:t>
            </a:r>
            <a:r>
              <a:rPr lang="fr-BE" sz="2800" dirty="0">
                <a:solidFill>
                  <a:schemeClr val="bg1"/>
                </a:solidFill>
              </a:rPr>
              <a:t>que j’</a:t>
            </a:r>
            <a:r>
              <a:rPr lang="fr-BE" sz="2800" b="1" dirty="0">
                <a:solidFill>
                  <a:srgbClr val="0070C0"/>
                </a:solidFill>
              </a:rPr>
              <a:t>ai</a:t>
            </a:r>
            <a:r>
              <a:rPr lang="fr-BE" sz="2800" dirty="0">
                <a:solidFill>
                  <a:srgbClr val="0070C0"/>
                </a:solidFill>
              </a:rPr>
              <a:t> mang</a:t>
            </a:r>
            <a:r>
              <a:rPr lang="fr-BE" sz="2800" dirty="0">
                <a:solidFill>
                  <a:schemeClr val="bg1"/>
                </a:solidFill>
              </a:rPr>
              <a:t>é</a:t>
            </a:r>
            <a:r>
              <a:rPr lang="fr-BE" sz="2800" dirty="0">
                <a:solidFill>
                  <a:schemeClr val="bg1"/>
                </a:solidFill>
                <a:highlight>
                  <a:srgbClr val="FF00FF"/>
                </a:highlight>
              </a:rPr>
              <a:t>e</a:t>
            </a:r>
            <a:r>
              <a:rPr lang="fr-BE" sz="2800" dirty="0">
                <a:solidFill>
                  <a:schemeClr val="bg1"/>
                </a:solidFill>
              </a:rPr>
              <a:t> était délicieuse !</a:t>
            </a:r>
          </a:p>
        </p:txBody>
      </p:sp>
      <p:sp>
        <p:nvSpPr>
          <p:cNvPr id="9" name="Flèche : courbe vers le bas 8">
            <a:extLst>
              <a:ext uri="{FF2B5EF4-FFF2-40B4-BE49-F238E27FC236}">
                <a16:creationId xmlns:a16="http://schemas.microsoft.com/office/drawing/2014/main" id="{17DA34B6-1DFF-4800-8027-41915CF021C9}"/>
              </a:ext>
            </a:extLst>
          </p:cNvPr>
          <p:cNvSpPr/>
          <p:nvPr/>
        </p:nvSpPr>
        <p:spPr>
          <a:xfrm>
            <a:off x="1604038" y="3809363"/>
            <a:ext cx="2795452" cy="747849"/>
          </a:xfrm>
          <a:prstGeom prst="curved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0" name="Rectangle : coins arrondis 9">
            <a:extLst>
              <a:ext uri="{FF2B5EF4-FFF2-40B4-BE49-F238E27FC236}">
                <a16:creationId xmlns:a16="http://schemas.microsoft.com/office/drawing/2014/main" id="{8FE208BD-EF57-4A81-A72E-0CEA769FC5D9}"/>
              </a:ext>
            </a:extLst>
          </p:cNvPr>
          <p:cNvSpPr/>
          <p:nvPr/>
        </p:nvSpPr>
        <p:spPr>
          <a:xfrm>
            <a:off x="5875017" y="2199821"/>
            <a:ext cx="6165668" cy="1118145"/>
          </a:xfrm>
          <a:prstGeom prst="roundRect">
            <a:avLst/>
          </a:prstGeom>
          <a:solidFill>
            <a:schemeClr val="accent5">
              <a:lumMod val="60000"/>
              <a:lumOff val="4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000" dirty="0">
                <a:solidFill>
                  <a:schemeClr val="bg1"/>
                </a:solidFill>
              </a:rPr>
              <a:t>L’accord NE SE FAIT PAS si le COD est APRÈS le verbe</a:t>
            </a:r>
          </a:p>
          <a:p>
            <a:pPr algn="ctr"/>
            <a:endParaRPr lang="fr-BE" sz="2400" dirty="0">
              <a:solidFill>
                <a:schemeClr val="bg1"/>
              </a:solidFill>
            </a:endParaRPr>
          </a:p>
          <a:p>
            <a:pPr algn="ctr"/>
            <a:r>
              <a:rPr lang="fr-BE" sz="2400" dirty="0">
                <a:solidFill>
                  <a:schemeClr val="bg1"/>
                </a:solidFill>
              </a:rPr>
              <a:t>J’</a:t>
            </a:r>
            <a:r>
              <a:rPr lang="fr-BE" sz="2400" b="1" dirty="0">
                <a:solidFill>
                  <a:srgbClr val="0070C0"/>
                </a:solidFill>
              </a:rPr>
              <a:t>ai</a:t>
            </a:r>
            <a:r>
              <a:rPr lang="fr-BE" sz="2400" dirty="0">
                <a:solidFill>
                  <a:srgbClr val="0070C0"/>
                </a:solidFill>
              </a:rPr>
              <a:t> mang</a:t>
            </a:r>
            <a:r>
              <a:rPr lang="fr-BE" sz="2400" u="sng" dirty="0">
                <a:solidFill>
                  <a:srgbClr val="0070C0"/>
                </a:solidFill>
              </a:rPr>
              <a:t>é</a:t>
            </a:r>
            <a:r>
              <a:rPr lang="fr-BE" sz="2400" dirty="0">
                <a:solidFill>
                  <a:srgbClr val="0070C0"/>
                </a:solidFill>
              </a:rPr>
              <a:t> </a:t>
            </a:r>
            <a:r>
              <a:rPr lang="fr-BE" sz="2400" b="1" dirty="0">
                <a:solidFill>
                  <a:srgbClr val="FF0000"/>
                </a:solidFill>
              </a:rPr>
              <a:t>une tarte </a:t>
            </a:r>
            <a:r>
              <a:rPr lang="fr-BE" sz="2400" dirty="0">
                <a:solidFill>
                  <a:schemeClr val="bg1"/>
                </a:solidFill>
              </a:rPr>
              <a:t>délicieuse !</a:t>
            </a:r>
            <a:endParaRPr lang="fr-FR" sz="2400" dirty="0"/>
          </a:p>
        </p:txBody>
      </p:sp>
      <p:sp>
        <p:nvSpPr>
          <p:cNvPr id="11" name="Rectangle : coins arrondis 10">
            <a:extLst>
              <a:ext uri="{FF2B5EF4-FFF2-40B4-BE49-F238E27FC236}">
                <a16:creationId xmlns:a16="http://schemas.microsoft.com/office/drawing/2014/main" id="{72C98E03-90B2-4060-90DE-F09FAD2B6E5C}"/>
              </a:ext>
            </a:extLst>
          </p:cNvPr>
          <p:cNvSpPr/>
          <p:nvPr/>
        </p:nvSpPr>
        <p:spPr>
          <a:xfrm>
            <a:off x="5875017" y="3459296"/>
            <a:ext cx="6165668" cy="1193621"/>
          </a:xfrm>
          <a:prstGeom prst="roundRect">
            <a:avLst/>
          </a:prstGeom>
          <a:solidFill>
            <a:schemeClr val="accent5">
              <a:lumMod val="60000"/>
              <a:lumOff val="4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dirty="0">
                <a:solidFill>
                  <a:schemeClr val="bg1"/>
                </a:solidFill>
              </a:rPr>
              <a:t>L’accord NE SE FAIT PAS si le COD est « EN »</a:t>
            </a:r>
          </a:p>
          <a:p>
            <a:pPr algn="ctr"/>
            <a:endParaRPr lang="fr-BE" sz="2400" dirty="0">
              <a:solidFill>
                <a:schemeClr val="bg1"/>
              </a:solidFill>
            </a:endParaRPr>
          </a:p>
          <a:p>
            <a:pPr algn="ctr"/>
            <a:r>
              <a:rPr lang="fr-BE" sz="2400" dirty="0">
                <a:solidFill>
                  <a:schemeClr val="bg1"/>
                </a:solidFill>
              </a:rPr>
              <a:t>De la soupe ? J’</a:t>
            </a:r>
            <a:r>
              <a:rPr lang="fr-BE" sz="2400" b="1" dirty="0">
                <a:solidFill>
                  <a:srgbClr val="FF0000"/>
                </a:solidFill>
              </a:rPr>
              <a:t>en</a:t>
            </a:r>
            <a:r>
              <a:rPr lang="fr-BE" sz="2400" dirty="0">
                <a:solidFill>
                  <a:schemeClr val="bg1"/>
                </a:solidFill>
              </a:rPr>
              <a:t> </a:t>
            </a:r>
            <a:r>
              <a:rPr lang="fr-BE" sz="2400" b="1" dirty="0">
                <a:solidFill>
                  <a:srgbClr val="0070C0"/>
                </a:solidFill>
              </a:rPr>
              <a:t>ai</a:t>
            </a:r>
            <a:r>
              <a:rPr lang="fr-BE" sz="2400" dirty="0">
                <a:solidFill>
                  <a:srgbClr val="0070C0"/>
                </a:solidFill>
              </a:rPr>
              <a:t> command</a:t>
            </a:r>
            <a:r>
              <a:rPr lang="fr-BE" sz="2400" u="sng" dirty="0">
                <a:solidFill>
                  <a:srgbClr val="0070C0"/>
                </a:solidFill>
              </a:rPr>
              <a:t>é</a:t>
            </a:r>
            <a:r>
              <a:rPr lang="fr-BE" sz="2400" dirty="0">
                <a:solidFill>
                  <a:srgbClr val="0070C0"/>
                </a:solidFill>
              </a:rPr>
              <a:t> </a:t>
            </a:r>
            <a:r>
              <a:rPr lang="fr-BE" sz="2400" dirty="0">
                <a:solidFill>
                  <a:schemeClr val="bg1"/>
                </a:solidFill>
              </a:rPr>
              <a:t>au restaurant</a:t>
            </a:r>
            <a:r>
              <a:rPr lang="fr-BE" dirty="0">
                <a:solidFill>
                  <a:schemeClr val="bg1"/>
                </a:solidFill>
              </a:rPr>
              <a:t>.</a:t>
            </a:r>
            <a:endParaRPr lang="fr-FR" dirty="0"/>
          </a:p>
        </p:txBody>
      </p:sp>
      <p:sp>
        <p:nvSpPr>
          <p:cNvPr id="12" name="Flèche : courbe vers le bas 11">
            <a:extLst>
              <a:ext uri="{FF2B5EF4-FFF2-40B4-BE49-F238E27FC236}">
                <a16:creationId xmlns:a16="http://schemas.microsoft.com/office/drawing/2014/main" id="{2D302D07-057E-499B-AA8B-A0C7A0F92CBC}"/>
              </a:ext>
            </a:extLst>
          </p:cNvPr>
          <p:cNvSpPr/>
          <p:nvPr/>
        </p:nvSpPr>
        <p:spPr>
          <a:xfrm flipH="1">
            <a:off x="8159930" y="2675616"/>
            <a:ext cx="1034140" cy="269421"/>
          </a:xfrm>
          <a:prstGeom prst="curved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3" name="Signe de multiplication 12">
            <a:extLst>
              <a:ext uri="{FF2B5EF4-FFF2-40B4-BE49-F238E27FC236}">
                <a16:creationId xmlns:a16="http://schemas.microsoft.com/office/drawing/2014/main" id="{2C2ED268-CBF9-4345-830B-01C7553DC311}"/>
              </a:ext>
            </a:extLst>
          </p:cNvPr>
          <p:cNvSpPr/>
          <p:nvPr/>
        </p:nvSpPr>
        <p:spPr>
          <a:xfrm>
            <a:off x="8363011" y="2569616"/>
            <a:ext cx="444137" cy="2694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courbe vers le bas 14">
            <a:extLst>
              <a:ext uri="{FF2B5EF4-FFF2-40B4-BE49-F238E27FC236}">
                <a16:creationId xmlns:a16="http://schemas.microsoft.com/office/drawing/2014/main" id="{A453DB66-2CA5-4B66-920E-DA65A0962CFF}"/>
              </a:ext>
            </a:extLst>
          </p:cNvPr>
          <p:cNvSpPr/>
          <p:nvPr/>
        </p:nvSpPr>
        <p:spPr>
          <a:xfrm>
            <a:off x="8159930" y="3915409"/>
            <a:ext cx="1484812" cy="336732"/>
          </a:xfrm>
          <a:prstGeom prst="curved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6" name="Signe de multiplication 15">
            <a:extLst>
              <a:ext uri="{FF2B5EF4-FFF2-40B4-BE49-F238E27FC236}">
                <a16:creationId xmlns:a16="http://schemas.microsoft.com/office/drawing/2014/main" id="{BA157F11-2F51-49EA-908C-23B49F32622D}"/>
              </a:ext>
            </a:extLst>
          </p:cNvPr>
          <p:cNvSpPr/>
          <p:nvPr/>
        </p:nvSpPr>
        <p:spPr>
          <a:xfrm>
            <a:off x="8680267" y="3809363"/>
            <a:ext cx="444137" cy="2694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49C28D8F-4B23-462C-8F3C-DA514E39992A}"/>
              </a:ext>
            </a:extLst>
          </p:cNvPr>
          <p:cNvSpPr/>
          <p:nvPr/>
        </p:nvSpPr>
        <p:spPr>
          <a:xfrm>
            <a:off x="5942325" y="1359328"/>
            <a:ext cx="5864261" cy="725488"/>
          </a:xfrm>
          <a:prstGeom prst="roundRect">
            <a:avLst/>
          </a:prstGeom>
          <a:solidFill>
            <a:schemeClr val="accent5">
              <a:lumMod val="60000"/>
              <a:lumOff val="4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000" dirty="0">
                <a:solidFill>
                  <a:schemeClr val="bg1"/>
                </a:solidFill>
              </a:rPr>
              <a:t>L’accord NE SE FAIT PAS s’il n’y a pas de COD</a:t>
            </a:r>
          </a:p>
          <a:p>
            <a:pPr algn="ctr"/>
            <a:r>
              <a:rPr lang="fr-BE" sz="2000" dirty="0">
                <a:solidFill>
                  <a:schemeClr val="bg1"/>
                </a:solidFill>
              </a:rPr>
              <a:t>Léa </a:t>
            </a:r>
            <a:r>
              <a:rPr lang="fr-BE" sz="2000" b="1" dirty="0">
                <a:solidFill>
                  <a:srgbClr val="0070C0"/>
                </a:solidFill>
              </a:rPr>
              <a:t>a</a:t>
            </a:r>
            <a:r>
              <a:rPr lang="fr-BE" sz="2000" dirty="0">
                <a:solidFill>
                  <a:srgbClr val="0070C0"/>
                </a:solidFill>
              </a:rPr>
              <a:t> gagné </a:t>
            </a:r>
            <a:r>
              <a:rPr lang="fr-BE" sz="2000" dirty="0">
                <a:solidFill>
                  <a:schemeClr val="bg1"/>
                </a:solidFill>
              </a:rPr>
              <a:t>!</a:t>
            </a:r>
            <a:endParaRPr lang="fr-FR" sz="2000" dirty="0"/>
          </a:p>
        </p:txBody>
      </p:sp>
      <p:sp>
        <p:nvSpPr>
          <p:cNvPr id="20" name="Rectangle : coins arrondis 19">
            <a:extLst>
              <a:ext uri="{FF2B5EF4-FFF2-40B4-BE49-F238E27FC236}">
                <a16:creationId xmlns:a16="http://schemas.microsoft.com/office/drawing/2014/main" id="{8BC10788-FB25-4602-91B1-F92CA80B2BC3}"/>
              </a:ext>
            </a:extLst>
          </p:cNvPr>
          <p:cNvSpPr/>
          <p:nvPr/>
        </p:nvSpPr>
        <p:spPr>
          <a:xfrm>
            <a:off x="6011599" y="4758963"/>
            <a:ext cx="5864261" cy="962145"/>
          </a:xfrm>
          <a:prstGeom prst="roundRect">
            <a:avLst/>
          </a:prstGeom>
          <a:solidFill>
            <a:schemeClr val="accent5">
              <a:lumMod val="60000"/>
              <a:lumOff val="4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000" dirty="0">
                <a:solidFill>
                  <a:schemeClr val="bg1"/>
                </a:solidFill>
              </a:rPr>
              <a:t>L’accord ne se fait pas avec une préposition : « </a:t>
            </a:r>
            <a:r>
              <a:rPr lang="fr-BE" sz="2000" b="1" i="1" u="sng" dirty="0">
                <a:solidFill>
                  <a:schemeClr val="bg1"/>
                </a:solidFill>
              </a:rPr>
              <a:t>à</a:t>
            </a:r>
            <a:r>
              <a:rPr lang="fr-BE" sz="2000" dirty="0">
                <a:solidFill>
                  <a:schemeClr val="bg1"/>
                </a:solidFill>
              </a:rPr>
              <a:t> qui »</a:t>
            </a:r>
          </a:p>
          <a:p>
            <a:pPr algn="ctr"/>
            <a:r>
              <a:rPr lang="fr-BE" sz="2000" dirty="0">
                <a:solidFill>
                  <a:schemeClr val="bg1"/>
                </a:solidFill>
              </a:rPr>
              <a:t>Léon ? Je lui</a:t>
            </a:r>
            <a:r>
              <a:rPr lang="fr-BE" sz="2000" b="1" dirty="0">
                <a:solidFill>
                  <a:schemeClr val="bg1"/>
                </a:solidFill>
              </a:rPr>
              <a:t> </a:t>
            </a:r>
            <a:r>
              <a:rPr lang="fr-BE" sz="2000" b="1" dirty="0">
                <a:solidFill>
                  <a:srgbClr val="0070C0"/>
                </a:solidFill>
              </a:rPr>
              <a:t>ai </a:t>
            </a:r>
            <a:r>
              <a:rPr lang="fr-BE" sz="2000" dirty="0">
                <a:solidFill>
                  <a:srgbClr val="0070C0"/>
                </a:solidFill>
              </a:rPr>
              <a:t>parlé </a:t>
            </a:r>
            <a:r>
              <a:rPr lang="fr-BE" sz="2000" dirty="0">
                <a:solidFill>
                  <a:schemeClr val="bg1"/>
                </a:solidFill>
              </a:rPr>
              <a:t>ce matin !</a:t>
            </a:r>
            <a:endParaRPr lang="fr-FR" sz="2000" dirty="0"/>
          </a:p>
        </p:txBody>
      </p:sp>
    </p:spTree>
    <p:extLst>
      <p:ext uri="{BB962C8B-B14F-4D97-AF65-F5344CB8AC3E}">
        <p14:creationId xmlns:p14="http://schemas.microsoft.com/office/powerpoint/2010/main" val="1244051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6BE03AF-E933-4DC3-ADE6-D9C199B77974}"/>
              </a:ext>
            </a:extLst>
          </p:cNvPr>
          <p:cNvPicPr>
            <a:picLocks noChangeAspect="1"/>
          </p:cNvPicPr>
          <p:nvPr/>
        </p:nvPicPr>
        <p:blipFill>
          <a:blip r:embed="rId3"/>
          <a:stretch>
            <a:fillRect/>
          </a:stretch>
        </p:blipFill>
        <p:spPr>
          <a:xfrm>
            <a:off x="574227" y="496655"/>
            <a:ext cx="11043546" cy="5864690"/>
          </a:xfrm>
          <a:prstGeom prst="rect">
            <a:avLst/>
          </a:prstGeom>
        </p:spPr>
      </p:pic>
    </p:spTree>
    <p:extLst>
      <p:ext uri="{BB962C8B-B14F-4D97-AF65-F5344CB8AC3E}">
        <p14:creationId xmlns:p14="http://schemas.microsoft.com/office/powerpoint/2010/main" val="1160844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ED64DD-2E75-4744-B1A6-ABF8C67E5E32}"/>
              </a:ext>
            </a:extLst>
          </p:cNvPr>
          <p:cNvSpPr>
            <a:spLocks noGrp="1"/>
          </p:cNvSpPr>
          <p:nvPr>
            <p:ph type="title"/>
          </p:nvPr>
        </p:nvSpPr>
        <p:spPr>
          <a:xfrm>
            <a:off x="646612" y="0"/>
            <a:ext cx="10131425" cy="1456267"/>
          </a:xfrm>
        </p:spPr>
        <p:txBody>
          <a:bodyPr/>
          <a:lstStyle/>
          <a:p>
            <a:r>
              <a:rPr lang="fr-BE" b="1" dirty="0">
                <a:solidFill>
                  <a:schemeClr val="bg1"/>
                </a:solidFill>
                <a:latin typeface="Comic Sans MS" panose="030F0702030302020204" pitchFamily="66" charset="0"/>
              </a:rPr>
              <a:t>Synthèse</a:t>
            </a:r>
            <a:endParaRPr lang="fr-FR" b="1" dirty="0">
              <a:solidFill>
                <a:schemeClr val="bg1"/>
              </a:solidFill>
              <a:latin typeface="Comic Sans MS" panose="030F0702030302020204" pitchFamily="66" charset="0"/>
            </a:endParaRPr>
          </a:p>
        </p:txBody>
      </p:sp>
      <p:pic>
        <p:nvPicPr>
          <p:cNvPr id="4" name="Image 3">
            <a:extLst>
              <a:ext uri="{FF2B5EF4-FFF2-40B4-BE49-F238E27FC236}">
                <a16:creationId xmlns:a16="http://schemas.microsoft.com/office/drawing/2014/main" id="{74B70DBF-7F21-4FF5-86A5-F7A6C9A5BBC4}"/>
              </a:ext>
            </a:extLst>
          </p:cNvPr>
          <p:cNvPicPr>
            <a:picLocks noChangeAspect="1"/>
          </p:cNvPicPr>
          <p:nvPr/>
        </p:nvPicPr>
        <p:blipFill>
          <a:blip r:embed="rId3"/>
          <a:stretch>
            <a:fillRect/>
          </a:stretch>
        </p:blipFill>
        <p:spPr>
          <a:xfrm>
            <a:off x="906575" y="1245325"/>
            <a:ext cx="10378849" cy="5427241"/>
          </a:xfrm>
          <a:prstGeom prst="rect">
            <a:avLst/>
          </a:prstGeom>
        </p:spPr>
      </p:pic>
    </p:spTree>
    <p:extLst>
      <p:ext uri="{BB962C8B-B14F-4D97-AF65-F5344CB8AC3E}">
        <p14:creationId xmlns:p14="http://schemas.microsoft.com/office/powerpoint/2010/main" val="206386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80E7BE-1E7E-4F7A-A62B-08EC1C949B8D}"/>
              </a:ext>
            </a:extLst>
          </p:cNvPr>
          <p:cNvSpPr>
            <a:spLocks noGrp="1"/>
          </p:cNvSpPr>
          <p:nvPr>
            <p:ph type="title"/>
          </p:nvPr>
        </p:nvSpPr>
        <p:spPr>
          <a:xfrm>
            <a:off x="329782" y="9344"/>
            <a:ext cx="10131425" cy="1456267"/>
          </a:xfrm>
        </p:spPr>
        <p:txBody>
          <a:bodyPr/>
          <a:lstStyle/>
          <a:p>
            <a:r>
              <a:rPr lang="fr-BE" b="1" dirty="0">
                <a:solidFill>
                  <a:schemeClr val="bg1"/>
                </a:solidFill>
                <a:latin typeface="Comic Sans MS" panose="030F0702030302020204" pitchFamily="66" charset="0"/>
              </a:rPr>
              <a:t>La </a:t>
            </a:r>
            <a:r>
              <a:rPr lang="fr-BE" b="1" dirty="0" err="1">
                <a:solidFill>
                  <a:schemeClr val="bg1"/>
                </a:solidFill>
                <a:latin typeface="Comic Sans MS" panose="030F0702030302020204" pitchFamily="66" charset="0"/>
              </a:rPr>
              <a:t>négatioN</a:t>
            </a:r>
            <a:endParaRPr lang="fr-FR" b="1" dirty="0">
              <a:solidFill>
                <a:schemeClr val="bg1"/>
              </a:solidFill>
              <a:latin typeface="Comic Sans MS" panose="030F0702030302020204" pitchFamily="66" charset="0"/>
            </a:endParaRPr>
          </a:p>
        </p:txBody>
      </p:sp>
      <p:sp>
        <p:nvSpPr>
          <p:cNvPr id="3" name="Espace réservé du contenu 2">
            <a:extLst>
              <a:ext uri="{FF2B5EF4-FFF2-40B4-BE49-F238E27FC236}">
                <a16:creationId xmlns:a16="http://schemas.microsoft.com/office/drawing/2014/main" id="{8547FD53-F2A5-46CE-A919-DA8147DFBAB4}"/>
              </a:ext>
            </a:extLst>
          </p:cNvPr>
          <p:cNvSpPr>
            <a:spLocks noGrp="1"/>
          </p:cNvSpPr>
          <p:nvPr>
            <p:ph idx="1"/>
          </p:nvPr>
        </p:nvSpPr>
        <p:spPr>
          <a:xfrm>
            <a:off x="433544" y="4184096"/>
            <a:ext cx="10131425" cy="751034"/>
          </a:xfrm>
        </p:spPr>
        <p:txBody>
          <a:bodyPr>
            <a:normAutofit/>
          </a:bodyPr>
          <a:lstStyle/>
          <a:p>
            <a:r>
              <a:rPr lang="fr-BE" sz="2800" dirty="0">
                <a:solidFill>
                  <a:schemeClr val="bg1"/>
                </a:solidFill>
              </a:rPr>
              <a:t>Léon ? Je </a:t>
            </a:r>
            <a:r>
              <a:rPr lang="fr-BE" sz="2800" dirty="0">
                <a:solidFill>
                  <a:srgbClr val="FF0000"/>
                </a:solidFill>
              </a:rPr>
              <a:t>ne</a:t>
            </a:r>
            <a:r>
              <a:rPr lang="fr-BE" sz="2800" dirty="0">
                <a:solidFill>
                  <a:schemeClr val="bg1"/>
                </a:solidFill>
              </a:rPr>
              <a:t> </a:t>
            </a:r>
            <a:r>
              <a:rPr lang="fr-BE" sz="2800" u="sng" dirty="0">
                <a:solidFill>
                  <a:schemeClr val="bg1"/>
                </a:solidFill>
              </a:rPr>
              <a:t>lui</a:t>
            </a:r>
            <a:r>
              <a:rPr lang="fr-BE" sz="2800" dirty="0">
                <a:solidFill>
                  <a:schemeClr val="bg1"/>
                </a:solidFill>
              </a:rPr>
              <a:t> ai </a:t>
            </a:r>
            <a:r>
              <a:rPr lang="fr-BE" sz="2800" dirty="0">
                <a:solidFill>
                  <a:srgbClr val="FF0000"/>
                </a:solidFill>
              </a:rPr>
              <a:t>pas</a:t>
            </a:r>
            <a:r>
              <a:rPr lang="fr-BE" sz="2800" dirty="0">
                <a:solidFill>
                  <a:schemeClr val="bg1"/>
                </a:solidFill>
              </a:rPr>
              <a:t> parlé.</a:t>
            </a:r>
          </a:p>
        </p:txBody>
      </p:sp>
      <p:sp>
        <p:nvSpPr>
          <p:cNvPr id="4" name="Espace réservé du contenu 2">
            <a:extLst>
              <a:ext uri="{FF2B5EF4-FFF2-40B4-BE49-F238E27FC236}">
                <a16:creationId xmlns:a16="http://schemas.microsoft.com/office/drawing/2014/main" id="{689920E1-E351-4FDB-BEBA-87E1BCCCF91F}"/>
              </a:ext>
            </a:extLst>
          </p:cNvPr>
          <p:cNvSpPr txBox="1">
            <a:spLocks/>
          </p:cNvSpPr>
          <p:nvPr/>
        </p:nvSpPr>
        <p:spPr>
          <a:xfrm>
            <a:off x="433544" y="3875844"/>
            <a:ext cx="10131427" cy="54350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2800" dirty="0">
                <a:solidFill>
                  <a:schemeClr val="bg1"/>
                </a:solidFill>
              </a:rPr>
              <a:t>Léon ? Je </a:t>
            </a:r>
            <a:r>
              <a:rPr lang="fr-BE" sz="2800" u="sng" dirty="0">
                <a:solidFill>
                  <a:schemeClr val="bg1"/>
                </a:solidFill>
              </a:rPr>
              <a:t>lui</a:t>
            </a:r>
            <a:r>
              <a:rPr lang="fr-BE" sz="2800" dirty="0">
                <a:solidFill>
                  <a:schemeClr val="bg1"/>
                </a:solidFill>
              </a:rPr>
              <a:t> ai parlé.</a:t>
            </a:r>
          </a:p>
        </p:txBody>
      </p:sp>
      <p:sp>
        <p:nvSpPr>
          <p:cNvPr id="6" name="Espace réservé du contenu 2">
            <a:extLst>
              <a:ext uri="{FF2B5EF4-FFF2-40B4-BE49-F238E27FC236}">
                <a16:creationId xmlns:a16="http://schemas.microsoft.com/office/drawing/2014/main" id="{CBC55313-F86A-4D91-BE6A-5C2BFC3D0D8A}"/>
              </a:ext>
            </a:extLst>
          </p:cNvPr>
          <p:cNvSpPr txBox="1">
            <a:spLocks/>
          </p:cNvSpPr>
          <p:nvPr/>
        </p:nvSpPr>
        <p:spPr>
          <a:xfrm>
            <a:off x="433544" y="2674591"/>
            <a:ext cx="10131425" cy="52437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2800" dirty="0">
                <a:solidFill>
                  <a:schemeClr val="bg1"/>
                </a:solidFill>
              </a:rPr>
              <a:t>La lettre qu’il a écrite à maman est sur la table.</a:t>
            </a:r>
          </a:p>
        </p:txBody>
      </p:sp>
      <p:sp>
        <p:nvSpPr>
          <p:cNvPr id="8" name="Espace réservé du contenu 2">
            <a:extLst>
              <a:ext uri="{FF2B5EF4-FFF2-40B4-BE49-F238E27FC236}">
                <a16:creationId xmlns:a16="http://schemas.microsoft.com/office/drawing/2014/main" id="{6B3A56C9-98F8-4BFB-BF34-4205DA504B70}"/>
              </a:ext>
            </a:extLst>
          </p:cNvPr>
          <p:cNvSpPr txBox="1">
            <a:spLocks/>
          </p:cNvSpPr>
          <p:nvPr/>
        </p:nvSpPr>
        <p:spPr>
          <a:xfrm>
            <a:off x="433544" y="3122422"/>
            <a:ext cx="10131425" cy="52437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2800" dirty="0">
                <a:solidFill>
                  <a:schemeClr val="bg1"/>
                </a:solidFill>
              </a:rPr>
              <a:t>La lettre qu’il </a:t>
            </a:r>
            <a:r>
              <a:rPr lang="fr-BE" sz="2800" dirty="0">
                <a:solidFill>
                  <a:srgbClr val="FF0000"/>
                </a:solidFill>
              </a:rPr>
              <a:t>n’</a:t>
            </a:r>
            <a:r>
              <a:rPr lang="fr-BE" sz="2800" dirty="0">
                <a:solidFill>
                  <a:schemeClr val="bg1"/>
                </a:solidFill>
              </a:rPr>
              <a:t>a </a:t>
            </a:r>
            <a:r>
              <a:rPr lang="fr-BE" sz="2800" dirty="0">
                <a:solidFill>
                  <a:srgbClr val="FF0000"/>
                </a:solidFill>
              </a:rPr>
              <a:t>pas </a:t>
            </a:r>
            <a:r>
              <a:rPr lang="fr-BE" sz="2800" dirty="0">
                <a:solidFill>
                  <a:schemeClr val="bg1"/>
                </a:solidFill>
              </a:rPr>
              <a:t>écrite à maman est sur la table.</a:t>
            </a:r>
          </a:p>
        </p:txBody>
      </p:sp>
      <p:sp>
        <p:nvSpPr>
          <p:cNvPr id="10" name="Espace réservé du contenu 2">
            <a:extLst>
              <a:ext uri="{FF2B5EF4-FFF2-40B4-BE49-F238E27FC236}">
                <a16:creationId xmlns:a16="http://schemas.microsoft.com/office/drawing/2014/main" id="{7643D1B5-D797-4344-8C07-F76294571253}"/>
              </a:ext>
            </a:extLst>
          </p:cNvPr>
          <p:cNvSpPr txBox="1">
            <a:spLocks/>
          </p:cNvSpPr>
          <p:nvPr/>
        </p:nvSpPr>
        <p:spPr>
          <a:xfrm>
            <a:off x="433544" y="1334282"/>
            <a:ext cx="10131425" cy="52437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2800" dirty="0">
                <a:solidFill>
                  <a:schemeClr val="bg1"/>
                </a:solidFill>
              </a:rPr>
              <a:t>L’oiseau </a:t>
            </a:r>
            <a:r>
              <a:rPr lang="fr-BE" sz="2800" u="sng" dirty="0">
                <a:solidFill>
                  <a:schemeClr val="bg1"/>
                </a:solidFill>
              </a:rPr>
              <a:t>s’</a:t>
            </a:r>
            <a:r>
              <a:rPr lang="fr-BE" sz="2800" dirty="0">
                <a:solidFill>
                  <a:schemeClr val="bg1"/>
                </a:solidFill>
              </a:rPr>
              <a:t>est envolé.</a:t>
            </a:r>
          </a:p>
        </p:txBody>
      </p:sp>
      <p:sp>
        <p:nvSpPr>
          <p:cNvPr id="11" name="Espace réservé du contenu 2">
            <a:extLst>
              <a:ext uri="{FF2B5EF4-FFF2-40B4-BE49-F238E27FC236}">
                <a16:creationId xmlns:a16="http://schemas.microsoft.com/office/drawing/2014/main" id="{2904B174-9B1D-41FA-ACEA-2D4AA3DE5255}"/>
              </a:ext>
            </a:extLst>
          </p:cNvPr>
          <p:cNvSpPr txBox="1">
            <a:spLocks/>
          </p:cNvSpPr>
          <p:nvPr/>
        </p:nvSpPr>
        <p:spPr>
          <a:xfrm>
            <a:off x="433544" y="1772189"/>
            <a:ext cx="10131425" cy="52437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BE" sz="2800" dirty="0">
                <a:solidFill>
                  <a:schemeClr val="bg1"/>
                </a:solidFill>
              </a:rPr>
              <a:t>L’oiseau </a:t>
            </a:r>
            <a:r>
              <a:rPr lang="fr-BE" sz="2800" dirty="0">
                <a:solidFill>
                  <a:srgbClr val="FF0000"/>
                </a:solidFill>
              </a:rPr>
              <a:t>ne </a:t>
            </a:r>
            <a:r>
              <a:rPr lang="fr-BE" sz="2800" u="sng" dirty="0">
                <a:solidFill>
                  <a:schemeClr val="bg1"/>
                </a:solidFill>
              </a:rPr>
              <a:t>s’</a:t>
            </a:r>
            <a:r>
              <a:rPr lang="fr-BE" sz="2800" dirty="0">
                <a:solidFill>
                  <a:schemeClr val="bg1"/>
                </a:solidFill>
              </a:rPr>
              <a:t>est </a:t>
            </a:r>
            <a:r>
              <a:rPr lang="fr-BE" sz="2800" dirty="0">
                <a:solidFill>
                  <a:srgbClr val="FF0000"/>
                </a:solidFill>
              </a:rPr>
              <a:t>pas</a:t>
            </a:r>
            <a:r>
              <a:rPr lang="fr-BE" sz="2800" dirty="0">
                <a:solidFill>
                  <a:schemeClr val="bg1"/>
                </a:solidFill>
              </a:rPr>
              <a:t> envolé.</a:t>
            </a:r>
          </a:p>
        </p:txBody>
      </p:sp>
      <p:pic>
        <p:nvPicPr>
          <p:cNvPr id="1026" name="Picture 2" descr="Résultat de recherche d'images pour &quot;s'envoler&quot;">
            <a:extLst>
              <a:ext uri="{FF2B5EF4-FFF2-40B4-BE49-F238E27FC236}">
                <a16:creationId xmlns:a16="http://schemas.microsoft.com/office/drawing/2014/main" id="{D360CC3C-4444-4CCD-BB74-7EB8AFF05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494" y="1099034"/>
            <a:ext cx="1790118" cy="1191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64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80E7BE-1E7E-4F7A-A62B-08EC1C949B8D}"/>
              </a:ext>
            </a:extLst>
          </p:cNvPr>
          <p:cNvSpPr>
            <a:spLocks noGrp="1"/>
          </p:cNvSpPr>
          <p:nvPr>
            <p:ph type="title"/>
          </p:nvPr>
        </p:nvSpPr>
        <p:spPr>
          <a:xfrm>
            <a:off x="386070" y="-87811"/>
            <a:ext cx="10131425" cy="1456267"/>
          </a:xfrm>
        </p:spPr>
        <p:txBody>
          <a:bodyPr/>
          <a:lstStyle/>
          <a:p>
            <a:r>
              <a:rPr lang="fr-BE" b="1" dirty="0">
                <a:solidFill>
                  <a:schemeClr val="bg1"/>
                </a:solidFill>
                <a:latin typeface="Comic Sans MS" panose="030F0702030302020204" pitchFamily="66" charset="0"/>
              </a:rPr>
              <a:t>l’adverbe</a:t>
            </a:r>
            <a:endParaRPr lang="fr-FR" b="1" dirty="0">
              <a:solidFill>
                <a:schemeClr val="bg1"/>
              </a:solidFill>
              <a:latin typeface="Comic Sans MS" panose="030F0702030302020204" pitchFamily="66" charset="0"/>
            </a:endParaRPr>
          </a:p>
        </p:txBody>
      </p:sp>
      <p:pic>
        <p:nvPicPr>
          <p:cNvPr id="3" name="Image 2">
            <a:extLst>
              <a:ext uri="{FF2B5EF4-FFF2-40B4-BE49-F238E27FC236}">
                <a16:creationId xmlns:a16="http://schemas.microsoft.com/office/drawing/2014/main" id="{B2AE379D-8C1B-4284-963C-E9793B3D845E}"/>
              </a:ext>
            </a:extLst>
          </p:cNvPr>
          <p:cNvPicPr>
            <a:picLocks noChangeAspect="1"/>
          </p:cNvPicPr>
          <p:nvPr/>
        </p:nvPicPr>
        <p:blipFill>
          <a:blip r:embed="rId3"/>
          <a:stretch>
            <a:fillRect/>
          </a:stretch>
        </p:blipFill>
        <p:spPr>
          <a:xfrm>
            <a:off x="386070" y="1227739"/>
            <a:ext cx="11488686" cy="5078468"/>
          </a:xfrm>
          <a:prstGeom prst="rect">
            <a:avLst/>
          </a:prstGeom>
        </p:spPr>
      </p:pic>
    </p:spTree>
    <p:extLst>
      <p:ext uri="{BB962C8B-B14F-4D97-AF65-F5344CB8AC3E}">
        <p14:creationId xmlns:p14="http://schemas.microsoft.com/office/powerpoint/2010/main" val="363920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9EA043-E250-4E68-A6A3-A39D62B612E1}"/>
              </a:ext>
            </a:extLst>
          </p:cNvPr>
          <p:cNvSpPr>
            <a:spLocks noGrp="1"/>
          </p:cNvSpPr>
          <p:nvPr>
            <p:ph type="title"/>
          </p:nvPr>
        </p:nvSpPr>
        <p:spPr/>
        <p:txBody>
          <a:bodyPr/>
          <a:lstStyle/>
          <a:p>
            <a:r>
              <a:rPr lang="fr-FR" b="1" dirty="0">
                <a:solidFill>
                  <a:schemeClr val="bg1"/>
                </a:solidFill>
                <a:latin typeface="Comic Sans MS" panose="030F0702030302020204" pitchFamily="66" charset="0"/>
              </a:rPr>
              <a:t>Pause !</a:t>
            </a:r>
          </a:p>
        </p:txBody>
      </p:sp>
      <p:pic>
        <p:nvPicPr>
          <p:cNvPr id="5" name="Espace réservé du contenu 4">
            <a:extLst>
              <a:ext uri="{FF2B5EF4-FFF2-40B4-BE49-F238E27FC236}">
                <a16:creationId xmlns:a16="http://schemas.microsoft.com/office/drawing/2014/main" id="{FCB484BA-3451-4B8E-84F5-1E17C1B98A6A}"/>
              </a:ext>
            </a:extLst>
          </p:cNvPr>
          <p:cNvPicPr>
            <a:picLocks noGrp="1" noChangeAspect="1"/>
          </p:cNvPicPr>
          <p:nvPr>
            <p:ph idx="1"/>
          </p:nvPr>
        </p:nvPicPr>
        <p:blipFill>
          <a:blip r:embed="rId3"/>
          <a:stretch>
            <a:fillRect/>
          </a:stretch>
        </p:blipFill>
        <p:spPr>
          <a:xfrm>
            <a:off x="2923083" y="-349862"/>
            <a:ext cx="9268918" cy="6951689"/>
          </a:xfrm>
        </p:spPr>
      </p:pic>
    </p:spTree>
    <p:extLst>
      <p:ext uri="{BB962C8B-B14F-4D97-AF65-F5344CB8AC3E}">
        <p14:creationId xmlns:p14="http://schemas.microsoft.com/office/powerpoint/2010/main" val="514368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9799D-25F7-408B-907A-730EAC24E7C0}"/>
              </a:ext>
            </a:extLst>
          </p:cNvPr>
          <p:cNvSpPr>
            <a:spLocks noGrp="1"/>
          </p:cNvSpPr>
          <p:nvPr>
            <p:ph type="title"/>
          </p:nvPr>
        </p:nvSpPr>
        <p:spPr/>
        <p:txBody>
          <a:bodyPr/>
          <a:lstStyle/>
          <a:p>
            <a:r>
              <a:rPr lang="fr-FR" dirty="0">
                <a:solidFill>
                  <a:schemeClr val="bg1"/>
                </a:solidFill>
                <a:latin typeface="Comic Sans MS" panose="030F0702030302020204" pitchFamily="66" charset="0"/>
              </a:rPr>
              <a:t>Au laboratoire</a:t>
            </a:r>
          </a:p>
        </p:txBody>
      </p:sp>
      <p:pic>
        <p:nvPicPr>
          <p:cNvPr id="6146" name="Picture 2" descr="Titre de l'image">
            <a:extLst>
              <a:ext uri="{FF2B5EF4-FFF2-40B4-BE49-F238E27FC236}">
                <a16:creationId xmlns:a16="http://schemas.microsoft.com/office/drawing/2014/main" id="{BC47045B-45A7-45BA-86AC-80D7198C1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1252" y="1354667"/>
            <a:ext cx="6054947" cy="4537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321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7435A8-787A-4600-AD01-63B361A8CE44}"/>
              </a:ext>
            </a:extLst>
          </p:cNvPr>
          <p:cNvSpPr>
            <a:spLocks noGrp="1"/>
          </p:cNvSpPr>
          <p:nvPr>
            <p:ph type="title"/>
          </p:nvPr>
        </p:nvSpPr>
        <p:spPr>
          <a:xfrm>
            <a:off x="195469" y="338666"/>
            <a:ext cx="11903765" cy="1456267"/>
          </a:xfrm>
        </p:spPr>
        <p:txBody>
          <a:bodyPr/>
          <a:lstStyle/>
          <a:p>
            <a:r>
              <a:rPr lang="fr-BE" dirty="0">
                <a:solidFill>
                  <a:schemeClr val="bg1"/>
                </a:solidFill>
              </a:rPr>
              <a:t>Comment prononce-t-on le « plus » dans ces phrases ?</a:t>
            </a:r>
            <a:endParaRPr lang="fr-FR" dirty="0">
              <a:solidFill>
                <a:schemeClr val="bg1"/>
              </a:solidFill>
            </a:endParaRPr>
          </a:p>
        </p:txBody>
      </p:sp>
      <p:sp>
        <p:nvSpPr>
          <p:cNvPr id="3" name="Espace réservé du contenu 2">
            <a:extLst>
              <a:ext uri="{FF2B5EF4-FFF2-40B4-BE49-F238E27FC236}">
                <a16:creationId xmlns:a16="http://schemas.microsoft.com/office/drawing/2014/main" id="{94DFFD1E-2F32-41FA-AA07-A77F0C09BC89}"/>
              </a:ext>
            </a:extLst>
          </p:cNvPr>
          <p:cNvSpPr>
            <a:spLocks noGrp="1"/>
          </p:cNvSpPr>
          <p:nvPr>
            <p:ph idx="1"/>
          </p:nvPr>
        </p:nvSpPr>
        <p:spPr>
          <a:xfrm>
            <a:off x="685802" y="2142067"/>
            <a:ext cx="7013712" cy="3649133"/>
          </a:xfrm>
        </p:spPr>
        <p:txBody>
          <a:bodyPr/>
          <a:lstStyle/>
          <a:p>
            <a:pPr marL="457200" indent="-457200">
              <a:buClrTx/>
              <a:buFont typeface="+mj-lt"/>
              <a:buAutoNum type="arabicPeriod"/>
            </a:pPr>
            <a:r>
              <a:rPr lang="fr-BE" sz="2400" dirty="0">
                <a:solidFill>
                  <a:schemeClr val="bg1"/>
                </a:solidFill>
                <a:sym typeface="Wingdings" panose="05000000000000000000" pitchFamily="2" charset="2"/>
              </a:rPr>
              <a:t>Je ne veux </a:t>
            </a:r>
            <a:r>
              <a:rPr lang="fr-BE" sz="2400" u="sng" dirty="0">
                <a:solidFill>
                  <a:schemeClr val="bg1"/>
                </a:solidFill>
                <a:sym typeface="Wingdings" panose="05000000000000000000" pitchFamily="2" charset="2"/>
              </a:rPr>
              <a:t>plus</a:t>
            </a:r>
            <a:r>
              <a:rPr lang="fr-BE" sz="2400" dirty="0">
                <a:solidFill>
                  <a:schemeClr val="bg1"/>
                </a:solidFill>
                <a:sym typeface="Wingdings" panose="05000000000000000000" pitchFamily="2" charset="2"/>
              </a:rPr>
              <a:t> manger.</a:t>
            </a:r>
          </a:p>
          <a:p>
            <a:pPr marL="457200" indent="-457200">
              <a:buClrTx/>
              <a:buFont typeface="+mj-lt"/>
              <a:buAutoNum type="arabicPeriod"/>
            </a:pPr>
            <a:r>
              <a:rPr lang="fr-BE" sz="2400" dirty="0">
                <a:solidFill>
                  <a:schemeClr val="bg1"/>
                </a:solidFill>
                <a:sym typeface="Wingdings" panose="05000000000000000000" pitchFamily="2" charset="2"/>
              </a:rPr>
              <a:t>Je suis </a:t>
            </a:r>
            <a:r>
              <a:rPr lang="fr-BE" sz="2400" u="sng" dirty="0">
                <a:solidFill>
                  <a:schemeClr val="bg1"/>
                </a:solidFill>
                <a:sym typeface="Wingdings" panose="05000000000000000000" pitchFamily="2" charset="2"/>
              </a:rPr>
              <a:t>plus</a:t>
            </a:r>
            <a:r>
              <a:rPr lang="fr-BE" sz="2400" dirty="0">
                <a:solidFill>
                  <a:schemeClr val="bg1"/>
                </a:solidFill>
                <a:sym typeface="Wingdings" panose="05000000000000000000" pitchFamily="2" charset="2"/>
              </a:rPr>
              <a:t> grande que ma sœur.</a:t>
            </a:r>
          </a:p>
          <a:p>
            <a:pPr marL="457200" indent="-457200">
              <a:buClrTx/>
              <a:buFont typeface="+mj-lt"/>
              <a:buAutoNum type="arabicPeriod"/>
            </a:pPr>
            <a:r>
              <a:rPr lang="fr-FR" sz="2400" dirty="0">
                <a:solidFill>
                  <a:schemeClr val="bg1"/>
                </a:solidFill>
                <a:sym typeface="Wingdings" panose="05000000000000000000" pitchFamily="2" charset="2"/>
              </a:rPr>
              <a:t>C’est l’homme le </a:t>
            </a:r>
            <a:r>
              <a:rPr lang="fr-FR" sz="2400" u="sng" dirty="0">
                <a:solidFill>
                  <a:schemeClr val="bg1"/>
                </a:solidFill>
                <a:sym typeface="Wingdings" panose="05000000000000000000" pitchFamily="2" charset="2"/>
              </a:rPr>
              <a:t>plus</a:t>
            </a:r>
            <a:r>
              <a:rPr lang="fr-FR" sz="2400" dirty="0">
                <a:solidFill>
                  <a:schemeClr val="bg1"/>
                </a:solidFill>
                <a:sym typeface="Wingdings" panose="05000000000000000000" pitchFamily="2" charset="2"/>
              </a:rPr>
              <a:t> admirable que je connaisse !</a:t>
            </a:r>
          </a:p>
          <a:p>
            <a:pPr marL="457200" indent="-457200">
              <a:buClrTx/>
              <a:buFont typeface="+mj-lt"/>
              <a:buAutoNum type="arabicPeriod"/>
            </a:pPr>
            <a:r>
              <a:rPr lang="fr-FR" sz="2400" dirty="0">
                <a:solidFill>
                  <a:schemeClr val="bg1"/>
                </a:solidFill>
                <a:sym typeface="Wingdings" panose="05000000000000000000" pitchFamily="2" charset="2"/>
              </a:rPr>
              <a:t>C’est elle qu’il aime le </a:t>
            </a:r>
            <a:r>
              <a:rPr lang="fr-FR" sz="2400" u="sng" dirty="0">
                <a:solidFill>
                  <a:schemeClr val="bg1"/>
                </a:solidFill>
                <a:sym typeface="Wingdings" panose="05000000000000000000" pitchFamily="2" charset="2"/>
              </a:rPr>
              <a:t>plus.</a:t>
            </a:r>
          </a:p>
          <a:p>
            <a:pPr marL="457200" indent="-457200">
              <a:buClrTx/>
              <a:buFont typeface="+mj-lt"/>
              <a:buAutoNum type="arabicPeriod"/>
            </a:pPr>
            <a:r>
              <a:rPr lang="fr-FR" sz="2400" dirty="0">
                <a:solidFill>
                  <a:schemeClr val="bg1"/>
                </a:solidFill>
                <a:sym typeface="Wingdings" panose="05000000000000000000" pitchFamily="2" charset="2"/>
              </a:rPr>
              <a:t>Je mange </a:t>
            </a:r>
            <a:r>
              <a:rPr lang="fr-FR" sz="2400" u="sng" dirty="0">
                <a:solidFill>
                  <a:schemeClr val="bg1"/>
                </a:solidFill>
                <a:sym typeface="Wingdings" panose="05000000000000000000" pitchFamily="2" charset="2"/>
              </a:rPr>
              <a:t>plus</a:t>
            </a:r>
            <a:r>
              <a:rPr lang="fr-FR" sz="2400" dirty="0">
                <a:solidFill>
                  <a:schemeClr val="bg1"/>
                </a:solidFill>
                <a:sym typeface="Wingdings" panose="05000000000000000000" pitchFamily="2" charset="2"/>
              </a:rPr>
              <a:t> que mon frère.</a:t>
            </a:r>
            <a:endParaRPr lang="fr-FR" sz="2400" u="sng" dirty="0">
              <a:solidFill>
                <a:schemeClr val="bg1"/>
              </a:solidFill>
              <a:sym typeface="Wingdings" panose="05000000000000000000" pitchFamily="2" charset="2"/>
            </a:endParaRPr>
          </a:p>
          <a:p>
            <a:endParaRPr lang="fr-BE" dirty="0">
              <a:solidFill>
                <a:schemeClr val="bg1"/>
              </a:solidFill>
              <a:sym typeface="Wingdings" panose="05000000000000000000" pitchFamily="2" charset="2"/>
            </a:endParaRPr>
          </a:p>
          <a:p>
            <a:endParaRPr lang="fr-BE" dirty="0">
              <a:solidFill>
                <a:schemeClr val="bg1"/>
              </a:solidFill>
              <a:sym typeface="Wingdings" panose="05000000000000000000" pitchFamily="2" charset="2"/>
            </a:endParaRPr>
          </a:p>
          <a:p>
            <a:endParaRPr lang="fr-FR" dirty="0"/>
          </a:p>
        </p:txBody>
      </p:sp>
      <p:sp>
        <p:nvSpPr>
          <p:cNvPr id="4" name="Espace réservé du contenu 2">
            <a:extLst>
              <a:ext uri="{FF2B5EF4-FFF2-40B4-BE49-F238E27FC236}">
                <a16:creationId xmlns:a16="http://schemas.microsoft.com/office/drawing/2014/main" id="{C7C40E89-C676-4ED4-94C2-05CE68F1F044}"/>
              </a:ext>
            </a:extLst>
          </p:cNvPr>
          <p:cNvSpPr txBox="1">
            <a:spLocks/>
          </p:cNvSpPr>
          <p:nvPr/>
        </p:nvSpPr>
        <p:spPr>
          <a:xfrm>
            <a:off x="7341703" y="2142066"/>
            <a:ext cx="3944179" cy="46045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FR" sz="2400" dirty="0">
                <a:solidFill>
                  <a:schemeClr val="bg1"/>
                </a:solidFill>
                <a:latin typeface="Comic Sans MS" panose="030F0702030302020204" pitchFamily="66" charset="0"/>
              </a:rPr>
              <a:t>[</a:t>
            </a:r>
            <a:r>
              <a:rPr lang="fr-FR" sz="2400" dirty="0" err="1">
                <a:solidFill>
                  <a:schemeClr val="bg1"/>
                </a:solidFill>
                <a:latin typeface="Comic Sans MS" panose="030F0702030302020204" pitchFamily="66" charset="0"/>
              </a:rPr>
              <a:t>ply</a:t>
            </a:r>
            <a:r>
              <a:rPr lang="fr-FR" sz="2400" dirty="0">
                <a:solidFill>
                  <a:schemeClr val="bg1"/>
                </a:solidFill>
                <a:latin typeface="Comic Sans MS" panose="030F0702030302020204" pitchFamily="66" charset="0"/>
              </a:rPr>
              <a:t>]</a:t>
            </a:r>
            <a:endParaRPr lang="fr-FR" dirty="0"/>
          </a:p>
        </p:txBody>
      </p:sp>
      <p:sp>
        <p:nvSpPr>
          <p:cNvPr id="6" name="Espace réservé du contenu 2">
            <a:extLst>
              <a:ext uri="{FF2B5EF4-FFF2-40B4-BE49-F238E27FC236}">
                <a16:creationId xmlns:a16="http://schemas.microsoft.com/office/drawing/2014/main" id="{3BFA5B60-FB6E-4997-BCED-A019A7991FCF}"/>
              </a:ext>
            </a:extLst>
          </p:cNvPr>
          <p:cNvSpPr txBox="1">
            <a:spLocks/>
          </p:cNvSpPr>
          <p:nvPr/>
        </p:nvSpPr>
        <p:spPr>
          <a:xfrm>
            <a:off x="7341703" y="2602523"/>
            <a:ext cx="3944179" cy="46045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FR" sz="2400" dirty="0">
                <a:solidFill>
                  <a:schemeClr val="bg1"/>
                </a:solidFill>
                <a:latin typeface="Comic Sans MS" panose="030F0702030302020204" pitchFamily="66" charset="0"/>
              </a:rPr>
              <a:t>[</a:t>
            </a:r>
            <a:r>
              <a:rPr lang="fr-FR" sz="2400" dirty="0" err="1">
                <a:solidFill>
                  <a:schemeClr val="bg1"/>
                </a:solidFill>
                <a:latin typeface="Comic Sans MS" panose="030F0702030302020204" pitchFamily="66" charset="0"/>
              </a:rPr>
              <a:t>ply</a:t>
            </a:r>
            <a:r>
              <a:rPr lang="fr-FR" sz="2400" dirty="0">
                <a:solidFill>
                  <a:schemeClr val="bg1"/>
                </a:solidFill>
                <a:latin typeface="Comic Sans MS" panose="030F0702030302020204" pitchFamily="66" charset="0"/>
              </a:rPr>
              <a:t>]</a:t>
            </a:r>
            <a:endParaRPr lang="fr-FR" dirty="0"/>
          </a:p>
        </p:txBody>
      </p:sp>
      <p:sp>
        <p:nvSpPr>
          <p:cNvPr id="7" name="Espace réservé du contenu 2">
            <a:extLst>
              <a:ext uri="{FF2B5EF4-FFF2-40B4-BE49-F238E27FC236}">
                <a16:creationId xmlns:a16="http://schemas.microsoft.com/office/drawing/2014/main" id="{98FB4684-1A99-48ED-BAC6-441EF988605B}"/>
              </a:ext>
            </a:extLst>
          </p:cNvPr>
          <p:cNvSpPr txBox="1">
            <a:spLocks/>
          </p:cNvSpPr>
          <p:nvPr/>
        </p:nvSpPr>
        <p:spPr>
          <a:xfrm>
            <a:off x="7341702" y="3085122"/>
            <a:ext cx="3944179" cy="46045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FR" sz="2400" dirty="0">
                <a:solidFill>
                  <a:schemeClr val="bg1"/>
                </a:solidFill>
                <a:latin typeface="Comic Sans MS" panose="030F0702030302020204" pitchFamily="66" charset="0"/>
              </a:rPr>
              <a:t>[</a:t>
            </a:r>
            <a:r>
              <a:rPr lang="fr-FR" sz="2400" dirty="0" err="1">
                <a:solidFill>
                  <a:schemeClr val="bg1"/>
                </a:solidFill>
                <a:latin typeface="Comic Sans MS" panose="030F0702030302020204" pitchFamily="66" charset="0"/>
              </a:rPr>
              <a:t>ply</a:t>
            </a:r>
            <a:r>
              <a:rPr lang="fr-FR" sz="2400" dirty="0" err="1">
                <a:solidFill>
                  <a:srgbClr val="00B050"/>
                </a:solidFill>
                <a:latin typeface="Comic Sans MS" panose="030F0702030302020204" pitchFamily="66" charset="0"/>
              </a:rPr>
              <a:t>z</a:t>
            </a:r>
            <a:r>
              <a:rPr lang="fr-FR" sz="2400" dirty="0">
                <a:solidFill>
                  <a:schemeClr val="bg1"/>
                </a:solidFill>
                <a:latin typeface="Comic Sans MS" panose="030F0702030302020204" pitchFamily="66" charset="0"/>
              </a:rPr>
              <a:t>]</a:t>
            </a:r>
            <a:endParaRPr lang="fr-FR" dirty="0"/>
          </a:p>
        </p:txBody>
      </p:sp>
      <p:sp>
        <p:nvSpPr>
          <p:cNvPr id="8" name="Espace réservé du contenu 2">
            <a:extLst>
              <a:ext uri="{FF2B5EF4-FFF2-40B4-BE49-F238E27FC236}">
                <a16:creationId xmlns:a16="http://schemas.microsoft.com/office/drawing/2014/main" id="{A350F4E3-25E3-441F-B093-CC59D97B83AD}"/>
              </a:ext>
            </a:extLst>
          </p:cNvPr>
          <p:cNvSpPr txBox="1">
            <a:spLocks/>
          </p:cNvSpPr>
          <p:nvPr/>
        </p:nvSpPr>
        <p:spPr>
          <a:xfrm>
            <a:off x="7341701" y="3567721"/>
            <a:ext cx="3944179" cy="46045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FR" sz="2400" dirty="0">
                <a:solidFill>
                  <a:schemeClr val="bg1"/>
                </a:solidFill>
                <a:latin typeface="Comic Sans MS" panose="030F0702030302020204" pitchFamily="66" charset="0"/>
              </a:rPr>
              <a:t>[</a:t>
            </a:r>
            <a:r>
              <a:rPr lang="fr-FR" sz="2400" dirty="0" err="1">
                <a:solidFill>
                  <a:schemeClr val="bg1"/>
                </a:solidFill>
                <a:latin typeface="Comic Sans MS" panose="030F0702030302020204" pitchFamily="66" charset="0"/>
              </a:rPr>
              <a:t>ply</a:t>
            </a:r>
            <a:r>
              <a:rPr lang="fr-FR" sz="2400" dirty="0" err="1">
                <a:solidFill>
                  <a:srgbClr val="FF0000"/>
                </a:solidFill>
                <a:latin typeface="Comic Sans MS" panose="030F0702030302020204" pitchFamily="66" charset="0"/>
              </a:rPr>
              <a:t>s</a:t>
            </a:r>
            <a:r>
              <a:rPr lang="fr-FR" sz="2400" dirty="0">
                <a:solidFill>
                  <a:schemeClr val="bg1"/>
                </a:solidFill>
                <a:latin typeface="Comic Sans MS" panose="030F0702030302020204" pitchFamily="66" charset="0"/>
              </a:rPr>
              <a:t>]</a:t>
            </a:r>
            <a:endParaRPr lang="fr-FR" dirty="0"/>
          </a:p>
        </p:txBody>
      </p:sp>
      <p:sp>
        <p:nvSpPr>
          <p:cNvPr id="9" name="Espace réservé du contenu 2">
            <a:extLst>
              <a:ext uri="{FF2B5EF4-FFF2-40B4-BE49-F238E27FC236}">
                <a16:creationId xmlns:a16="http://schemas.microsoft.com/office/drawing/2014/main" id="{1A949B64-B196-4887-A64C-02DC90105732}"/>
              </a:ext>
            </a:extLst>
          </p:cNvPr>
          <p:cNvSpPr txBox="1">
            <a:spLocks/>
          </p:cNvSpPr>
          <p:nvPr/>
        </p:nvSpPr>
        <p:spPr>
          <a:xfrm>
            <a:off x="7341700" y="4028177"/>
            <a:ext cx="3944179" cy="46045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fr-FR" sz="2400" dirty="0">
                <a:solidFill>
                  <a:schemeClr val="bg1"/>
                </a:solidFill>
                <a:latin typeface="Comic Sans MS" panose="030F0702030302020204" pitchFamily="66" charset="0"/>
              </a:rPr>
              <a:t>[</a:t>
            </a:r>
            <a:r>
              <a:rPr lang="fr-FR" sz="2400" dirty="0" err="1">
                <a:solidFill>
                  <a:schemeClr val="bg1"/>
                </a:solidFill>
                <a:latin typeface="Comic Sans MS" panose="030F0702030302020204" pitchFamily="66" charset="0"/>
              </a:rPr>
              <a:t>ply</a:t>
            </a:r>
            <a:r>
              <a:rPr lang="fr-FR" sz="2400" dirty="0" err="1">
                <a:solidFill>
                  <a:srgbClr val="FF0000"/>
                </a:solidFill>
                <a:latin typeface="Comic Sans MS" panose="030F0702030302020204" pitchFamily="66" charset="0"/>
              </a:rPr>
              <a:t>s</a:t>
            </a:r>
            <a:r>
              <a:rPr lang="fr-FR" sz="2400" dirty="0">
                <a:solidFill>
                  <a:schemeClr val="bg1"/>
                </a:solidFill>
                <a:latin typeface="Comic Sans MS" panose="030F0702030302020204" pitchFamily="66" charset="0"/>
              </a:rPr>
              <a:t>]</a:t>
            </a:r>
            <a:endParaRPr lang="fr-FR" dirty="0"/>
          </a:p>
        </p:txBody>
      </p:sp>
    </p:spTree>
    <p:extLst>
      <p:ext uri="{BB962C8B-B14F-4D97-AF65-F5344CB8AC3E}">
        <p14:creationId xmlns:p14="http://schemas.microsoft.com/office/powerpoint/2010/main" val="164235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C7CC74-D45E-45A9-B748-85BAB2DDB757}"/>
              </a:ext>
            </a:extLst>
          </p:cNvPr>
          <p:cNvSpPr>
            <a:spLocks noGrp="1"/>
          </p:cNvSpPr>
          <p:nvPr>
            <p:ph type="title"/>
          </p:nvPr>
        </p:nvSpPr>
        <p:spPr/>
        <p:txBody>
          <a:bodyPr>
            <a:normAutofit/>
          </a:bodyPr>
          <a:lstStyle/>
          <a:p>
            <a:r>
              <a:rPr lang="fr-FR" sz="5400" b="1" dirty="0">
                <a:solidFill>
                  <a:schemeClr val="bg1"/>
                </a:solidFill>
                <a:latin typeface="Comic Sans MS" panose="030F0702030302020204" pitchFamily="66" charset="0"/>
              </a:rPr>
              <a:t>[</a:t>
            </a:r>
            <a:r>
              <a:rPr lang="fr-FR" sz="5400" b="1" dirty="0" err="1">
                <a:solidFill>
                  <a:schemeClr val="bg1"/>
                </a:solidFill>
                <a:latin typeface="Comic Sans MS" panose="030F0702030302020204" pitchFamily="66" charset="0"/>
              </a:rPr>
              <a:t>ply</a:t>
            </a:r>
            <a:r>
              <a:rPr lang="fr-FR" sz="5400" b="1" dirty="0">
                <a:solidFill>
                  <a:schemeClr val="bg1"/>
                </a:solidFill>
                <a:latin typeface="Comic Sans MS" panose="030F0702030302020204" pitchFamily="66" charset="0"/>
              </a:rPr>
              <a:t>]</a:t>
            </a:r>
          </a:p>
        </p:txBody>
      </p:sp>
      <p:sp>
        <p:nvSpPr>
          <p:cNvPr id="3" name="Espace réservé du contenu 2">
            <a:extLst>
              <a:ext uri="{FF2B5EF4-FFF2-40B4-BE49-F238E27FC236}">
                <a16:creationId xmlns:a16="http://schemas.microsoft.com/office/drawing/2014/main" id="{BF9A1956-0992-4DBB-BBD2-44C9536F0F0C}"/>
              </a:ext>
            </a:extLst>
          </p:cNvPr>
          <p:cNvSpPr>
            <a:spLocks noGrp="1"/>
          </p:cNvSpPr>
          <p:nvPr>
            <p:ph idx="1"/>
          </p:nvPr>
        </p:nvSpPr>
        <p:spPr>
          <a:xfrm>
            <a:off x="685801" y="2596092"/>
            <a:ext cx="11182349" cy="4392083"/>
          </a:xfrm>
        </p:spPr>
        <p:txBody>
          <a:bodyPr>
            <a:normAutofit fontScale="92500" lnSpcReduction="20000"/>
          </a:bodyPr>
          <a:lstStyle/>
          <a:p>
            <a:pPr marL="0" indent="0">
              <a:buNone/>
            </a:pPr>
            <a:r>
              <a:rPr lang="fr-BE" sz="2600" b="1" dirty="0">
                <a:solidFill>
                  <a:schemeClr val="bg1"/>
                </a:solidFill>
              </a:rPr>
              <a:t>Phrase négative </a:t>
            </a:r>
          </a:p>
          <a:p>
            <a:pPr marL="0" indent="0">
              <a:buNone/>
            </a:pPr>
            <a:r>
              <a:rPr lang="fr-BE" sz="2600" dirty="0">
                <a:solidFill>
                  <a:schemeClr val="bg1"/>
                </a:solidFill>
                <a:sym typeface="Wingdings" panose="05000000000000000000" pitchFamily="2" charset="2"/>
              </a:rPr>
              <a:t>Je ne veux </a:t>
            </a:r>
            <a:r>
              <a:rPr lang="fr-BE" sz="2600" u="sng" dirty="0">
                <a:solidFill>
                  <a:schemeClr val="bg1"/>
                </a:solidFill>
                <a:sym typeface="Wingdings" panose="05000000000000000000" pitchFamily="2" charset="2"/>
              </a:rPr>
              <a:t>plus</a:t>
            </a:r>
            <a:r>
              <a:rPr lang="fr-BE" sz="2600" dirty="0">
                <a:solidFill>
                  <a:schemeClr val="bg1"/>
                </a:solidFill>
                <a:sym typeface="Wingdings" panose="05000000000000000000" pitchFamily="2" charset="2"/>
              </a:rPr>
              <a:t> de café.</a:t>
            </a:r>
          </a:p>
          <a:p>
            <a:pPr marL="0" indent="0">
              <a:buNone/>
            </a:pPr>
            <a:r>
              <a:rPr lang="fr-BE" sz="2600" dirty="0">
                <a:solidFill>
                  <a:schemeClr val="bg1"/>
                </a:solidFill>
                <a:sym typeface="Wingdings" panose="05000000000000000000" pitchFamily="2" charset="2"/>
              </a:rPr>
              <a:t>Je ne veux </a:t>
            </a:r>
            <a:r>
              <a:rPr lang="fr-BE" sz="2600" u="sng" dirty="0">
                <a:solidFill>
                  <a:schemeClr val="bg1"/>
                </a:solidFill>
                <a:sym typeface="Wingdings" panose="05000000000000000000" pitchFamily="2" charset="2"/>
              </a:rPr>
              <a:t>plus</a:t>
            </a:r>
            <a:r>
              <a:rPr lang="fr-BE" sz="2600" dirty="0">
                <a:solidFill>
                  <a:schemeClr val="bg1"/>
                </a:solidFill>
                <a:sym typeface="Wingdings" panose="05000000000000000000" pitchFamily="2" charset="2"/>
              </a:rPr>
              <a:t> manger.</a:t>
            </a:r>
          </a:p>
          <a:p>
            <a:pPr marL="0" indent="0">
              <a:buNone/>
            </a:pPr>
            <a:r>
              <a:rPr lang="fr-BE" sz="2600" dirty="0">
                <a:solidFill>
                  <a:schemeClr val="bg1"/>
                </a:solidFill>
                <a:sym typeface="Wingdings" panose="05000000000000000000" pitchFamily="2" charset="2"/>
              </a:rPr>
              <a:t>J’ai des rêves à </a:t>
            </a:r>
            <a:r>
              <a:rPr lang="fr-BE" sz="2600" u="sng" dirty="0">
                <a:solidFill>
                  <a:schemeClr val="bg1"/>
                </a:solidFill>
                <a:sym typeface="Wingdings" panose="05000000000000000000" pitchFamily="2" charset="2"/>
              </a:rPr>
              <a:t>n’</a:t>
            </a:r>
            <a:r>
              <a:rPr lang="fr-BE" sz="2600" dirty="0">
                <a:solidFill>
                  <a:schemeClr val="bg1"/>
                </a:solidFill>
                <a:sym typeface="Wingdings" panose="05000000000000000000" pitchFamily="2" charset="2"/>
              </a:rPr>
              <a:t>en </a:t>
            </a:r>
            <a:r>
              <a:rPr lang="fr-BE" sz="2600" u="sng" dirty="0">
                <a:solidFill>
                  <a:schemeClr val="bg1"/>
                </a:solidFill>
                <a:sym typeface="Wingdings" panose="05000000000000000000" pitchFamily="2" charset="2"/>
              </a:rPr>
              <a:t>plus </a:t>
            </a:r>
            <a:r>
              <a:rPr lang="fr-BE" sz="2600" dirty="0">
                <a:solidFill>
                  <a:schemeClr val="bg1"/>
                </a:solidFill>
                <a:sym typeface="Wingdings" panose="05000000000000000000" pitchFamily="2" charset="2"/>
              </a:rPr>
              <a:t>finir !</a:t>
            </a:r>
          </a:p>
          <a:p>
            <a:pPr marL="0" indent="0">
              <a:buNone/>
            </a:pPr>
            <a:endParaRPr lang="fr-BE" sz="2600" b="1" dirty="0">
              <a:solidFill>
                <a:schemeClr val="bg1"/>
              </a:solidFill>
              <a:sym typeface="Wingdings" panose="05000000000000000000" pitchFamily="2" charset="2"/>
            </a:endParaRPr>
          </a:p>
          <a:p>
            <a:pPr marL="0" indent="0">
              <a:buNone/>
            </a:pPr>
            <a:r>
              <a:rPr lang="fr-BE" sz="2600" b="1" dirty="0">
                <a:solidFill>
                  <a:schemeClr val="bg1"/>
                </a:solidFill>
                <a:sym typeface="Wingdings" panose="05000000000000000000" pitchFamily="2" charset="2"/>
              </a:rPr>
              <a:t>« De plus en plus » /</a:t>
            </a:r>
            <a:r>
              <a:rPr lang="fr-BE" sz="2600" b="1" dirty="0" err="1">
                <a:solidFill>
                  <a:schemeClr val="bg1"/>
                </a:solidFill>
                <a:sym typeface="Wingdings" panose="05000000000000000000" pitchFamily="2" charset="2"/>
              </a:rPr>
              <a:t>dœ</a:t>
            </a:r>
            <a:r>
              <a:rPr lang="fr-BE" sz="2600" b="1" dirty="0">
                <a:solidFill>
                  <a:schemeClr val="bg1"/>
                </a:solidFill>
                <a:sym typeface="Wingdings" panose="05000000000000000000" pitchFamily="2" charset="2"/>
              </a:rPr>
              <a:t> </a:t>
            </a:r>
            <a:r>
              <a:rPr lang="fr-BE" sz="2600" b="1" dirty="0" err="1">
                <a:solidFill>
                  <a:schemeClr val="bg1"/>
                </a:solidFill>
                <a:sym typeface="Wingdings" panose="05000000000000000000" pitchFamily="2" charset="2"/>
              </a:rPr>
              <a:t>ply</a:t>
            </a:r>
            <a:r>
              <a:rPr lang="fr-BE" sz="2600" b="1" dirty="0">
                <a:solidFill>
                  <a:schemeClr val="bg1"/>
                </a:solidFill>
                <a:sym typeface="Wingdings" panose="05000000000000000000" pitchFamily="2" charset="2"/>
              </a:rPr>
              <a:t> </a:t>
            </a:r>
            <a:r>
              <a:rPr lang="fr-BE" sz="2600" b="1" dirty="0" err="1">
                <a:solidFill>
                  <a:schemeClr val="bg1"/>
                </a:solidFill>
                <a:sym typeface="Wingdings" panose="05000000000000000000" pitchFamily="2" charset="2"/>
              </a:rPr>
              <a:t>zɑ</a:t>
            </a:r>
            <a:r>
              <a:rPr lang="fr-BE" sz="2600" b="1" dirty="0">
                <a:solidFill>
                  <a:schemeClr val="bg1"/>
                </a:solidFill>
                <a:sym typeface="Wingdings" panose="05000000000000000000" pitchFamily="2" charset="2"/>
              </a:rPr>
              <a:t>̃ </a:t>
            </a:r>
            <a:r>
              <a:rPr lang="fr-BE" sz="2600" b="1" dirty="0" err="1">
                <a:solidFill>
                  <a:schemeClr val="bg1"/>
                </a:solidFill>
                <a:sym typeface="Wingdings" panose="05000000000000000000" pitchFamily="2" charset="2"/>
              </a:rPr>
              <a:t>ply</a:t>
            </a:r>
            <a:r>
              <a:rPr lang="fr-BE" sz="2600" b="1" dirty="0">
                <a:solidFill>
                  <a:schemeClr val="bg1"/>
                </a:solidFill>
                <a:sym typeface="Wingdings" panose="05000000000000000000" pitchFamily="2" charset="2"/>
              </a:rPr>
              <a:t>/</a:t>
            </a:r>
          </a:p>
          <a:p>
            <a:pPr marL="0" indent="0">
              <a:buNone/>
            </a:pPr>
            <a:r>
              <a:rPr lang="fr-BE" sz="2600" dirty="0">
                <a:solidFill>
                  <a:schemeClr val="bg1"/>
                </a:solidFill>
                <a:sym typeface="Wingdings" panose="05000000000000000000" pitchFamily="2" charset="2"/>
              </a:rPr>
              <a:t>Les gens ont </a:t>
            </a:r>
            <a:r>
              <a:rPr lang="fr-BE" sz="2600" u="sng" dirty="0">
                <a:solidFill>
                  <a:schemeClr val="bg1"/>
                </a:solidFill>
                <a:sym typeface="Wingdings" panose="05000000000000000000" pitchFamily="2" charset="2"/>
              </a:rPr>
              <a:t>de </a:t>
            </a:r>
            <a:r>
              <a:rPr lang="fr-BE" sz="2600" u="sng" dirty="0">
                <a:solidFill>
                  <a:srgbClr val="FF0000"/>
                </a:solidFill>
                <a:sym typeface="Wingdings" panose="05000000000000000000" pitchFamily="2" charset="2"/>
              </a:rPr>
              <a:t>plus</a:t>
            </a:r>
            <a:r>
              <a:rPr lang="fr-BE" sz="2600" u="sng" dirty="0">
                <a:solidFill>
                  <a:schemeClr val="bg1"/>
                </a:solidFill>
                <a:sym typeface="Wingdings" panose="05000000000000000000" pitchFamily="2" charset="2"/>
              </a:rPr>
              <a:t> en plus </a:t>
            </a:r>
            <a:r>
              <a:rPr lang="fr-BE" sz="2600" dirty="0">
                <a:solidFill>
                  <a:schemeClr val="bg1"/>
                </a:solidFill>
                <a:sym typeface="Wingdings" panose="05000000000000000000" pitchFamily="2" charset="2"/>
              </a:rPr>
              <a:t>d’enfants.</a:t>
            </a:r>
          </a:p>
          <a:p>
            <a:pPr marL="0" indent="0">
              <a:buNone/>
            </a:pPr>
            <a:endParaRPr lang="fr-FR" sz="2600" b="1" dirty="0">
              <a:solidFill>
                <a:schemeClr val="bg1"/>
              </a:solidFill>
              <a:sym typeface="Wingdings" panose="05000000000000000000" pitchFamily="2" charset="2"/>
            </a:endParaRPr>
          </a:p>
          <a:p>
            <a:pPr marL="0" indent="0">
              <a:buNone/>
            </a:pPr>
            <a:r>
              <a:rPr lang="fr-BE" sz="2600" b="1" dirty="0">
                <a:solidFill>
                  <a:schemeClr val="bg1"/>
                </a:solidFill>
                <a:sym typeface="Wingdings" panose="05000000000000000000" pitchFamily="2" charset="2"/>
              </a:rPr>
              <a:t>Comparaison (quand l’adjectif qui suit commence par une consonne) </a:t>
            </a:r>
          </a:p>
          <a:p>
            <a:pPr marL="0" indent="0">
              <a:buNone/>
            </a:pPr>
            <a:r>
              <a:rPr lang="fr-BE" sz="2600" dirty="0">
                <a:solidFill>
                  <a:schemeClr val="bg1"/>
                </a:solidFill>
                <a:sym typeface="Wingdings" panose="05000000000000000000" pitchFamily="2" charset="2"/>
              </a:rPr>
              <a:t>Je suis </a:t>
            </a:r>
            <a:r>
              <a:rPr lang="fr-BE" sz="2600" u="sng" dirty="0">
                <a:solidFill>
                  <a:schemeClr val="bg1"/>
                </a:solidFill>
                <a:sym typeface="Wingdings" panose="05000000000000000000" pitchFamily="2" charset="2"/>
              </a:rPr>
              <a:t>plus</a:t>
            </a:r>
            <a:r>
              <a:rPr lang="fr-BE" sz="2600" dirty="0">
                <a:solidFill>
                  <a:schemeClr val="bg1"/>
                </a:solidFill>
                <a:sym typeface="Wingdings" panose="05000000000000000000" pitchFamily="2" charset="2"/>
              </a:rPr>
              <a:t> grande que ma sœur.</a:t>
            </a:r>
          </a:p>
          <a:p>
            <a:pPr marL="0" indent="0">
              <a:buNone/>
            </a:pPr>
            <a:endParaRPr lang="fr-BE" sz="2800" dirty="0">
              <a:solidFill>
                <a:schemeClr val="bg1"/>
              </a:solidFill>
              <a:sym typeface="Wingdings" panose="05000000000000000000" pitchFamily="2" charset="2"/>
            </a:endParaRPr>
          </a:p>
          <a:p>
            <a:endParaRPr lang="fr-BE" sz="2800" dirty="0">
              <a:solidFill>
                <a:schemeClr val="bg1"/>
              </a:solidFill>
              <a:sym typeface="Wingdings" panose="05000000000000000000" pitchFamily="2" charset="2"/>
            </a:endParaRPr>
          </a:p>
          <a:p>
            <a:endParaRPr lang="fr-FR" sz="2800" dirty="0">
              <a:solidFill>
                <a:schemeClr val="bg1"/>
              </a:solidFill>
            </a:endParaRPr>
          </a:p>
        </p:txBody>
      </p:sp>
    </p:spTree>
    <p:extLst>
      <p:ext uri="{BB962C8B-B14F-4D97-AF65-F5344CB8AC3E}">
        <p14:creationId xmlns:p14="http://schemas.microsoft.com/office/powerpoint/2010/main" val="1083694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4E926D-D1F3-4310-9957-4B459FBA8DBB}"/>
              </a:ext>
            </a:extLst>
          </p:cNvPr>
          <p:cNvSpPr>
            <a:spLocks noGrp="1"/>
          </p:cNvSpPr>
          <p:nvPr>
            <p:ph type="title"/>
          </p:nvPr>
        </p:nvSpPr>
        <p:spPr/>
        <p:txBody>
          <a:bodyPr>
            <a:normAutofit/>
          </a:bodyPr>
          <a:lstStyle/>
          <a:p>
            <a:r>
              <a:rPr lang="fr-FR" sz="5400" b="1" dirty="0">
                <a:solidFill>
                  <a:schemeClr val="bg1"/>
                </a:solidFill>
                <a:latin typeface="Comic Sans MS" panose="030F0702030302020204" pitchFamily="66" charset="0"/>
              </a:rPr>
              <a:t>[</a:t>
            </a:r>
            <a:r>
              <a:rPr lang="fr-FR" sz="5400" b="1" dirty="0" err="1">
                <a:solidFill>
                  <a:schemeClr val="bg1"/>
                </a:solidFill>
                <a:latin typeface="Comic Sans MS" panose="030F0702030302020204" pitchFamily="66" charset="0"/>
              </a:rPr>
              <a:t>plyS</a:t>
            </a:r>
            <a:r>
              <a:rPr lang="fr-FR" sz="5400" b="1" dirty="0">
                <a:solidFill>
                  <a:schemeClr val="bg1"/>
                </a:solidFill>
                <a:latin typeface="Comic Sans MS" panose="030F0702030302020204" pitchFamily="66" charset="0"/>
              </a:rPr>
              <a:t>]</a:t>
            </a:r>
            <a:endParaRPr lang="fr-FR" sz="5400" dirty="0"/>
          </a:p>
        </p:txBody>
      </p:sp>
      <p:sp>
        <p:nvSpPr>
          <p:cNvPr id="3" name="Espace réservé du contenu 2">
            <a:extLst>
              <a:ext uri="{FF2B5EF4-FFF2-40B4-BE49-F238E27FC236}">
                <a16:creationId xmlns:a16="http://schemas.microsoft.com/office/drawing/2014/main" id="{B517D0A6-2A01-4B43-B164-D54E73AA8B6C}"/>
              </a:ext>
            </a:extLst>
          </p:cNvPr>
          <p:cNvSpPr>
            <a:spLocks noGrp="1"/>
          </p:cNvSpPr>
          <p:nvPr>
            <p:ph idx="1"/>
          </p:nvPr>
        </p:nvSpPr>
        <p:spPr>
          <a:xfrm>
            <a:off x="685801" y="2599267"/>
            <a:ext cx="10131425" cy="3649133"/>
          </a:xfrm>
        </p:spPr>
        <p:txBody>
          <a:bodyPr>
            <a:normAutofit/>
          </a:bodyPr>
          <a:lstStyle/>
          <a:p>
            <a:pPr marL="0" indent="0">
              <a:buNone/>
            </a:pPr>
            <a:r>
              <a:rPr lang="fr-FR" sz="2400" b="1" dirty="0">
                <a:solidFill>
                  <a:schemeClr val="bg1"/>
                </a:solidFill>
                <a:sym typeface="Wingdings" panose="05000000000000000000" pitchFamily="2" charset="2"/>
              </a:rPr>
              <a:t>« Le plus » devant un verbe </a:t>
            </a:r>
            <a:r>
              <a:rPr lang="fr-FR" sz="2400" dirty="0">
                <a:solidFill>
                  <a:schemeClr val="bg1"/>
                </a:solidFill>
                <a:sym typeface="Wingdings" panose="05000000000000000000" pitchFamily="2" charset="2"/>
              </a:rPr>
              <a:t> C’est lui qui a </a:t>
            </a:r>
            <a:r>
              <a:rPr lang="fr-FR" sz="2400" u="sng" dirty="0">
                <a:solidFill>
                  <a:schemeClr val="bg1"/>
                </a:solidFill>
                <a:sym typeface="Wingdings" panose="05000000000000000000" pitchFamily="2" charset="2"/>
              </a:rPr>
              <a:t>le plus </a:t>
            </a:r>
            <a:r>
              <a:rPr lang="fr-FR" sz="2400" dirty="0">
                <a:solidFill>
                  <a:schemeClr val="bg1"/>
                </a:solidFill>
                <a:sym typeface="Wingdings" panose="05000000000000000000" pitchFamily="2" charset="2"/>
              </a:rPr>
              <a:t>étudié.</a:t>
            </a:r>
          </a:p>
          <a:p>
            <a:pPr marL="0" indent="0">
              <a:buNone/>
            </a:pPr>
            <a:r>
              <a:rPr lang="fr-FR" sz="2400" b="1" dirty="0">
                <a:solidFill>
                  <a:schemeClr val="bg1"/>
                </a:solidFill>
                <a:sym typeface="Wingdings" panose="05000000000000000000" pitchFamily="2" charset="2"/>
              </a:rPr>
              <a:t>« Le plus » en fin de phrase </a:t>
            </a:r>
            <a:r>
              <a:rPr lang="fr-FR" sz="2400" dirty="0">
                <a:solidFill>
                  <a:schemeClr val="bg1"/>
                </a:solidFill>
                <a:sym typeface="Wingdings" panose="05000000000000000000" pitchFamily="2" charset="2"/>
              </a:rPr>
              <a:t> C’est elle qu’il aime </a:t>
            </a:r>
            <a:r>
              <a:rPr lang="fr-FR" sz="2400" u="sng" dirty="0">
                <a:solidFill>
                  <a:schemeClr val="bg1"/>
                </a:solidFill>
                <a:sym typeface="Wingdings" panose="05000000000000000000" pitchFamily="2" charset="2"/>
              </a:rPr>
              <a:t>le plus.</a:t>
            </a:r>
          </a:p>
          <a:p>
            <a:pPr marL="0" indent="0">
              <a:buNone/>
            </a:pPr>
            <a:r>
              <a:rPr lang="fr-FR" sz="2400" b="1" dirty="0">
                <a:solidFill>
                  <a:schemeClr val="bg1"/>
                </a:solidFill>
                <a:sym typeface="Wingdings" panose="05000000000000000000" pitchFamily="2" charset="2"/>
              </a:rPr>
              <a:t>« Le plus de » devant un nom </a:t>
            </a:r>
            <a:r>
              <a:rPr lang="fr-FR" sz="2400" dirty="0">
                <a:solidFill>
                  <a:schemeClr val="bg1"/>
                </a:solidFill>
                <a:sym typeface="Wingdings" panose="05000000000000000000" pitchFamily="2" charset="2"/>
              </a:rPr>
              <a:t>  Ce devoir requiert </a:t>
            </a:r>
            <a:r>
              <a:rPr lang="fr-FR" sz="2400" u="sng" dirty="0">
                <a:solidFill>
                  <a:schemeClr val="bg1"/>
                </a:solidFill>
                <a:sym typeface="Wingdings" panose="05000000000000000000" pitchFamily="2" charset="2"/>
              </a:rPr>
              <a:t>le plus de </a:t>
            </a:r>
            <a:r>
              <a:rPr lang="fr-FR" sz="2400" dirty="0">
                <a:solidFill>
                  <a:schemeClr val="bg1"/>
                </a:solidFill>
                <a:sym typeface="Wingdings" panose="05000000000000000000" pitchFamily="2" charset="2"/>
              </a:rPr>
              <a:t>travail.</a:t>
            </a:r>
          </a:p>
          <a:p>
            <a:pPr marL="0" indent="0">
              <a:buNone/>
            </a:pPr>
            <a:r>
              <a:rPr lang="fr-FR" sz="2400" b="1" dirty="0">
                <a:solidFill>
                  <a:schemeClr val="bg1"/>
                </a:solidFill>
                <a:sym typeface="Wingdings" panose="05000000000000000000" pitchFamily="2" charset="2"/>
              </a:rPr>
              <a:t>« plus que » devant un nom </a:t>
            </a:r>
            <a:r>
              <a:rPr lang="fr-FR" sz="2400" dirty="0">
                <a:solidFill>
                  <a:schemeClr val="bg1"/>
                </a:solidFill>
                <a:sym typeface="Wingdings" panose="05000000000000000000" pitchFamily="2" charset="2"/>
              </a:rPr>
              <a:t> Je l’aime </a:t>
            </a:r>
            <a:r>
              <a:rPr lang="fr-FR" sz="2400" u="sng" dirty="0">
                <a:solidFill>
                  <a:schemeClr val="bg1"/>
                </a:solidFill>
                <a:sym typeface="Wingdings" panose="05000000000000000000" pitchFamily="2" charset="2"/>
              </a:rPr>
              <a:t>plus que </a:t>
            </a:r>
            <a:r>
              <a:rPr lang="fr-FR" sz="2400" dirty="0">
                <a:solidFill>
                  <a:schemeClr val="bg1"/>
                </a:solidFill>
                <a:sym typeface="Wingdings" panose="05000000000000000000" pitchFamily="2" charset="2"/>
              </a:rPr>
              <a:t>toi !</a:t>
            </a:r>
          </a:p>
          <a:p>
            <a:pPr marL="0" indent="0">
              <a:buNone/>
            </a:pPr>
            <a:r>
              <a:rPr lang="fr-FR" sz="2400" b="1" dirty="0">
                <a:solidFill>
                  <a:schemeClr val="bg1"/>
                </a:solidFill>
                <a:sym typeface="Wingdings" panose="05000000000000000000" pitchFamily="2" charset="2"/>
              </a:rPr>
              <a:t>« Plus » en fin de groupe verbal </a:t>
            </a:r>
            <a:r>
              <a:rPr lang="fr-FR" sz="2400" dirty="0">
                <a:solidFill>
                  <a:schemeClr val="bg1"/>
                </a:solidFill>
                <a:sym typeface="Wingdings" panose="05000000000000000000" pitchFamily="2" charset="2"/>
              </a:rPr>
              <a:t> Je </a:t>
            </a:r>
            <a:r>
              <a:rPr lang="fr-FR" sz="2400" i="1" dirty="0">
                <a:solidFill>
                  <a:schemeClr val="bg1"/>
                </a:solidFill>
                <a:sym typeface="Wingdings" panose="05000000000000000000" pitchFamily="2" charset="2"/>
              </a:rPr>
              <a:t>mange</a:t>
            </a:r>
            <a:r>
              <a:rPr lang="fr-FR" sz="2400" dirty="0">
                <a:solidFill>
                  <a:schemeClr val="bg1"/>
                </a:solidFill>
                <a:sym typeface="Wingdings" panose="05000000000000000000" pitchFamily="2" charset="2"/>
              </a:rPr>
              <a:t> </a:t>
            </a:r>
            <a:r>
              <a:rPr lang="fr-FR" sz="2400" u="sng" dirty="0">
                <a:solidFill>
                  <a:schemeClr val="bg1"/>
                </a:solidFill>
                <a:sym typeface="Wingdings" panose="05000000000000000000" pitchFamily="2" charset="2"/>
              </a:rPr>
              <a:t>plus</a:t>
            </a:r>
            <a:r>
              <a:rPr lang="fr-FR" sz="2400" dirty="0">
                <a:solidFill>
                  <a:schemeClr val="bg1"/>
                </a:solidFill>
                <a:sym typeface="Wingdings" panose="05000000000000000000" pitchFamily="2" charset="2"/>
              </a:rPr>
              <a:t> que mon frère.</a:t>
            </a:r>
          </a:p>
          <a:p>
            <a:pPr marL="0" indent="0">
              <a:buNone/>
            </a:pPr>
            <a:endParaRPr lang="fr-FR" sz="2400" b="1" dirty="0">
              <a:solidFill>
                <a:schemeClr val="bg1"/>
              </a:solidFill>
              <a:sym typeface="Wingdings" panose="05000000000000000000" pitchFamily="2" charset="2"/>
            </a:endParaRPr>
          </a:p>
          <a:p>
            <a:pPr marL="0" indent="0">
              <a:buNone/>
            </a:pPr>
            <a:endParaRPr lang="fr-FR" sz="2400" b="1" dirty="0">
              <a:solidFill>
                <a:schemeClr val="bg1"/>
              </a:solidFill>
              <a:sym typeface="Wingdings" panose="05000000000000000000" pitchFamily="2" charset="2"/>
            </a:endParaRPr>
          </a:p>
          <a:p>
            <a:pPr marL="0" indent="0">
              <a:buNone/>
            </a:pPr>
            <a:endParaRPr lang="fr-FR" sz="2400" b="1" dirty="0">
              <a:solidFill>
                <a:schemeClr val="bg1"/>
              </a:solidFill>
              <a:sym typeface="Wingdings" panose="05000000000000000000" pitchFamily="2" charset="2"/>
            </a:endParaRPr>
          </a:p>
          <a:p>
            <a:endParaRPr lang="fr-FR" sz="2400" b="1" dirty="0"/>
          </a:p>
        </p:txBody>
      </p:sp>
    </p:spTree>
    <p:extLst>
      <p:ext uri="{BB962C8B-B14F-4D97-AF65-F5344CB8AC3E}">
        <p14:creationId xmlns:p14="http://schemas.microsoft.com/office/powerpoint/2010/main" val="3023873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3E4073-AA79-4BE9-B798-EBFE07737FE8}"/>
              </a:ext>
            </a:extLst>
          </p:cNvPr>
          <p:cNvSpPr>
            <a:spLocks noGrp="1"/>
          </p:cNvSpPr>
          <p:nvPr>
            <p:ph type="title"/>
          </p:nvPr>
        </p:nvSpPr>
        <p:spPr/>
        <p:txBody>
          <a:bodyPr>
            <a:normAutofit/>
          </a:bodyPr>
          <a:lstStyle/>
          <a:p>
            <a:r>
              <a:rPr lang="fr-FR" sz="5400" b="1" dirty="0">
                <a:solidFill>
                  <a:schemeClr val="bg1"/>
                </a:solidFill>
                <a:latin typeface="Comic Sans MS" panose="030F0702030302020204" pitchFamily="66" charset="0"/>
              </a:rPr>
              <a:t>[</a:t>
            </a:r>
            <a:r>
              <a:rPr lang="fr-FR" sz="5400" b="1" dirty="0" err="1">
                <a:solidFill>
                  <a:schemeClr val="bg1"/>
                </a:solidFill>
                <a:latin typeface="Comic Sans MS" panose="030F0702030302020204" pitchFamily="66" charset="0"/>
              </a:rPr>
              <a:t>plyZ</a:t>
            </a:r>
            <a:r>
              <a:rPr lang="fr-FR" sz="5400" b="1" dirty="0">
                <a:solidFill>
                  <a:schemeClr val="bg1"/>
                </a:solidFill>
                <a:latin typeface="Comic Sans MS" panose="030F0702030302020204" pitchFamily="66" charset="0"/>
              </a:rPr>
              <a:t>]</a:t>
            </a:r>
            <a:endParaRPr lang="fr-FR" sz="5400" dirty="0"/>
          </a:p>
        </p:txBody>
      </p:sp>
      <p:sp>
        <p:nvSpPr>
          <p:cNvPr id="3" name="Espace réservé du contenu 2">
            <a:extLst>
              <a:ext uri="{FF2B5EF4-FFF2-40B4-BE49-F238E27FC236}">
                <a16:creationId xmlns:a16="http://schemas.microsoft.com/office/drawing/2014/main" id="{50ECEDE2-B338-42A3-8AAA-86D6F9D17CFD}"/>
              </a:ext>
            </a:extLst>
          </p:cNvPr>
          <p:cNvSpPr>
            <a:spLocks noGrp="1"/>
          </p:cNvSpPr>
          <p:nvPr>
            <p:ph idx="1"/>
          </p:nvPr>
        </p:nvSpPr>
        <p:spPr>
          <a:xfrm>
            <a:off x="685801" y="2142067"/>
            <a:ext cx="10648949" cy="3744383"/>
          </a:xfrm>
        </p:spPr>
        <p:txBody>
          <a:bodyPr>
            <a:normAutofit/>
          </a:bodyPr>
          <a:lstStyle/>
          <a:p>
            <a:pPr marL="0" indent="0">
              <a:buNone/>
            </a:pPr>
            <a:r>
              <a:rPr lang="fr-FR" sz="2800" b="1" dirty="0">
                <a:solidFill>
                  <a:schemeClr val="bg1"/>
                </a:solidFill>
                <a:sym typeface="Wingdings" panose="05000000000000000000" pitchFamily="2" charset="2"/>
              </a:rPr>
              <a:t>Dans une affirmation ou une négation, devant </a:t>
            </a:r>
            <a:r>
              <a:rPr lang="fr-FR" sz="2800" b="1" i="1" dirty="0">
                <a:solidFill>
                  <a:schemeClr val="bg1"/>
                </a:solidFill>
                <a:sym typeface="Wingdings" panose="05000000000000000000" pitchFamily="2" charset="2"/>
              </a:rPr>
              <a:t>la voyelle/le h muet </a:t>
            </a:r>
            <a:r>
              <a:rPr lang="fr-FR" sz="2800" b="1" dirty="0">
                <a:solidFill>
                  <a:schemeClr val="bg1"/>
                </a:solidFill>
                <a:sym typeface="Wingdings" panose="05000000000000000000" pitchFamily="2" charset="2"/>
              </a:rPr>
              <a:t>qui suit, « plus » se prononce [</a:t>
            </a:r>
            <a:r>
              <a:rPr lang="fr-FR" sz="2800" b="1" dirty="0" err="1">
                <a:solidFill>
                  <a:schemeClr val="bg1"/>
                </a:solidFill>
                <a:sym typeface="Wingdings" panose="05000000000000000000" pitchFamily="2" charset="2"/>
              </a:rPr>
              <a:t>plyz</a:t>
            </a:r>
            <a:r>
              <a:rPr lang="fr-FR" sz="2800" b="1" dirty="0">
                <a:solidFill>
                  <a:schemeClr val="bg1"/>
                </a:solidFill>
                <a:sym typeface="Wingdings" panose="05000000000000000000" pitchFamily="2" charset="2"/>
              </a:rPr>
              <a:t>] !</a:t>
            </a:r>
          </a:p>
          <a:p>
            <a:pPr>
              <a:buFont typeface="Wingdings" panose="05000000000000000000" pitchFamily="2" charset="2"/>
              <a:buChar char="à"/>
            </a:pPr>
            <a:r>
              <a:rPr lang="fr-FR" sz="2800" dirty="0">
                <a:solidFill>
                  <a:schemeClr val="bg1"/>
                </a:solidFill>
                <a:sym typeface="Wingdings" panose="05000000000000000000" pitchFamily="2" charset="2"/>
              </a:rPr>
              <a:t>C’est l’homme le </a:t>
            </a:r>
            <a:r>
              <a:rPr lang="fr-FR" sz="2800" b="1" u="sng" dirty="0">
                <a:solidFill>
                  <a:schemeClr val="bg1"/>
                </a:solidFill>
                <a:sym typeface="Wingdings" panose="05000000000000000000" pitchFamily="2" charset="2"/>
              </a:rPr>
              <a:t>plus</a:t>
            </a:r>
            <a:r>
              <a:rPr lang="fr-FR" sz="2800" dirty="0">
                <a:solidFill>
                  <a:schemeClr val="bg1"/>
                </a:solidFill>
                <a:sym typeface="Wingdings" panose="05000000000000000000" pitchFamily="2" charset="2"/>
              </a:rPr>
              <a:t> </a:t>
            </a:r>
            <a:r>
              <a:rPr lang="fr-FR" sz="2800" dirty="0">
                <a:solidFill>
                  <a:schemeClr val="bg1"/>
                </a:solidFill>
                <a:highlight>
                  <a:srgbClr val="FFFF00"/>
                </a:highlight>
                <a:sym typeface="Wingdings" panose="05000000000000000000" pitchFamily="2" charset="2"/>
              </a:rPr>
              <a:t>a</a:t>
            </a:r>
            <a:r>
              <a:rPr lang="fr-FR" sz="2800" dirty="0">
                <a:solidFill>
                  <a:schemeClr val="bg1"/>
                </a:solidFill>
                <a:sym typeface="Wingdings" panose="05000000000000000000" pitchFamily="2" charset="2"/>
              </a:rPr>
              <a:t>dmirable que je connaisse !</a:t>
            </a:r>
          </a:p>
          <a:p>
            <a:pPr>
              <a:buFont typeface="Wingdings" panose="05000000000000000000" pitchFamily="2" charset="2"/>
              <a:buChar char="à"/>
            </a:pPr>
            <a:r>
              <a:rPr lang="fr-FR" sz="2800" dirty="0">
                <a:solidFill>
                  <a:schemeClr val="bg1"/>
                </a:solidFill>
                <a:sym typeface="Wingdings" panose="05000000000000000000" pitchFamily="2" charset="2"/>
              </a:rPr>
              <a:t>Tu es l’ami le </a:t>
            </a:r>
            <a:r>
              <a:rPr lang="fr-FR" sz="2800" b="1" u="sng" dirty="0">
                <a:solidFill>
                  <a:schemeClr val="bg1"/>
                </a:solidFill>
                <a:sym typeface="Wingdings" panose="05000000000000000000" pitchFamily="2" charset="2"/>
              </a:rPr>
              <a:t>plus</a:t>
            </a:r>
            <a:r>
              <a:rPr lang="fr-FR" sz="2800" dirty="0">
                <a:solidFill>
                  <a:schemeClr val="bg1"/>
                </a:solidFill>
                <a:sym typeface="Wingdings" panose="05000000000000000000" pitchFamily="2" charset="2"/>
              </a:rPr>
              <a:t> </a:t>
            </a:r>
            <a:r>
              <a:rPr lang="fr-FR" sz="2800" dirty="0">
                <a:solidFill>
                  <a:schemeClr val="bg1"/>
                </a:solidFill>
                <a:highlight>
                  <a:srgbClr val="FFFF00"/>
                </a:highlight>
                <a:sym typeface="Wingdings" panose="05000000000000000000" pitchFamily="2" charset="2"/>
              </a:rPr>
              <a:t>h</a:t>
            </a:r>
            <a:r>
              <a:rPr lang="fr-FR" sz="2800" dirty="0">
                <a:solidFill>
                  <a:schemeClr val="bg1"/>
                </a:solidFill>
                <a:sym typeface="Wingdings" panose="05000000000000000000" pitchFamily="2" charset="2"/>
              </a:rPr>
              <a:t>onnête !</a:t>
            </a:r>
          </a:p>
          <a:p>
            <a:pPr>
              <a:buFont typeface="Wingdings" panose="05000000000000000000" pitchFamily="2" charset="2"/>
              <a:buChar char="à"/>
            </a:pPr>
            <a:endParaRPr lang="fr-FR" sz="2800" dirty="0">
              <a:solidFill>
                <a:schemeClr val="bg1"/>
              </a:solidFill>
              <a:sym typeface="Wingdings" panose="05000000000000000000" pitchFamily="2" charset="2"/>
            </a:endParaRPr>
          </a:p>
          <a:p>
            <a:pPr marL="0" indent="0">
              <a:buNone/>
            </a:pPr>
            <a:endParaRPr lang="fr-FR" sz="2800" dirty="0">
              <a:solidFill>
                <a:schemeClr val="bg1"/>
              </a:solidFill>
              <a:sym typeface="Wingdings" panose="05000000000000000000" pitchFamily="2" charset="2"/>
            </a:endParaRPr>
          </a:p>
          <a:p>
            <a:endParaRPr lang="fr-FR" sz="2800" dirty="0"/>
          </a:p>
        </p:txBody>
      </p:sp>
    </p:spTree>
    <p:extLst>
      <p:ext uri="{BB962C8B-B14F-4D97-AF65-F5344CB8AC3E}">
        <p14:creationId xmlns:p14="http://schemas.microsoft.com/office/powerpoint/2010/main" val="2635349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33D2B-4516-42DC-AA22-2F0E26C35F9F}"/>
              </a:ext>
            </a:extLst>
          </p:cNvPr>
          <p:cNvSpPr>
            <a:spLocks noGrp="1"/>
          </p:cNvSpPr>
          <p:nvPr>
            <p:ph type="title"/>
          </p:nvPr>
        </p:nvSpPr>
        <p:spPr>
          <a:xfrm>
            <a:off x="685801" y="609600"/>
            <a:ext cx="10131425" cy="663615"/>
          </a:xfrm>
        </p:spPr>
        <p:txBody>
          <a:bodyPr/>
          <a:lstStyle/>
          <a:p>
            <a:r>
              <a:rPr lang="fr-BE" b="1" dirty="0">
                <a:solidFill>
                  <a:schemeClr val="bg1"/>
                </a:solidFill>
                <a:latin typeface="Comic Sans MS" panose="030F0702030302020204" pitchFamily="66" charset="0"/>
              </a:rPr>
              <a:t>EN DUO</a:t>
            </a:r>
            <a:endParaRPr lang="fr-FR" b="1" dirty="0">
              <a:solidFill>
                <a:schemeClr val="bg1"/>
              </a:solidFill>
              <a:latin typeface="Comic Sans MS" panose="030F0702030302020204" pitchFamily="66" charset="0"/>
            </a:endParaRPr>
          </a:p>
        </p:txBody>
      </p:sp>
      <p:sp>
        <p:nvSpPr>
          <p:cNvPr id="3" name="Espace réservé du contenu 2">
            <a:extLst>
              <a:ext uri="{FF2B5EF4-FFF2-40B4-BE49-F238E27FC236}">
                <a16:creationId xmlns:a16="http://schemas.microsoft.com/office/drawing/2014/main" id="{89BD9A25-EC09-45A3-AE37-D13C48039F91}"/>
              </a:ext>
            </a:extLst>
          </p:cNvPr>
          <p:cNvSpPr>
            <a:spLocks noGrp="1"/>
          </p:cNvSpPr>
          <p:nvPr>
            <p:ph idx="1"/>
          </p:nvPr>
        </p:nvSpPr>
        <p:spPr>
          <a:xfrm>
            <a:off x="552450" y="1481559"/>
            <a:ext cx="10953749" cy="5185942"/>
          </a:xfrm>
        </p:spPr>
        <p:txBody>
          <a:bodyPr>
            <a:normAutofit lnSpcReduction="10000"/>
          </a:bodyPr>
          <a:lstStyle/>
          <a:p>
            <a:pPr marL="628650" lvl="1" indent="-171450">
              <a:buClrTx/>
              <a:buFont typeface="Arial" panose="020B0604020202020204" pitchFamily="34" charset="0"/>
              <a:buChar char="•"/>
            </a:pPr>
            <a:r>
              <a:rPr lang="fr-BE" sz="2600" b="1" dirty="0">
                <a:solidFill>
                  <a:schemeClr val="bg1"/>
                </a:solidFill>
              </a:rPr>
              <a:t>Quel youtubeur/Youtubeuse regardes-tu avec plaisir ?</a:t>
            </a:r>
          </a:p>
          <a:p>
            <a:pPr marL="628650" lvl="1" indent="-171450">
              <a:buClrTx/>
              <a:buFont typeface="Arial" panose="020B0604020202020204" pitchFamily="34" charset="0"/>
              <a:buChar char="•"/>
            </a:pPr>
            <a:r>
              <a:rPr lang="fr-BE" sz="2600" b="1" dirty="0">
                <a:solidFill>
                  <a:schemeClr val="bg1"/>
                </a:solidFill>
              </a:rPr>
              <a:t>Si tu ne suis pas de youtubeur en particulier, quelle vidéo as-tu regardée récemment sur </a:t>
            </a:r>
            <a:r>
              <a:rPr lang="fr-BE" sz="2600" b="1" dirty="0" err="1">
                <a:solidFill>
                  <a:schemeClr val="bg1"/>
                </a:solidFill>
              </a:rPr>
              <a:t>Youtube</a:t>
            </a:r>
            <a:r>
              <a:rPr lang="fr-BE" sz="2600" b="1" dirty="0">
                <a:solidFill>
                  <a:schemeClr val="bg1"/>
                </a:solidFill>
              </a:rPr>
              <a:t> ?</a:t>
            </a:r>
          </a:p>
          <a:p>
            <a:pPr marL="628650" lvl="1" indent="-171450">
              <a:buClrTx/>
              <a:buFont typeface="Arial" panose="020B0604020202020204" pitchFamily="34" charset="0"/>
              <a:buChar char="•"/>
            </a:pPr>
            <a:r>
              <a:rPr lang="fr-BE" sz="2600" b="1" dirty="0">
                <a:solidFill>
                  <a:schemeClr val="bg1"/>
                </a:solidFill>
              </a:rPr>
              <a:t>Prends </a:t>
            </a:r>
            <a:r>
              <a:rPr lang="fr-BE" sz="2600" b="1" dirty="0">
                <a:solidFill>
                  <a:srgbClr val="FF0000"/>
                </a:solidFill>
              </a:rPr>
              <a:t>1 à 3 minutes </a:t>
            </a:r>
            <a:r>
              <a:rPr lang="fr-BE" sz="2600" b="1" dirty="0">
                <a:solidFill>
                  <a:schemeClr val="bg1"/>
                </a:solidFill>
              </a:rPr>
              <a:t>pour faire ton choix</a:t>
            </a:r>
          </a:p>
          <a:p>
            <a:pPr marL="628650" lvl="1" indent="-171450">
              <a:buClrTx/>
              <a:buFont typeface="Arial" panose="020B0604020202020204" pitchFamily="34" charset="0"/>
              <a:buChar char="•"/>
            </a:pPr>
            <a:r>
              <a:rPr lang="fr-BE" sz="2600" b="1" dirty="0">
                <a:solidFill>
                  <a:schemeClr val="bg1"/>
                </a:solidFill>
              </a:rPr>
              <a:t>Partage ta vidéo avec ton/ta partenaire : </a:t>
            </a:r>
          </a:p>
          <a:p>
            <a:pPr marL="1085850" lvl="2" indent="-171450">
              <a:buClrTx/>
              <a:buFont typeface="Arial" panose="020B0604020202020204" pitchFamily="34" charset="0"/>
              <a:buChar char="•"/>
            </a:pPr>
            <a:r>
              <a:rPr lang="fr-BE" sz="2400" b="1" dirty="0">
                <a:solidFill>
                  <a:schemeClr val="bg1"/>
                </a:solidFill>
              </a:rPr>
              <a:t>J’apprécie ce Youtubeur parce que…</a:t>
            </a:r>
          </a:p>
          <a:p>
            <a:pPr marL="1085850" lvl="2" indent="-171450">
              <a:buClrTx/>
              <a:buFont typeface="Arial" panose="020B0604020202020204" pitchFamily="34" charset="0"/>
              <a:buChar char="•"/>
            </a:pPr>
            <a:r>
              <a:rPr lang="fr-BE" sz="2400" b="1" dirty="0">
                <a:solidFill>
                  <a:schemeClr val="bg1"/>
                </a:solidFill>
              </a:rPr>
              <a:t>Son nom est…</a:t>
            </a:r>
          </a:p>
          <a:p>
            <a:pPr marL="1085850" lvl="2" indent="-171450">
              <a:buClrTx/>
              <a:buFont typeface="Arial" panose="020B0604020202020204" pitchFamily="34" charset="0"/>
              <a:buChar char="•"/>
            </a:pPr>
            <a:r>
              <a:rPr lang="fr-BE" sz="2400" b="1" dirty="0">
                <a:solidFill>
                  <a:schemeClr val="bg1"/>
                </a:solidFill>
              </a:rPr>
              <a:t>Je l’ai découvert quand…</a:t>
            </a:r>
          </a:p>
          <a:p>
            <a:pPr marL="1085850" lvl="2" indent="-171450">
              <a:buClrTx/>
              <a:buFont typeface="Arial" panose="020B0604020202020204" pitchFamily="34" charset="0"/>
              <a:buChar char="•"/>
            </a:pPr>
            <a:r>
              <a:rPr lang="fr-BE" sz="2400" b="1" dirty="0">
                <a:solidFill>
                  <a:schemeClr val="bg1"/>
                </a:solidFill>
              </a:rPr>
              <a:t>J’adore cette vidéo parce que…</a:t>
            </a:r>
          </a:p>
          <a:p>
            <a:pPr marL="628650" lvl="1" indent="-171450">
              <a:buClrTx/>
              <a:buFont typeface="Arial" panose="020B0604020202020204" pitchFamily="34" charset="0"/>
              <a:buChar char="•"/>
            </a:pPr>
            <a:r>
              <a:rPr lang="fr-BE" sz="2600" b="1" dirty="0">
                <a:solidFill>
                  <a:schemeClr val="bg1"/>
                </a:solidFill>
              </a:rPr>
              <a:t>Regarde la vidéo recommandée par ton/ta partenaire</a:t>
            </a:r>
          </a:p>
          <a:p>
            <a:pPr marL="628650" lvl="1" indent="-171450">
              <a:buClrTx/>
              <a:buFont typeface="Arial" panose="020B0604020202020204" pitchFamily="34" charset="0"/>
              <a:buChar char="•"/>
            </a:pPr>
            <a:r>
              <a:rPr lang="fr-BE" sz="2600" b="1" dirty="0">
                <a:solidFill>
                  <a:schemeClr val="bg1"/>
                </a:solidFill>
              </a:rPr>
              <a:t>Ensuite, donne ton avis sur cette vidéo à ton/ta partenaire</a:t>
            </a:r>
            <a:endParaRPr lang="fr-FR" sz="2600" b="1" dirty="0">
              <a:solidFill>
                <a:schemeClr val="bg1"/>
              </a:solidFill>
            </a:endParaRPr>
          </a:p>
          <a:p>
            <a:pPr>
              <a:buClrTx/>
            </a:pPr>
            <a:endParaRPr lang="fr-FR" dirty="0"/>
          </a:p>
        </p:txBody>
      </p:sp>
    </p:spTree>
    <p:extLst>
      <p:ext uri="{BB962C8B-B14F-4D97-AF65-F5344CB8AC3E}">
        <p14:creationId xmlns:p14="http://schemas.microsoft.com/office/powerpoint/2010/main" val="883359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457136-149E-4732-86AB-075F6FC4B4F4}"/>
              </a:ext>
            </a:extLst>
          </p:cNvPr>
          <p:cNvSpPr>
            <a:spLocks noGrp="1"/>
          </p:cNvSpPr>
          <p:nvPr>
            <p:ph type="title"/>
          </p:nvPr>
        </p:nvSpPr>
        <p:spPr/>
        <p:txBody>
          <a:bodyPr>
            <a:normAutofit/>
          </a:bodyPr>
          <a:lstStyle/>
          <a:p>
            <a:r>
              <a:rPr lang="fr-BE" sz="3200" dirty="0">
                <a:solidFill>
                  <a:schemeClr val="bg1"/>
                </a:solidFill>
                <a:effectLst>
                  <a:outerShdw blurRad="38100" dist="38100" dir="2700000" algn="tl">
                    <a:srgbClr val="000000">
                      <a:alpha val="43137"/>
                    </a:srgbClr>
                  </a:outerShdw>
                </a:effectLst>
                <a:latin typeface="Comic Sans MS" panose="030F0702030302020204" pitchFamily="66" charset="0"/>
              </a:rPr>
              <a:t>GRAMMAIRE : Faire quelques tests sur Moodle</a:t>
            </a:r>
            <a:endParaRPr lang="fr-FR" sz="3200" dirty="0">
              <a:solidFill>
                <a:schemeClr val="bg1"/>
              </a:solidFill>
              <a:latin typeface="Comic Sans MS" panose="030F0702030302020204" pitchFamily="66" charset="0"/>
            </a:endParaRPr>
          </a:p>
        </p:txBody>
      </p:sp>
      <p:pic>
        <p:nvPicPr>
          <p:cNvPr id="4" name="Espace réservé du contenu 3">
            <a:extLst>
              <a:ext uri="{FF2B5EF4-FFF2-40B4-BE49-F238E27FC236}">
                <a16:creationId xmlns:a16="http://schemas.microsoft.com/office/drawing/2014/main" id="{10A0A058-45A4-4E18-83BC-6B5E197C85B1}"/>
              </a:ext>
            </a:extLst>
          </p:cNvPr>
          <p:cNvPicPr>
            <a:picLocks noChangeAspect="1"/>
          </p:cNvPicPr>
          <p:nvPr/>
        </p:nvPicPr>
        <p:blipFill>
          <a:blip r:embed="rId3"/>
          <a:stretch>
            <a:fillRect/>
          </a:stretch>
        </p:blipFill>
        <p:spPr>
          <a:xfrm>
            <a:off x="4096292" y="2065867"/>
            <a:ext cx="7639652" cy="4562763"/>
          </a:xfrm>
          <a:prstGeom prst="rect">
            <a:avLst/>
          </a:prstGeom>
          <a:ln>
            <a:solidFill>
              <a:schemeClr val="accent1"/>
            </a:solidFill>
          </a:ln>
        </p:spPr>
      </p:pic>
      <p:cxnSp>
        <p:nvCxnSpPr>
          <p:cNvPr id="5" name="Connecteur droit avec flèche 4">
            <a:extLst>
              <a:ext uri="{FF2B5EF4-FFF2-40B4-BE49-F238E27FC236}">
                <a16:creationId xmlns:a16="http://schemas.microsoft.com/office/drawing/2014/main" id="{A2179FED-333E-42CE-B49E-79D00746C0A8}"/>
              </a:ext>
            </a:extLst>
          </p:cNvPr>
          <p:cNvCxnSpPr>
            <a:cxnSpLocks/>
          </p:cNvCxnSpPr>
          <p:nvPr/>
        </p:nvCxnSpPr>
        <p:spPr>
          <a:xfrm flipV="1">
            <a:off x="2133600" y="2410372"/>
            <a:ext cx="3166126" cy="111176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3736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C18AE9-D00B-4AD8-8783-3E7308F39347}"/>
              </a:ext>
            </a:extLst>
          </p:cNvPr>
          <p:cNvSpPr>
            <a:spLocks noGrp="1"/>
          </p:cNvSpPr>
          <p:nvPr>
            <p:ph type="title"/>
          </p:nvPr>
        </p:nvSpPr>
        <p:spPr>
          <a:xfrm>
            <a:off x="685801" y="0"/>
            <a:ext cx="10131425" cy="1456267"/>
          </a:xfrm>
        </p:spPr>
        <p:txBody>
          <a:bodyPr/>
          <a:lstStyle/>
          <a:p>
            <a:r>
              <a:rPr lang="fr-BE" b="1" dirty="0">
                <a:solidFill>
                  <a:schemeClr val="bg1"/>
                </a:solidFill>
                <a:latin typeface="Comic Sans MS" panose="030F0702030302020204" pitchFamily="66" charset="0"/>
              </a:rPr>
              <a:t>Les devoirs</a:t>
            </a:r>
            <a:endParaRPr lang="fr-FR" b="1" dirty="0">
              <a:solidFill>
                <a:schemeClr val="bg1"/>
              </a:solidFill>
              <a:latin typeface="Comic Sans MS" panose="030F0702030302020204" pitchFamily="66" charset="0"/>
            </a:endParaRPr>
          </a:p>
        </p:txBody>
      </p:sp>
      <p:sp>
        <p:nvSpPr>
          <p:cNvPr id="3" name="Espace réservé du contenu 2">
            <a:extLst>
              <a:ext uri="{FF2B5EF4-FFF2-40B4-BE49-F238E27FC236}">
                <a16:creationId xmlns:a16="http://schemas.microsoft.com/office/drawing/2014/main" id="{F96620BA-9985-4F36-9F48-C8BAE82C60F5}"/>
              </a:ext>
            </a:extLst>
          </p:cNvPr>
          <p:cNvSpPr>
            <a:spLocks noGrp="1"/>
          </p:cNvSpPr>
          <p:nvPr>
            <p:ph idx="1"/>
          </p:nvPr>
        </p:nvSpPr>
        <p:spPr>
          <a:xfrm>
            <a:off x="440193" y="4801522"/>
            <a:ext cx="3603003" cy="1852066"/>
          </a:xfrm>
        </p:spPr>
        <p:txBody>
          <a:bodyPr>
            <a:normAutofit/>
          </a:bodyPr>
          <a:lstStyle/>
          <a:p>
            <a:pPr marL="0" indent="0">
              <a:buNone/>
            </a:pPr>
            <a:r>
              <a:rPr lang="fr-BE" b="1" dirty="0">
                <a:solidFill>
                  <a:schemeClr val="bg1"/>
                </a:solidFill>
              </a:rPr>
              <a:t>P71 – tableau « Parler comparer »</a:t>
            </a:r>
          </a:p>
          <a:p>
            <a:pPr marL="0" indent="0">
              <a:buNone/>
            </a:pPr>
            <a:r>
              <a:rPr lang="fr-BE" b="1" dirty="0">
                <a:solidFill>
                  <a:schemeClr val="bg1"/>
                </a:solidFill>
              </a:rPr>
              <a:t>+ Repérez les « plus » dans le tableau et notez leur prononciation (Correctif en ligne)</a:t>
            </a:r>
            <a:endParaRPr lang="fr-FR" b="1" dirty="0">
              <a:solidFill>
                <a:schemeClr val="bg1"/>
              </a:solidFill>
            </a:endParaRPr>
          </a:p>
        </p:txBody>
      </p:sp>
      <p:pic>
        <p:nvPicPr>
          <p:cNvPr id="4" name="Espace réservé du contenu 7">
            <a:extLst>
              <a:ext uri="{FF2B5EF4-FFF2-40B4-BE49-F238E27FC236}">
                <a16:creationId xmlns:a16="http://schemas.microsoft.com/office/drawing/2014/main" id="{E88CEC7D-6F7D-480B-950C-73198AD0885F}"/>
              </a:ext>
            </a:extLst>
          </p:cNvPr>
          <p:cNvPicPr>
            <a:picLocks noChangeAspect="1"/>
          </p:cNvPicPr>
          <p:nvPr/>
        </p:nvPicPr>
        <p:blipFill>
          <a:blip r:embed="rId3"/>
          <a:stretch>
            <a:fillRect/>
          </a:stretch>
        </p:blipFill>
        <p:spPr>
          <a:xfrm>
            <a:off x="685801" y="1215855"/>
            <a:ext cx="2582332" cy="3456177"/>
          </a:xfrm>
          <a:prstGeom prst="rect">
            <a:avLst/>
          </a:prstGeom>
          <a:ln w="9525">
            <a:solidFill>
              <a:schemeClr val="tx1"/>
            </a:solidFill>
          </a:ln>
        </p:spPr>
      </p:pic>
      <p:pic>
        <p:nvPicPr>
          <p:cNvPr id="5" name="Espace réservé du contenu 8">
            <a:extLst>
              <a:ext uri="{FF2B5EF4-FFF2-40B4-BE49-F238E27FC236}">
                <a16:creationId xmlns:a16="http://schemas.microsoft.com/office/drawing/2014/main" id="{5669BE88-1328-425F-8B3B-001B369A80D0}"/>
              </a:ext>
            </a:extLst>
          </p:cNvPr>
          <p:cNvPicPr>
            <a:picLocks noChangeAspect="1"/>
          </p:cNvPicPr>
          <p:nvPr/>
        </p:nvPicPr>
        <p:blipFill>
          <a:blip r:embed="rId4"/>
          <a:stretch>
            <a:fillRect/>
          </a:stretch>
        </p:blipFill>
        <p:spPr>
          <a:xfrm>
            <a:off x="4633663" y="1215855"/>
            <a:ext cx="2924669" cy="3608933"/>
          </a:xfrm>
          <a:prstGeom prst="rect">
            <a:avLst/>
          </a:prstGeom>
        </p:spPr>
      </p:pic>
      <p:sp>
        <p:nvSpPr>
          <p:cNvPr id="6" name="Espace réservé du contenu 2">
            <a:extLst>
              <a:ext uri="{FF2B5EF4-FFF2-40B4-BE49-F238E27FC236}">
                <a16:creationId xmlns:a16="http://schemas.microsoft.com/office/drawing/2014/main" id="{023BF6D2-D968-4595-9A29-7FABBD4E2291}"/>
              </a:ext>
            </a:extLst>
          </p:cNvPr>
          <p:cNvSpPr txBox="1">
            <a:spLocks/>
          </p:cNvSpPr>
          <p:nvPr/>
        </p:nvSpPr>
        <p:spPr>
          <a:xfrm>
            <a:off x="4398431" y="5106727"/>
            <a:ext cx="3395132" cy="1852066"/>
          </a:xfrm>
          <a:prstGeom prst="rect">
            <a:avLst/>
          </a:prstGeom>
        </p:spPr>
        <p:txBody>
          <a:bodyPr vert="horz" lIns="91440" tIns="45720" rIns="91440" bIns="45720" rtlCol="0" anchor="ctr">
            <a:normAutofit fontScale="700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fr-BE" sz="3200" b="1" dirty="0">
                <a:solidFill>
                  <a:schemeClr val="bg1"/>
                </a:solidFill>
              </a:rPr>
              <a:t>pp. 178-189</a:t>
            </a:r>
          </a:p>
          <a:p>
            <a:pPr marL="0" indent="0">
              <a:buNone/>
            </a:pPr>
            <a:r>
              <a:rPr lang="fr-BE" sz="3200" b="1" dirty="0">
                <a:solidFill>
                  <a:schemeClr val="bg1"/>
                </a:solidFill>
              </a:rPr>
              <a:t>pp. 190-191 n°2-4</a:t>
            </a:r>
          </a:p>
          <a:p>
            <a:pPr marL="0" indent="0">
              <a:buNone/>
            </a:pPr>
            <a:r>
              <a:rPr lang="fr-BE" sz="3200" b="1" u="sng" dirty="0">
                <a:solidFill>
                  <a:schemeClr val="bg1"/>
                </a:solidFill>
              </a:rPr>
              <a:t>Prononciation de « plus » :</a:t>
            </a:r>
          </a:p>
          <a:p>
            <a:pPr marL="0" indent="0">
              <a:buNone/>
            </a:pPr>
            <a:r>
              <a:rPr lang="fr-BE" sz="3200" b="1" dirty="0">
                <a:solidFill>
                  <a:schemeClr val="bg1"/>
                </a:solidFill>
              </a:rPr>
              <a:t>pp. 97 n°7</a:t>
            </a:r>
          </a:p>
          <a:p>
            <a:pPr marL="0" indent="0">
              <a:buNone/>
            </a:pPr>
            <a:endParaRPr lang="fr-BE" sz="3200" b="1" dirty="0">
              <a:solidFill>
                <a:schemeClr val="bg1"/>
              </a:solidFill>
            </a:endParaRPr>
          </a:p>
          <a:p>
            <a:endParaRPr lang="fr-FR" b="1" dirty="0">
              <a:solidFill>
                <a:schemeClr val="bg1"/>
              </a:solidFill>
            </a:endParaRPr>
          </a:p>
        </p:txBody>
      </p:sp>
      <p:sp>
        <p:nvSpPr>
          <p:cNvPr id="7" name="Triangle isocèle 6">
            <a:extLst>
              <a:ext uri="{FF2B5EF4-FFF2-40B4-BE49-F238E27FC236}">
                <a16:creationId xmlns:a16="http://schemas.microsoft.com/office/drawing/2014/main" id="{86410FB9-635B-49DD-9FDB-2900A2DF815B}"/>
              </a:ext>
            </a:extLst>
          </p:cNvPr>
          <p:cNvSpPr/>
          <p:nvPr/>
        </p:nvSpPr>
        <p:spPr>
          <a:xfrm>
            <a:off x="8739266" y="839449"/>
            <a:ext cx="2924669" cy="3985339"/>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contenu 2">
            <a:extLst>
              <a:ext uri="{FF2B5EF4-FFF2-40B4-BE49-F238E27FC236}">
                <a16:creationId xmlns:a16="http://schemas.microsoft.com/office/drawing/2014/main" id="{106F4BA6-D777-4B43-A4E5-D4C2182545D0}"/>
              </a:ext>
            </a:extLst>
          </p:cNvPr>
          <p:cNvSpPr txBox="1">
            <a:spLocks/>
          </p:cNvSpPr>
          <p:nvPr/>
        </p:nvSpPr>
        <p:spPr>
          <a:xfrm>
            <a:off x="8739266" y="5092518"/>
            <a:ext cx="3395132" cy="185206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fr-BE" sz="2800" dirty="0">
                <a:solidFill>
                  <a:schemeClr val="bg1"/>
                </a:solidFill>
              </a:rPr>
              <a:t>Finir l’exercice sur les participes passés</a:t>
            </a:r>
          </a:p>
          <a:p>
            <a:pPr marL="0" indent="0">
              <a:buFont typeface="Arial"/>
              <a:buNone/>
            </a:pPr>
            <a:r>
              <a:rPr lang="fr-BE" sz="2000" u="sng" dirty="0">
                <a:solidFill>
                  <a:schemeClr val="bg1"/>
                </a:solidFill>
              </a:rPr>
              <a:t>(voir feuille donnée en cours</a:t>
            </a:r>
          </a:p>
          <a:p>
            <a:endParaRPr lang="fr-FR" dirty="0"/>
          </a:p>
        </p:txBody>
      </p:sp>
    </p:spTree>
    <p:extLst>
      <p:ext uri="{BB962C8B-B14F-4D97-AF65-F5344CB8AC3E}">
        <p14:creationId xmlns:p14="http://schemas.microsoft.com/office/powerpoint/2010/main" val="37582763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éleste">
  <a:themeElements>
    <a:clrScheme name="Celestial">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{32384B01-A7C0-4743-AAD7-42E09F8B509C}tf03457452</Template>
  <TotalTime>2145</TotalTime>
  <Words>1535</Words>
  <Application>Microsoft Office PowerPoint</Application>
  <PresentationFormat>Grand écran</PresentationFormat>
  <Paragraphs>226</Paragraphs>
  <Slides>21</Slides>
  <Notes>18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Arial</vt:lpstr>
      <vt:lpstr>Calibri</vt:lpstr>
      <vt:lpstr>Calibri Light</vt:lpstr>
      <vt:lpstr>Comic Sans MS</vt:lpstr>
      <vt:lpstr>Corbel</vt:lpstr>
      <vt:lpstr>Wingdings</vt:lpstr>
      <vt:lpstr>Céleste</vt:lpstr>
      <vt:lpstr>Présentation PowerPoint</vt:lpstr>
      <vt:lpstr>Cours N° –  28 Fév. 2020</vt:lpstr>
      <vt:lpstr>Le programme d'aujourd'hui</vt:lpstr>
      <vt:lpstr>Révision du comparatif et du superlatif</vt:lpstr>
      <vt:lpstr>Qu’avez-vous fait le weekend dernier ?</vt:lpstr>
      <vt:lpstr>Vos réponses : </vt:lpstr>
      <vt:lpstr>Le participe passé employé avec « Être »</vt:lpstr>
      <vt:lpstr>Le participe passé employé avec « avoir »</vt:lpstr>
      <vt:lpstr>Présentation PowerPoint</vt:lpstr>
      <vt:lpstr>Synthèse</vt:lpstr>
      <vt:lpstr>La négatioN</vt:lpstr>
      <vt:lpstr>l’adverbe</vt:lpstr>
      <vt:lpstr>Pause !</vt:lpstr>
      <vt:lpstr>Au laboratoire</vt:lpstr>
      <vt:lpstr>Comment prononce-t-on le « plus » dans ces phrases ?</vt:lpstr>
      <vt:lpstr>[ply]</vt:lpstr>
      <vt:lpstr>[plyS]</vt:lpstr>
      <vt:lpstr>[plyZ]</vt:lpstr>
      <vt:lpstr>EN DUO</vt:lpstr>
      <vt:lpstr>GRAMMAIRE : Faire quelques tests sur Moodle</vt:lpstr>
      <vt:lpstr>Les devoirs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Arthur</dc:creator>
  <cp:lastModifiedBy>Arthur</cp:lastModifiedBy>
  <cp:revision>137</cp:revision>
  <dcterms:created xsi:type="dcterms:W3CDTF">2020-01-16T12:08:50Z</dcterms:created>
  <dcterms:modified xsi:type="dcterms:W3CDTF">2020-02-24T13:26:14Z</dcterms:modified>
</cp:coreProperties>
</file>