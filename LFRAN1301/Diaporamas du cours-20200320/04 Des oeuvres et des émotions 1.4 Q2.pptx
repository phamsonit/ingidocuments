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76" r:id="rId2"/>
    <p:sldId id="295" r:id="rId3"/>
    <p:sldId id="371" r:id="rId4"/>
    <p:sldId id="382" r:id="rId5"/>
    <p:sldId id="385" r:id="rId6"/>
    <p:sldId id="386" r:id="rId7"/>
    <p:sldId id="392" r:id="rId8"/>
    <p:sldId id="373" r:id="rId9"/>
    <p:sldId id="381" r:id="rId10"/>
    <p:sldId id="374" r:id="rId11"/>
    <p:sldId id="375" r:id="rId12"/>
    <p:sldId id="388" r:id="rId13"/>
    <p:sldId id="376" r:id="rId14"/>
    <p:sldId id="377" r:id="rId15"/>
    <p:sldId id="378" r:id="rId16"/>
    <p:sldId id="372" r:id="rId17"/>
    <p:sldId id="383" r:id="rId18"/>
    <p:sldId id="387" r:id="rId19"/>
    <p:sldId id="380" r:id="rId20"/>
    <p:sldId id="389" r:id="rId21"/>
    <p:sldId id="390" r:id="rId22"/>
    <p:sldId id="391" r:id="rId23"/>
    <p:sldId id="291" r:id="rId24"/>
    <p:sldId id="384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4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69A6DB-499F-4B67-9D52-4C43E4F08F7B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A2E6D-67A3-4501-B9DE-BB522B8BB0B1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18485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1E5BA3-7562-41F3-85A3-5244B451D190}" type="slidenum">
              <a:rPr lang="fr-FR" noProof="0" smtClean="0"/>
              <a:t>1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372841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EA4E1A-0464-4D51-B906-9340FCC42815}" type="slidenum">
              <a:rPr lang="fr-BE" smtClean="0"/>
              <a:t>23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5833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33927F-8EE8-4333-8816-7C41B1071991}" type="slidenum">
              <a:rPr lang="fr-BE" smtClean="0"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97708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9458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74273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92712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91257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3822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429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22998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9416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746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AE9F-230B-4634-B5EA-647C6DF69E57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8074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9425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Texte Images_Importa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’image 16">
            <a:extLst>
              <a:ext uri="{FF2B5EF4-FFF2-40B4-BE49-F238E27FC236}">
                <a16:creationId xmlns:a16="http://schemas.microsoft.com/office/drawing/2014/main" id="{D935D313-376E-4CA0-9732-D0CACCC07FA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64300" y="0"/>
            <a:ext cx="5727700" cy="6858000"/>
          </a:xfrm>
          <a:custGeom>
            <a:avLst/>
            <a:gdLst>
              <a:gd name="connsiteX0" fmla="*/ 1708150 w 5727700"/>
              <a:gd name="connsiteY0" fmla="*/ 0 h 6858000"/>
              <a:gd name="connsiteX1" fmla="*/ 5727700 w 5727700"/>
              <a:gd name="connsiteY1" fmla="*/ 0 h 6858000"/>
              <a:gd name="connsiteX2" fmla="*/ 5727700 w 5727700"/>
              <a:gd name="connsiteY2" fmla="*/ 6858000 h 6858000"/>
              <a:gd name="connsiteX3" fmla="*/ 0 w 5727700"/>
              <a:gd name="connsiteY3" fmla="*/ 6858000 h 6858000"/>
              <a:gd name="connsiteX4" fmla="*/ 0 w 5727700"/>
              <a:gd name="connsiteY4" fmla="*/ 6832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27700" h="6858000">
                <a:moveTo>
                  <a:pt x="1708150" y="0"/>
                </a:moveTo>
                <a:lnTo>
                  <a:pt x="5727700" y="0"/>
                </a:lnTo>
                <a:lnTo>
                  <a:pt x="5727700" y="6858000"/>
                </a:lnTo>
                <a:lnTo>
                  <a:pt x="0" y="6858000"/>
                </a:lnTo>
                <a:lnTo>
                  <a:pt x="0" y="6832600"/>
                </a:lnTo>
                <a:close/>
              </a:path>
            </a:pathLst>
          </a:custGeom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 rtl="0"/>
            <a:r>
              <a:rPr lang="fr-FR" noProof="0"/>
              <a:t>Insérer une image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3A2DEF1-03FF-475D-994A-6FC6FB1414F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8087304" cy="6858000"/>
          </a:xfrm>
          <a:custGeom>
            <a:avLst/>
            <a:gdLst>
              <a:gd name="connsiteX0" fmla="*/ 0 w 8087304"/>
              <a:gd name="connsiteY0" fmla="*/ 0 h 6858000"/>
              <a:gd name="connsiteX1" fmla="*/ 8087304 w 8087304"/>
              <a:gd name="connsiteY1" fmla="*/ 0 h 6858000"/>
              <a:gd name="connsiteX2" fmla="*/ 8087304 w 8087304"/>
              <a:gd name="connsiteY2" fmla="*/ 7620 h 6858000"/>
              <a:gd name="connsiteX3" fmla="*/ 6368365 w 8087304"/>
              <a:gd name="connsiteY3" fmla="*/ 6858000 h 6858000"/>
              <a:gd name="connsiteX4" fmla="*/ 0 w 808730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87304" h="6858000">
                <a:moveTo>
                  <a:pt x="0" y="0"/>
                </a:moveTo>
                <a:lnTo>
                  <a:pt x="8087304" y="0"/>
                </a:lnTo>
                <a:lnTo>
                  <a:pt x="8087304" y="7620"/>
                </a:lnTo>
                <a:lnTo>
                  <a:pt x="636836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 anchor="ctr" anchorCtr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285750" marR="0" lvl="0" indent="-28575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noProof="0"/>
              <a:t>Insérer une image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586" y="5047107"/>
            <a:ext cx="5005614" cy="1005840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6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586" y="4081468"/>
            <a:ext cx="5005614" cy="822960"/>
          </a:xfrm>
        </p:spPr>
        <p:txBody>
          <a:bodyPr vert="horz" wrap="square" lIns="0" tIns="45720" rIns="91440" bIns="45720" rtlCol="0"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GB" sz="2400" dirty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pPr marL="0"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20" name="Espace réservé du numéro de diapositive 7">
            <a:extLst>
              <a:ext uri="{FF2B5EF4-FFF2-40B4-BE49-F238E27FC236}">
                <a16:creationId xmlns:a16="http://schemas.microsoft.com/office/drawing/2014/main" id="{1CEA3362-50AD-4D98-92C4-DA1D8C857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85024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1 Content_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A46D6285-06A8-4297-915D-0A280359C28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36125" y="0"/>
            <a:ext cx="5355875" cy="6858000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>
              <a:defRPr lang="en-GB" sz="2400">
                <a:solidFill>
                  <a:schemeClr val="tx1"/>
                </a:solidFill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Insérer une image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C7F0E85E-786D-44FC-A9C8-8853277D7C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86558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B48BA177-B717-42B2-884C-04576C2034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2717803"/>
            <a:ext cx="2834640" cy="3368675"/>
          </a:xfrm>
        </p:spPr>
        <p:txBody>
          <a:bodyPr vert="horz" wrap="square" lIns="0" tIns="45720" rIns="0" bIns="45720" rtlCol="0" anchor="t">
            <a:noAutofit/>
          </a:bodyPr>
          <a:lstStyle>
            <a:lvl1pPr marL="0" indent="0">
              <a:buNone/>
              <a:defRPr lang="en-US" sz="1400" dirty="0" smtClean="0">
                <a:latin typeface="+mn-lt"/>
                <a:ea typeface="+mj-ea"/>
                <a:cs typeface="+mj-cs"/>
              </a:defRPr>
            </a:lvl1pPr>
          </a:lstStyle>
          <a:p>
            <a:pPr marL="57150" lvl="0" indent="-285750" rtl="0">
              <a:lnSpc>
                <a:spcPct val="100000"/>
              </a:lnSpc>
              <a:spcBef>
                <a:spcPct val="0"/>
              </a:spcBef>
            </a:pPr>
            <a:r>
              <a:rPr lang="fr-FR" noProof="0"/>
              <a:t>Modifiez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58FCDE-8F3F-4E83-B550-DF944B424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186" y="557439"/>
            <a:ext cx="6891564" cy="830997"/>
          </a:xfrm>
        </p:spPr>
        <p:txBody>
          <a:bodyPr vert="horz" wrap="square" lIns="0" tIns="45720" rIns="91440" bIns="45720" rtlCol="0" anchor="t">
            <a:noAutofit/>
          </a:bodyPr>
          <a:lstStyle>
            <a:lvl1pPr>
              <a:defRPr lang="en-GB" sz="2400">
                <a:latin typeface="Corbel" panose="020B0503020204020204" pitchFamily="34" charset="0"/>
              </a:defRPr>
            </a:lvl1pPr>
          </a:lstStyle>
          <a:p>
            <a:pPr lvl="0" rtl="0">
              <a:lnSpc>
                <a:spcPct val="100000"/>
              </a:lnSpc>
            </a:pPr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1ABB07C-6957-412E-9A87-72242AA3EE8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06451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7" name="Espace réservé du contenu 15">
            <a:extLst>
              <a:ext uri="{FF2B5EF4-FFF2-40B4-BE49-F238E27FC236}">
                <a16:creationId xmlns:a16="http://schemas.microsoft.com/office/drawing/2014/main" id="{6DF8CB66-232E-4CE3-96FC-CE37C74994E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645309" y="1981200"/>
            <a:ext cx="548640" cy="548640"/>
          </a:xfrm>
        </p:spPr>
        <p:txBody>
          <a:bodyPr lIns="0" tIns="0" rIns="0" bIns="0" rtlCol="0"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 rtl="0"/>
            <a:r>
              <a:rPr lang="fr-FR" noProof="0"/>
              <a:t>Icône</a:t>
            </a:r>
          </a:p>
        </p:txBody>
      </p:sp>
      <p:sp>
        <p:nvSpPr>
          <p:cNvPr id="18" name="Espace réservé du numéro de diapositive 7">
            <a:extLst>
              <a:ext uri="{FF2B5EF4-FFF2-40B4-BE49-F238E27FC236}">
                <a16:creationId xmlns:a16="http://schemas.microsoft.com/office/drawing/2014/main" id="{8728750D-82C7-4A8D-A7C7-554934667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GB" sz="1200" smtClean="0">
                <a:solidFill>
                  <a:schemeClr val="bg1"/>
                </a:solidFill>
              </a:defRPr>
            </a:lvl1pPr>
          </a:lstStyle>
          <a:p>
            <a:pPr algn="ctr" rtl="0"/>
            <a:fld id="{817179DE-9BF3-494C-804F-0C7C90AC8700}" type="slidenum">
              <a:rPr lang="fr-FR" noProof="0" smtClean="0"/>
              <a:pPr algn="ctr" rtl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90564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880AE9F-230B-4634-B5EA-647C6DF69E57}" type="datetimeFigureOut">
              <a:rPr lang="fr-BE" smtClean="0"/>
              <a:t>06-05-20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346092A-7885-4084-8645-09E04D00F29C}" type="slidenum">
              <a:rPr lang="fr-BE" smtClean="0"/>
              <a:t>‹N°›</a:t>
            </a:fld>
            <a:endParaRPr lang="fr-BE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89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youtube.com/watch?v=XTo6XnNlLCM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GK0EieWIjU" TargetMode="Externa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hyperlink" Target="https://www.dailymotion.com/video/x66105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’image 4" descr="fille avec un casque, un sac à dos, et une pile de reliure/livres">
            <a:extLst>
              <a:ext uri="{FF2B5EF4-FFF2-40B4-BE49-F238E27FC236}">
                <a16:creationId xmlns:a16="http://schemas.microsoft.com/office/drawing/2014/main" id="{68B6FFC1-6A21-4DAC-82BC-F2966925C16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087304" cy="6858000"/>
          </a:xfrm>
        </p:spPr>
      </p:pic>
      <p:sp>
        <p:nvSpPr>
          <p:cNvPr id="14" name="Rectangle 13" descr="élément décoratif">
            <a:extLst>
              <a:ext uri="{FF2B5EF4-FFF2-40B4-BE49-F238E27FC236}">
                <a16:creationId xmlns:a16="http://schemas.microsoft.com/office/drawing/2014/main" id="{C862BC4D-BD7A-417E-A34A-59CE4D4A6AC8}"/>
              </a:ext>
            </a:extLst>
          </p:cNvPr>
          <p:cNvSpPr/>
          <p:nvPr/>
        </p:nvSpPr>
        <p:spPr>
          <a:xfrm>
            <a:off x="0" y="6355760"/>
            <a:ext cx="12192000" cy="91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15" name="Ovale 14" descr="élément décoratif">
            <a:extLst>
              <a:ext uri="{FF2B5EF4-FFF2-40B4-BE49-F238E27FC236}">
                <a16:creationId xmlns:a16="http://schemas.microsoft.com/office/drawing/2014/main" id="{652937FB-CDE3-46B3-8481-AB5DB8C4BABA}"/>
              </a:ext>
            </a:extLst>
          </p:cNvPr>
          <p:cNvSpPr/>
          <p:nvPr/>
        </p:nvSpPr>
        <p:spPr>
          <a:xfrm>
            <a:off x="11091210" y="6086479"/>
            <a:ext cx="600974" cy="600974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/>
          </a:p>
        </p:txBody>
      </p:sp>
      <p:sp>
        <p:nvSpPr>
          <p:cNvPr id="33" name="Titre 32">
            <a:extLst>
              <a:ext uri="{FF2B5EF4-FFF2-40B4-BE49-F238E27FC236}">
                <a16:creationId xmlns:a16="http://schemas.microsoft.com/office/drawing/2014/main" id="{18CDD97B-6E25-4FB4-B239-493E54AA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5122000"/>
            <a:ext cx="5005614" cy="822960"/>
          </a:xfrm>
          <a:solidFill>
            <a:srgbClr val="C00000"/>
          </a:solidFill>
        </p:spPr>
        <p:txBody>
          <a:bodyPr rtlCol="0"/>
          <a:lstStyle/>
          <a:p>
            <a:pPr rtl="0"/>
            <a:r>
              <a:rPr lang="fr-FR" dirty="0" smtClean="0">
                <a:solidFill>
                  <a:schemeClr val="bg1"/>
                </a:solidFill>
              </a:rPr>
              <a:t>Comprendre la Belgique</a:t>
            </a:r>
            <a:br>
              <a:rPr lang="fr-FR" dirty="0" smtClean="0">
                <a:solidFill>
                  <a:schemeClr val="bg1"/>
                </a:solidFill>
              </a:rPr>
            </a:br>
            <a:r>
              <a:rPr lang="fr-FR" dirty="0" smtClean="0">
                <a:solidFill>
                  <a:schemeClr val="bg1"/>
                </a:solidFill>
              </a:rPr>
              <a:t>LFRAN1301 – B1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C2827A65-383D-4D68-9F51-F76C2370BF65}"/>
              </a:ext>
            </a:extLst>
          </p:cNvPr>
          <p:cNvSpPr txBox="1">
            <a:spLocks/>
          </p:cNvSpPr>
          <p:nvPr/>
        </p:nvSpPr>
        <p:spPr>
          <a:xfrm>
            <a:off x="11091210" y="6189345"/>
            <a:ext cx="600974" cy="39524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fld id="{247A4EEE-49CE-4F6C-BF32-B7FCC5EBBF45}" type="slidenum">
              <a:rPr lang="fr-FR" sz="1200" smtClean="0">
                <a:solidFill>
                  <a:schemeClr val="bg1"/>
                </a:solidFill>
              </a:rPr>
              <a:pPr algn="ctr" rtl="0"/>
              <a:t>1</a:t>
            </a:fld>
            <a:endParaRPr lang="fr-FR" sz="1200">
              <a:solidFill>
                <a:schemeClr val="bg1"/>
              </a:solidFill>
            </a:endParaRPr>
          </a:p>
        </p:txBody>
      </p:sp>
      <p:pic>
        <p:nvPicPr>
          <p:cNvPr id="6" name="Espace réservé pour une image  5"/>
          <p:cNvPicPr>
            <a:picLocks noGrp="1" noChangeAspect="1"/>
          </p:cNvPicPr>
          <p:nvPr>
            <p:ph type="pic"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2" r="22182"/>
          <a:stretch>
            <a:fillRect/>
          </a:stretch>
        </p:blipFill>
        <p:spPr/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722" y="6056675"/>
            <a:ext cx="3371850" cy="78105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9438" y="6056675"/>
            <a:ext cx="803564" cy="77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70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Unité 4 –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/>
              </a:rPr>
              <a:t>ceci n’est pas une pipe </a:t>
            </a:r>
            <a:r>
              <a:rPr lang="fr-BE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 </a:t>
            </a:r>
            <a:endParaRPr lang="fr-BE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81194" y="2495444"/>
            <a:ext cx="10993546" cy="590321"/>
          </a:xfrm>
        </p:spPr>
        <p:txBody>
          <a:bodyPr/>
          <a:lstStyle/>
          <a:p>
            <a:r>
              <a:rPr lang="fr-BE" dirty="0" smtClean="0"/>
              <a:t>Artiste ?   Art ?</a:t>
            </a:r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43" y="3085765"/>
            <a:ext cx="2771775" cy="3429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711" y="3085765"/>
            <a:ext cx="2484023" cy="331203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517" y="3015256"/>
            <a:ext cx="2536904" cy="338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027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Mise en </a:t>
            </a:r>
            <a:r>
              <a:rPr lang="fr-BE" dirty="0" smtClean="0"/>
              <a:t>route / TEAMS Général/ chat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2400" dirty="0" smtClean="0"/>
              <a:t>Si vous étiez artiste?  Quelle serait votre discipline et</a:t>
            </a:r>
            <a:br>
              <a:rPr lang="fr-BE" sz="2400" dirty="0" smtClean="0"/>
            </a:br>
            <a:r>
              <a:rPr lang="fr-BE" sz="2400" dirty="0" smtClean="0"/>
              <a:t>pourquoi ?</a:t>
            </a:r>
            <a:endParaRPr lang="fr-BE" sz="2400" dirty="0"/>
          </a:p>
          <a:p>
            <a:r>
              <a:rPr lang="fr-BE" sz="2400" dirty="0" smtClean="0"/>
              <a:t>Utilisez la structure :</a:t>
            </a:r>
            <a:br>
              <a:rPr lang="fr-BE" sz="2400" dirty="0" smtClean="0"/>
            </a:br>
            <a:r>
              <a:rPr lang="fr-BE" sz="2400" dirty="0" smtClean="0"/>
              <a:t>Si j’étais artiste, </a:t>
            </a:r>
            <a:r>
              <a:rPr lang="fr-BE" sz="2400" i="1" dirty="0" smtClean="0"/>
              <a:t>+ verbe au conditionnel</a:t>
            </a:r>
            <a:r>
              <a:rPr lang="fr-BE" sz="2400" dirty="0" smtClean="0"/>
              <a:t>, </a:t>
            </a:r>
          </a:p>
          <a:p>
            <a:pPr marL="0" indent="0">
              <a:buNone/>
            </a:pPr>
            <a:r>
              <a:rPr lang="fr-BE" sz="2400" dirty="0" smtClean="0">
                <a:solidFill>
                  <a:srgbClr val="FF0000"/>
                </a:solidFill>
              </a:rPr>
              <a:t>parce que / puisque / à cause de / grâce à </a:t>
            </a:r>
            <a:r>
              <a:rPr lang="fr-BE" sz="2400" dirty="0" smtClean="0"/>
              <a:t>…</a:t>
            </a:r>
            <a:endParaRPr lang="en-US" sz="2000" dirty="0"/>
          </a:p>
        </p:txBody>
      </p:sp>
      <p:pic>
        <p:nvPicPr>
          <p:cNvPr id="5" name="Image 4" descr="C:\Users\renardch\AppData\Local\Microsoft\Windows\INetCache\Content.MSO\701D4EBF.tmp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2829" y="2721525"/>
            <a:ext cx="4000500" cy="25962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606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Comment </a:t>
            </a:r>
            <a:r>
              <a:rPr lang="fr-BE" dirty="0" smtClean="0"/>
              <a:t>s’EST passé </a:t>
            </a:r>
            <a:r>
              <a:rPr lang="fr-BE" dirty="0" smtClean="0"/>
              <a:t>le rendez-vous surprise virtuel ?</a:t>
            </a:r>
            <a:endParaRPr lang="fr-BE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7643" y="2180497"/>
            <a:ext cx="4899032" cy="3678238"/>
          </a:xfrm>
          <a:prstGeom prst="rect">
            <a:avLst/>
          </a:prstGeom>
        </p:spPr>
      </p:pic>
      <p:sp>
        <p:nvSpPr>
          <p:cNvPr id="6" name="Bulle ronde 5"/>
          <p:cNvSpPr/>
          <p:nvPr/>
        </p:nvSpPr>
        <p:spPr>
          <a:xfrm>
            <a:off x="399393" y="2180497"/>
            <a:ext cx="5486399" cy="3678302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0"/>
              </a:spcAft>
            </a:pPr>
            <a:r>
              <a:rPr lang="fr-BE" dirty="0">
                <a:latin typeface="Calibri" panose="020F0502020204030204" pitchFamily="34" charset="0"/>
                <a:ea typeface="Calibri" panose="020F0502020204030204" pitchFamily="34" charset="0"/>
              </a:rPr>
              <a:t>Oui, le Défi 3 a eu lieu cet matin. Le pauvre Kieran était endormi, et la thématique était </a:t>
            </a:r>
            <a:r>
              <a:rPr lang="fr-BE" dirty="0" smtClean="0">
                <a:latin typeface="Calibri" panose="020F0502020204030204" pitchFamily="34" charset="0"/>
                <a:ea typeface="Calibri" panose="020F0502020204030204" pitchFamily="34" charset="0"/>
              </a:rPr>
              <a:t>un cours de sport</a:t>
            </a:r>
            <a:r>
              <a:rPr lang="fr-BE" dirty="0">
                <a:latin typeface="Calibri" panose="020F0502020204030204" pitchFamily="34" charset="0"/>
                <a:ea typeface="Calibri" panose="020F0502020204030204" pitchFamily="34" charset="0"/>
              </a:rPr>
              <a:t> !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fr-BE" dirty="0"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fr-BE" dirty="0">
                <a:latin typeface="Calibri" panose="020F0502020204030204" pitchFamily="34" charset="0"/>
                <a:ea typeface="Calibri" panose="020F0502020204030204" pitchFamily="34" charset="0"/>
              </a:rPr>
              <a:t>Mais </a:t>
            </a:r>
            <a:r>
              <a:rPr lang="fr-BE" dirty="0" smtClean="0">
                <a:latin typeface="Calibri" panose="020F0502020204030204" pitchFamily="34" charset="0"/>
                <a:ea typeface="Calibri" panose="020F0502020204030204" pitchFamily="34" charset="0"/>
              </a:rPr>
              <a:t>tout s’est bien passé, </a:t>
            </a:r>
            <a:r>
              <a:rPr lang="fr-BE" dirty="0">
                <a:latin typeface="Calibri" panose="020F0502020204030204" pitchFamily="34" charset="0"/>
                <a:ea typeface="Calibri" panose="020F0502020204030204" pitchFamily="34" charset="0"/>
              </a:rPr>
              <a:t>nous nous sommes </a:t>
            </a:r>
            <a:r>
              <a:rPr lang="fr-BE" dirty="0" smtClean="0">
                <a:latin typeface="Calibri" panose="020F0502020204030204" pitchFamily="34" charset="0"/>
                <a:ea typeface="Calibri" panose="020F0502020204030204" pitchFamily="34" charset="0"/>
              </a:rPr>
              <a:t>beaucoup amusés.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fr-BE" dirty="0"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fr-BE" dirty="0">
                <a:latin typeface="Calibri" panose="020F0502020204030204" pitchFamily="34" charset="0"/>
                <a:ea typeface="Calibri" panose="020F0502020204030204" pitchFamily="34" charset="0"/>
              </a:rPr>
              <a:t>Je dois dire </a:t>
            </a:r>
            <a:r>
              <a:rPr lang="fr-BE" dirty="0" smtClean="0">
                <a:latin typeface="Calibri" panose="020F0502020204030204" pitchFamily="34" charset="0"/>
                <a:ea typeface="Calibri" panose="020F0502020204030204" pitchFamily="34" charset="0"/>
              </a:rPr>
              <a:t>qu’on </a:t>
            </a:r>
            <a:r>
              <a:rPr lang="fr-BE" dirty="0">
                <a:latin typeface="Calibri" panose="020F0502020204030204" pitchFamily="34" charset="0"/>
                <a:ea typeface="Calibri" panose="020F0502020204030204" pitchFamily="34" charset="0"/>
              </a:rPr>
              <a:t>a choisi l’heure que Kieran voulait, c’est lui qui nous a dit aujourd’hui à 11h.</a:t>
            </a:r>
            <a:endParaRPr lang="fr-BE" sz="2000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360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81138" y="500062"/>
            <a:ext cx="1515427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1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Défi #8</a:t>
            </a:r>
            <a:endParaRPr lang="fr-BE" dirty="0"/>
          </a:p>
        </p:txBody>
      </p:sp>
      <p:pic>
        <p:nvPicPr>
          <p:cNvPr id="4" name="mGK0EieWIjU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810933" y="2155934"/>
            <a:ext cx="4735495" cy="266371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7095" y="5368650"/>
            <a:ext cx="8661341" cy="737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40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Simulation d’examen : clé = </a:t>
            </a:r>
            <a:r>
              <a:rPr lang="fr-BE" dirty="0" err="1" smtClean="0"/>
              <a:t>DELvaux</a:t>
            </a:r>
            <a:r>
              <a:rPr lang="fr-BE" dirty="0" smtClean="0"/>
              <a:t>. </a:t>
            </a:r>
            <a:r>
              <a:rPr lang="fr-BE" smtClean="0"/>
              <a:t>Retour dans TEAMS dans 15 min</a:t>
            </a:r>
            <a:endParaRPr lang="fr-BE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128" y="2160205"/>
            <a:ext cx="9849233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9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Les connecteurs logiques : suite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smtClean="0"/>
              <a:t>Exercice de dictée   </a:t>
            </a:r>
            <a:endParaRPr lang="en-US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232" y="2180496"/>
            <a:ext cx="44450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512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07793" y="1270327"/>
            <a:ext cx="10648710" cy="5732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sz="2400" dirty="0" err="1"/>
              <a:t>Banksy</a:t>
            </a:r>
            <a:r>
              <a:rPr lang="fr-FR" sz="2400" dirty="0"/>
              <a:t> produit des images-chocs </a:t>
            </a:r>
            <a:r>
              <a:rPr lang="fr-FR" sz="2400" b="1" dirty="0"/>
              <a:t>pour</a:t>
            </a:r>
            <a:r>
              <a:rPr lang="fr-FR" sz="2400" dirty="0"/>
              <a:t> faire réagir les passants</a:t>
            </a:r>
            <a:r>
              <a:rPr lang="fr-FR" sz="2400" dirty="0" smtClean="0"/>
              <a:t>.</a:t>
            </a:r>
          </a:p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sz="2400" dirty="0"/>
              <a:t>Il a dessiné une fresque anti-</a:t>
            </a:r>
            <a:r>
              <a:rPr lang="fr-FR" sz="2400" dirty="0" err="1"/>
              <a:t>Brexit</a:t>
            </a:r>
            <a:r>
              <a:rPr lang="fr-FR" sz="2400" dirty="0"/>
              <a:t> à </a:t>
            </a:r>
            <a:r>
              <a:rPr lang="fr-FR" sz="2400" dirty="0" err="1"/>
              <a:t>Douvre</a:t>
            </a:r>
            <a:r>
              <a:rPr lang="fr-FR" sz="2400" dirty="0"/>
              <a:t> </a:t>
            </a:r>
            <a:r>
              <a:rPr lang="fr-FR" sz="2400" b="1" dirty="0">
                <a:solidFill>
                  <a:srgbClr val="FF0000"/>
                </a:solidFill>
              </a:rPr>
              <a:t>pour que </a:t>
            </a:r>
            <a:r>
              <a:rPr lang="fr-FR" sz="2400" dirty="0"/>
              <a:t>le monde</a:t>
            </a:r>
            <a:r>
              <a:rPr lang="fr-FR" sz="2400" b="1" dirty="0"/>
              <a:t> </a:t>
            </a:r>
            <a:r>
              <a:rPr lang="fr-FR" sz="2400" dirty="0">
                <a:solidFill>
                  <a:srgbClr val="00B0F0"/>
                </a:solidFill>
              </a:rPr>
              <a:t>réfléchisse</a:t>
            </a:r>
            <a:r>
              <a:rPr lang="fr-FR" sz="2400" dirty="0"/>
              <a:t> à la sortie du Royaume-Uni de l'union européenne</a:t>
            </a:r>
            <a:r>
              <a:rPr lang="fr-FR" sz="2400" dirty="0" smtClean="0"/>
              <a:t>.</a:t>
            </a:r>
          </a:p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sz="2400" dirty="0"/>
              <a:t>Je m’intéresse à l’art, </a:t>
            </a:r>
            <a:r>
              <a:rPr lang="fr-FR" sz="2400" b="1" dirty="0"/>
              <a:t>afin de </a:t>
            </a:r>
            <a:r>
              <a:rPr lang="fr-FR" sz="2400" dirty="0"/>
              <a:t>mieux comprendre la société dans laquelle je </a:t>
            </a:r>
            <a:r>
              <a:rPr lang="fr-FR" sz="2400" dirty="0" smtClean="0"/>
              <a:t>vis.</a:t>
            </a:r>
          </a:p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sz="2400" dirty="0"/>
              <a:t>Ils ont organisé cet atelier créatif, </a:t>
            </a:r>
            <a:r>
              <a:rPr lang="fr-FR" sz="2400" b="1" dirty="0">
                <a:solidFill>
                  <a:srgbClr val="FF0000"/>
                </a:solidFill>
              </a:rPr>
              <a:t>afin que </a:t>
            </a:r>
            <a:r>
              <a:rPr lang="fr-FR" sz="2400" dirty="0"/>
              <a:t>nous </a:t>
            </a:r>
            <a:r>
              <a:rPr lang="fr-FR" sz="2400" dirty="0">
                <a:solidFill>
                  <a:srgbClr val="00B0F0"/>
                </a:solidFill>
              </a:rPr>
              <a:t>puissions</a:t>
            </a:r>
            <a:r>
              <a:rPr lang="fr-FR" sz="2400" dirty="0"/>
              <a:t> nous exprimer librement.</a:t>
            </a:r>
            <a:endParaRPr lang="en-US" sz="2400" dirty="0"/>
          </a:p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sz="2400" dirty="0"/>
              <a:t>Les auteurs surréalistes ont écrit des textes énigmatiques, </a:t>
            </a:r>
            <a:r>
              <a:rPr lang="fr-FR" sz="2400" b="1" dirty="0"/>
              <a:t>dans le but de </a:t>
            </a:r>
            <a:r>
              <a:rPr lang="fr-FR" sz="2400" dirty="0"/>
              <a:t>surprendre et de déstabiliser le lecteur.</a:t>
            </a:r>
            <a:endParaRPr lang="en-US" sz="2400" dirty="0"/>
          </a:p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sz="2400" dirty="0" smtClean="0"/>
              <a:t>Elle </a:t>
            </a:r>
            <a:r>
              <a:rPr lang="fr-FR" sz="2400" dirty="0"/>
              <a:t>nous a invités le 15 décembre, </a:t>
            </a:r>
            <a:r>
              <a:rPr lang="fr-FR" sz="2400" b="1" dirty="0">
                <a:solidFill>
                  <a:srgbClr val="FF0000"/>
                </a:solidFill>
              </a:rPr>
              <a:t>dans l’espoir que </a:t>
            </a:r>
            <a:r>
              <a:rPr lang="fr-FR" sz="2400" dirty="0"/>
              <a:t>n</a:t>
            </a:r>
            <a:r>
              <a:rPr lang="fr-FR" sz="2400" dirty="0" smtClean="0"/>
              <a:t>ous </a:t>
            </a:r>
            <a:r>
              <a:rPr lang="fr-FR" sz="2400" dirty="0">
                <a:solidFill>
                  <a:srgbClr val="00B0F0"/>
                </a:solidFill>
              </a:rPr>
              <a:t>venions</a:t>
            </a:r>
            <a:r>
              <a:rPr lang="fr-FR" sz="2400" dirty="0"/>
              <a:t> au vernissage de son exposition.</a:t>
            </a:r>
            <a:endParaRPr lang="en-US" sz="2400" dirty="0"/>
          </a:p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sz="2400" dirty="0" smtClean="0"/>
              <a:t> </a:t>
            </a:r>
            <a:r>
              <a:rPr lang="fr-FR" sz="2400" dirty="0"/>
              <a:t>Elle tient un carnet de voyage, </a:t>
            </a:r>
            <a:r>
              <a:rPr lang="fr-FR" sz="2400" b="1" dirty="0"/>
              <a:t>de peur d</a:t>
            </a:r>
            <a:r>
              <a:rPr lang="fr-FR" sz="2400" dirty="0"/>
              <a:t>’oublier les merveilles qu’elle a vues </a:t>
            </a:r>
            <a:r>
              <a:rPr lang="fr-FR" sz="2400" dirty="0" smtClean="0"/>
              <a:t>.</a:t>
            </a:r>
            <a:br>
              <a:rPr lang="fr-FR" sz="2400" dirty="0" smtClean="0"/>
            </a:br>
            <a:r>
              <a:rPr lang="fr-FR" sz="2400" dirty="0" smtClean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871080" y="668484"/>
            <a:ext cx="10380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dirty="0" smtClean="0">
                <a:solidFill>
                  <a:srgbClr val="FF0000"/>
                </a:solidFill>
              </a:rPr>
              <a:t>Les structures qui demandent le subjonctif.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82869" y="158974"/>
            <a:ext cx="5142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Les connecteurs _</a:t>
            </a:r>
            <a:r>
              <a:rPr lang="fr-BE" dirty="0" err="1" smtClean="0"/>
              <a:t>Suite_Syllabus</a:t>
            </a:r>
            <a:r>
              <a:rPr lang="fr-BE" dirty="0" smtClean="0"/>
              <a:t>  p.149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986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02386" y="1684147"/>
            <a:ext cx="10648710" cy="4912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dirty="0" err="1"/>
              <a:t>Banksy</a:t>
            </a:r>
            <a:r>
              <a:rPr lang="fr-FR" dirty="0"/>
              <a:t> produit des images-chocs </a:t>
            </a:r>
            <a:r>
              <a:rPr lang="fr-FR" b="1" dirty="0"/>
              <a:t>pour</a:t>
            </a:r>
            <a:r>
              <a:rPr lang="fr-FR" dirty="0"/>
              <a:t> faire réagir les passants</a:t>
            </a:r>
            <a:r>
              <a:rPr lang="fr-FR" dirty="0" smtClean="0"/>
              <a:t>.</a:t>
            </a:r>
          </a:p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dirty="0"/>
              <a:t>Il a dessiné une fresque anti-</a:t>
            </a:r>
            <a:r>
              <a:rPr lang="fr-FR" dirty="0" err="1"/>
              <a:t>Brexit</a:t>
            </a:r>
            <a:r>
              <a:rPr lang="fr-FR" dirty="0"/>
              <a:t> à </a:t>
            </a:r>
            <a:r>
              <a:rPr lang="fr-FR" dirty="0" err="1"/>
              <a:t>Douvre</a:t>
            </a:r>
            <a:r>
              <a:rPr lang="fr-FR" dirty="0"/>
              <a:t> </a:t>
            </a:r>
            <a:r>
              <a:rPr lang="fr-FR" b="1" dirty="0"/>
              <a:t>pour que </a:t>
            </a:r>
            <a:r>
              <a:rPr lang="fr-FR" dirty="0"/>
              <a:t>le monde</a:t>
            </a:r>
            <a:r>
              <a:rPr lang="fr-FR" b="1" dirty="0"/>
              <a:t> </a:t>
            </a:r>
            <a:r>
              <a:rPr lang="fr-FR" dirty="0"/>
              <a:t>réfléchisse à la sortie du Royaume-Uni de l'union européenne</a:t>
            </a:r>
            <a:r>
              <a:rPr lang="fr-FR" dirty="0" smtClean="0"/>
              <a:t>.</a:t>
            </a:r>
          </a:p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dirty="0"/>
              <a:t>Je m’intéresse à l’art, </a:t>
            </a:r>
            <a:r>
              <a:rPr lang="fr-FR" b="1" dirty="0"/>
              <a:t>afin de </a:t>
            </a:r>
            <a:r>
              <a:rPr lang="fr-FR" dirty="0"/>
              <a:t>mieux comprendre la société dans laquelle je </a:t>
            </a:r>
            <a:r>
              <a:rPr lang="fr-FR" dirty="0" smtClean="0"/>
              <a:t>vis.</a:t>
            </a:r>
          </a:p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dirty="0"/>
              <a:t>Ils ont organisé cet atelier créatif, </a:t>
            </a:r>
            <a:r>
              <a:rPr lang="fr-FR" b="1" dirty="0"/>
              <a:t>afin que </a:t>
            </a:r>
            <a:r>
              <a:rPr lang="fr-FR" dirty="0"/>
              <a:t>nous puissions nous exprimer librement.</a:t>
            </a:r>
            <a:endParaRPr lang="en-US" dirty="0"/>
          </a:p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dirty="0"/>
              <a:t>Les auteurs surréalistes ont écrit des textes énigmatiques, </a:t>
            </a:r>
            <a:r>
              <a:rPr lang="fr-FR" b="1" dirty="0"/>
              <a:t>dans le but de </a:t>
            </a:r>
            <a:r>
              <a:rPr lang="fr-FR" dirty="0"/>
              <a:t>surprendre et de déstabiliser le lecteur.</a:t>
            </a:r>
            <a:endParaRPr lang="en-US" dirty="0"/>
          </a:p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dirty="0" smtClean="0"/>
              <a:t>Elle </a:t>
            </a:r>
            <a:r>
              <a:rPr lang="fr-FR" dirty="0"/>
              <a:t>nous a invités le 15 décembre, </a:t>
            </a:r>
            <a:r>
              <a:rPr lang="fr-FR" b="1" dirty="0"/>
              <a:t>dans l’espoir que </a:t>
            </a:r>
            <a:r>
              <a:rPr lang="fr-FR" dirty="0"/>
              <a:t>n</a:t>
            </a:r>
            <a:r>
              <a:rPr lang="fr-FR" dirty="0" smtClean="0"/>
              <a:t>ous </a:t>
            </a:r>
            <a:r>
              <a:rPr lang="fr-FR" dirty="0"/>
              <a:t>venions au vernissage de son exposition.</a:t>
            </a:r>
            <a:endParaRPr lang="en-US" dirty="0"/>
          </a:p>
          <a:p>
            <a:pPr marL="36449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fr-FR" dirty="0" smtClean="0"/>
              <a:t> </a:t>
            </a:r>
            <a:r>
              <a:rPr lang="fr-FR" dirty="0"/>
              <a:t>Elle tient un carnet de voyage, </a:t>
            </a:r>
            <a:r>
              <a:rPr lang="fr-FR" b="1" dirty="0"/>
              <a:t>de peur d</a:t>
            </a:r>
            <a:r>
              <a:rPr lang="fr-FR" dirty="0"/>
              <a:t>’oublier les merveilles qu’elle a vues </a:t>
            </a:r>
            <a:r>
              <a:rPr lang="fr-FR" dirty="0" smtClean="0"/>
              <a:t>.</a:t>
            </a:r>
            <a:br>
              <a:rPr lang="fr-FR" dirty="0" smtClean="0"/>
            </a:br>
            <a:endParaRPr lang="fr-FR" dirty="0" smtClean="0"/>
          </a:p>
          <a:p>
            <a:pPr marL="2159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sz="2000" dirty="0" smtClean="0">
                <a:solidFill>
                  <a:srgbClr val="FF0000"/>
                </a:solidFill>
              </a:rPr>
              <a:t>Repérons ensemble les verbes conjugués au subjonctif présent.</a:t>
            </a:r>
            <a:endParaRPr lang="en-US" sz="2000" dirty="0">
              <a:solidFill>
                <a:srgbClr val="FF0000"/>
              </a:solidFill>
            </a:endParaRPr>
          </a:p>
          <a:p>
            <a:pPr marL="2159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dirty="0" smtClean="0">
                <a:solidFill>
                  <a:srgbClr val="FF0000"/>
                </a:solidFill>
              </a:rPr>
              <a:t>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871080" y="668484"/>
            <a:ext cx="103800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Les connecteurs de but : </a:t>
            </a:r>
            <a:r>
              <a:rPr lang="fr-BE" b="1" i="1" dirty="0" smtClean="0"/>
              <a:t>pour, pour que, afin de, afin que, dans le but de, dans le but que, dans l’espoir de, dans l’espoir que, de crainte de, de crainte que.</a:t>
            </a:r>
          </a:p>
          <a:p>
            <a:r>
              <a:rPr lang="fr-BE" sz="2400" b="1" dirty="0" smtClean="0">
                <a:solidFill>
                  <a:srgbClr val="FF0000"/>
                </a:solidFill>
              </a:rPr>
              <a:t>Dictée (écrivez les phrases que votre professeur vous lit.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82869" y="158974"/>
            <a:ext cx="5142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Les connecteurs _</a:t>
            </a:r>
            <a:r>
              <a:rPr lang="fr-BE" dirty="0" err="1" smtClean="0"/>
              <a:t>Suite_Syllabus</a:t>
            </a:r>
            <a:r>
              <a:rPr lang="fr-BE" dirty="0" smtClean="0"/>
              <a:t>  p.149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128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972" y="209550"/>
            <a:ext cx="8752113" cy="6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8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Quelle est la différence entre le but et la conséquence ?</a:t>
            </a:r>
            <a:endParaRPr lang="fr-BE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319673" y="2237485"/>
            <a:ext cx="5422900" cy="2725498"/>
          </a:xfrm>
          <a:prstGeom prst="rect">
            <a:avLst/>
          </a:prstGeom>
        </p:spPr>
      </p:pic>
      <p:pic>
        <p:nvPicPr>
          <p:cNvPr id="7" name="Espace réservé du contenu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01333" y="2143626"/>
            <a:ext cx="3390900" cy="318135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6897910" y="5606661"/>
            <a:ext cx="5294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C’est un fait qui se passe(ra), mais qui n’est pas nécessairement voulu.</a:t>
            </a:r>
            <a:endParaRPr lang="fr-BE" dirty="0"/>
          </a:p>
        </p:txBody>
      </p:sp>
      <p:sp>
        <p:nvSpPr>
          <p:cNvPr id="10" name="ZoneTexte 9"/>
          <p:cNvSpPr txBox="1"/>
          <p:nvPr/>
        </p:nvSpPr>
        <p:spPr>
          <a:xfrm>
            <a:off x="1001333" y="5595155"/>
            <a:ext cx="4231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C’est un fait qu’on souhaite, mais on ne sait pas si on va l’obtenir.</a:t>
            </a:r>
            <a:endParaRPr lang="fr-BE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3415862" y="4498428"/>
            <a:ext cx="2228193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Avec le subjonctif</a:t>
            </a:r>
            <a:endParaRPr lang="fr-BE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9501352" y="4689498"/>
            <a:ext cx="2109457" cy="90565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smtClean="0"/>
              <a:t>Avec l’indicatif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6237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766713" y="1475981"/>
            <a:ext cx="2722540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159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b="1" dirty="0">
                <a:solidFill>
                  <a:srgbClr val="FF0000"/>
                </a:solidFill>
              </a:rPr>
              <a:t>il ne paie pas le tarif plein.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66713" y="1904250"/>
            <a:ext cx="21771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Il a moins de 26 </a:t>
            </a:r>
            <a:r>
              <a:rPr lang="fr-FR" b="1" dirty="0" smtClean="0">
                <a:solidFill>
                  <a:srgbClr val="FF0000"/>
                </a:solidFill>
              </a:rPr>
              <a:t>ans.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79327" y="1680011"/>
            <a:ext cx="647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i="1" dirty="0" smtClean="0">
                <a:solidFill>
                  <a:srgbClr val="FF0000"/>
                </a:solidFill>
              </a:rPr>
              <a:t>donc</a:t>
            </a:r>
            <a:endParaRPr lang="en-US" b="1" i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0980" y="2458248"/>
            <a:ext cx="1684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</a:rPr>
              <a:t>J’adore chanter.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980" y="2047977"/>
            <a:ext cx="27799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</a:rPr>
              <a:t>Je </a:t>
            </a:r>
            <a:r>
              <a:rPr lang="fr-FR" b="1" dirty="0">
                <a:solidFill>
                  <a:srgbClr val="00B050"/>
                </a:solidFill>
              </a:rPr>
              <a:t>fais partie d’une </a:t>
            </a:r>
            <a:r>
              <a:rPr lang="fr-FR" b="1" dirty="0" smtClean="0">
                <a:solidFill>
                  <a:srgbClr val="00B050"/>
                </a:solidFill>
              </a:rPr>
              <a:t>chorale.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2336" y="2273582"/>
            <a:ext cx="15906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i="1" dirty="0">
                <a:solidFill>
                  <a:srgbClr val="00B050"/>
                </a:solidFill>
              </a:rPr>
              <a:t>c’est pourquoi 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13175" y="3053185"/>
            <a:ext cx="4360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/>
              <a:t>Je cherche un stage dans le secteur </a:t>
            </a:r>
            <a:r>
              <a:rPr lang="fr-FR" b="1" dirty="0" smtClean="0"/>
              <a:t>culturel.</a:t>
            </a:r>
            <a:endParaRPr lang="en-US" b="1" dirty="0"/>
          </a:p>
        </p:txBody>
      </p:sp>
      <p:sp>
        <p:nvSpPr>
          <p:cNvPr id="10" name="Rectangle 9"/>
          <p:cNvSpPr/>
          <p:nvPr/>
        </p:nvSpPr>
        <p:spPr>
          <a:xfrm>
            <a:off x="4613175" y="3367917"/>
            <a:ext cx="2153538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b="1" dirty="0"/>
              <a:t>je m’adresse à vous. 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9107495" y="3111824"/>
            <a:ext cx="27874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i="1" dirty="0"/>
              <a:t>c’est la raison pour laquelle</a:t>
            </a:r>
            <a:endParaRPr lang="en-US" b="1" i="1" dirty="0"/>
          </a:p>
        </p:txBody>
      </p:sp>
      <p:sp>
        <p:nvSpPr>
          <p:cNvPr id="12" name="Rectangle 11"/>
          <p:cNvSpPr/>
          <p:nvPr/>
        </p:nvSpPr>
        <p:spPr>
          <a:xfrm>
            <a:off x="333950" y="4087140"/>
            <a:ext cx="3663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70C0"/>
                </a:solidFill>
              </a:rPr>
              <a:t>Les spectateurs ont apprécié la performance des </a:t>
            </a:r>
            <a:r>
              <a:rPr lang="fr-FR" b="1" dirty="0" smtClean="0">
                <a:solidFill>
                  <a:srgbClr val="0070C0"/>
                </a:solidFill>
              </a:rPr>
              <a:t>comédiens.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51597" y="4410305"/>
            <a:ext cx="2451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i="1" dirty="0">
                <a:solidFill>
                  <a:srgbClr val="0070C0"/>
                </a:solidFill>
              </a:rPr>
              <a:t>alors (c’est pour ça </a:t>
            </a:r>
            <a:r>
              <a:rPr lang="fr-FR" b="1" i="1" dirty="0" smtClean="0">
                <a:solidFill>
                  <a:srgbClr val="0070C0"/>
                </a:solidFill>
              </a:rPr>
              <a:t>que)</a:t>
            </a:r>
            <a:endParaRPr lang="en-US" b="1" i="1" dirty="0">
              <a:solidFill>
                <a:srgbClr val="0070C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5277" y="4766765"/>
            <a:ext cx="333973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0070C0"/>
                </a:solidFill>
              </a:rPr>
              <a:t>Les spectateurs applaudissent </a:t>
            </a:r>
            <a:r>
              <a:rPr lang="fr-FR" b="1" dirty="0">
                <a:solidFill>
                  <a:srgbClr val="0070C0"/>
                </a:solidFill>
              </a:rPr>
              <a:t>chaleureusement. 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76152" y="5228060"/>
            <a:ext cx="46389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7030A0"/>
                </a:solidFill>
              </a:rPr>
              <a:t>Mon frère est amateur des Primitifs flamands,</a:t>
            </a:r>
            <a:r>
              <a:rPr lang="fr-FR" b="1" dirty="0"/>
              <a:t> </a:t>
            </a:r>
            <a:endParaRPr lang="en-US" b="1" dirty="0"/>
          </a:p>
        </p:txBody>
      </p:sp>
      <p:sp>
        <p:nvSpPr>
          <p:cNvPr id="16" name="Rectangle 15"/>
          <p:cNvSpPr/>
          <p:nvPr/>
        </p:nvSpPr>
        <p:spPr>
          <a:xfrm>
            <a:off x="9542988" y="5228060"/>
            <a:ext cx="167853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i="1" dirty="0">
                <a:solidFill>
                  <a:srgbClr val="7030A0"/>
                </a:solidFill>
              </a:rPr>
              <a:t>de sorte </a:t>
            </a:r>
            <a:r>
              <a:rPr lang="fr-FR" b="1" i="1" dirty="0" smtClean="0">
                <a:solidFill>
                  <a:srgbClr val="7030A0"/>
                </a:solidFill>
              </a:rPr>
              <a:t>que</a:t>
            </a:r>
          </a:p>
          <a:p>
            <a:r>
              <a:rPr lang="fr-FR" b="1" i="1" dirty="0" smtClean="0">
                <a:solidFill>
                  <a:srgbClr val="7030A0"/>
                </a:solidFill>
              </a:rPr>
              <a:t> </a:t>
            </a:r>
            <a:r>
              <a:rPr lang="fr-FR" b="1" i="1" dirty="0">
                <a:solidFill>
                  <a:srgbClr val="7030A0"/>
                </a:solidFill>
              </a:rPr>
              <a:t>si bien </a:t>
            </a:r>
            <a:r>
              <a:rPr lang="fr-FR" b="1" i="1" dirty="0" smtClean="0">
                <a:solidFill>
                  <a:srgbClr val="7030A0"/>
                </a:solidFill>
              </a:rPr>
              <a:t>que</a:t>
            </a:r>
          </a:p>
          <a:p>
            <a:r>
              <a:rPr lang="fr-FR" b="1" i="1" dirty="0" smtClean="0">
                <a:solidFill>
                  <a:srgbClr val="7030A0"/>
                </a:solidFill>
              </a:rPr>
              <a:t> </a:t>
            </a:r>
            <a:r>
              <a:rPr lang="fr-FR" b="1" i="1" dirty="0">
                <a:solidFill>
                  <a:srgbClr val="7030A0"/>
                </a:solidFill>
              </a:rPr>
              <a:t>à tel </a:t>
            </a:r>
            <a:r>
              <a:rPr lang="fr-FR" b="1" i="1" dirty="0" smtClean="0">
                <a:solidFill>
                  <a:srgbClr val="7030A0"/>
                </a:solidFill>
              </a:rPr>
              <a:t>point que 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84845" y="5658864"/>
            <a:ext cx="5158143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900"/>
              </a:spcAft>
            </a:pPr>
            <a:r>
              <a:rPr lang="fr-FR" b="1" dirty="0">
                <a:solidFill>
                  <a:srgbClr val="7030A0"/>
                </a:solidFill>
              </a:rPr>
              <a:t>I</a:t>
            </a:r>
            <a:r>
              <a:rPr lang="fr-FR" b="1" dirty="0" smtClean="0">
                <a:solidFill>
                  <a:srgbClr val="7030A0"/>
                </a:solidFill>
              </a:rPr>
              <a:t>l </a:t>
            </a:r>
            <a:r>
              <a:rPr lang="fr-FR" b="1" dirty="0">
                <a:solidFill>
                  <a:srgbClr val="7030A0"/>
                </a:solidFill>
              </a:rPr>
              <a:t>possède plus de </a:t>
            </a:r>
            <a:r>
              <a:rPr lang="fr-FR" b="1" dirty="0" smtClean="0">
                <a:solidFill>
                  <a:srgbClr val="7030A0"/>
                </a:solidFill>
              </a:rPr>
              <a:t>15 </a:t>
            </a:r>
            <a:r>
              <a:rPr lang="fr-FR" b="1" dirty="0">
                <a:solidFill>
                  <a:srgbClr val="7030A0"/>
                </a:solidFill>
              </a:rPr>
              <a:t>livres </a:t>
            </a:r>
            <a:r>
              <a:rPr lang="fr-FR" b="1" dirty="0" smtClean="0">
                <a:solidFill>
                  <a:srgbClr val="7030A0"/>
                </a:solidFill>
              </a:rPr>
              <a:t>sur ce courant artistique.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202696" y="657698"/>
            <a:ext cx="290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 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480980" y="874711"/>
            <a:ext cx="95138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dirty="0" smtClean="0"/>
              <a:t>Les connecteurs de conséquence : remettez les phrases dans l’ordre et placez-les au bon endroit dans le tableau.</a:t>
            </a:r>
            <a:endParaRPr lang="en-US" sz="2400" dirty="0"/>
          </a:p>
        </p:txBody>
      </p:sp>
      <p:sp>
        <p:nvSpPr>
          <p:cNvPr id="21" name="ZoneTexte 20"/>
          <p:cNvSpPr txBox="1"/>
          <p:nvPr/>
        </p:nvSpPr>
        <p:spPr>
          <a:xfrm>
            <a:off x="333950" y="581539"/>
            <a:ext cx="2660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Syllabus  p.149 - 150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19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93208" y="1241208"/>
            <a:ext cx="2669064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159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il ne paie pas le tarif plein.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473343" y="1179204"/>
            <a:ext cx="21451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Il a moins de 26 </a:t>
            </a:r>
            <a:r>
              <a:rPr lang="fr-FR" dirty="0" smtClean="0"/>
              <a:t>ans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189896" y="1239129"/>
            <a:ext cx="647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donc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9485" y="2144798"/>
            <a:ext cx="1618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J’adore chanter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030016" y="2039984"/>
            <a:ext cx="2672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je fais partie d’une chorale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99212" y="2108369"/>
            <a:ext cx="15700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c’est pourquoi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3343" y="2977609"/>
            <a:ext cx="42528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Je cherche un stage dans le secteur culturel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362473" y="3070482"/>
            <a:ext cx="211519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fr-FR" dirty="0"/>
              <a:t>je m’adresse à vous.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962434" y="3015021"/>
            <a:ext cx="27402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c’est la raison pour laquelle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375277" y="4068720"/>
            <a:ext cx="3663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Les spectateurs ont apprécié la performance des comédiens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005569" y="4176346"/>
            <a:ext cx="236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alors (c’est pour ça qu’)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133541" y="4207219"/>
            <a:ext cx="3591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ils </a:t>
            </a:r>
            <a:r>
              <a:rPr lang="fr-FR" dirty="0" smtClean="0"/>
              <a:t>applaudissent </a:t>
            </a:r>
            <a:r>
              <a:rPr lang="fr-FR" dirty="0"/>
              <a:t>chaleureusement. 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76788" y="5507044"/>
            <a:ext cx="4549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Mon frère est amateur des Primitifs flamands,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893208" y="5230045"/>
            <a:ext cx="165481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de sorte </a:t>
            </a:r>
            <a:r>
              <a:rPr lang="fr-FR" dirty="0" smtClean="0"/>
              <a:t>que</a:t>
            </a:r>
          </a:p>
          <a:p>
            <a:r>
              <a:rPr lang="fr-FR" dirty="0" smtClean="0"/>
              <a:t> </a:t>
            </a:r>
            <a:r>
              <a:rPr lang="fr-FR" dirty="0"/>
              <a:t>si bien </a:t>
            </a:r>
            <a:r>
              <a:rPr lang="fr-FR" dirty="0" smtClean="0"/>
              <a:t>que</a:t>
            </a:r>
          </a:p>
          <a:p>
            <a:r>
              <a:rPr lang="fr-FR" dirty="0" smtClean="0"/>
              <a:t> </a:t>
            </a:r>
            <a:r>
              <a:rPr lang="fr-FR" dirty="0"/>
              <a:t>à tel </a:t>
            </a:r>
            <a:r>
              <a:rPr lang="fr-FR" dirty="0" smtClean="0"/>
              <a:t>point que 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915436" y="5422363"/>
            <a:ext cx="5073889" cy="3886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Bef>
                <a:spcPts val="600"/>
              </a:spcBef>
              <a:spcAft>
                <a:spcPts val="900"/>
              </a:spcAft>
            </a:pPr>
            <a:r>
              <a:rPr lang="fr-FR" dirty="0" smtClean="0"/>
              <a:t>il </a:t>
            </a:r>
            <a:r>
              <a:rPr lang="fr-FR" dirty="0"/>
              <a:t>possède plus de </a:t>
            </a:r>
            <a:r>
              <a:rPr lang="fr-FR" dirty="0" smtClean="0"/>
              <a:t>15 </a:t>
            </a:r>
            <a:r>
              <a:rPr lang="fr-FR" dirty="0"/>
              <a:t>livres </a:t>
            </a:r>
            <a:r>
              <a:rPr lang="fr-FR" dirty="0" smtClean="0"/>
              <a:t>sur ce courant artistique.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425092" y="582942"/>
            <a:ext cx="11208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solidFill>
                  <a:srgbClr val="FF0000"/>
                </a:solidFill>
              </a:rPr>
              <a:t> </a:t>
            </a:r>
            <a:r>
              <a:rPr lang="fr-FR" sz="2400" b="1" dirty="0" smtClean="0">
                <a:solidFill>
                  <a:srgbClr val="FF0000"/>
                </a:solidFill>
              </a:rPr>
              <a:t>corrigé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9341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66676" y="-1534505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36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Tests formatifs </a:t>
            </a:r>
            <a:r>
              <a:rPr lang="fr-BE" dirty="0" smtClean="0"/>
              <a:t>sur </a:t>
            </a:r>
            <a:r>
              <a:rPr lang="fr-BE" dirty="0" smtClean="0"/>
              <a:t>Moodle : 5 % de  la note finale !</a:t>
            </a:r>
            <a:endParaRPr lang="en-US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sz="2400" dirty="0" smtClean="0"/>
              <a:t>Mobilisez le meilleur de vous-même !</a:t>
            </a:r>
            <a:endParaRPr lang="en-US" sz="24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598" y="1965434"/>
            <a:ext cx="6078403" cy="457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1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re 1"/>
          <p:cNvSpPr>
            <a:spLocks noGrp="1"/>
          </p:cNvSpPr>
          <p:nvPr>
            <p:ph type="title"/>
          </p:nvPr>
        </p:nvSpPr>
        <p:spPr>
          <a:xfrm>
            <a:off x="1293978" y="623752"/>
            <a:ext cx="8131175" cy="854075"/>
          </a:xfrm>
        </p:spPr>
        <p:txBody>
          <a:bodyPr>
            <a:normAutofit/>
          </a:bodyPr>
          <a:lstStyle/>
          <a:p>
            <a:r>
              <a:rPr lang="fr-BE" altLang="fr-FR" sz="3600" dirty="0">
                <a:ea typeface="ＭＳ Ｐゴシック" panose="020B0600070205080204" pitchFamily="34" charset="-128"/>
              </a:rPr>
              <a:t>Travail en </a:t>
            </a:r>
            <a:r>
              <a:rPr lang="fr-BE" altLang="fr-FR" sz="3600" dirty="0" smtClean="0">
                <a:ea typeface="ＭＳ Ｐゴシック" panose="020B0600070205080204" pitchFamily="34" charset="-128"/>
              </a:rPr>
              <a:t>groupes</a:t>
            </a:r>
            <a:endParaRPr lang="fr-BE" altLang="fr-FR" sz="3600" dirty="0">
              <a:ea typeface="ＭＳ Ｐゴシック" panose="020B0600070205080204" pitchFamily="34" charset="-128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87972" y="2469465"/>
            <a:ext cx="5276193" cy="1976875"/>
          </a:xfrm>
        </p:spPr>
        <p:txBody>
          <a:bodyPr>
            <a:normAutofit/>
          </a:bodyPr>
          <a:lstStyle/>
          <a:p>
            <a:pPr>
              <a:defRPr/>
            </a:pPr>
            <a:endParaRPr lang="fr-BE" sz="2400" dirty="0" smtClean="0">
              <a:solidFill>
                <a:srgbClr val="FF0000"/>
              </a:solidFill>
              <a:latin typeface="+mj-lt"/>
            </a:endParaRPr>
          </a:p>
          <a:p>
            <a:pPr>
              <a:defRPr/>
            </a:pPr>
            <a:endParaRPr lang="fr-BE" sz="24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63862" y="1425030"/>
            <a:ext cx="3823138" cy="2311727"/>
          </a:xfrm>
        </p:spPr>
        <p:txBody>
          <a:bodyPr>
            <a:normAutofit/>
          </a:bodyPr>
          <a:lstStyle/>
          <a:p>
            <a:pPr>
              <a:defRPr/>
            </a:pPr>
            <a:endParaRPr lang="fr-BE" dirty="0" smtClean="0">
              <a:latin typeface="+mj-lt"/>
            </a:endParaRPr>
          </a:p>
          <a:p>
            <a:pPr marL="566737" indent="-457200">
              <a:buFont typeface="+mj-lt"/>
              <a:buAutoNum type="arabicPeriod"/>
              <a:defRPr/>
            </a:pPr>
            <a:endParaRPr lang="fr-BE" dirty="0">
              <a:latin typeface="+mj-lt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85" y="2469464"/>
            <a:ext cx="11256446" cy="2968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19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Exercices de Grammaire sur TEAMS/groupes : APPEL AUDIO </a:t>
            </a:r>
            <a:endParaRPr lang="fr-BE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606891"/>
            <a:ext cx="5422900" cy="2874531"/>
          </a:xfrm>
          <a:prstGeom prst="rect">
            <a:avLst/>
          </a:prstGeom>
        </p:spPr>
      </p:pic>
      <p:pic>
        <p:nvPicPr>
          <p:cNvPr id="6" name="Espace réservé du contenu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60681" y="2434759"/>
            <a:ext cx="2543175" cy="3429000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9669517" y="3048000"/>
            <a:ext cx="1941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/>
              <a:t>p. 253 n°1, 2, 3, 4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9362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Est-ce que c’est de l’art ?  Découvrir la pièce « </a:t>
            </a:r>
            <a:r>
              <a:rPr lang="fr-BE" dirty="0" smtClean="0">
                <a:hlinkClick r:id="rId2"/>
              </a:rPr>
              <a:t>Art</a:t>
            </a:r>
            <a:r>
              <a:rPr lang="fr-BE" dirty="0" smtClean="0"/>
              <a:t> »</a:t>
            </a:r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fr-BE" sz="2000" dirty="0" smtClean="0"/>
              <a:t>Visionner de 4:23 à 7:06</a:t>
            </a:r>
            <a:endParaRPr lang="fr-BE" sz="2000" dirty="0"/>
          </a:p>
          <a:p>
            <a:r>
              <a:rPr lang="fr-BE" sz="2000" dirty="0" smtClean="0"/>
              <a:t>Coder la prononciation des 2 premières séquences p. 151.</a:t>
            </a:r>
          </a:p>
          <a:p>
            <a:pPr marL="630238" indent="-93663">
              <a:buFont typeface="Wingdings" panose="05000000000000000000" pitchFamily="2" charset="2"/>
              <a:buChar char="v"/>
              <a:tabLst>
                <a:tab pos="630238" algn="l"/>
              </a:tabLst>
            </a:pPr>
            <a:r>
              <a:rPr lang="fr-BE" sz="2000" dirty="0" smtClean="0"/>
              <a:t>/ = pause</a:t>
            </a:r>
          </a:p>
          <a:p>
            <a:pPr marL="630238" indent="-93663">
              <a:buFont typeface="Wingdings" panose="05000000000000000000" pitchFamily="2" charset="2"/>
              <a:buChar char="v"/>
              <a:tabLst>
                <a:tab pos="630238" algn="l"/>
              </a:tabLst>
            </a:pPr>
            <a:r>
              <a:rPr lang="fr-BE" sz="2000" dirty="0" smtClean="0">
                <a:sym typeface="Wingdings" panose="05000000000000000000" pitchFamily="2" charset="2"/>
              </a:rPr>
              <a:t> </a:t>
            </a:r>
            <a:r>
              <a:rPr lang="fr-BE" sz="2000" dirty="0" smtClean="0"/>
              <a:t>= syllabe accentuée</a:t>
            </a:r>
          </a:p>
          <a:p>
            <a:pPr marL="630238" indent="-93663">
              <a:buFont typeface="Wingdings" panose="05000000000000000000" pitchFamily="2" charset="2"/>
              <a:buChar char="v"/>
              <a:tabLst>
                <a:tab pos="630238" algn="l"/>
              </a:tabLst>
            </a:pPr>
            <a:r>
              <a:rPr lang="fr-BE" sz="2000" dirty="0">
                <a:sym typeface="Wingdings" panose="05000000000000000000" pitchFamily="2" charset="2"/>
              </a:rPr>
              <a:t> </a:t>
            </a:r>
            <a:r>
              <a:rPr lang="fr-BE" sz="2000" dirty="0" smtClean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͜͜    </a:t>
            </a:r>
            <a:r>
              <a:rPr lang="fr-BE" sz="2000" dirty="0" smtClean="0"/>
              <a:t>= liaison obligatoire</a:t>
            </a:r>
          </a:p>
          <a:p>
            <a:pPr marL="630238" indent="-93663">
              <a:buFont typeface="Wingdings" panose="05000000000000000000" pitchFamily="2" charset="2"/>
              <a:buChar char="v"/>
              <a:tabLst>
                <a:tab pos="630238" algn="l"/>
              </a:tabLst>
            </a:pPr>
            <a:r>
              <a:rPr lang="fr-BE" sz="2000" dirty="0" smtClean="0"/>
              <a:t> </a:t>
            </a:r>
            <a:r>
              <a:rPr lang="fr-BE" sz="2000" dirty="0" smtClean="0">
                <a:sym typeface="Wingdings" panose="05000000000000000000" pitchFamily="2" charset="2"/>
              </a:rPr>
              <a:t> = </a:t>
            </a:r>
            <a:r>
              <a:rPr lang="fr-BE" sz="2000" dirty="0" smtClean="0"/>
              <a:t>Intonation montante</a:t>
            </a:r>
          </a:p>
          <a:p>
            <a:pPr marL="630238" indent="-93663">
              <a:buFont typeface="Wingdings" panose="05000000000000000000" pitchFamily="2" charset="2"/>
              <a:buChar char="v"/>
              <a:tabLst>
                <a:tab pos="630238" algn="l"/>
              </a:tabLst>
            </a:pPr>
            <a:r>
              <a:rPr lang="fr-BE" sz="2000" dirty="0" smtClean="0"/>
              <a:t> </a:t>
            </a:r>
            <a:r>
              <a:rPr lang="fr-BE" sz="2000" dirty="0">
                <a:sym typeface="Wingdings" panose="05000000000000000000" pitchFamily="2" charset="2"/>
              </a:rPr>
              <a:t> </a:t>
            </a:r>
            <a:r>
              <a:rPr lang="fr-BE" sz="2000" dirty="0" smtClean="0">
                <a:sym typeface="Wingdings" panose="05000000000000000000" pitchFamily="2" charset="2"/>
              </a:rPr>
              <a:t>= </a:t>
            </a:r>
            <a:r>
              <a:rPr lang="fr-BE" sz="2000" dirty="0" smtClean="0"/>
              <a:t>Intonation descendante</a:t>
            </a:r>
          </a:p>
          <a:p>
            <a:r>
              <a:rPr lang="fr-BE" sz="2000" dirty="0" smtClean="0"/>
              <a:t>Interpréter le texte</a:t>
            </a:r>
            <a:endParaRPr lang="fr-BE" sz="2000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" y="2239181"/>
            <a:ext cx="5422900" cy="3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3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F0CCB985-6D2C-4666-B575-BD1CB3200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891" y="463383"/>
            <a:ext cx="7227718" cy="620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00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8D5D04E-7608-4060-98E6-1576FD6E9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044" y="1109709"/>
            <a:ext cx="9911701" cy="469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6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0441C17-7880-4448-93E2-2DA56FC92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193" y="1268674"/>
            <a:ext cx="8598288" cy="476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10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2"/>
          </p:nvPr>
        </p:nvSpPr>
        <p:spPr>
          <a:xfrm>
            <a:off x="4386558" y="2717803"/>
            <a:ext cx="3159648" cy="3368675"/>
          </a:xfrm>
        </p:spPr>
        <p:txBody>
          <a:bodyPr/>
          <a:lstStyle/>
          <a:p>
            <a:endParaRPr lang="fr-BE" sz="2800" dirty="0" smtClean="0"/>
          </a:p>
          <a:p>
            <a:r>
              <a:rPr lang="fr-BE" sz="2800" dirty="0" smtClean="0"/>
              <a:t>Avancer dans les tests, c’est bon pour l’examen oral et la production écrite </a:t>
            </a:r>
            <a:r>
              <a:rPr lang="fr-BE" sz="2800" dirty="0" smtClean="0">
                <a:sym typeface="Wingdings" panose="05000000000000000000" pitchFamily="2" charset="2"/>
              </a:rPr>
              <a:t></a:t>
            </a:r>
            <a:endParaRPr lang="fr-BE" sz="2800" dirty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720277" y="3296573"/>
            <a:ext cx="3103146" cy="3368675"/>
          </a:xfrm>
        </p:spPr>
        <p:txBody>
          <a:bodyPr/>
          <a:lstStyle/>
          <a:p>
            <a:r>
              <a:rPr lang="fr-BE" sz="2800" dirty="0" smtClean="0"/>
              <a:t>Préparer 3 </a:t>
            </a:r>
            <a:r>
              <a:rPr lang="fr-BE" sz="2800" dirty="0" smtClean="0"/>
              <a:t>autres </a:t>
            </a:r>
            <a:r>
              <a:rPr lang="fr-BE" sz="2800" dirty="0" smtClean="0"/>
              <a:t>textes sélectionnés pour l’examen oral</a:t>
            </a:r>
          </a:p>
        </p:txBody>
      </p:sp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626818" y="545562"/>
            <a:ext cx="10690365" cy="828000"/>
          </a:xfrm>
          <a:solidFill>
            <a:schemeClr val="accent1"/>
          </a:solidFill>
        </p:spPr>
        <p:txBody>
          <a:bodyPr/>
          <a:lstStyle/>
          <a:p>
            <a:r>
              <a:rPr lang="fr-BE" dirty="0" smtClean="0">
                <a:solidFill>
                  <a:schemeClr val="bg1"/>
                </a:solidFill>
              </a:rPr>
              <a:t>Tâches pour </a:t>
            </a:r>
            <a:r>
              <a:rPr lang="fr-BE" dirty="0" smtClean="0">
                <a:solidFill>
                  <a:schemeClr val="bg1"/>
                </a:solidFill>
              </a:rPr>
              <a:t>le prochain cours</a:t>
            </a:r>
            <a:endParaRPr lang="fr-BE" sz="2800" b="1" dirty="0">
              <a:solidFill>
                <a:srgbClr val="FFFF00"/>
              </a:solidFill>
            </a:endParaRP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1745478" y="1783288"/>
            <a:ext cx="874196" cy="1294106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1540" y="1909363"/>
            <a:ext cx="1209675" cy="10763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40109" y="3065658"/>
            <a:ext cx="35027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BE" sz="2400" dirty="0" smtClean="0">
              <a:solidFill>
                <a:srgbClr val="FF0000"/>
              </a:solidFill>
            </a:endParaRPr>
          </a:p>
          <a:p>
            <a:r>
              <a:rPr lang="fr-BE" sz="2400" dirty="0" smtClean="0">
                <a:solidFill>
                  <a:srgbClr val="FF0000"/>
                </a:solidFill>
              </a:rPr>
              <a:t>Défi #8 </a:t>
            </a:r>
            <a:r>
              <a:rPr lang="fr-BE" sz="2400" dirty="0" smtClean="0">
                <a:solidFill>
                  <a:srgbClr val="FF0000"/>
                </a:solidFill>
              </a:rPr>
              <a:t>pour </a:t>
            </a:r>
            <a:r>
              <a:rPr lang="fr-BE" sz="2400" dirty="0" smtClean="0">
                <a:solidFill>
                  <a:srgbClr val="FF0000"/>
                </a:solidFill>
              </a:rPr>
              <a:t>vendredi</a:t>
            </a:r>
            <a:endParaRPr lang="fr-BE" sz="2400" dirty="0" smtClean="0">
              <a:solidFill>
                <a:srgbClr val="FF0000"/>
              </a:solidFill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5008" y="2123675"/>
            <a:ext cx="273367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82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BE" dirty="0" smtClean="0"/>
              <a:t>Courage, vous êtes presque au bout </a:t>
            </a:r>
            <a:r>
              <a:rPr lang="fr-BE" smtClean="0"/>
              <a:t>de l’aventure du B1 !</a:t>
            </a:r>
            <a:endParaRPr lang="fr-BE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48531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e">
  <a:themeElements>
    <a:clrScheme name="Bleu 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893</Words>
  <Application>Microsoft Office PowerPoint</Application>
  <PresentationFormat>Grand écran</PresentationFormat>
  <Paragraphs>106</Paragraphs>
  <Slides>24</Slides>
  <Notes>3</Notes>
  <HiddenSlides>0</HiddenSlides>
  <MMClips>1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2" baseType="lpstr">
      <vt:lpstr>ＭＳ Ｐゴシック</vt:lpstr>
      <vt:lpstr>Arial</vt:lpstr>
      <vt:lpstr>Calibri</vt:lpstr>
      <vt:lpstr>Corbel</vt:lpstr>
      <vt:lpstr>Gill Sans MT</vt:lpstr>
      <vt:lpstr>Wingdings</vt:lpstr>
      <vt:lpstr>Wingdings 2</vt:lpstr>
      <vt:lpstr>Dividende</vt:lpstr>
      <vt:lpstr>Comprendre la Belgique LFRAN1301 – B1</vt:lpstr>
      <vt:lpstr>Unité 4 – ceci n’est pas une pipe ! </vt:lpstr>
      <vt:lpstr>Mise en route / TEAMS Général/ chat</vt:lpstr>
      <vt:lpstr>Comment s’EST passé le rendez-vous surprise virtuel ?</vt:lpstr>
      <vt:lpstr>Présentation PowerPoint</vt:lpstr>
      <vt:lpstr>Défi #8</vt:lpstr>
      <vt:lpstr>Simulation d’examen : clé = DELvaux. Retour dans TEAMS dans 15 min</vt:lpstr>
      <vt:lpstr>Les connecteurs logiques : suite</vt:lpstr>
      <vt:lpstr>Présentation PowerPoint</vt:lpstr>
      <vt:lpstr>Présentation PowerPoint</vt:lpstr>
      <vt:lpstr>Présentation PowerPoint</vt:lpstr>
      <vt:lpstr>Quelle est la différence entre le but et la conséquence ?</vt:lpstr>
      <vt:lpstr>Présentation PowerPoint</vt:lpstr>
      <vt:lpstr>Présentation PowerPoint</vt:lpstr>
      <vt:lpstr>Présentation PowerPoint</vt:lpstr>
      <vt:lpstr>Tests formatifs sur Moodle : 5 % de  la note finale !</vt:lpstr>
      <vt:lpstr>Travail en groupes</vt:lpstr>
      <vt:lpstr>Exercices de Grammaire sur TEAMS/groupes : APPEL AUDIO </vt:lpstr>
      <vt:lpstr>Est-ce que c’est de l’art ?  Découvrir la pièce « Art »</vt:lpstr>
      <vt:lpstr>Présentation PowerPoint</vt:lpstr>
      <vt:lpstr>Présentation PowerPoint</vt:lpstr>
      <vt:lpstr>Présentation PowerPoint</vt:lpstr>
      <vt:lpstr>Tâches pour le prochain cours</vt:lpstr>
      <vt:lpstr>Courage, vous êtes presque au bout de l’aventure du B1 !</vt:lpstr>
    </vt:vector>
  </TitlesOfParts>
  <Company>Université Catholique de Louvain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Nancy Verhulst</dc:creator>
  <cp:lastModifiedBy>Geneviève Briet</cp:lastModifiedBy>
  <cp:revision>81</cp:revision>
  <dcterms:created xsi:type="dcterms:W3CDTF">2019-11-11T07:43:45Z</dcterms:created>
  <dcterms:modified xsi:type="dcterms:W3CDTF">2020-05-06T13:55:31Z</dcterms:modified>
</cp:coreProperties>
</file>