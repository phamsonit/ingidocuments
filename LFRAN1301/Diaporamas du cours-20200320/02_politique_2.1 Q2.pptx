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2"/>
  </p:notesMasterIdLst>
  <p:handoutMasterIdLst>
    <p:handoutMasterId r:id="rId23"/>
  </p:handoutMasterIdLst>
  <p:sldIdLst>
    <p:sldId id="338" r:id="rId2"/>
    <p:sldId id="445" r:id="rId3"/>
    <p:sldId id="458" r:id="rId4"/>
    <p:sldId id="455" r:id="rId5"/>
    <p:sldId id="457" r:id="rId6"/>
    <p:sldId id="456" r:id="rId7"/>
    <p:sldId id="399" r:id="rId8"/>
    <p:sldId id="465" r:id="rId9"/>
    <p:sldId id="459" r:id="rId10"/>
    <p:sldId id="448" r:id="rId11"/>
    <p:sldId id="460" r:id="rId12"/>
    <p:sldId id="461" r:id="rId13"/>
    <p:sldId id="462" r:id="rId14"/>
    <p:sldId id="443" r:id="rId15"/>
    <p:sldId id="441" r:id="rId16"/>
    <p:sldId id="442" r:id="rId17"/>
    <p:sldId id="444" r:id="rId18"/>
    <p:sldId id="454" r:id="rId19"/>
    <p:sldId id="453" r:id="rId20"/>
    <p:sldId id="464" r:id="rId21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91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72" y="2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8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La </a:t>
            </a:r>
            <a:r>
              <a:rPr lang="en-US" dirty="0" err="1"/>
              <a:t>démographie</a:t>
            </a:r>
            <a:r>
              <a:rPr lang="en-US" dirty="0"/>
              <a:t> </a:t>
            </a:r>
            <a:r>
              <a:rPr lang="en-US" dirty="0" err="1" smtClean="0"/>
              <a:t>linguistique</a:t>
            </a:r>
            <a:r>
              <a:rPr lang="en-US" dirty="0" smtClean="0"/>
              <a:t> à </a:t>
            </a:r>
            <a:r>
              <a:rPr lang="en-US" dirty="0" err="1" smtClean="0"/>
              <a:t>Bruxelles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La démographie linguistique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C95-4444-A939-3BF00BB616F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C95-4444-A939-3BF00BB616F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C95-4444-A939-3BF00BB616F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C95-4444-A939-3BF00BB616FA}"/>
              </c:ext>
            </c:extLst>
          </c:dPt>
          <c:cat>
            <c:strRef>
              <c:f>Feuil1!$A$2:$A$5</c:f>
              <c:strCache>
                <c:ptCount val="3"/>
                <c:pt idx="0">
                  <c:v>Néerlandophones</c:v>
                </c:pt>
                <c:pt idx="1">
                  <c:v>Francophones</c:v>
                </c:pt>
                <c:pt idx="2">
                  <c:v>Autres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5</c:v>
                </c:pt>
                <c:pt idx="1">
                  <c:v>92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29-4098-A572-ABCDEB3A31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 La </a:t>
            </a:r>
            <a:r>
              <a:rPr lang="en-US" dirty="0" err="1"/>
              <a:t>démographie</a:t>
            </a:r>
            <a:r>
              <a:rPr lang="en-US" dirty="0"/>
              <a:t> </a:t>
            </a:r>
            <a:r>
              <a:rPr lang="en-US" dirty="0" err="1" smtClean="0"/>
              <a:t>linguistique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Belgique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 La démographie linguistique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43B-4157-943A-1BB80E5167C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43B-4157-943A-1BB80E5167C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43B-4157-943A-1BB80E5167C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43B-4157-943A-1BB80E5167C6}"/>
              </c:ext>
            </c:extLst>
          </c:dPt>
          <c:cat>
            <c:strRef>
              <c:f>Feuil1!$A$2:$A$5</c:f>
              <c:strCache>
                <c:ptCount val="4"/>
                <c:pt idx="0">
                  <c:v>Néerlandophones</c:v>
                </c:pt>
                <c:pt idx="1">
                  <c:v>Francophoes à BXL</c:v>
                </c:pt>
                <c:pt idx="2">
                  <c:v>Francophones en Wallonie</c:v>
                </c:pt>
                <c:pt idx="3">
                  <c:v>Germanophones</c:v>
                </c:pt>
              </c:strCache>
            </c:strRef>
          </c:cat>
          <c:val>
            <c:numRef>
              <c:f>Feuil1!$B$2:$B$5</c:f>
              <c:numCache>
                <c:formatCode>0%</c:formatCode>
                <c:ptCount val="4"/>
                <c:pt idx="0">
                  <c:v>0.57999999999999996</c:v>
                </c:pt>
                <c:pt idx="1">
                  <c:v>0.09</c:v>
                </c:pt>
                <c:pt idx="2">
                  <c:v>0.32</c:v>
                </c:pt>
                <c:pt idx="3" formatCode="0.00%">
                  <c:v>1.4999999999999999E-2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89-40FF-B4A4-8194697F00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934E93-8B50-4DD6-B102-5F7C9CD2D4C7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7143B8D4-5842-45CF-9D44-229EC828AF17}">
      <dgm:prSet phldrT="[Texte]"/>
      <dgm:spPr/>
      <dgm:t>
        <a:bodyPr/>
        <a:lstStyle/>
        <a:p>
          <a:r>
            <a:rPr lang="fr-FR" dirty="0" smtClean="0"/>
            <a:t>1898</a:t>
          </a:r>
          <a:endParaRPr lang="fr-FR" dirty="0"/>
        </a:p>
      </dgm:t>
    </dgm:pt>
    <dgm:pt modelId="{020104BD-85CA-414A-A432-7CA4CC097672}" type="parTrans" cxnId="{6074A7BB-E76D-462F-8327-5EC03234E62B}">
      <dgm:prSet/>
      <dgm:spPr/>
      <dgm:t>
        <a:bodyPr/>
        <a:lstStyle/>
        <a:p>
          <a:endParaRPr lang="fr-FR"/>
        </a:p>
      </dgm:t>
    </dgm:pt>
    <dgm:pt modelId="{434A7C93-732C-466F-8468-F8AA706F1D10}" type="sibTrans" cxnId="{6074A7BB-E76D-462F-8327-5EC03234E62B}">
      <dgm:prSet/>
      <dgm:spPr/>
      <dgm:t>
        <a:bodyPr/>
        <a:lstStyle/>
        <a:p>
          <a:endParaRPr lang="fr-FR"/>
        </a:p>
      </dgm:t>
    </dgm:pt>
    <dgm:pt modelId="{F1917963-849B-45C2-A34B-878E07EC7210}">
      <dgm:prSet phldrT="[Texte]"/>
      <dgm:spPr/>
      <dgm:t>
        <a:bodyPr/>
        <a:lstStyle/>
        <a:p>
          <a:r>
            <a:rPr lang="fr-FR" dirty="0" smtClean="0"/>
            <a:t>1970</a:t>
          </a:r>
          <a:endParaRPr lang="fr-FR" dirty="0"/>
        </a:p>
      </dgm:t>
    </dgm:pt>
    <dgm:pt modelId="{10D107DD-B1F2-4675-90BC-62041FD36A8E}" type="parTrans" cxnId="{7C6F2911-F6E7-4B03-A20D-67E34BCBF079}">
      <dgm:prSet/>
      <dgm:spPr/>
      <dgm:t>
        <a:bodyPr/>
        <a:lstStyle/>
        <a:p>
          <a:endParaRPr lang="fr-FR"/>
        </a:p>
      </dgm:t>
    </dgm:pt>
    <dgm:pt modelId="{4A17786A-050E-4C75-9E13-B68919D6CC19}" type="sibTrans" cxnId="{7C6F2911-F6E7-4B03-A20D-67E34BCBF079}">
      <dgm:prSet/>
      <dgm:spPr/>
      <dgm:t>
        <a:bodyPr/>
        <a:lstStyle/>
        <a:p>
          <a:endParaRPr lang="fr-FR"/>
        </a:p>
      </dgm:t>
    </dgm:pt>
    <dgm:pt modelId="{B8C36AC6-93A4-4ACA-AE88-ECF667BE4642}">
      <dgm:prSet phldrT="[Texte]"/>
      <dgm:spPr/>
      <dgm:t>
        <a:bodyPr/>
        <a:lstStyle/>
        <a:p>
          <a:r>
            <a:rPr lang="fr-FR" dirty="0" smtClean="0"/>
            <a:t>1993</a:t>
          </a:r>
          <a:endParaRPr lang="fr-FR" dirty="0"/>
        </a:p>
      </dgm:t>
    </dgm:pt>
    <dgm:pt modelId="{D72453D6-E237-4857-A766-0A8F4CFA38F7}" type="parTrans" cxnId="{16A69E70-A710-45C0-8C1E-E1B77301CE4F}">
      <dgm:prSet/>
      <dgm:spPr/>
      <dgm:t>
        <a:bodyPr/>
        <a:lstStyle/>
        <a:p>
          <a:endParaRPr lang="fr-FR"/>
        </a:p>
      </dgm:t>
    </dgm:pt>
    <dgm:pt modelId="{6CB68484-33CA-4863-97F9-70F8CBD31A9D}" type="sibTrans" cxnId="{16A69E70-A710-45C0-8C1E-E1B77301CE4F}">
      <dgm:prSet/>
      <dgm:spPr/>
      <dgm:t>
        <a:bodyPr/>
        <a:lstStyle/>
        <a:p>
          <a:endParaRPr lang="fr-FR"/>
        </a:p>
      </dgm:t>
    </dgm:pt>
    <dgm:pt modelId="{9F020213-6991-4DC1-80AD-56B565B067EE}" type="pres">
      <dgm:prSet presAssocID="{8B934E93-8B50-4DD6-B102-5F7C9CD2D4C7}" presName="Name0" presStyleCnt="0">
        <dgm:presLayoutVars>
          <dgm:dir/>
          <dgm:animLvl val="lvl"/>
          <dgm:resizeHandles val="exact"/>
        </dgm:presLayoutVars>
      </dgm:prSet>
      <dgm:spPr/>
    </dgm:pt>
    <dgm:pt modelId="{012DAF78-80BD-488F-B297-230B31994DDC}" type="pres">
      <dgm:prSet presAssocID="{7143B8D4-5842-45CF-9D44-229EC828AF17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3C2762E-8648-47B4-85FE-5F9331E819FC}" type="pres">
      <dgm:prSet presAssocID="{434A7C93-732C-466F-8468-F8AA706F1D10}" presName="parTxOnlySpace" presStyleCnt="0"/>
      <dgm:spPr/>
    </dgm:pt>
    <dgm:pt modelId="{64405955-BE9E-40E3-824E-2E26E2F51DE3}" type="pres">
      <dgm:prSet presAssocID="{F1917963-849B-45C2-A34B-878E07EC7210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D5257AE-7357-45C8-B414-9FD484CDF174}" type="pres">
      <dgm:prSet presAssocID="{4A17786A-050E-4C75-9E13-B68919D6CC19}" presName="parTxOnlySpace" presStyleCnt="0"/>
      <dgm:spPr/>
    </dgm:pt>
    <dgm:pt modelId="{8D432AFB-F865-4A58-9B7C-D5D41A599756}" type="pres">
      <dgm:prSet presAssocID="{B8C36AC6-93A4-4ACA-AE88-ECF667BE4642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6074A7BB-E76D-462F-8327-5EC03234E62B}" srcId="{8B934E93-8B50-4DD6-B102-5F7C9CD2D4C7}" destId="{7143B8D4-5842-45CF-9D44-229EC828AF17}" srcOrd="0" destOrd="0" parTransId="{020104BD-85CA-414A-A432-7CA4CC097672}" sibTransId="{434A7C93-732C-466F-8468-F8AA706F1D10}"/>
    <dgm:cxn modelId="{7C6F2911-F6E7-4B03-A20D-67E34BCBF079}" srcId="{8B934E93-8B50-4DD6-B102-5F7C9CD2D4C7}" destId="{F1917963-849B-45C2-A34B-878E07EC7210}" srcOrd="1" destOrd="0" parTransId="{10D107DD-B1F2-4675-90BC-62041FD36A8E}" sibTransId="{4A17786A-050E-4C75-9E13-B68919D6CC19}"/>
    <dgm:cxn modelId="{9890B5C4-CF63-46CA-944D-81B13FBBDEA1}" type="presOf" srcId="{F1917963-849B-45C2-A34B-878E07EC7210}" destId="{64405955-BE9E-40E3-824E-2E26E2F51DE3}" srcOrd="0" destOrd="0" presId="urn:microsoft.com/office/officeart/2005/8/layout/chevron1"/>
    <dgm:cxn modelId="{89393CDB-F8D5-4424-9491-E35E123F7DC9}" type="presOf" srcId="{7143B8D4-5842-45CF-9D44-229EC828AF17}" destId="{012DAF78-80BD-488F-B297-230B31994DDC}" srcOrd="0" destOrd="0" presId="urn:microsoft.com/office/officeart/2005/8/layout/chevron1"/>
    <dgm:cxn modelId="{FF74788F-72CE-4EFB-BEDE-F1EC84D036BE}" type="presOf" srcId="{B8C36AC6-93A4-4ACA-AE88-ECF667BE4642}" destId="{8D432AFB-F865-4A58-9B7C-D5D41A599756}" srcOrd="0" destOrd="0" presId="urn:microsoft.com/office/officeart/2005/8/layout/chevron1"/>
    <dgm:cxn modelId="{F1718A9B-5620-4451-812E-02D8623BBD7C}" type="presOf" srcId="{8B934E93-8B50-4DD6-B102-5F7C9CD2D4C7}" destId="{9F020213-6991-4DC1-80AD-56B565B067EE}" srcOrd="0" destOrd="0" presId="urn:microsoft.com/office/officeart/2005/8/layout/chevron1"/>
    <dgm:cxn modelId="{16A69E70-A710-45C0-8C1E-E1B77301CE4F}" srcId="{8B934E93-8B50-4DD6-B102-5F7C9CD2D4C7}" destId="{B8C36AC6-93A4-4ACA-AE88-ECF667BE4642}" srcOrd="2" destOrd="0" parTransId="{D72453D6-E237-4857-A766-0A8F4CFA38F7}" sibTransId="{6CB68484-33CA-4863-97F9-70F8CBD31A9D}"/>
    <dgm:cxn modelId="{AD62F33C-4BAC-4665-9AAA-099604159DBB}" type="presParOf" srcId="{9F020213-6991-4DC1-80AD-56B565B067EE}" destId="{012DAF78-80BD-488F-B297-230B31994DDC}" srcOrd="0" destOrd="0" presId="urn:microsoft.com/office/officeart/2005/8/layout/chevron1"/>
    <dgm:cxn modelId="{CD0210ED-529B-4293-9474-1B8617206F8A}" type="presParOf" srcId="{9F020213-6991-4DC1-80AD-56B565B067EE}" destId="{D3C2762E-8648-47B4-85FE-5F9331E819FC}" srcOrd="1" destOrd="0" presId="urn:microsoft.com/office/officeart/2005/8/layout/chevron1"/>
    <dgm:cxn modelId="{63CF691E-C160-4BEB-89BD-C7972716896B}" type="presParOf" srcId="{9F020213-6991-4DC1-80AD-56B565B067EE}" destId="{64405955-BE9E-40E3-824E-2E26E2F51DE3}" srcOrd="2" destOrd="0" presId="urn:microsoft.com/office/officeart/2005/8/layout/chevron1"/>
    <dgm:cxn modelId="{3E27B45F-A68C-4284-8BF9-536A0F3728E1}" type="presParOf" srcId="{9F020213-6991-4DC1-80AD-56B565B067EE}" destId="{BD5257AE-7357-45C8-B414-9FD484CDF174}" srcOrd="3" destOrd="0" presId="urn:microsoft.com/office/officeart/2005/8/layout/chevron1"/>
    <dgm:cxn modelId="{5EA64634-8B4E-4793-91C7-692023D4C501}" type="presParOf" srcId="{9F020213-6991-4DC1-80AD-56B565B067EE}" destId="{8D432AFB-F865-4A58-9B7C-D5D41A599756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2DAF78-80BD-488F-B297-230B31994DDC}">
      <dsp:nvSpPr>
        <dsp:cNvPr id="0" name=""/>
        <dsp:cNvSpPr/>
      </dsp:nvSpPr>
      <dsp:spPr>
        <a:xfrm>
          <a:off x="2381" y="2129102"/>
          <a:ext cx="2901156" cy="11604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028" tIns="74676" rIns="74676" bIns="74676" numCol="1" spcCol="1270" anchor="ctr" anchorCtr="0">
          <a:noAutofit/>
        </a:bodyPr>
        <a:lstStyle/>
        <a:p>
          <a:pPr lvl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5600" kern="1200" dirty="0" smtClean="0"/>
            <a:t>1898</a:t>
          </a:r>
          <a:endParaRPr lang="fr-FR" sz="5600" kern="1200" dirty="0"/>
        </a:p>
      </dsp:txBody>
      <dsp:txXfrm>
        <a:off x="582612" y="2129102"/>
        <a:ext cx="1740694" cy="1160462"/>
      </dsp:txXfrm>
    </dsp:sp>
    <dsp:sp modelId="{64405955-BE9E-40E3-824E-2E26E2F51DE3}">
      <dsp:nvSpPr>
        <dsp:cNvPr id="0" name=""/>
        <dsp:cNvSpPr/>
      </dsp:nvSpPr>
      <dsp:spPr>
        <a:xfrm>
          <a:off x="2613421" y="2129102"/>
          <a:ext cx="2901156" cy="11604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028" tIns="74676" rIns="74676" bIns="74676" numCol="1" spcCol="1270" anchor="ctr" anchorCtr="0">
          <a:noAutofit/>
        </a:bodyPr>
        <a:lstStyle/>
        <a:p>
          <a:pPr lvl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5600" kern="1200" dirty="0" smtClean="0"/>
            <a:t>1970</a:t>
          </a:r>
          <a:endParaRPr lang="fr-FR" sz="5600" kern="1200" dirty="0"/>
        </a:p>
      </dsp:txBody>
      <dsp:txXfrm>
        <a:off x="3193652" y="2129102"/>
        <a:ext cx="1740694" cy="1160462"/>
      </dsp:txXfrm>
    </dsp:sp>
    <dsp:sp modelId="{8D432AFB-F865-4A58-9B7C-D5D41A599756}">
      <dsp:nvSpPr>
        <dsp:cNvPr id="0" name=""/>
        <dsp:cNvSpPr/>
      </dsp:nvSpPr>
      <dsp:spPr>
        <a:xfrm>
          <a:off x="5224462" y="2129102"/>
          <a:ext cx="2901156" cy="11604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028" tIns="74676" rIns="74676" bIns="74676" numCol="1" spcCol="1270" anchor="ctr" anchorCtr="0">
          <a:noAutofit/>
        </a:bodyPr>
        <a:lstStyle/>
        <a:p>
          <a:pPr lvl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5600" kern="1200" dirty="0" smtClean="0"/>
            <a:t>1993</a:t>
          </a:r>
          <a:endParaRPr lang="fr-FR" sz="5600" kern="1200" dirty="0"/>
        </a:p>
      </dsp:txBody>
      <dsp:txXfrm>
        <a:off x="5804693" y="2129102"/>
        <a:ext cx="1740694" cy="1160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2473" tIns="46237" rIns="92473" bIns="46237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2473" tIns="46237" rIns="92473" bIns="46237" rtlCol="0"/>
          <a:lstStyle>
            <a:lvl1pPr algn="r">
              <a:defRPr sz="1200"/>
            </a:lvl1pPr>
          </a:lstStyle>
          <a:p>
            <a:fld id="{DF2852D2-E680-43DE-8BE6-219A5B125531}" type="datetimeFigureOut">
              <a:rPr lang="fr-BE" smtClean="0"/>
              <a:t>11-03-20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2473" tIns="46237" rIns="92473" bIns="46237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2473" tIns="46237" rIns="92473" bIns="46237" rtlCol="0" anchor="b"/>
          <a:lstStyle>
            <a:lvl1pPr algn="r">
              <a:defRPr sz="1200"/>
            </a:lvl1pPr>
          </a:lstStyle>
          <a:p>
            <a:fld id="{1C2F42B8-79FA-40ED-933D-93A96F1DB7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040094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2473" tIns="46237" rIns="92473" bIns="46237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2473" tIns="46237" rIns="92473" bIns="46237" rtlCol="0"/>
          <a:lstStyle>
            <a:lvl1pPr algn="r">
              <a:defRPr sz="1200"/>
            </a:lvl1pPr>
          </a:lstStyle>
          <a:p>
            <a:fld id="{7F0AD30C-EB7D-480E-B7F3-54F7514B8DED}" type="datetimeFigureOut">
              <a:rPr lang="fr-BE" smtClean="0"/>
              <a:t>11-03-20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73" tIns="46237" rIns="92473" bIns="46237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2473" tIns="46237" rIns="92473" bIns="46237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2473" tIns="46237" rIns="92473" bIns="46237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2473" tIns="46237" rIns="92473" bIns="46237" rtlCol="0" anchor="b"/>
          <a:lstStyle>
            <a:lvl1pPr algn="r">
              <a:defRPr sz="1200"/>
            </a:lvl1pPr>
          </a:lstStyle>
          <a:p>
            <a:fld id="{5CEA4E1A-0464-4D51-B906-9340FCC4281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62363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noProof="0" smtClean="0"/>
              <a:t>1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40340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 smtClean="0"/>
              <a:t>Paris, la ville qui lui manque</a:t>
            </a:r>
          </a:p>
          <a:p>
            <a:r>
              <a:rPr lang="fr-BE" dirty="0" smtClean="0"/>
              <a:t>Paris où il est né</a:t>
            </a:r>
          </a:p>
          <a:p>
            <a:r>
              <a:rPr lang="fr-BE" dirty="0" smtClean="0"/>
              <a:t>Paris dont il rêve</a:t>
            </a:r>
          </a:p>
          <a:p>
            <a:r>
              <a:rPr lang="fr-BE" dirty="0" smtClean="0"/>
              <a:t>Paris qu’il a quitté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2CAD-590E-49E1-8C79-AB4D6EB83280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07963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2CAD-590E-49E1-8C79-AB4D6EB83280}" type="slidenum">
              <a:rPr lang="fr-BE" smtClean="0"/>
              <a:t>11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90783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A4E1A-0464-4D51-B906-9340FCC42815}" type="slidenum">
              <a:rPr lang="fr-BE" smtClean="0"/>
              <a:t>18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80494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33927F-8EE8-4333-8816-7C41B1071991}" type="slidenum">
              <a:rPr lang="fr-BE" smtClean="0"/>
              <a:t>20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12613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B79BCA-323A-41B0-949C-BF1CD76517FD}" type="datetimeFigureOut">
              <a:rPr lang="fr-BE" smtClean="0"/>
              <a:t>11-03-20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470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9BCA-323A-41B0-949C-BF1CD76517FD}" type="datetimeFigureOut">
              <a:rPr lang="fr-BE" smtClean="0"/>
              <a:t>11-03-20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77138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B79BCA-323A-41B0-949C-BF1CD76517FD}" type="datetimeFigureOut">
              <a:rPr lang="fr-BE" smtClean="0"/>
              <a:t>11-03-20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87419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9BCA-323A-41B0-949C-BF1CD76517FD}" type="datetimeFigureOut">
              <a:rPr lang="fr-BE" smtClean="0"/>
              <a:t>11-03-20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0651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9BCA-323A-41B0-949C-BF1CD76517FD}" type="datetimeFigureOut">
              <a:rPr lang="fr-BE" smtClean="0"/>
              <a:t>11-03-20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89916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9BCA-323A-41B0-949C-BF1CD76517FD}" type="datetimeFigureOut">
              <a:rPr lang="fr-BE" smtClean="0"/>
              <a:t>11-03-20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33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9BCA-323A-41B0-949C-BF1CD76517FD}" type="datetimeFigureOut">
              <a:rPr lang="fr-BE" smtClean="0"/>
              <a:t>11-03-20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5088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B79BCA-323A-41B0-949C-BF1CD76517FD}" type="datetimeFigureOut">
              <a:rPr lang="fr-BE" smtClean="0"/>
              <a:t>11-03-20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57794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9BCA-323A-41B0-949C-BF1CD76517FD}" type="datetimeFigureOut">
              <a:rPr lang="fr-BE" smtClean="0"/>
              <a:t>11-03-20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09243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9BCA-323A-41B0-949C-BF1CD76517FD}" type="datetimeFigureOut">
              <a:rPr lang="fr-BE" smtClean="0"/>
              <a:t>11-03-20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00610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B79BCA-323A-41B0-949C-BF1CD76517FD}" type="datetimeFigureOut">
              <a:rPr lang="fr-BE" smtClean="0"/>
              <a:t>11-03-20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19017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Texte Images_Importa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’image 16">
            <a:extLst>
              <a:ext uri="{FF2B5EF4-FFF2-40B4-BE49-F238E27FC236}">
                <a16:creationId xmlns:a16="http://schemas.microsoft.com/office/drawing/2014/main" id="{D935D313-376E-4CA0-9732-D0CACCC07F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64300" y="0"/>
            <a:ext cx="5727700" cy="6858000"/>
          </a:xfrm>
          <a:custGeom>
            <a:avLst/>
            <a:gdLst>
              <a:gd name="connsiteX0" fmla="*/ 1708150 w 5727700"/>
              <a:gd name="connsiteY0" fmla="*/ 0 h 6858000"/>
              <a:gd name="connsiteX1" fmla="*/ 5727700 w 5727700"/>
              <a:gd name="connsiteY1" fmla="*/ 0 h 6858000"/>
              <a:gd name="connsiteX2" fmla="*/ 5727700 w 5727700"/>
              <a:gd name="connsiteY2" fmla="*/ 6858000 h 6858000"/>
              <a:gd name="connsiteX3" fmla="*/ 0 w 5727700"/>
              <a:gd name="connsiteY3" fmla="*/ 6858000 h 6858000"/>
              <a:gd name="connsiteX4" fmla="*/ 0 w 5727700"/>
              <a:gd name="connsiteY4" fmla="*/ 6832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27700" h="6858000">
                <a:moveTo>
                  <a:pt x="1708150" y="0"/>
                </a:moveTo>
                <a:lnTo>
                  <a:pt x="5727700" y="0"/>
                </a:lnTo>
                <a:lnTo>
                  <a:pt x="5727700" y="6858000"/>
                </a:lnTo>
                <a:lnTo>
                  <a:pt x="0" y="6858000"/>
                </a:lnTo>
                <a:lnTo>
                  <a:pt x="0" y="6832600"/>
                </a:lnTo>
                <a:close/>
              </a:path>
            </a:pathLst>
          </a:custGeom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/>
            </a:lvl1pPr>
          </a:lstStyle>
          <a:p>
            <a:pPr marL="228600" lvl="0" indent="-228600" algn="ctr" rtl="0"/>
            <a:r>
              <a:rPr lang="fr-FR" noProof="0"/>
              <a:t>Insérer une image</a:t>
            </a:r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83A2DEF1-03FF-475D-994A-6FC6FB1414F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8087304" cy="6858000"/>
          </a:xfrm>
          <a:custGeom>
            <a:avLst/>
            <a:gdLst>
              <a:gd name="connsiteX0" fmla="*/ 0 w 8087304"/>
              <a:gd name="connsiteY0" fmla="*/ 0 h 6858000"/>
              <a:gd name="connsiteX1" fmla="*/ 8087304 w 8087304"/>
              <a:gd name="connsiteY1" fmla="*/ 0 h 6858000"/>
              <a:gd name="connsiteX2" fmla="*/ 8087304 w 8087304"/>
              <a:gd name="connsiteY2" fmla="*/ 7620 h 6858000"/>
              <a:gd name="connsiteX3" fmla="*/ 6368365 w 8087304"/>
              <a:gd name="connsiteY3" fmla="*/ 6858000 h 6858000"/>
              <a:gd name="connsiteX4" fmla="*/ 0 w 808730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87304" h="6858000">
                <a:moveTo>
                  <a:pt x="0" y="0"/>
                </a:moveTo>
                <a:lnTo>
                  <a:pt x="8087304" y="0"/>
                </a:lnTo>
                <a:lnTo>
                  <a:pt x="8087304" y="7620"/>
                </a:lnTo>
                <a:lnTo>
                  <a:pt x="636836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 anchor="ctr" anchorCtr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85750" marR="0" lvl="0" indent="-28575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noProof="0"/>
              <a:t>Insérer une image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5586" y="5047107"/>
            <a:ext cx="5005614" cy="1005840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586" y="4081468"/>
            <a:ext cx="5005614" cy="822960"/>
          </a:xfrm>
        </p:spPr>
        <p:txBody>
          <a:bodyPr vert="horz" wrap="square" lIns="0" tIns="45720" rIns="91440" bIns="45720" rtlCol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GB" sz="2400" dirty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marL="0" lvl="0" rtl="0">
              <a:lnSpc>
                <a:spcPct val="100000"/>
              </a:lnSpc>
            </a:pPr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20" name="Espace réservé du numéro de diapositive 7">
            <a:extLst>
              <a:ext uri="{FF2B5EF4-FFF2-40B4-BE49-F238E27FC236}">
                <a16:creationId xmlns:a16="http://schemas.microsoft.com/office/drawing/2014/main" id="{1CEA3362-50AD-4D98-92C4-DA1D8C857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fr-FR" noProof="0" smtClean="0"/>
              <a:pPr algn="ctr"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17174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 Content_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A46D6285-06A8-4297-915D-0A280359C28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36125" y="0"/>
            <a:ext cx="5355875" cy="6858000"/>
          </a:xfrm>
        </p:spPr>
        <p:txBody>
          <a:bodyPr vert="horz" lIns="91440" tIns="45720" rIns="91440" bIns="45720" rtlCol="0" anchor="ctr" anchorCtr="1">
            <a:normAutofit/>
          </a:bodyPr>
          <a:lstStyle>
            <a:lvl1pPr>
              <a:defRPr lang="en-GB" sz="2400">
                <a:solidFill>
                  <a:schemeClr val="tx1"/>
                </a:solidFill>
              </a:defRPr>
            </a:lvl1pPr>
          </a:lstStyle>
          <a:p>
            <a:pPr marL="0" lvl="0" indent="0" rtl="0">
              <a:buNone/>
            </a:pPr>
            <a:r>
              <a:rPr lang="fr-FR" noProof="0"/>
              <a:t>Insérer une image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C7F0E85E-786D-44FC-A9C8-8853277D7C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86558" y="2717803"/>
            <a:ext cx="28346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2717803"/>
            <a:ext cx="28346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68915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06451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17" name="Espace réservé du contenu 15">
            <a:extLst>
              <a:ext uri="{FF2B5EF4-FFF2-40B4-BE49-F238E27FC236}">
                <a16:creationId xmlns:a16="http://schemas.microsoft.com/office/drawing/2014/main" id="{6DF8CB66-232E-4CE3-96FC-CE37C74994E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645309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18" name="Espace réservé du numéro de diapositive 7">
            <a:extLst>
              <a:ext uri="{FF2B5EF4-FFF2-40B4-BE49-F238E27FC236}">
                <a16:creationId xmlns:a16="http://schemas.microsoft.com/office/drawing/2014/main" id="{8728750D-82C7-4A8D-A7C7-554934667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fr-FR" noProof="0" smtClean="0"/>
              <a:pPr algn="ctr"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65732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7B79BCA-323A-41B0-949C-BF1CD76517FD}" type="datetimeFigureOut">
              <a:rPr lang="fr-BE" smtClean="0"/>
              <a:t>11-03-20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84700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louvainfo.be/calendrier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f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ilymotion.com/video/x89c7c_belgique-vers-la-fracture_news" TargetMode="External"/><Relationship Id="rId2" Type="http://schemas.openxmlformats.org/officeDocument/2006/relationships/hyperlink" Target="https://ezcast.uclouvain.be/ezplayer/index.php?action=view_album_assets&amp;album=LFRAN1301_Unit2-pub&amp;token=JOZHNBYH&amp;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’image 4" descr="fille avec un casque, un sac à dos, et une pile de reliure/livres">
            <a:extLst>
              <a:ext uri="{FF2B5EF4-FFF2-40B4-BE49-F238E27FC236}">
                <a16:creationId xmlns:a16="http://schemas.microsoft.com/office/drawing/2014/main" id="{68B6FFC1-6A21-4DAC-82BC-F2966925C16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087304" cy="6858000"/>
          </a:xfrm>
        </p:spPr>
      </p:pic>
      <p:sp>
        <p:nvSpPr>
          <p:cNvPr id="14" name="Rectangle 13" descr="élément décoratif">
            <a:extLst>
              <a:ext uri="{FF2B5EF4-FFF2-40B4-BE49-F238E27FC236}">
                <a16:creationId xmlns:a16="http://schemas.microsoft.com/office/drawing/2014/main" id="{C862BC4D-BD7A-417E-A34A-59CE4D4A6AC8}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5" name="Ovale 14" descr="élément décoratif">
            <a:extLst>
              <a:ext uri="{FF2B5EF4-FFF2-40B4-BE49-F238E27FC236}">
                <a16:creationId xmlns:a16="http://schemas.microsoft.com/office/drawing/2014/main" id="{652937FB-CDE3-46B3-8481-AB5DB8C4BABA}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33" name="Titre 32">
            <a:extLst>
              <a:ext uri="{FF2B5EF4-FFF2-40B4-BE49-F238E27FC236}">
                <a16:creationId xmlns:a16="http://schemas.microsoft.com/office/drawing/2014/main" id="{18CDD97B-6E25-4FB4-B239-493E54AA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5122000"/>
            <a:ext cx="5005614" cy="822960"/>
          </a:xfrm>
          <a:solidFill>
            <a:srgbClr val="C00000"/>
          </a:solidFill>
        </p:spPr>
        <p:txBody>
          <a:bodyPr rtlCol="0"/>
          <a:lstStyle/>
          <a:p>
            <a:pPr rtl="0"/>
            <a:r>
              <a:rPr lang="fr-FR" dirty="0" smtClean="0">
                <a:solidFill>
                  <a:schemeClr val="bg1"/>
                </a:solidFill>
              </a:rPr>
              <a:t>Comprendre la Belgique</a:t>
            </a:r>
            <a:br>
              <a:rPr lang="fr-FR" dirty="0" smtClean="0">
                <a:solidFill>
                  <a:schemeClr val="bg1"/>
                </a:solidFill>
              </a:rPr>
            </a:br>
            <a:r>
              <a:rPr lang="fr-FR" dirty="0" smtClean="0">
                <a:solidFill>
                  <a:schemeClr val="bg1"/>
                </a:solidFill>
              </a:rPr>
              <a:t>LFRAN1301 – B1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C2827A65-383D-4D68-9F51-F76C2370BF65}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smtClean="0">
                <a:solidFill>
                  <a:schemeClr val="bg1"/>
                </a:solidFill>
              </a:rPr>
              <a:pPr algn="ctr" rtl="0"/>
              <a:t>1</a:t>
            </a:fld>
            <a:endParaRPr lang="fr-FR" sz="1200">
              <a:solidFill>
                <a:schemeClr val="bg1"/>
              </a:solidFill>
            </a:endParaRPr>
          </a:p>
        </p:txBody>
      </p:sp>
      <p:pic>
        <p:nvPicPr>
          <p:cNvPr id="6" name="Espace réservé pour une image  5"/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82" r="22182"/>
          <a:stretch>
            <a:fillRect/>
          </a:stretch>
        </p:blipFill>
        <p:spPr/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0722" y="6056675"/>
            <a:ext cx="3371850" cy="78105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9438" y="6056675"/>
            <a:ext cx="803564" cy="77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96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Compétition de conjugaison au passé composé … &gt; JE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fr-BE" dirty="0" smtClean="0"/>
              <a:t>Vivre</a:t>
            </a:r>
          </a:p>
          <a:p>
            <a:pPr marL="342900" indent="-342900">
              <a:buFont typeface="+mj-lt"/>
              <a:buAutoNum type="arabicPeriod"/>
            </a:pPr>
            <a:r>
              <a:rPr lang="fr-BE" dirty="0" smtClean="0"/>
              <a:t>Prendre</a:t>
            </a:r>
          </a:p>
          <a:p>
            <a:pPr marL="342900" indent="-342900">
              <a:buFont typeface="+mj-lt"/>
              <a:buAutoNum type="arabicPeriod"/>
            </a:pPr>
            <a:r>
              <a:rPr lang="fr-BE" dirty="0" smtClean="0"/>
              <a:t>Adoucir</a:t>
            </a:r>
          </a:p>
          <a:p>
            <a:pPr marL="342900" indent="-342900">
              <a:buFont typeface="+mj-lt"/>
              <a:buAutoNum type="arabicPeriod"/>
            </a:pPr>
            <a:r>
              <a:rPr lang="fr-BE" dirty="0" smtClean="0"/>
              <a:t>Rendre</a:t>
            </a:r>
          </a:p>
          <a:p>
            <a:pPr marL="342900" indent="-342900">
              <a:buFont typeface="+mj-lt"/>
              <a:buAutoNum type="arabicPeriod"/>
            </a:pPr>
            <a:r>
              <a:rPr lang="fr-BE" dirty="0" smtClean="0"/>
              <a:t>Gérer</a:t>
            </a:r>
          </a:p>
          <a:p>
            <a:pPr marL="342900" indent="-342900">
              <a:buFont typeface="+mj-lt"/>
              <a:buAutoNum type="arabicPeriod"/>
            </a:pPr>
            <a:r>
              <a:rPr lang="fr-BE" dirty="0" smtClean="0"/>
              <a:t>Diffuser</a:t>
            </a:r>
          </a:p>
          <a:p>
            <a:pPr marL="342900" indent="-342900">
              <a:buFont typeface="+mj-lt"/>
              <a:buAutoNum type="arabicPeriod"/>
            </a:pPr>
            <a:r>
              <a:rPr lang="fr-BE" dirty="0" smtClean="0"/>
              <a:t>Vouloir</a:t>
            </a:r>
          </a:p>
          <a:p>
            <a:pPr marL="342900" indent="-342900">
              <a:buFont typeface="+mj-lt"/>
              <a:buAutoNum type="arabicPeriod"/>
            </a:pPr>
            <a:r>
              <a:rPr lang="fr-BE" dirty="0" smtClean="0"/>
              <a:t>Entendre </a:t>
            </a:r>
          </a:p>
          <a:p>
            <a:endParaRPr lang="fr-BE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9"/>
            </a:pPr>
            <a:r>
              <a:rPr lang="fr-BE" dirty="0" smtClean="0"/>
              <a:t>Faire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fr-BE" dirty="0" smtClean="0"/>
              <a:t>Recevoir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fr-BE" dirty="0" smtClean="0"/>
              <a:t>Finir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fr-BE" dirty="0" smtClean="0"/>
              <a:t>Sortir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fr-BE" dirty="0" smtClean="0"/>
              <a:t>Savoir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fr-BE" dirty="0" smtClean="0"/>
              <a:t>Voir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fr-BE" dirty="0" smtClean="0"/>
              <a:t>Comprendre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fr-BE" dirty="0" smtClean="0"/>
              <a:t>Crier 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149745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aujourd’hui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 smtClean="0"/>
              <a:t>Révisions </a:t>
            </a:r>
            <a:r>
              <a:rPr lang="fr-BE" dirty="0" smtClean="0"/>
              <a:t>du passé composé</a:t>
            </a:r>
            <a:endParaRPr lang="fr-BE" dirty="0" smtClean="0"/>
          </a:p>
          <a:p>
            <a:r>
              <a:rPr lang="fr-BE" dirty="0" smtClean="0"/>
              <a:t>Grammaire : </a:t>
            </a:r>
          </a:p>
          <a:p>
            <a:pPr lvl="1"/>
            <a:r>
              <a:rPr lang="fr-BE" dirty="0" smtClean="0"/>
              <a:t>Les pronoms </a:t>
            </a:r>
            <a:r>
              <a:rPr lang="fr-BE" dirty="0" smtClean="0"/>
              <a:t>relatifs</a:t>
            </a:r>
          </a:p>
          <a:p>
            <a:r>
              <a:rPr lang="fr-BE" dirty="0" smtClean="0"/>
              <a:t>Ecouter un </a:t>
            </a:r>
            <a:r>
              <a:rPr lang="fr-BE" dirty="0"/>
              <a:t>reportage </a:t>
            </a:r>
            <a:r>
              <a:rPr lang="fr-BE" dirty="0" smtClean="0"/>
              <a:t>(</a:t>
            </a:r>
            <a:r>
              <a:rPr lang="fr-BE" i="1" dirty="0" smtClean="0"/>
              <a:t>Le </a:t>
            </a:r>
            <a:r>
              <a:rPr lang="fr-BE" i="1" dirty="0"/>
              <a:t>dessous des </a:t>
            </a:r>
            <a:r>
              <a:rPr lang="fr-BE" i="1" dirty="0" smtClean="0"/>
              <a:t>cartes</a:t>
            </a:r>
            <a:r>
              <a:rPr lang="fr-BE" dirty="0" smtClean="0"/>
              <a:t>) </a:t>
            </a:r>
            <a:r>
              <a:rPr lang="fr-BE" dirty="0"/>
              <a:t>p</a:t>
            </a:r>
            <a:r>
              <a:rPr lang="fr-BE" dirty="0" smtClean="0"/>
              <a:t>. </a:t>
            </a:r>
            <a:r>
              <a:rPr lang="fr-BE" dirty="0" smtClean="0"/>
              <a:t>82 : correction</a:t>
            </a:r>
            <a:endParaRPr lang="fr-BE" dirty="0" smtClean="0"/>
          </a:p>
          <a:p>
            <a:r>
              <a:rPr lang="fr-BE" dirty="0" smtClean="0"/>
              <a:t># </a:t>
            </a:r>
            <a:r>
              <a:rPr lang="fr-BE" dirty="0"/>
              <a:t>Défi 3 : Préparer le RENDEZ-VOUS Surprise (lire p. 78 les instructions)</a:t>
            </a:r>
          </a:p>
          <a:p>
            <a:pPr lvl="1"/>
            <a:endParaRPr lang="fr-BE" dirty="0" smtClean="0"/>
          </a:p>
        </p:txBody>
      </p:sp>
    </p:spTree>
    <p:extLst>
      <p:ext uri="{BB962C8B-B14F-4D97-AF65-F5344CB8AC3E}">
        <p14:creationId xmlns:p14="http://schemas.microsoft.com/office/powerpoint/2010/main" val="4053018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Correction du défi #2 : modèles d’inspiration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 sz="2800" dirty="0" smtClean="0">
                <a:solidFill>
                  <a:srgbClr val="00B050"/>
                </a:solidFill>
              </a:rPr>
              <a:t>« Aujourd’hui, c’est un jour d’hiver froid, mais vraiment ensoleillé. C’est samedi, donc je n’ai pas besoin d’aller à l’université ce matin ; en vrai, c’est une bonne journée pour regarder par la fenêtre. Je me suis réveillé un peu tard, environ à 11 h et la première chose que j’ai faite après avoir ouvert les yeux, c’est lever les volets et ensuite regarder par la fenêtre de ma chambre. »</a:t>
            </a:r>
          </a:p>
          <a:p>
            <a:r>
              <a:rPr lang="fr-BE" sz="2800" dirty="0" smtClean="0">
                <a:solidFill>
                  <a:srgbClr val="00B050"/>
                </a:solidFill>
              </a:rPr>
              <a:t>« Le chant des oiseaux me relaxe »</a:t>
            </a:r>
          </a:p>
          <a:p>
            <a:r>
              <a:rPr lang="fr-BE" sz="2800" dirty="0" smtClean="0">
                <a:solidFill>
                  <a:srgbClr val="00B050"/>
                </a:solidFill>
              </a:rPr>
              <a:t>« La pluie bat doucement ma fenêtre »</a:t>
            </a:r>
            <a:endParaRPr lang="fr-BE" sz="2800" dirty="0" smtClean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033360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Correction du défi #2 : erreurs à éviter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sz="2800" dirty="0" smtClean="0">
                <a:solidFill>
                  <a:srgbClr val="00B050"/>
                </a:solidFill>
              </a:rPr>
              <a:t>De (origine)</a:t>
            </a:r>
            <a:r>
              <a:rPr lang="fr-BE" sz="2800" dirty="0" smtClean="0"/>
              <a:t> la fenêtre de la cuisine</a:t>
            </a:r>
          </a:p>
          <a:p>
            <a:r>
              <a:rPr lang="fr-BE" sz="2800" dirty="0" smtClean="0">
                <a:solidFill>
                  <a:srgbClr val="00B050"/>
                </a:solidFill>
              </a:rPr>
              <a:t>Je</a:t>
            </a:r>
            <a:r>
              <a:rPr lang="fr-BE" sz="2800" dirty="0" smtClean="0"/>
              <a:t> vois </a:t>
            </a:r>
            <a:r>
              <a:rPr lang="fr-BE" sz="2800" dirty="0" smtClean="0">
                <a:solidFill>
                  <a:srgbClr val="00B050"/>
                </a:solidFill>
              </a:rPr>
              <a:t>et</a:t>
            </a:r>
            <a:r>
              <a:rPr lang="fr-BE" sz="2800" dirty="0" smtClean="0"/>
              <a:t> </a:t>
            </a:r>
            <a:r>
              <a:rPr lang="fr-BE" sz="2800" dirty="0" smtClean="0">
                <a:solidFill>
                  <a:srgbClr val="00B050"/>
                </a:solidFill>
              </a:rPr>
              <a:t>j’</a:t>
            </a:r>
            <a:r>
              <a:rPr lang="fr-BE" sz="2800" dirty="0" smtClean="0"/>
              <a:t>entends    / </a:t>
            </a:r>
            <a:r>
              <a:rPr lang="fr-BE" sz="2800" dirty="0" smtClean="0">
                <a:solidFill>
                  <a:srgbClr val="00B050"/>
                </a:solidFill>
              </a:rPr>
              <a:t>des</a:t>
            </a:r>
            <a:r>
              <a:rPr lang="fr-BE" sz="2800" dirty="0" smtClean="0"/>
              <a:t> …. </a:t>
            </a:r>
            <a:r>
              <a:rPr lang="fr-BE" sz="2800" dirty="0" smtClean="0">
                <a:solidFill>
                  <a:srgbClr val="00B050"/>
                </a:solidFill>
              </a:rPr>
              <a:t>et des </a:t>
            </a:r>
            <a:r>
              <a:rPr lang="fr-BE" sz="2800" dirty="0" smtClean="0"/>
              <a:t>… </a:t>
            </a:r>
            <a:r>
              <a:rPr lang="fr-BE" sz="2800" dirty="0" smtClean="0">
                <a:solidFill>
                  <a:srgbClr val="00B050"/>
                </a:solidFill>
              </a:rPr>
              <a:t>= symétrie de structure</a:t>
            </a:r>
          </a:p>
          <a:p>
            <a:r>
              <a:rPr lang="fr-BE" sz="2800" dirty="0" smtClean="0"/>
              <a:t>Je peux </a:t>
            </a:r>
            <a:r>
              <a:rPr lang="fr-BE" sz="2800" dirty="0" smtClean="0">
                <a:solidFill>
                  <a:srgbClr val="00B050"/>
                </a:solidFill>
              </a:rPr>
              <a:t>aussi</a:t>
            </a:r>
            <a:r>
              <a:rPr lang="fr-BE" sz="2800" dirty="0" smtClean="0"/>
              <a:t> entendre </a:t>
            </a:r>
            <a:r>
              <a:rPr lang="fr-BE" sz="2800" dirty="0" smtClean="0">
                <a:solidFill>
                  <a:srgbClr val="00B050"/>
                </a:solidFill>
              </a:rPr>
              <a:t>(aussi = juste après le verbe)</a:t>
            </a:r>
          </a:p>
          <a:p>
            <a:r>
              <a:rPr lang="fr-BE" sz="2800" dirty="0" smtClean="0">
                <a:solidFill>
                  <a:srgbClr val="00B050"/>
                </a:solidFill>
              </a:rPr>
              <a:t>Ce dont j’ai besoin </a:t>
            </a:r>
            <a:r>
              <a:rPr lang="fr-BE" sz="2800" dirty="0" smtClean="0"/>
              <a:t>(avoir besoin de)</a:t>
            </a:r>
          </a:p>
          <a:p>
            <a:r>
              <a:rPr lang="fr-BE" sz="2800" dirty="0" smtClean="0">
                <a:solidFill>
                  <a:srgbClr val="00B050"/>
                </a:solidFill>
              </a:rPr>
              <a:t>Entendre</a:t>
            </a:r>
            <a:r>
              <a:rPr lang="fr-BE" sz="2800" dirty="0" smtClean="0"/>
              <a:t> (involontaire)  </a:t>
            </a:r>
            <a:r>
              <a:rPr lang="fr-BE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≠ </a:t>
            </a:r>
            <a:r>
              <a:rPr lang="fr-BE" sz="2800" dirty="0" smtClean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écouter</a:t>
            </a:r>
            <a:r>
              <a:rPr lang="fr-BE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(volontaire)</a:t>
            </a:r>
            <a:endParaRPr lang="fr-BE" sz="2800" dirty="0" smtClean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363079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Correction du défi #2 :  </a:t>
            </a:r>
            <a:r>
              <a:rPr lang="fr-BE" dirty="0"/>
              <a:t>erreurs à éviter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sz="2800" dirty="0" smtClean="0"/>
              <a:t>Je peux </a:t>
            </a:r>
            <a:r>
              <a:rPr lang="fr-BE" sz="2800" dirty="0" smtClean="0">
                <a:solidFill>
                  <a:srgbClr val="00B050"/>
                </a:solidFill>
              </a:rPr>
              <a:t>entendre (infinitif)</a:t>
            </a:r>
            <a:r>
              <a:rPr lang="fr-BE" sz="2800" dirty="0" smtClean="0"/>
              <a:t> les oiseaux chanter</a:t>
            </a:r>
          </a:p>
          <a:p>
            <a:r>
              <a:rPr lang="fr-BE" sz="2800" dirty="0" smtClean="0"/>
              <a:t>Je vois les gens </a:t>
            </a:r>
            <a:r>
              <a:rPr lang="fr-BE" sz="2800" dirty="0">
                <a:solidFill>
                  <a:srgbClr val="00B050"/>
                </a:solidFill>
              </a:rPr>
              <a:t>faire du </a:t>
            </a:r>
            <a:r>
              <a:rPr lang="fr-BE" sz="2800" dirty="0" smtClean="0">
                <a:solidFill>
                  <a:srgbClr val="00B050"/>
                </a:solidFill>
              </a:rPr>
              <a:t>sport / qui font du sport </a:t>
            </a:r>
          </a:p>
          <a:p>
            <a:r>
              <a:rPr lang="fr-BE" sz="2800" dirty="0" smtClean="0">
                <a:solidFill>
                  <a:srgbClr val="00B050"/>
                </a:solidFill>
              </a:rPr>
              <a:t>Beaucoup DE + pluriel</a:t>
            </a:r>
          </a:p>
          <a:p>
            <a:r>
              <a:rPr lang="fr-BE" sz="2800" strike="dblStrike" dirty="0" smtClean="0"/>
              <a:t>J’aime que j’ai </a:t>
            </a:r>
            <a:r>
              <a:rPr lang="fr-BE" sz="2800" dirty="0" smtClean="0"/>
              <a:t>= j’aime avoir (sujets identiques)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6168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 Défi 3 – rendez-vous surprise (p. 78)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sz="2400" dirty="0" smtClean="0"/>
              <a:t>Former 6 groupes</a:t>
            </a:r>
          </a:p>
          <a:p>
            <a:r>
              <a:rPr lang="fr-BE" sz="2400" dirty="0" smtClean="0"/>
              <a:t>Choisir 12 organisateurs (2 personnes par groupe)</a:t>
            </a:r>
          </a:p>
          <a:p>
            <a:r>
              <a:rPr lang="fr-BE" sz="2400" dirty="0" smtClean="0"/>
              <a:t>Vivre le rendez-vous surprise entre le 6 mars et le 6 avril</a:t>
            </a:r>
          </a:p>
          <a:p>
            <a:r>
              <a:rPr lang="fr-BE" sz="2400" dirty="0" smtClean="0"/>
              <a:t>Aller voir l’agenda des activités sur </a:t>
            </a:r>
            <a:r>
              <a:rPr lang="fr-BE" sz="2400" dirty="0" smtClean="0">
                <a:hlinkClick r:id="rId2"/>
              </a:rPr>
              <a:t>louvainfo.be</a:t>
            </a:r>
            <a:endParaRPr lang="fr-BE" sz="2400" dirty="0" smtClean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2919" y="2409536"/>
            <a:ext cx="3473434" cy="3732646"/>
          </a:xfrm>
          <a:prstGeom prst="rect">
            <a:avLst/>
          </a:prstGeom>
        </p:spPr>
      </p:pic>
      <p:sp>
        <p:nvSpPr>
          <p:cNvPr id="5" name="Rectangle à coins arrondis 4"/>
          <p:cNvSpPr/>
          <p:nvPr/>
        </p:nvSpPr>
        <p:spPr>
          <a:xfrm>
            <a:off x="4417995" y="2011680"/>
            <a:ext cx="2088683" cy="1145406"/>
          </a:xfrm>
          <a:prstGeom prst="wedgeRoundRectCallou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>
                <a:solidFill>
                  <a:srgbClr val="FF0000"/>
                </a:solidFill>
              </a:rPr>
              <a:t>A faire avant </a:t>
            </a:r>
          </a:p>
          <a:p>
            <a:pPr algn="ctr"/>
            <a:r>
              <a:rPr lang="fr-BE" dirty="0" smtClean="0">
                <a:solidFill>
                  <a:srgbClr val="FF0000"/>
                </a:solidFill>
              </a:rPr>
              <a:t>le 10 mai</a:t>
            </a:r>
            <a:endParaRPr lang="fr-B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41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43563" y="472697"/>
            <a:ext cx="10993549" cy="1475013"/>
          </a:xfrm>
        </p:spPr>
        <p:txBody>
          <a:bodyPr/>
          <a:lstStyle/>
          <a:p>
            <a:r>
              <a:rPr lang="fr-BE" dirty="0" smtClean="0"/>
              <a:t>Unité 2 – La Belgique… complexe</a:t>
            </a:r>
            <a:endParaRPr lang="fr-BE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BE" dirty="0" smtClean="0"/>
              <a:t>Cours 11 – la création de la Belgique – les pronoms relatifs – passé composé et place de l’adverbe</a:t>
            </a:r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123" y="2874987"/>
            <a:ext cx="487680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18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Rappel – Charles Baudelaire p.72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-666312" y="4097632"/>
            <a:ext cx="55614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 </a:t>
            </a:r>
            <a:br>
              <a:rPr lang="fr-BE" dirty="0" smtClean="0"/>
            </a:br>
            <a:r>
              <a:rPr lang="fr-BE" dirty="0" smtClean="0"/>
              <a:t/>
            </a:r>
            <a:br>
              <a:rPr lang="fr-BE" dirty="0" smtClean="0"/>
            </a:br>
            <a:endParaRPr lang="fr-BE" dirty="0"/>
          </a:p>
        </p:txBody>
      </p:sp>
      <p:pic>
        <p:nvPicPr>
          <p:cNvPr id="6" name="Espace réservé du contenu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868" y="1977967"/>
            <a:ext cx="2891601" cy="4034792"/>
          </a:xfrm>
        </p:spPr>
      </p:pic>
      <p:sp>
        <p:nvSpPr>
          <p:cNvPr id="4" name="Rectangle 3"/>
          <p:cNvSpPr/>
          <p:nvPr/>
        </p:nvSpPr>
        <p:spPr>
          <a:xfrm>
            <a:off x="581193" y="3145355"/>
            <a:ext cx="6841583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BE" sz="3200" dirty="0"/>
              <a:t>«</a:t>
            </a:r>
            <a:r>
              <a:rPr lang="fr-BE" sz="3200" i="1" dirty="0"/>
              <a:t>Tout enfant, j’ai senti dans mon cœur deux sentiments contradictoires : l’horreur de la vie et l’extase de la vie.</a:t>
            </a:r>
            <a:r>
              <a:rPr lang="fr-BE" sz="3200" dirty="0"/>
              <a:t>»</a:t>
            </a:r>
          </a:p>
          <a:p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53984" y="5219050"/>
            <a:ext cx="6096000" cy="12003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 algn="ctr"/>
            <a:r>
              <a:rPr lang="fr-FR" dirty="0"/>
              <a:t>Paris, la ville qui lui manque</a:t>
            </a:r>
          </a:p>
          <a:p>
            <a:pPr algn="ctr"/>
            <a:r>
              <a:rPr lang="fr-FR" dirty="0"/>
              <a:t>Paris où il est né</a:t>
            </a:r>
          </a:p>
          <a:p>
            <a:pPr algn="ctr"/>
            <a:r>
              <a:rPr lang="fr-FR" dirty="0"/>
              <a:t>Paris dont il rêve</a:t>
            </a:r>
          </a:p>
          <a:p>
            <a:pPr algn="ctr"/>
            <a:r>
              <a:rPr lang="fr-FR" dirty="0"/>
              <a:t>Paris qu’il a quitté</a:t>
            </a:r>
          </a:p>
        </p:txBody>
      </p:sp>
    </p:spTree>
    <p:extLst>
      <p:ext uri="{BB962C8B-B14F-4D97-AF65-F5344CB8AC3E}">
        <p14:creationId xmlns:p14="http://schemas.microsoft.com/office/powerpoint/2010/main" val="2409421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 pronoms relatifs (</a:t>
            </a:r>
            <a:r>
              <a:rPr lang="fr-BE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Syll</a:t>
            </a:r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P. 83 + GPF, p. 140, 141 n°1, 4, 143 n°5)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6981" y="2043157"/>
            <a:ext cx="4467149" cy="4460351"/>
          </a:xfrm>
          <a:prstGeom prst="rect">
            <a:avLst/>
          </a:prstGeom>
        </p:spPr>
      </p:pic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632036" y="2069351"/>
            <a:ext cx="4164951" cy="3633047"/>
          </a:xfrm>
        </p:spPr>
        <p:txBody>
          <a:bodyPr/>
          <a:lstStyle/>
          <a:p>
            <a:r>
              <a:rPr lang="fr-BE" dirty="0" smtClean="0"/>
              <a:t>C’est un légume</a:t>
            </a:r>
          </a:p>
          <a:p>
            <a:endParaRPr lang="fr-BE" dirty="0"/>
          </a:p>
        </p:txBody>
      </p:sp>
      <p:cxnSp>
        <p:nvCxnSpPr>
          <p:cNvPr id="8" name="Connecteur droit avec flèche 7"/>
          <p:cNvCxnSpPr/>
          <p:nvPr/>
        </p:nvCxnSpPr>
        <p:spPr>
          <a:xfrm flipV="1">
            <a:off x="6795997" y="2371143"/>
            <a:ext cx="1068601" cy="808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/>
          <p:nvPr/>
        </p:nvCxnSpPr>
        <p:spPr>
          <a:xfrm flipV="1">
            <a:off x="6868674" y="3023145"/>
            <a:ext cx="1189703" cy="577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>
            <a:endCxn id="18" idx="1"/>
          </p:cNvCxnSpPr>
          <p:nvPr/>
        </p:nvCxnSpPr>
        <p:spPr>
          <a:xfrm>
            <a:off x="6659587" y="3885875"/>
            <a:ext cx="1267189" cy="359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/>
          <p:nvPr/>
        </p:nvCxnSpPr>
        <p:spPr>
          <a:xfrm>
            <a:off x="6226735" y="3964805"/>
            <a:ext cx="1839118" cy="1221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7926776" y="2043157"/>
            <a:ext cx="92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QUI</a:t>
            </a:r>
            <a:endParaRPr lang="fr-BE" dirty="0"/>
          </a:p>
        </p:txBody>
      </p:sp>
      <p:sp>
        <p:nvSpPr>
          <p:cNvPr id="18" name="ZoneTexte 17"/>
          <p:cNvSpPr txBox="1"/>
          <p:nvPr/>
        </p:nvSpPr>
        <p:spPr>
          <a:xfrm>
            <a:off x="7926776" y="4061016"/>
            <a:ext cx="1628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OÙ</a:t>
            </a:r>
            <a:endParaRPr lang="fr-BE" dirty="0"/>
          </a:p>
        </p:txBody>
      </p:sp>
      <p:sp>
        <p:nvSpPr>
          <p:cNvPr id="19" name="ZoneTexte 18"/>
          <p:cNvSpPr txBox="1"/>
          <p:nvPr/>
        </p:nvSpPr>
        <p:spPr>
          <a:xfrm>
            <a:off x="7864598" y="3022536"/>
            <a:ext cx="1628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QUE / QU’</a:t>
            </a:r>
            <a:endParaRPr lang="fr-BE" dirty="0"/>
          </a:p>
        </p:txBody>
      </p:sp>
      <p:sp>
        <p:nvSpPr>
          <p:cNvPr id="20" name="ZoneTexte 19"/>
          <p:cNvSpPr txBox="1"/>
          <p:nvPr/>
        </p:nvSpPr>
        <p:spPr>
          <a:xfrm>
            <a:off x="7974445" y="5081829"/>
            <a:ext cx="1628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 DONT</a:t>
            </a:r>
            <a:endParaRPr lang="fr-BE" dirty="0"/>
          </a:p>
        </p:txBody>
      </p:sp>
      <p:sp>
        <p:nvSpPr>
          <p:cNvPr id="22" name="ZoneTexte 21"/>
          <p:cNvSpPr txBox="1"/>
          <p:nvPr/>
        </p:nvSpPr>
        <p:spPr>
          <a:xfrm>
            <a:off x="10288695" y="2944060"/>
            <a:ext cx="196216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est orange</a:t>
            </a:r>
          </a:p>
          <a:p>
            <a:endParaRPr lang="fr-BE" dirty="0" smtClean="0"/>
          </a:p>
          <a:p>
            <a:r>
              <a:rPr lang="fr-BE" dirty="0" smtClean="0"/>
              <a:t>j’ai acheté hier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 dirty="0" smtClean="0"/>
          </a:p>
          <a:p>
            <a:r>
              <a:rPr lang="fr-BE" dirty="0" smtClean="0"/>
              <a:t>    vit un ver de terre</a:t>
            </a:r>
          </a:p>
          <a:p>
            <a:endParaRPr lang="fr-BE" dirty="0" smtClean="0"/>
          </a:p>
          <a:p>
            <a:r>
              <a:rPr lang="fr-BE" dirty="0" smtClean="0"/>
              <a:t>les lapins raffolent </a:t>
            </a:r>
          </a:p>
          <a:p>
            <a:r>
              <a:rPr lang="fr-BE" dirty="0" smtClean="0">
                <a:solidFill>
                  <a:srgbClr val="0070C0"/>
                </a:solidFill>
              </a:rPr>
              <a:t>(raffoler de)</a:t>
            </a:r>
            <a:endParaRPr lang="fr-BE" dirty="0">
              <a:solidFill>
                <a:srgbClr val="0070C0"/>
              </a:solidFill>
            </a:endParaRPr>
          </a:p>
        </p:txBody>
      </p:sp>
      <p:cxnSp>
        <p:nvCxnSpPr>
          <p:cNvPr id="24" name="Connecteur droit avec flèche 23"/>
          <p:cNvCxnSpPr/>
          <p:nvPr/>
        </p:nvCxnSpPr>
        <p:spPr>
          <a:xfrm>
            <a:off x="8640627" y="2369471"/>
            <a:ext cx="1696194" cy="837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/>
          <p:nvPr/>
        </p:nvCxnSpPr>
        <p:spPr>
          <a:xfrm>
            <a:off x="8991737" y="3327284"/>
            <a:ext cx="1306884" cy="357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/>
          <p:cNvCxnSpPr/>
          <p:nvPr/>
        </p:nvCxnSpPr>
        <p:spPr>
          <a:xfrm>
            <a:off x="8557561" y="4259599"/>
            <a:ext cx="1879967" cy="25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/>
          <p:cNvCxnSpPr/>
          <p:nvPr/>
        </p:nvCxnSpPr>
        <p:spPr>
          <a:xfrm flipV="1">
            <a:off x="9033334" y="5186775"/>
            <a:ext cx="1151211" cy="150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177" y="4057315"/>
            <a:ext cx="1437938" cy="80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0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 pronoms relatifs (</a:t>
            </a:r>
            <a:r>
              <a:rPr lang="fr-BE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Syll</a:t>
            </a:r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P</a:t>
            </a:r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83 </a:t>
            </a:r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GPF, p. 140-142)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6981" y="2043157"/>
            <a:ext cx="4467149" cy="4460351"/>
          </a:xfrm>
          <a:prstGeom prst="rect">
            <a:avLst/>
          </a:prstGeom>
        </p:spPr>
      </p:pic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586684" y="2161635"/>
            <a:ext cx="4164951" cy="3633047"/>
          </a:xfrm>
        </p:spPr>
        <p:txBody>
          <a:bodyPr/>
          <a:lstStyle/>
          <a:p>
            <a:r>
              <a:rPr lang="fr-BE" dirty="0" smtClean="0"/>
              <a:t>France</a:t>
            </a:r>
          </a:p>
          <a:p>
            <a:endParaRPr lang="fr-BE" dirty="0"/>
          </a:p>
        </p:txBody>
      </p:sp>
      <p:cxnSp>
        <p:nvCxnSpPr>
          <p:cNvPr id="8" name="Connecteur droit avec flèche 7"/>
          <p:cNvCxnSpPr/>
          <p:nvPr/>
        </p:nvCxnSpPr>
        <p:spPr>
          <a:xfrm flipV="1">
            <a:off x="6348469" y="2371340"/>
            <a:ext cx="1022555" cy="1219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/>
          <p:nvPr/>
        </p:nvCxnSpPr>
        <p:spPr>
          <a:xfrm flipV="1">
            <a:off x="6563031" y="3207202"/>
            <a:ext cx="1189703" cy="577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>
            <a:off x="6659587" y="3885875"/>
            <a:ext cx="1154535" cy="642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/>
          <p:nvPr/>
        </p:nvCxnSpPr>
        <p:spPr>
          <a:xfrm>
            <a:off x="6226735" y="3964805"/>
            <a:ext cx="1839118" cy="1221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7926776" y="2043157"/>
            <a:ext cx="92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QUI</a:t>
            </a:r>
            <a:endParaRPr lang="fr-BE" dirty="0"/>
          </a:p>
        </p:txBody>
      </p:sp>
      <p:sp>
        <p:nvSpPr>
          <p:cNvPr id="18" name="ZoneTexte 17"/>
          <p:cNvSpPr txBox="1"/>
          <p:nvPr/>
        </p:nvSpPr>
        <p:spPr>
          <a:xfrm>
            <a:off x="7974445" y="4371247"/>
            <a:ext cx="1628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OÙ</a:t>
            </a:r>
            <a:endParaRPr lang="fr-BE" dirty="0"/>
          </a:p>
        </p:txBody>
      </p:sp>
      <p:sp>
        <p:nvSpPr>
          <p:cNvPr id="19" name="ZoneTexte 18"/>
          <p:cNvSpPr txBox="1"/>
          <p:nvPr/>
        </p:nvSpPr>
        <p:spPr>
          <a:xfrm>
            <a:off x="7864598" y="3022536"/>
            <a:ext cx="1628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QUE / QU’</a:t>
            </a:r>
            <a:endParaRPr lang="fr-BE" dirty="0"/>
          </a:p>
        </p:txBody>
      </p:sp>
      <p:sp>
        <p:nvSpPr>
          <p:cNvPr id="20" name="ZoneTexte 19"/>
          <p:cNvSpPr txBox="1"/>
          <p:nvPr/>
        </p:nvSpPr>
        <p:spPr>
          <a:xfrm>
            <a:off x="7974445" y="5081829"/>
            <a:ext cx="1628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DONT</a:t>
            </a:r>
            <a:endParaRPr lang="fr-BE" dirty="0"/>
          </a:p>
        </p:txBody>
      </p:sp>
      <p:sp>
        <p:nvSpPr>
          <p:cNvPr id="22" name="ZoneTexte 21"/>
          <p:cNvSpPr txBox="1"/>
          <p:nvPr/>
        </p:nvSpPr>
        <p:spPr>
          <a:xfrm>
            <a:off x="10234293" y="3545188"/>
            <a:ext cx="1376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Belgique</a:t>
            </a:r>
            <a:endParaRPr lang="fr-BE" dirty="0"/>
          </a:p>
        </p:txBody>
      </p:sp>
      <p:cxnSp>
        <p:nvCxnSpPr>
          <p:cNvPr id="24" name="Connecteur droit avec flèche 23"/>
          <p:cNvCxnSpPr/>
          <p:nvPr/>
        </p:nvCxnSpPr>
        <p:spPr>
          <a:xfrm flipH="1" flipV="1">
            <a:off x="8999797" y="2274411"/>
            <a:ext cx="1363403" cy="1178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/>
          <p:nvPr/>
        </p:nvCxnSpPr>
        <p:spPr>
          <a:xfrm flipH="1" flipV="1">
            <a:off x="9119309" y="3299867"/>
            <a:ext cx="1149388" cy="403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/>
          <p:cNvCxnSpPr/>
          <p:nvPr/>
        </p:nvCxnSpPr>
        <p:spPr>
          <a:xfrm flipH="1">
            <a:off x="8999796" y="3908359"/>
            <a:ext cx="1234497" cy="569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/>
          <p:cNvCxnSpPr/>
          <p:nvPr/>
        </p:nvCxnSpPr>
        <p:spPr>
          <a:xfrm flipH="1">
            <a:off x="9050351" y="4044526"/>
            <a:ext cx="1517848" cy="1185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6423" y="4943056"/>
            <a:ext cx="2345577" cy="1914944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473" y="4791075"/>
            <a:ext cx="2219325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165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Comparaison - À vous de jouer !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271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sz="2400" dirty="0" smtClean="0"/>
              <a:t>PRINCIPES : par groupe de 3 étudiants</a:t>
            </a:r>
          </a:p>
          <a:p>
            <a:r>
              <a:rPr lang="fr-BE" sz="2400" dirty="0"/>
              <a:t>Vous allez recevoir un morceau de la carte géographique de la Belgique, soit une Communauté, soit une Région.</a:t>
            </a:r>
          </a:p>
          <a:p>
            <a:r>
              <a:rPr lang="fr-BE" sz="2400" dirty="0" smtClean="0"/>
              <a:t>Vous allez recevoir une carte sur laquelle vous lirez des informations démographiques concernant une Communauté ou une Région de la Belgique.</a:t>
            </a:r>
          </a:p>
          <a:p>
            <a:pPr marL="666900" lvl="1" indent="-342900">
              <a:buFont typeface="+mj-lt"/>
              <a:buAutoNum type="arabicPeriod"/>
            </a:pPr>
            <a:r>
              <a:rPr lang="fr-BE" sz="2000" dirty="0" smtClean="0"/>
              <a:t>Vous placez le morceau de carte pour former la carte géographie complète de la Belgique.</a:t>
            </a:r>
          </a:p>
          <a:p>
            <a:pPr marL="666900" lvl="1" indent="-342900">
              <a:buFont typeface="+mj-lt"/>
              <a:buAutoNum type="arabicPeriod"/>
            </a:pPr>
            <a:r>
              <a:rPr lang="fr-BE" sz="2000" dirty="0" smtClean="0"/>
              <a:t>Vous lisez les informations démographiques qui sont sur votre carte.</a:t>
            </a:r>
          </a:p>
          <a:p>
            <a:pPr marL="666900" lvl="1" indent="-342900">
              <a:buFont typeface="+mj-lt"/>
              <a:buAutoNum type="arabicPeriod"/>
            </a:pPr>
            <a:r>
              <a:rPr lang="fr-BE" sz="2000" dirty="0" smtClean="0"/>
              <a:t>Ensemble, vous comparez les données.</a:t>
            </a:r>
          </a:p>
          <a:p>
            <a:pPr marL="324000" lvl="1" indent="0">
              <a:buNone/>
            </a:pPr>
            <a:r>
              <a:rPr lang="fr-BE" sz="2000" dirty="0" smtClean="0"/>
              <a:t>Par exemple : « À Bruxelles, il y a plus de francophones que de flamands. »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293613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232029"/>
            <a:ext cx="3155152" cy="3286125"/>
          </a:xfrm>
        </p:spPr>
        <p:txBody>
          <a:bodyPr/>
          <a:lstStyle/>
          <a:p>
            <a:r>
              <a:rPr lang="fr-BE" dirty="0"/>
              <a:t>Devinettes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48297" y="1880834"/>
            <a:ext cx="8212183" cy="48247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i="1" dirty="0"/>
              <a:t>- </a:t>
            </a:r>
            <a:r>
              <a:rPr lang="fr-BE" sz="2400" i="1" dirty="0"/>
              <a:t>J’ai été créée sur la base de la langue et je m’occupe de la culture flamande… Qui suis-je ? </a:t>
            </a:r>
            <a:br>
              <a:rPr lang="fr-BE" sz="2400" i="1" dirty="0"/>
            </a:br>
            <a:r>
              <a:rPr lang="fr-BE" sz="2400" i="1" dirty="0"/>
              <a:t>- Mon rôle est purement symbolique et non fonctionnel. </a:t>
            </a:r>
            <a:br>
              <a:rPr lang="fr-BE" sz="2400" i="1" dirty="0"/>
            </a:br>
            <a:r>
              <a:rPr lang="fr-BE" sz="2400" i="1" dirty="0"/>
              <a:t>- Je suis composé de la chambre et du sénat, je suis…  </a:t>
            </a:r>
            <a:br>
              <a:rPr lang="fr-BE" sz="2400" i="1" dirty="0"/>
            </a:br>
            <a:r>
              <a:rPr lang="fr-BE" sz="2400" i="1" dirty="0"/>
              <a:t>- Je contiens 60 membres élus indirectement… Qui suis-je ? </a:t>
            </a:r>
            <a:br>
              <a:rPr lang="fr-BE" sz="2400" i="1" dirty="0"/>
            </a:br>
            <a:r>
              <a:rPr lang="fr-BE" sz="2400" i="1" dirty="0"/>
              <a:t>- Je m’occupe de l’agriculture et du logement à Bruxelles… Qui suis-je ? </a:t>
            </a:r>
            <a:br>
              <a:rPr lang="fr-BE" sz="2400" i="1" dirty="0"/>
            </a:br>
            <a:r>
              <a:rPr lang="fr-BE" sz="2400" i="1" dirty="0"/>
              <a:t>- Je prends des décisions affectant tout le pays et je fonctionne en français et en néerlandais… Qui suis-je ? </a:t>
            </a:r>
            <a:br>
              <a:rPr lang="fr-BE" sz="2400" i="1" dirty="0"/>
            </a:br>
            <a:r>
              <a:rPr lang="fr-BE" sz="2400" i="1" dirty="0"/>
              <a:t>- Mes compétences sont liées aux personnes, elles reposent sur la notion de langue. </a:t>
            </a:r>
            <a:br>
              <a:rPr lang="fr-BE" sz="2400" i="1" dirty="0"/>
            </a:br>
            <a:r>
              <a:rPr lang="fr-BE" sz="2400" i="1" dirty="0"/>
              <a:t>- Mes compétences sont liées aux régions, elles sont liées au territoire et correspondent à un découpage géographique. </a:t>
            </a:r>
            <a:r>
              <a:rPr lang="fr-BE" sz="2400" dirty="0"/>
              <a:t/>
            </a:r>
            <a:br>
              <a:rPr lang="fr-BE" sz="2400" dirty="0"/>
            </a:br>
            <a:endParaRPr lang="fr-BE" dirty="0"/>
          </a:p>
        </p:txBody>
      </p:sp>
      <p:pic>
        <p:nvPicPr>
          <p:cNvPr id="4" name="Image 3" descr="Image result for devinettes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81" y="2612657"/>
            <a:ext cx="2671634" cy="28689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9744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864108"/>
            <a:ext cx="2947482" cy="4601183"/>
          </a:xfrm>
        </p:spPr>
        <p:txBody>
          <a:bodyPr/>
          <a:lstStyle/>
          <a:p>
            <a:r>
              <a:rPr lang="fr-BE" dirty="0"/>
              <a:t>La Belgique et son système politique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 dirty="0"/>
          </a:p>
          <a:p>
            <a:pPr marL="0" indent="0">
              <a:buNone/>
            </a:pPr>
            <a:r>
              <a:rPr lang="fr-BE" sz="2800" dirty="0" smtClean="0"/>
              <a:t>Remue-méninge en groupes de quatre personnes:</a:t>
            </a:r>
            <a:br>
              <a:rPr lang="fr-BE" sz="2800" dirty="0" smtClean="0"/>
            </a:br>
            <a:r>
              <a:rPr lang="fr-BE" sz="2800" dirty="0" smtClean="0"/>
              <a:t/>
            </a:r>
            <a:br>
              <a:rPr lang="fr-BE" sz="2800" dirty="0" smtClean="0"/>
            </a:br>
            <a:r>
              <a:rPr lang="fr-BE" sz="2800" dirty="0" smtClean="0"/>
              <a:t>- Vous avez déjà quelques informations sur le système politique belge.</a:t>
            </a:r>
            <a:br>
              <a:rPr lang="fr-BE" sz="2800" dirty="0" smtClean="0"/>
            </a:br>
            <a:r>
              <a:rPr lang="fr-BE" sz="2800" dirty="0" smtClean="0"/>
              <a:t/>
            </a:r>
            <a:br>
              <a:rPr lang="fr-BE" sz="2800" dirty="0" smtClean="0"/>
            </a:br>
            <a:r>
              <a:rPr lang="fr-BE" sz="2800" dirty="0" smtClean="0"/>
              <a:t>- Quelles sont les questions que vous vous posez encore ?</a:t>
            </a:r>
            <a:br>
              <a:rPr lang="fr-BE" sz="2800" dirty="0" smtClean="0"/>
            </a:br>
            <a:endParaRPr lang="fr-BE" sz="2800" dirty="0"/>
          </a:p>
        </p:txBody>
      </p:sp>
      <p:pic>
        <p:nvPicPr>
          <p:cNvPr id="4" name="Image 3" descr="Image result for politique belge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3104" y="1995769"/>
            <a:ext cx="2914650" cy="19409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5105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La fédéralisation de la </a:t>
            </a:r>
            <a:r>
              <a:rPr lang="fr-BE" dirty="0" err="1" smtClean="0"/>
              <a:t>belgique</a:t>
            </a:r>
            <a:endParaRPr lang="fr-BE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503" y="1963545"/>
            <a:ext cx="4481497" cy="2891289"/>
          </a:xfrm>
        </p:spPr>
      </p:pic>
      <p:graphicFrame>
        <p:nvGraphicFramePr>
          <p:cNvPr id="5" name="Diagramme 4"/>
          <p:cNvGraphicFramePr/>
          <p:nvPr>
            <p:extLst/>
          </p:nvPr>
        </p:nvGraphicFramePr>
        <p:xfrm>
          <a:off x="511209" y="320788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Bulle ronde 5"/>
          <p:cNvSpPr/>
          <p:nvPr/>
        </p:nvSpPr>
        <p:spPr>
          <a:xfrm>
            <a:off x="581192" y="3455469"/>
            <a:ext cx="2190884" cy="1605564"/>
          </a:xfrm>
          <a:prstGeom prst="wedgeEllipse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>
                <a:solidFill>
                  <a:schemeClr val="tx1"/>
                </a:solidFill>
              </a:rPr>
              <a:t>Le néerlandais devient une langue officielle</a:t>
            </a:r>
            <a:endParaRPr lang="fr-BE" dirty="0">
              <a:solidFill>
                <a:schemeClr val="tx1"/>
              </a:solidFill>
            </a:endParaRPr>
          </a:p>
        </p:txBody>
      </p:sp>
      <p:sp>
        <p:nvSpPr>
          <p:cNvPr id="7" name="Bulle ronde 6"/>
          <p:cNvSpPr/>
          <p:nvPr/>
        </p:nvSpPr>
        <p:spPr>
          <a:xfrm>
            <a:off x="3197659" y="3455469"/>
            <a:ext cx="2190884" cy="1605564"/>
          </a:xfrm>
          <a:prstGeom prst="wedgeEllipseCallou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>
                <a:solidFill>
                  <a:schemeClr val="tx1"/>
                </a:solidFill>
              </a:rPr>
              <a:t>3 Communautés linguistiques</a:t>
            </a:r>
            <a:endParaRPr lang="fr-BE" dirty="0">
              <a:solidFill>
                <a:schemeClr val="tx1"/>
              </a:solidFill>
            </a:endParaRPr>
          </a:p>
        </p:txBody>
      </p:sp>
      <p:sp>
        <p:nvSpPr>
          <p:cNvPr id="8" name="Bulle ronde 7"/>
          <p:cNvSpPr/>
          <p:nvPr/>
        </p:nvSpPr>
        <p:spPr>
          <a:xfrm>
            <a:off x="5814126" y="3455469"/>
            <a:ext cx="2190884" cy="1605564"/>
          </a:xfrm>
          <a:prstGeom prst="wedgeEllipseCallou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>
                <a:solidFill>
                  <a:schemeClr val="tx1"/>
                </a:solidFill>
              </a:rPr>
              <a:t>3 Régions</a:t>
            </a:r>
            <a:endParaRPr lang="fr-B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21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Les Néerlandophones les plus nombreux, sauf à Bruxelles</a:t>
            </a:r>
            <a:endParaRPr lang="fr-BE" dirty="0"/>
          </a:p>
        </p:txBody>
      </p:sp>
      <p:graphicFrame>
        <p:nvGraphicFramePr>
          <p:cNvPr id="11" name="Espace réservé du contenu 10"/>
          <p:cNvGraphicFramePr>
            <a:graphicFrameLocks noGrp="1"/>
          </p:cNvGraphicFramePr>
          <p:nvPr>
            <p:ph sz="half" idx="1"/>
            <p:extLst/>
          </p:nvPr>
        </p:nvGraphicFramePr>
        <p:xfrm>
          <a:off x="581025" y="2227263"/>
          <a:ext cx="5422900" cy="3633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Espace réservé du contenu 6"/>
          <p:cNvGraphicFramePr>
            <a:graphicFrameLocks noGrp="1"/>
          </p:cNvGraphicFramePr>
          <p:nvPr>
            <p:ph sz="half" idx="2"/>
            <p:extLst/>
          </p:nvPr>
        </p:nvGraphicFramePr>
        <p:xfrm>
          <a:off x="6188075" y="2227263"/>
          <a:ext cx="5422900" cy="3633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ZoneTexte 7"/>
          <p:cNvSpPr txBox="1"/>
          <p:nvPr/>
        </p:nvSpPr>
        <p:spPr>
          <a:xfrm>
            <a:off x="6256420" y="6150543"/>
            <a:ext cx="5842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/>
              <a:t>http://www.axl.cefan.ulaval.ca/europe/belgiqueetat_demo.htm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557678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Belgique – </a:t>
            </a:r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vers la fracture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sz="2400" dirty="0" smtClean="0">
                <a:solidFill>
                  <a:srgbClr val="002060"/>
                </a:solidFill>
              </a:rPr>
              <a:t>Encore des questions ?</a:t>
            </a:r>
          </a:p>
          <a:p>
            <a:pPr marL="0" indent="0">
              <a:buNone/>
            </a:pPr>
            <a:r>
              <a:rPr lang="fr-BE" sz="2400" dirty="0" smtClean="0">
                <a:solidFill>
                  <a:srgbClr val="002060"/>
                </a:solidFill>
              </a:rPr>
              <a:t>Peut-être cette vidéo répond-elle à vos questions ?</a:t>
            </a:r>
            <a:endParaRPr lang="fr-BE" sz="2400" dirty="0" smtClean="0">
              <a:solidFill>
                <a:srgbClr val="002060"/>
              </a:solidFill>
              <a:hlinkClick r:id="rId3"/>
            </a:endParaRPr>
          </a:p>
          <a:p>
            <a:r>
              <a:rPr lang="fr-BE" sz="2400" dirty="0" smtClean="0">
                <a:solidFill>
                  <a:srgbClr val="FF0000"/>
                </a:solidFill>
                <a:hlinkClick r:id="rId3"/>
              </a:rPr>
              <a:t>www.youtube.com/watch?v=tqGz-MZaXXM</a:t>
            </a:r>
            <a:r>
              <a:rPr lang="fr-BE" sz="2400" dirty="0" smtClean="0">
                <a:solidFill>
                  <a:srgbClr val="FF0000"/>
                </a:solidFill>
              </a:rPr>
              <a:t/>
            </a:r>
            <a:br>
              <a:rPr lang="fr-BE" sz="2400" dirty="0" smtClean="0">
                <a:solidFill>
                  <a:srgbClr val="FF0000"/>
                </a:solidFill>
              </a:rPr>
            </a:br>
            <a:r>
              <a:rPr lang="fr-BE" sz="2400" dirty="0" smtClean="0">
                <a:solidFill>
                  <a:srgbClr val="FF0000"/>
                </a:solidFill>
              </a:rPr>
              <a:t/>
            </a:r>
            <a:br>
              <a:rPr lang="fr-BE" sz="2400" dirty="0" smtClean="0">
                <a:solidFill>
                  <a:srgbClr val="FF0000"/>
                </a:solidFill>
              </a:rPr>
            </a:br>
            <a:endParaRPr lang="fr-BE" sz="2400" dirty="0">
              <a:solidFill>
                <a:schemeClr val="tx1"/>
              </a:solidFill>
            </a:endParaRPr>
          </a:p>
        </p:txBody>
      </p:sp>
      <p:pic>
        <p:nvPicPr>
          <p:cNvPr id="4" name="Image 3" descr="Image result for politique belge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6142" y="2180496"/>
            <a:ext cx="3991897" cy="39843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624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4386558" y="2717803"/>
            <a:ext cx="3159648" cy="3368675"/>
          </a:xfrm>
        </p:spPr>
        <p:txBody>
          <a:bodyPr/>
          <a:lstStyle/>
          <a:p>
            <a:r>
              <a:rPr lang="fr-BE" sz="2800" dirty="0" smtClean="0"/>
              <a:t>Les pronoms relatifs pp. 140-143</a:t>
            </a:r>
          </a:p>
          <a:p>
            <a:r>
              <a:rPr lang="fr-BE" sz="2800" dirty="0" smtClean="0"/>
              <a:t>Tests formatifs sur </a:t>
            </a:r>
            <a:r>
              <a:rPr lang="fr-BE" sz="2800" dirty="0" smtClean="0"/>
              <a:t>Moodle : </a:t>
            </a:r>
          </a:p>
          <a:p>
            <a:r>
              <a:rPr lang="fr-BE" sz="2800" dirty="0" smtClean="0"/>
              <a:t>« synthèse Unité 1 »</a:t>
            </a:r>
          </a:p>
          <a:p>
            <a:r>
              <a:rPr lang="fr-BE" sz="2800" dirty="0" smtClean="0"/>
              <a:t>« Comparatif ou superlatif »</a:t>
            </a:r>
            <a:endParaRPr lang="fr-BE" sz="2800" dirty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772828" y="2760546"/>
            <a:ext cx="3103146" cy="3368675"/>
          </a:xfrm>
        </p:spPr>
        <p:txBody>
          <a:bodyPr/>
          <a:lstStyle/>
          <a:p>
            <a:r>
              <a:rPr lang="fr-BE" sz="2400" dirty="0" smtClean="0"/>
              <a:t>Comparer le système politique belge et celui de votre pays : </a:t>
            </a:r>
            <a:r>
              <a:rPr lang="fr-BE" sz="2400" dirty="0" smtClean="0"/>
              <a:t>syllabus p. </a:t>
            </a:r>
            <a:r>
              <a:rPr lang="fr-BE" sz="2400" dirty="0" smtClean="0"/>
              <a:t>90.</a:t>
            </a:r>
          </a:p>
          <a:p>
            <a:r>
              <a:rPr lang="fr-BE" sz="2400" dirty="0" smtClean="0"/>
              <a:t>Lire le texte « La musique qui fait couac dans le métro » p. 85 : comprendre le vocabulaire</a:t>
            </a:r>
            <a:endParaRPr lang="fr-BE" sz="2400" dirty="0"/>
          </a:p>
          <a:p>
            <a:endParaRPr lang="fr-BE" sz="2400" dirty="0"/>
          </a:p>
          <a:p>
            <a:endParaRPr lang="fr-BE" dirty="0" smtClean="0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626818" y="545562"/>
            <a:ext cx="10690365" cy="828000"/>
          </a:xfrm>
          <a:solidFill>
            <a:srgbClr val="002060"/>
          </a:solidFill>
        </p:spPr>
        <p:txBody>
          <a:bodyPr/>
          <a:lstStyle/>
          <a:p>
            <a:r>
              <a:rPr lang="fr-BE" dirty="0" smtClean="0">
                <a:solidFill>
                  <a:schemeClr val="bg1"/>
                </a:solidFill>
              </a:rPr>
              <a:t>Tâches pour le prochain cours </a:t>
            </a:r>
            <a:endParaRPr lang="fr-BE" dirty="0">
              <a:solidFill>
                <a:schemeClr val="bg1"/>
              </a:solidFill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1388126" y="1606671"/>
            <a:ext cx="676894" cy="100203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9" name="Espace réservé du contenu 8"/>
          <p:cNvPicPr>
            <a:picLocks noGrp="1" noChangeAspect="1"/>
          </p:cNvPicPr>
          <p:nvPr>
            <p:ph sz="quarter" idx="14"/>
          </p:nvPr>
        </p:nvPicPr>
        <p:blipFill>
          <a:blip r:embed="rId4"/>
          <a:stretch>
            <a:fillRect/>
          </a:stretch>
        </p:blipFill>
        <p:spPr>
          <a:xfrm>
            <a:off x="5267002" y="1566751"/>
            <a:ext cx="876746" cy="1081872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1029" y="1635931"/>
            <a:ext cx="1209675" cy="10763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40109" y="3065658"/>
            <a:ext cx="307707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BE" sz="2400" dirty="0" smtClean="0">
                <a:solidFill>
                  <a:srgbClr val="FF0000"/>
                </a:solidFill>
              </a:rPr>
              <a:t>Défi </a:t>
            </a:r>
            <a:r>
              <a:rPr lang="fr-BE" sz="2400" dirty="0" smtClean="0">
                <a:solidFill>
                  <a:srgbClr val="FF0000"/>
                </a:solidFill>
              </a:rPr>
              <a:t>#3 (p. 78): </a:t>
            </a:r>
          </a:p>
          <a:p>
            <a:r>
              <a:rPr lang="fr-BE" sz="2400" dirty="0" smtClean="0">
                <a:solidFill>
                  <a:srgbClr val="FF0000"/>
                </a:solidFill>
              </a:rPr>
              <a:t>Préparer </a:t>
            </a:r>
            <a:r>
              <a:rPr lang="fr-BE" sz="2400" dirty="0" smtClean="0">
                <a:solidFill>
                  <a:srgbClr val="FF0000"/>
                </a:solidFill>
              </a:rPr>
              <a:t>le rendez-vous surprise</a:t>
            </a:r>
          </a:p>
          <a:p>
            <a:endParaRPr lang="fr-BE" sz="2400" dirty="0" smtClean="0"/>
          </a:p>
          <a:p>
            <a:r>
              <a:rPr lang="fr-BE" sz="2400" dirty="0" smtClean="0"/>
              <a:t>Échéance </a:t>
            </a:r>
            <a:r>
              <a:rPr lang="fr-BE" sz="2400" dirty="0" smtClean="0"/>
              <a:t>: </a:t>
            </a:r>
          </a:p>
          <a:p>
            <a:r>
              <a:rPr lang="fr-BE" sz="2400" dirty="0" smtClean="0">
                <a:solidFill>
                  <a:srgbClr val="FF0000"/>
                </a:solidFill>
              </a:rPr>
              <a:t>10 mai</a:t>
            </a:r>
            <a:endParaRPr lang="fr-BE" sz="2400" dirty="0"/>
          </a:p>
        </p:txBody>
      </p:sp>
    </p:spTree>
    <p:extLst>
      <p:ext uri="{BB962C8B-B14F-4D97-AF65-F5344CB8AC3E}">
        <p14:creationId xmlns:p14="http://schemas.microsoft.com/office/powerpoint/2010/main" val="2697523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Compétition de conjugaison au passé composé … &gt; JE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fr-BE" dirty="0" smtClean="0"/>
              <a:t>Vivre</a:t>
            </a:r>
          </a:p>
          <a:p>
            <a:pPr marL="342900" indent="-342900">
              <a:buFont typeface="+mj-lt"/>
              <a:buAutoNum type="arabicPeriod"/>
            </a:pPr>
            <a:r>
              <a:rPr lang="fr-BE" dirty="0" smtClean="0"/>
              <a:t>Prendre</a:t>
            </a:r>
          </a:p>
          <a:p>
            <a:pPr marL="342900" indent="-342900">
              <a:buFont typeface="+mj-lt"/>
              <a:buAutoNum type="arabicPeriod"/>
            </a:pPr>
            <a:r>
              <a:rPr lang="fr-BE" dirty="0" smtClean="0"/>
              <a:t>Adoucir</a:t>
            </a:r>
          </a:p>
          <a:p>
            <a:pPr marL="342900" indent="-342900">
              <a:buFont typeface="+mj-lt"/>
              <a:buAutoNum type="arabicPeriod"/>
            </a:pPr>
            <a:r>
              <a:rPr lang="fr-BE" dirty="0" smtClean="0"/>
              <a:t>Rendre</a:t>
            </a:r>
          </a:p>
          <a:p>
            <a:pPr marL="342900" indent="-342900">
              <a:buFont typeface="+mj-lt"/>
              <a:buAutoNum type="arabicPeriod"/>
            </a:pPr>
            <a:r>
              <a:rPr lang="fr-BE" dirty="0" smtClean="0"/>
              <a:t>Gérer</a:t>
            </a:r>
          </a:p>
          <a:p>
            <a:pPr marL="342900" indent="-342900">
              <a:buFont typeface="+mj-lt"/>
              <a:buAutoNum type="arabicPeriod"/>
            </a:pPr>
            <a:r>
              <a:rPr lang="fr-BE" dirty="0" smtClean="0"/>
              <a:t>Diffuser</a:t>
            </a:r>
          </a:p>
          <a:p>
            <a:pPr marL="342900" indent="-342900">
              <a:buFont typeface="+mj-lt"/>
              <a:buAutoNum type="arabicPeriod"/>
            </a:pPr>
            <a:r>
              <a:rPr lang="fr-BE" dirty="0" smtClean="0"/>
              <a:t>Vouloir</a:t>
            </a:r>
          </a:p>
          <a:p>
            <a:pPr marL="342900" indent="-342900">
              <a:buFont typeface="+mj-lt"/>
              <a:buAutoNum type="arabicPeriod"/>
            </a:pPr>
            <a:r>
              <a:rPr lang="fr-BE" dirty="0" smtClean="0"/>
              <a:t>Entendre </a:t>
            </a:r>
          </a:p>
          <a:p>
            <a:endParaRPr lang="fr-BE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9"/>
            </a:pPr>
            <a:r>
              <a:rPr lang="fr-BE" dirty="0" smtClean="0"/>
              <a:t>Faire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fr-BE" dirty="0" smtClean="0"/>
              <a:t>Recevoir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fr-BE" dirty="0" smtClean="0"/>
              <a:t>Finir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fr-BE" dirty="0" smtClean="0"/>
              <a:t>Sortir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fr-BE" dirty="0" smtClean="0"/>
              <a:t>Savoir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fr-BE" dirty="0" smtClean="0"/>
              <a:t>Voir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fr-BE" dirty="0" smtClean="0"/>
              <a:t>Comprendre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fr-BE" dirty="0" smtClean="0"/>
              <a:t>Crier 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20182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Merci et bonne </a:t>
            </a:r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 de journée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ous-titre 5"/>
          <p:cNvSpPr>
            <a:spLocks noGrp="1"/>
          </p:cNvSpPr>
          <p:nvPr>
            <p:ph type="subTitle" idx="1"/>
          </p:nvPr>
        </p:nvSpPr>
        <p:spPr>
          <a:xfrm>
            <a:off x="581191" y="3773639"/>
            <a:ext cx="10993546" cy="2450180"/>
          </a:xfrm>
        </p:spPr>
        <p:txBody>
          <a:bodyPr>
            <a:normAutofit/>
          </a:bodyPr>
          <a:lstStyle/>
          <a:p>
            <a:pPr algn="ctr"/>
            <a:r>
              <a:rPr lang="fr-BE" sz="2800" cap="none" dirty="0" smtClean="0">
                <a:solidFill>
                  <a:schemeClr val="bg1"/>
                </a:solidFill>
              </a:rPr>
              <a:t>On se dit au revoir, à la prochaine.</a:t>
            </a:r>
          </a:p>
          <a:p>
            <a:pPr algn="ctr"/>
            <a:r>
              <a:rPr lang="fr-BE" sz="2800" cap="none" dirty="0" smtClean="0">
                <a:solidFill>
                  <a:schemeClr val="bg1"/>
                </a:solidFill>
              </a:rPr>
              <a:t>On se souhaite une bonne </a:t>
            </a:r>
            <a:r>
              <a:rPr lang="fr-BE" sz="2800" cap="none" dirty="0" smtClean="0">
                <a:solidFill>
                  <a:schemeClr val="bg1"/>
                </a:solidFill>
              </a:rPr>
              <a:t>soirée</a:t>
            </a:r>
            <a:r>
              <a:rPr lang="fr-BE" sz="2800" cap="none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fr-BE" sz="2800" cap="none" dirty="0" smtClean="0">
                <a:solidFill>
                  <a:schemeClr val="bg1"/>
                </a:solidFill>
              </a:rPr>
              <a:t>On se remercie.</a:t>
            </a:r>
            <a:endParaRPr lang="fr-BE" sz="2800" cap="non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602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e">
  <a:themeElements>
    <a:clrScheme name="Dividende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Dividende</Template>
  <TotalTime>2039</TotalTime>
  <Words>1014</Words>
  <Application>Microsoft Office PowerPoint</Application>
  <PresentationFormat>Grand écran</PresentationFormat>
  <Paragraphs>147</Paragraphs>
  <Slides>20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Corbel</vt:lpstr>
      <vt:lpstr>Gill Sans MT</vt:lpstr>
      <vt:lpstr>Wingdings 2</vt:lpstr>
      <vt:lpstr>Dividende</vt:lpstr>
      <vt:lpstr>Comprendre la Belgique LFRAN1301 – B1</vt:lpstr>
      <vt:lpstr>Compétition de conjugaison au passé composé … &gt; JE</vt:lpstr>
      <vt:lpstr>aujourd’hui</vt:lpstr>
      <vt:lpstr>Correction du défi #2 : modèles d’inspiration</vt:lpstr>
      <vt:lpstr>Correction du défi #2 : erreurs à éviter</vt:lpstr>
      <vt:lpstr>Correction du défi #2 :  erreurs à éviter</vt:lpstr>
      <vt:lpstr># Défi 3 – rendez-vous surprise (p. 78)</vt:lpstr>
      <vt:lpstr>Unité 2 – La Belgique… complexe</vt:lpstr>
      <vt:lpstr>Rappel – Charles Baudelaire p.72</vt:lpstr>
      <vt:lpstr>Les pronoms relatifs (Syll. P. 83 + GPF, p. 140, 141 n°1, 4, 143 n°5)</vt:lpstr>
      <vt:lpstr>Les pronoms relatifs (Syll. P. 83 + GPF, p. 140-142)</vt:lpstr>
      <vt:lpstr>Comparaison - À vous de jouer !</vt:lpstr>
      <vt:lpstr>Devinettes</vt:lpstr>
      <vt:lpstr>La Belgique et son système politique</vt:lpstr>
      <vt:lpstr>La fédéralisation de la belgique</vt:lpstr>
      <vt:lpstr>Les Néerlandophones les plus nombreux, sauf à Bruxelles</vt:lpstr>
      <vt:lpstr>La Belgique – vers la fracture</vt:lpstr>
      <vt:lpstr>Tâches pour le prochain cours </vt:lpstr>
      <vt:lpstr>Compétition de conjugaison au passé composé … &gt; JE</vt:lpstr>
      <vt:lpstr>Merci et bonne fin de journée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 vie à LLN…</dc:title>
  <dc:creator>renardch@oasis.uclouvain.be</dc:creator>
  <cp:lastModifiedBy>Geneviève Briet</cp:lastModifiedBy>
  <cp:revision>174</cp:revision>
  <cp:lastPrinted>2019-09-24T15:31:58Z</cp:lastPrinted>
  <dcterms:created xsi:type="dcterms:W3CDTF">2017-09-24T08:32:52Z</dcterms:created>
  <dcterms:modified xsi:type="dcterms:W3CDTF">2020-03-11T15:16:51Z</dcterms:modified>
</cp:coreProperties>
</file>