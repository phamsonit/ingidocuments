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338" r:id="rId2"/>
    <p:sldId id="351" r:id="rId3"/>
    <p:sldId id="328" r:id="rId4"/>
    <p:sldId id="299" r:id="rId5"/>
    <p:sldId id="329" r:id="rId6"/>
    <p:sldId id="349" r:id="rId7"/>
    <p:sldId id="350" r:id="rId8"/>
    <p:sldId id="356" r:id="rId9"/>
    <p:sldId id="357" r:id="rId10"/>
    <p:sldId id="358" r:id="rId11"/>
    <p:sldId id="361" r:id="rId12"/>
    <p:sldId id="362" r:id="rId13"/>
    <p:sldId id="363" r:id="rId14"/>
    <p:sldId id="364" r:id="rId15"/>
    <p:sldId id="359" r:id="rId16"/>
    <p:sldId id="360" r:id="rId17"/>
    <p:sldId id="355" r:id="rId18"/>
    <p:sldId id="310" r:id="rId19"/>
    <p:sldId id="341" r:id="rId20"/>
    <p:sldId id="316" r:id="rId21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94660"/>
  </p:normalViewPr>
  <p:slideViewPr>
    <p:cSldViewPr snapToGrid="0">
      <p:cViewPr>
        <p:scale>
          <a:sx n="68" d="100"/>
          <a:sy n="68" d="100"/>
        </p:scale>
        <p:origin x="548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-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DF2852D2-E680-43DE-8BE6-219A5B125531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1C2F42B8-79FA-40ED-933D-93A96F1DB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4009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7F0AD30C-EB7D-480E-B7F3-54F7514B8DE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73" tIns="46237" rIns="92473" bIns="46237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2473" tIns="46237" rIns="92473" bIns="46237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5CEA4E1A-0464-4D51-B906-9340FCC4281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236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034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Attention</a:t>
            </a:r>
          </a:p>
          <a:p>
            <a:r>
              <a:rPr lang="fr-BE" dirty="0" smtClean="0"/>
              <a:t>Aujourd’hui 1heure de cours</a:t>
            </a: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700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Des copains, des amis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 smtClean="0"/>
              <a:t>Ruelle = petite</a:t>
            </a:r>
            <a:r>
              <a:rPr lang="fr-BE" baseline="0" dirty="0" smtClean="0"/>
              <a:t> 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 smtClean="0"/>
              <a:t>Loger = HÉBERGER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DFDF7-0983-47B5-82CE-132A6902A4B9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0022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RMQ</a:t>
            </a:r>
          </a:p>
          <a:p>
            <a:r>
              <a:rPr lang="fr-BE" dirty="0" smtClean="0"/>
              <a:t>Quelle différence</a:t>
            </a:r>
            <a:r>
              <a:rPr lang="fr-BE" baseline="0" dirty="0" smtClean="0"/>
              <a:t> entre </a:t>
            </a:r>
            <a:r>
              <a:rPr lang="fr-BE" i="1" baseline="0" dirty="0" smtClean="0"/>
              <a:t>revenir de </a:t>
            </a:r>
            <a:r>
              <a:rPr lang="fr-BE" baseline="0" dirty="0" smtClean="0"/>
              <a:t>et </a:t>
            </a:r>
            <a:r>
              <a:rPr lang="fr-BE" i="1" baseline="0" dirty="0" smtClean="0"/>
              <a:t>revenir à ? </a:t>
            </a:r>
            <a:r>
              <a:rPr lang="fr-BE" i="0" baseline="0" dirty="0" smtClean="0"/>
              <a:t>1</a:t>
            </a:r>
            <a:r>
              <a:rPr lang="fr-BE" i="0" baseline="30000" dirty="0" smtClean="0"/>
              <a:t>er</a:t>
            </a:r>
            <a:r>
              <a:rPr lang="fr-BE" i="0" baseline="0" dirty="0" smtClean="0"/>
              <a:t> Marque l’origine, 2</a:t>
            </a:r>
            <a:r>
              <a:rPr lang="fr-BE" i="0" baseline="30000" dirty="0" smtClean="0"/>
              <a:t>e</a:t>
            </a:r>
            <a:r>
              <a:rPr lang="fr-BE" i="0" baseline="0" dirty="0" smtClean="0"/>
              <a:t> marque le coût, le prix.</a:t>
            </a:r>
          </a:p>
          <a:p>
            <a:r>
              <a:rPr lang="fr-BE" b="1" baseline="0" dirty="0" smtClean="0"/>
              <a:t>Suis</a:t>
            </a:r>
            <a:r>
              <a:rPr lang="fr-BE" baseline="0" dirty="0" smtClean="0"/>
              <a:t> pas de </a:t>
            </a:r>
            <a:r>
              <a:rPr lang="fr-BE" b="1" baseline="0" dirty="0" smtClean="0"/>
              <a:t>être</a:t>
            </a:r>
            <a:r>
              <a:rPr lang="fr-BE" baseline="0" dirty="0" smtClean="0"/>
              <a:t> mais de </a:t>
            </a:r>
            <a:r>
              <a:rPr lang="fr-BE" b="1" baseline="0" dirty="0" smtClean="0"/>
              <a:t>suivre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DFDF7-0983-47B5-82CE-132A6902A4B9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4941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812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47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713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741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651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91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088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779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924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061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901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717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6943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12-02-20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70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Avant de commencer…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8833" y="2154149"/>
            <a:ext cx="10652157" cy="41254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BE" sz="3600" i="1" dirty="0" smtClean="0">
                <a:latin typeface="Bahnschrift Light" panose="020B0502040204020203" pitchFamily="34" charset="0"/>
              </a:rPr>
              <a:t>Bonjour et bienvenue au cours !</a:t>
            </a:r>
          </a:p>
          <a:p>
            <a:pPr marL="0" indent="0" algn="ctr">
              <a:buNone/>
            </a:pPr>
            <a:endParaRPr lang="fr-BE" sz="2800" dirty="0"/>
          </a:p>
          <a:p>
            <a:pPr marL="0" indent="0" algn="ctr">
              <a:buNone/>
            </a:pPr>
            <a:endParaRPr lang="fr-BE" sz="2800" dirty="0" smtClean="0"/>
          </a:p>
          <a:p>
            <a:r>
              <a:rPr lang="fr-BE" sz="2800" dirty="0" smtClean="0"/>
              <a:t>Asseyez-vous à </a:t>
            </a:r>
            <a:r>
              <a:rPr lang="fr-BE" sz="2800" dirty="0"/>
              <a:t>côté d’une personne qui </a:t>
            </a:r>
            <a:r>
              <a:rPr lang="fr-BE" sz="2800" b="1" dirty="0"/>
              <a:t>ne parle pas la même langue </a:t>
            </a:r>
            <a:r>
              <a:rPr lang="fr-BE" sz="2800" dirty="0"/>
              <a:t>maternelle que </a:t>
            </a:r>
            <a:r>
              <a:rPr lang="fr-BE" sz="2800" b="1" u="sng" dirty="0">
                <a:solidFill>
                  <a:schemeClr val="accent6">
                    <a:lumMod val="75000"/>
                  </a:schemeClr>
                </a:solidFill>
              </a:rPr>
              <a:t>la </a:t>
            </a:r>
            <a:r>
              <a:rPr lang="fr-BE" sz="2800" b="1" u="sng" dirty="0" smtClean="0">
                <a:solidFill>
                  <a:schemeClr val="accent6">
                    <a:lumMod val="75000"/>
                  </a:schemeClr>
                </a:solidFill>
              </a:rPr>
              <a:t>vôtre</a:t>
            </a:r>
            <a:r>
              <a:rPr lang="fr-BE" sz="2800" dirty="0" smtClean="0"/>
              <a:t>.</a:t>
            </a:r>
            <a:r>
              <a:rPr lang="fr-BE" sz="2800" dirty="0"/>
              <a:t/>
            </a:r>
            <a:br>
              <a:rPr lang="fr-BE" sz="2800" dirty="0"/>
            </a:br>
            <a:r>
              <a:rPr lang="fr-BE" sz="2800" dirty="0"/>
              <a:t/>
            </a:r>
            <a:br>
              <a:rPr lang="fr-BE" sz="2800" dirty="0"/>
            </a:br>
            <a:endParaRPr lang="fr-BE" sz="2800" dirty="0"/>
          </a:p>
        </p:txBody>
      </p:sp>
      <p:pic>
        <p:nvPicPr>
          <p:cNvPr id="4" name="Espace réservé du contenu 3" descr="Résultat de recherche d'images pour &quot;groupe multiculturel&quot;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209" y="1881456"/>
            <a:ext cx="2102599" cy="23354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21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Faire </a:t>
            </a:r>
            <a:r>
              <a:rPr lang="fr-BE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connaissance : je me présente…. </a:t>
            </a:r>
            <a:r>
              <a:rPr lang="fr-BE" sz="360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</a:rPr>
              <a:t>(révision)</a:t>
            </a:r>
            <a:endParaRPr lang="fr-BE" sz="36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anose="020B0503020204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6400" y="1832077"/>
            <a:ext cx="11573164" cy="47818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800" dirty="0"/>
              <a:t>Par </a:t>
            </a:r>
            <a:r>
              <a:rPr lang="fr-BE" sz="2800" dirty="0" smtClean="0"/>
              <a:t>groupe </a:t>
            </a:r>
            <a:r>
              <a:rPr lang="fr-BE" sz="2800" dirty="0"/>
              <a:t>de quatre, vous vous présentez chacun à votre tour: </a:t>
            </a:r>
            <a:endParaRPr lang="fr-BE" sz="2800" dirty="0" smtClean="0"/>
          </a:p>
          <a:p>
            <a:pPr marL="0" indent="0">
              <a:buNone/>
            </a:pPr>
            <a:r>
              <a:rPr lang="fr-BE" sz="2400" dirty="0" smtClean="0"/>
              <a:t>[Syllabus, p. 26 + test]</a:t>
            </a:r>
            <a:endParaRPr lang="fr-BE" sz="2400" dirty="0"/>
          </a:p>
          <a:p>
            <a:pPr marL="324000" lvl="1" indent="0">
              <a:buNone/>
            </a:pPr>
            <a:r>
              <a:rPr lang="fr-BE" sz="2600" i="1" spc="300" dirty="0" smtClean="0"/>
              <a:t>Bonjour, je </a:t>
            </a:r>
            <a:r>
              <a:rPr lang="fr-BE" sz="2600" i="1" spc="300" dirty="0"/>
              <a:t>m’appelle…</a:t>
            </a:r>
            <a:br>
              <a:rPr lang="fr-BE" sz="2600" i="1" spc="300" dirty="0"/>
            </a:br>
            <a:r>
              <a:rPr lang="fr-BE" sz="2600" i="1" spc="300" dirty="0"/>
              <a:t>Je viens </a:t>
            </a:r>
            <a:r>
              <a:rPr lang="fr-BE" sz="2600" b="1" i="1" spc="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fr-BE" sz="2600" b="1" i="1" spc="3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BE" sz="2600" b="1" i="1" spc="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d’ </a:t>
            </a:r>
            <a:r>
              <a:rPr lang="fr-BE" sz="2600" b="1" i="1" spc="3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BE" sz="2600" b="1" i="1" spc="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</a:t>
            </a:r>
            <a:r>
              <a:rPr lang="fr-BE" sz="2600" i="1" spc="300" dirty="0"/>
              <a:t>…</a:t>
            </a:r>
            <a:r>
              <a:rPr lang="fr-BE" sz="2600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BE" sz="2600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BE" sz="2600" i="1" spc="300" dirty="0"/>
              <a:t>J’étu</a:t>
            </a:r>
            <a:r>
              <a:rPr lang="fr-BE" sz="2600" b="1" i="1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fr-BE" sz="4000" b="1" i="1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fr-BE" sz="2600" b="1" i="1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BE" sz="2600" i="1" spc="300" dirty="0"/>
              <a:t>…</a:t>
            </a:r>
            <a:br>
              <a:rPr lang="fr-BE" sz="2600" i="1" spc="300" dirty="0"/>
            </a:br>
            <a:r>
              <a:rPr lang="fr-BE" sz="2600" i="1" spc="300" dirty="0"/>
              <a:t>Je fais </a:t>
            </a:r>
            <a:r>
              <a:rPr lang="fr-BE" sz="2600" b="1" i="1" spc="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</a:t>
            </a:r>
            <a:r>
              <a:rPr lang="fr-BE" sz="2600" b="1" i="1" spc="3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fr-BE" sz="2600" b="1" i="1" spc="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</a:t>
            </a:r>
            <a:r>
              <a:rPr lang="fr-BE" sz="2600" i="1" spc="300" dirty="0" smtClean="0"/>
              <a:t>…</a:t>
            </a:r>
            <a:br>
              <a:rPr lang="fr-BE" sz="2600" i="1" spc="300" dirty="0" smtClean="0"/>
            </a:br>
            <a:r>
              <a:rPr lang="fr-BE" sz="2600" i="1" spc="300" dirty="0" smtClean="0"/>
              <a:t>J’habite à … dans le quartier de/des …</a:t>
            </a:r>
            <a:r>
              <a:rPr lang="fr-BE" sz="2600" i="1" spc="300" dirty="0"/>
              <a:t/>
            </a:r>
            <a:br>
              <a:rPr lang="fr-BE" sz="2600" i="1" spc="300" dirty="0"/>
            </a:br>
            <a:r>
              <a:rPr lang="fr-BE" sz="2600" i="1" spc="300" dirty="0"/>
              <a:t>J’ai choisi Louvain-la-Neuve </a:t>
            </a:r>
            <a:r>
              <a:rPr lang="fr-BE" sz="2600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parce que</a:t>
            </a:r>
            <a:r>
              <a:rPr lang="fr-BE" sz="2600" b="1" i="1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</a:p>
          <a:p>
            <a:pPr marL="324000" lvl="1" indent="0">
              <a:buNone/>
            </a:pPr>
            <a:r>
              <a:rPr lang="fr-BE" sz="2600" i="1" spc="300" dirty="0" smtClean="0"/>
              <a:t>Je suis plutôt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visuel / visuelle</a:t>
            </a:r>
            <a:r>
              <a:rPr lang="fr-BE" sz="2600" b="1" i="1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BE" sz="2600" i="1" spc="300" dirty="0" smtClean="0"/>
              <a:t>–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kinesthésique</a:t>
            </a:r>
            <a:r>
              <a:rPr lang="fr-BE" sz="2600" i="1" spc="300" dirty="0" smtClean="0"/>
              <a:t> –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auditif / auditive</a:t>
            </a:r>
            <a:r>
              <a:rPr lang="fr-BE" sz="2600" i="1" spc="3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BE" sz="2600" b="1" i="1" spc="300" dirty="0" smtClean="0">
                <a:solidFill>
                  <a:schemeClr val="tx1"/>
                </a:solidFill>
              </a:rPr>
              <a:t>parce que </a:t>
            </a:r>
            <a:r>
              <a:rPr lang="fr-BE" sz="2600" i="1" spc="300" dirty="0" smtClean="0">
                <a:solidFill>
                  <a:schemeClr val="tx1"/>
                </a:solidFill>
              </a:rPr>
              <a:t>j’aime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dessiner</a:t>
            </a:r>
            <a:r>
              <a:rPr lang="fr-BE" sz="2600" i="1" spc="300" dirty="0" smtClean="0">
                <a:solidFill>
                  <a:schemeClr val="tx1"/>
                </a:solidFill>
              </a:rPr>
              <a:t>,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répéter</a:t>
            </a:r>
            <a:r>
              <a:rPr lang="fr-BE" sz="2600" i="1" spc="300" dirty="0" smtClean="0">
                <a:solidFill>
                  <a:schemeClr val="tx1"/>
                </a:solidFill>
              </a:rPr>
              <a:t> les mots, </a:t>
            </a:r>
            <a:r>
              <a:rPr lang="fr-BE" sz="2600" b="1" i="1" spc="3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marcher</a:t>
            </a:r>
            <a:r>
              <a:rPr lang="fr-BE" sz="2600" i="1" spc="300" dirty="0" smtClean="0">
                <a:solidFill>
                  <a:schemeClr val="tx1"/>
                </a:solidFill>
              </a:rPr>
              <a:t> en étudiant</a:t>
            </a:r>
            <a:r>
              <a:rPr lang="fr-BE" sz="2600" i="1" spc="300" dirty="0" smtClean="0">
                <a:solidFill>
                  <a:schemeClr val="tx1"/>
                </a:solidFill>
              </a:rPr>
              <a:t>.</a:t>
            </a:r>
            <a:endParaRPr lang="fr-BE" sz="2600" i="1" spc="300" dirty="0" smtClean="0">
              <a:solidFill>
                <a:schemeClr val="tx1"/>
              </a:solidFill>
            </a:endParaRPr>
          </a:p>
        </p:txBody>
      </p:sp>
      <p:pic>
        <p:nvPicPr>
          <p:cNvPr id="5" name="Image 4" descr="Image result for faire connaissance">
            <a:extLst>
              <a:ext uri="{FF2B5EF4-FFF2-40B4-BE49-F238E27FC236}">
                <a16:creationId xmlns:a16="http://schemas.microsoft.com/office/drawing/2014/main" id="{CC4EE092-1083-4044-A9A8-FD696E2E890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10" y="2673038"/>
            <a:ext cx="5519770" cy="1643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434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Rappel de ce qu’il fallait faire pour aujourd’hui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400" dirty="0" smtClean="0"/>
              <a:t>Faire le parcours en audio-guide [Moodle + questionnaire]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400" dirty="0" smtClean="0"/>
              <a:t>Structurer le vocabulaire du texte sur les bibliothèques [Syllabus p. 28]</a:t>
            </a:r>
            <a:endParaRPr lang="fr-BE" sz="2400" dirty="0"/>
          </a:p>
          <a:p>
            <a:pPr marL="342900" indent="-342900">
              <a:buFont typeface="+mj-lt"/>
              <a:buAutoNum type="arabicPeriod"/>
            </a:pPr>
            <a:r>
              <a:rPr lang="fr-BE" sz="2400" dirty="0" smtClean="0"/>
              <a:t>Étudier les possessifs et les indéfinis [Grammaire</a:t>
            </a:r>
            <a:r>
              <a:rPr lang="fr-BE" sz="2400" dirty="0"/>
              <a:t>, </a:t>
            </a:r>
            <a:r>
              <a:rPr lang="fr-BE" sz="2400" dirty="0" smtClean="0"/>
              <a:t>chapitres 6 et 15]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215893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2600" dirty="0" smtClean="0"/>
              <a:t>Vous souvenez-vous de la signification de ces expressions ?</a:t>
            </a:r>
            <a:endParaRPr lang="fr-BE" sz="2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180496"/>
            <a:ext cx="11349632" cy="434832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fr-BE" sz="2000" dirty="0" smtClean="0"/>
              <a:t>Réviser quelque chose</a:t>
            </a:r>
          </a:p>
          <a:p>
            <a:pPr marL="0" indent="0">
              <a:buNone/>
            </a:pPr>
            <a:r>
              <a:rPr lang="fr-BE" sz="2000" dirty="0" smtClean="0"/>
              <a:t>Retenir quelque chose</a:t>
            </a:r>
          </a:p>
          <a:p>
            <a:pPr marL="0" indent="0">
              <a:buNone/>
            </a:pPr>
            <a:r>
              <a:rPr lang="fr-BE" sz="2000" dirty="0" smtClean="0"/>
              <a:t>Réciter quelque chose</a:t>
            </a:r>
          </a:p>
          <a:p>
            <a:pPr marL="0" indent="0">
              <a:buNone/>
            </a:pPr>
            <a:r>
              <a:rPr lang="fr-BE" sz="2000" dirty="0" smtClean="0"/>
              <a:t>Être clair et concis</a:t>
            </a:r>
          </a:p>
          <a:p>
            <a:pPr marL="0" indent="0">
              <a:buNone/>
            </a:pPr>
            <a:r>
              <a:rPr lang="fr-BE" sz="2000" dirty="0" smtClean="0"/>
              <a:t>Mettre en pratique</a:t>
            </a:r>
          </a:p>
          <a:p>
            <a:pPr marL="0" indent="0">
              <a:buNone/>
            </a:pPr>
            <a:r>
              <a:rPr lang="fr-BE" sz="2000" dirty="0" smtClean="0"/>
              <a:t>Illustrer quelque chose</a:t>
            </a:r>
          </a:p>
          <a:p>
            <a:pPr marL="0" indent="0">
              <a:buNone/>
            </a:pPr>
            <a:r>
              <a:rPr lang="fr-BE" sz="2000" dirty="0" smtClean="0"/>
              <a:t>En lisant /  en écrivant /  en marchant / en pratiquant</a:t>
            </a:r>
          </a:p>
          <a:p>
            <a:pPr marL="0" indent="0">
              <a:buNone/>
            </a:pPr>
            <a:r>
              <a:rPr lang="fr-BE" sz="2000" dirty="0" smtClean="0"/>
              <a:t>Décompresser</a:t>
            </a:r>
          </a:p>
          <a:p>
            <a:pPr marL="0" indent="0">
              <a:buNone/>
            </a:pPr>
            <a:r>
              <a:rPr lang="fr-BE" sz="2000" dirty="0" smtClean="0"/>
              <a:t>Un film divertissant</a:t>
            </a:r>
          </a:p>
          <a:p>
            <a:pPr marL="0" indent="0">
              <a:buNone/>
            </a:pPr>
            <a:r>
              <a:rPr lang="fr-BE" sz="2000" dirty="0" smtClean="0"/>
              <a:t>Mettre la musique à fond</a:t>
            </a:r>
          </a:p>
          <a:p>
            <a:pPr marL="0" indent="0">
              <a:buNone/>
            </a:pPr>
            <a:r>
              <a:rPr lang="fr-BE" sz="2000" dirty="0" smtClean="0"/>
              <a:t>Taper dans / sur quelque chose</a:t>
            </a:r>
          </a:p>
          <a:p>
            <a:pPr marL="0" indent="0">
              <a:buNone/>
            </a:pPr>
            <a:r>
              <a:rPr lang="fr-BE" sz="2000" dirty="0" smtClean="0"/>
              <a:t>Aller en profondeur des choses</a:t>
            </a:r>
          </a:p>
          <a:p>
            <a:pPr marL="0" indent="0">
              <a:buNone/>
            </a:pPr>
            <a:r>
              <a:rPr lang="fr-BE" sz="2000" dirty="0" smtClean="0"/>
              <a:t>Être au cœur de quelque chose</a:t>
            </a:r>
          </a:p>
          <a:p>
            <a:pPr marL="0" indent="0">
              <a:buNone/>
            </a:pPr>
            <a:r>
              <a:rPr lang="fr-BE" sz="2000" dirty="0" smtClean="0"/>
              <a:t>Mimer</a:t>
            </a:r>
          </a:p>
          <a:p>
            <a:pPr marL="0" indent="0">
              <a:buNone/>
            </a:pPr>
            <a:r>
              <a:rPr lang="fr-BE" sz="2000" dirty="0" smtClean="0"/>
              <a:t>Se concentrer</a:t>
            </a:r>
          </a:p>
          <a:p>
            <a:pPr marL="0" indent="0">
              <a:buNone/>
            </a:pPr>
            <a:r>
              <a:rPr lang="fr-BE" sz="2000" dirty="0" smtClean="0"/>
              <a:t>Ce qui tombe sous la main</a:t>
            </a:r>
          </a:p>
          <a:p>
            <a:pPr marL="0" indent="0">
              <a:buNone/>
            </a:pPr>
            <a:r>
              <a:rPr lang="fr-BE" sz="2000" dirty="0" smtClean="0"/>
              <a:t>À voix haute</a:t>
            </a:r>
          </a:p>
          <a:p>
            <a:pPr marL="0" indent="0">
              <a:buNone/>
            </a:pPr>
            <a:r>
              <a:rPr lang="fr-BE" sz="2000" dirty="0" smtClean="0"/>
              <a:t>Suivre l’actualité</a:t>
            </a:r>
            <a:endParaRPr lang="fr-BE" sz="2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402" y="4031044"/>
            <a:ext cx="1542422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8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Structurer le vocabulaire p.28</a:t>
            </a:r>
            <a:endParaRPr lang="en-US" dirty="0"/>
          </a:p>
        </p:txBody>
      </p:sp>
      <p:sp>
        <p:nvSpPr>
          <p:cNvPr id="5" name="Plaque 4"/>
          <p:cNvSpPr/>
          <p:nvPr/>
        </p:nvSpPr>
        <p:spPr>
          <a:xfrm>
            <a:off x="4878185" y="3405909"/>
            <a:ext cx="1762760" cy="1323110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fr-B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Bibliothèque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rc 5"/>
          <p:cNvSpPr/>
          <p:nvPr/>
        </p:nvSpPr>
        <p:spPr>
          <a:xfrm rot="10800000">
            <a:off x="6714836" y="3657600"/>
            <a:ext cx="4387273" cy="141316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/>
          <p:cNvSpPr/>
          <p:nvPr/>
        </p:nvSpPr>
        <p:spPr>
          <a:xfrm rot="19677828">
            <a:off x="4816764" y="3435564"/>
            <a:ext cx="4387273" cy="141316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 rot="20129805">
            <a:off x="671383" y="4913626"/>
            <a:ext cx="4387273" cy="141316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/>
          <p:cNvSpPr/>
          <p:nvPr/>
        </p:nvSpPr>
        <p:spPr>
          <a:xfrm rot="557989">
            <a:off x="587354" y="2801312"/>
            <a:ext cx="4387273" cy="1413164"/>
          </a:xfrm>
          <a:prstGeom prst="arc">
            <a:avLst>
              <a:gd name="adj1" fmla="val 15023623"/>
              <a:gd name="adj2" fmla="val 2120386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/>
          <p:cNvSpPr txBox="1"/>
          <p:nvPr/>
        </p:nvSpPr>
        <p:spPr>
          <a:xfrm>
            <a:off x="7103691" y="2184680"/>
            <a:ext cx="153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C’est </a:t>
            </a:r>
            <a:r>
              <a:rPr lang="fr-BE" b="1" dirty="0" smtClean="0"/>
              <a:t>quoi</a:t>
            </a:r>
            <a:r>
              <a:rPr lang="fr-BE" dirty="0" smtClean="0"/>
              <a:t> la bibliothèque ? 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7375236" y="5164592"/>
            <a:ext cx="153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 smtClean="0"/>
              <a:t>Qui</a:t>
            </a:r>
            <a:r>
              <a:rPr lang="fr-BE" dirty="0" smtClean="0"/>
              <a:t> va à la bibliothèque ? </a:t>
            </a:r>
            <a:endParaRPr lang="en-US" dirty="0"/>
          </a:p>
        </p:txBody>
      </p:sp>
      <p:sp>
        <p:nvSpPr>
          <p:cNvPr id="11" name="ZoneTexte 10"/>
          <p:cNvSpPr txBox="1"/>
          <p:nvPr/>
        </p:nvSpPr>
        <p:spPr>
          <a:xfrm>
            <a:off x="3148615" y="2220988"/>
            <a:ext cx="1729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On </a:t>
            </a:r>
            <a:r>
              <a:rPr lang="fr-BE" b="1" dirty="0" smtClean="0"/>
              <a:t>fait</a:t>
            </a:r>
            <a:r>
              <a:rPr lang="fr-BE" dirty="0"/>
              <a:t> </a:t>
            </a:r>
            <a:r>
              <a:rPr lang="fr-BE" b="1" dirty="0" smtClean="0"/>
              <a:t>quoi</a:t>
            </a:r>
            <a:r>
              <a:rPr lang="fr-BE" dirty="0" smtClean="0"/>
              <a:t> à la bibliothèque ? 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2927927" y="4747599"/>
            <a:ext cx="1848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On trouve </a:t>
            </a:r>
            <a:r>
              <a:rPr lang="fr-BE" b="1" dirty="0" smtClean="0"/>
              <a:t>quoi (matériel)</a:t>
            </a:r>
            <a:r>
              <a:rPr lang="fr-BE" dirty="0" smtClean="0"/>
              <a:t> à la bibliothèque ? </a:t>
            </a:r>
            <a:endParaRPr lang="en-US" dirty="0"/>
          </a:p>
        </p:txBody>
      </p:sp>
      <p:sp>
        <p:nvSpPr>
          <p:cNvPr id="13" name="Arc 12"/>
          <p:cNvSpPr/>
          <p:nvPr/>
        </p:nvSpPr>
        <p:spPr>
          <a:xfrm rot="19677828">
            <a:off x="4808597" y="4097116"/>
            <a:ext cx="4387273" cy="1413164"/>
          </a:xfrm>
          <a:prstGeom prst="arc">
            <a:avLst>
              <a:gd name="adj1" fmla="val 16200000"/>
              <a:gd name="adj2" fmla="val 3306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/>
          <p:cNvSpPr txBox="1"/>
          <p:nvPr/>
        </p:nvSpPr>
        <p:spPr>
          <a:xfrm>
            <a:off x="8816109" y="3563772"/>
            <a:ext cx="2193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Quels </a:t>
            </a:r>
            <a:r>
              <a:rPr lang="fr-BE" b="1" dirty="0" smtClean="0"/>
              <a:t>espaces</a:t>
            </a:r>
            <a:r>
              <a:rPr lang="fr-BE" dirty="0" smtClean="0"/>
              <a:t> peut-on y trouver ? 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8771090" y="1959377"/>
            <a:ext cx="34209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smtClean="0">
                <a:solidFill>
                  <a:srgbClr val="0070C0"/>
                </a:solidFill>
              </a:rPr>
              <a:t>Un lieu de recherche documentaire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Un lieu d’apprentissage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Un lieu de connaissance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Un lieu où il n’y a pas de cours ex cathedra (magistraux)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771090" y="5192424"/>
            <a:ext cx="34209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smtClean="0">
                <a:solidFill>
                  <a:srgbClr val="0070C0"/>
                </a:solidFill>
              </a:rPr>
              <a:t>Les assistants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Les utilisateurs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Les étudiants  (quelle que soit la faculté)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Les chercheurs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Les élèves des premier bac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Les équipes (du </a:t>
            </a:r>
            <a:r>
              <a:rPr lang="fr-BE" sz="1400" dirty="0" err="1" smtClean="0">
                <a:solidFill>
                  <a:srgbClr val="0070C0"/>
                </a:solidFill>
              </a:rPr>
              <a:t>learning</a:t>
            </a:r>
            <a:r>
              <a:rPr lang="fr-BE" sz="1400" dirty="0" smtClean="0">
                <a:solidFill>
                  <a:srgbClr val="0070C0"/>
                </a:solidFill>
              </a:rPr>
              <a:t> centre)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93542" y="5576712"/>
            <a:ext cx="3420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smtClean="0">
                <a:solidFill>
                  <a:srgbClr val="0070C0"/>
                </a:solidFill>
              </a:rPr>
              <a:t>Des revues physiques (en version papier)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Des ordinateurs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Des fauteuils confortables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…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502002" y="2322637"/>
            <a:ext cx="34209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smtClean="0">
                <a:solidFill>
                  <a:srgbClr val="0070C0"/>
                </a:solidFill>
              </a:rPr>
              <a:t>Répéter (les cours)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Encadrer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 smtClean="0">
                <a:solidFill>
                  <a:srgbClr val="0070C0"/>
                </a:solidFill>
              </a:rPr>
              <a:t> (les </a:t>
            </a:r>
            <a:r>
              <a:rPr lang="en-US" sz="1400" dirty="0" err="1" smtClean="0">
                <a:solidFill>
                  <a:srgbClr val="0070C0"/>
                </a:solidFill>
              </a:rPr>
              <a:t>étudiants</a:t>
            </a:r>
            <a:r>
              <a:rPr lang="en-US" sz="1400" dirty="0" smtClean="0">
                <a:solidFill>
                  <a:srgbClr val="0070C0"/>
                </a:solidFill>
              </a:rPr>
              <a:t>)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Travailler en groupe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Faire de la remédiation</a:t>
            </a:r>
          </a:p>
          <a:p>
            <a:r>
              <a:rPr lang="fr-BE" sz="1400" dirty="0" smtClean="0">
                <a:solidFill>
                  <a:srgbClr val="0070C0"/>
                </a:solidFill>
              </a:rPr>
              <a:t>Rechercher</a:t>
            </a:r>
          </a:p>
        </p:txBody>
      </p:sp>
    </p:spTree>
    <p:extLst>
      <p:ext uri="{BB962C8B-B14F-4D97-AF65-F5344CB8AC3E}">
        <p14:creationId xmlns:p14="http://schemas.microsoft.com/office/powerpoint/2010/main" val="342024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7412739" cy="1475013"/>
          </a:xfrm>
        </p:spPr>
        <p:txBody>
          <a:bodyPr>
            <a:normAutofit/>
          </a:bodyPr>
          <a:lstStyle/>
          <a:p>
            <a:pPr algn="ctr"/>
            <a:r>
              <a:rPr lang="fr-BE" dirty="0" smtClean="0"/>
              <a:t>La vie étudiante</a:t>
            </a:r>
            <a:br>
              <a:rPr lang="fr-BE" dirty="0" smtClean="0"/>
            </a:br>
            <a:r>
              <a:rPr lang="fr-BE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Habiter dans un kot ou non ?</a:t>
            </a:r>
            <a:endParaRPr lang="fr-BE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1" y="4325592"/>
            <a:ext cx="6604697" cy="1007371"/>
          </a:xfrm>
        </p:spPr>
        <p:txBody>
          <a:bodyPr>
            <a:noAutofit/>
          </a:bodyPr>
          <a:lstStyle/>
          <a:p>
            <a:pPr algn="l"/>
            <a:r>
              <a:rPr lang="fr-BE" sz="1800" dirty="0" smtClean="0">
                <a:solidFill>
                  <a:schemeClr val="bg1"/>
                </a:solidFill>
              </a:rPr>
              <a:t>LFRAN 1301-  cours </a:t>
            </a:r>
            <a:r>
              <a:rPr lang="fr-BE" sz="1800" dirty="0" smtClean="0">
                <a:solidFill>
                  <a:schemeClr val="bg1"/>
                </a:solidFill>
              </a:rPr>
              <a:t>03  </a:t>
            </a:r>
            <a:r>
              <a:rPr lang="fr-BE" sz="1800" dirty="0" smtClean="0">
                <a:solidFill>
                  <a:schemeClr val="bg1"/>
                </a:solidFill>
              </a:rPr>
              <a:t>- Unité 1 L’université</a:t>
            </a:r>
          </a:p>
          <a:p>
            <a:pPr algn="l"/>
            <a:endParaRPr lang="fr-BE" sz="1800" dirty="0">
              <a:solidFill>
                <a:schemeClr val="bg1"/>
              </a:solidFill>
            </a:endParaRPr>
          </a:p>
          <a:p>
            <a:pPr algn="l"/>
            <a:endParaRPr lang="fr-BE" sz="1800" dirty="0" smtClean="0">
              <a:solidFill>
                <a:schemeClr val="bg1"/>
              </a:solidFill>
            </a:endParaRPr>
          </a:p>
          <a:p>
            <a:pPr algn="l"/>
            <a:r>
              <a:rPr lang="fr-BE" sz="1800" dirty="0" smtClean="0">
                <a:solidFill>
                  <a:schemeClr val="bg1"/>
                </a:solidFill>
              </a:rPr>
              <a:t>Genevieve.Briet@uclouvain.be</a:t>
            </a:r>
            <a:endParaRPr lang="fr-BE" sz="1800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LLN Léon et Valérie"/>
          <p:cNvSpPr>
            <a:spLocks noChangeAspect="1" noChangeArrowheads="1"/>
          </p:cNvSpPr>
          <p:nvPr/>
        </p:nvSpPr>
        <p:spPr bwMode="auto">
          <a:xfrm>
            <a:off x="3600450" y="1557338"/>
            <a:ext cx="49911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sp>
        <p:nvSpPr>
          <p:cNvPr id="6" name="AutoShape 2" descr="Résultat de recherche d'images pour &quot;kot à ll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888" y="3272983"/>
            <a:ext cx="4074171" cy="305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6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748194" y="819612"/>
            <a:ext cx="6233795" cy="5514340"/>
          </a:xfrm>
          <a:prstGeom prst="rect">
            <a:avLst/>
          </a:prstGeom>
          <a:solidFill>
            <a:srgbClr val="00B0F0"/>
          </a:solidFill>
          <a:ln w="5715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6778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39913" y="-376748"/>
            <a:ext cx="5918614" cy="838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3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630" y="971406"/>
            <a:ext cx="8172450" cy="52292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4" y="2254106"/>
            <a:ext cx="2159099" cy="133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Lire un reportage : </a:t>
            </a:r>
            <a:r>
              <a:rPr lang="fr-B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 Ce n’était pas possible pour mes parents </a:t>
            </a:r>
            <a:r>
              <a:rPr lang="fr-BE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  <a:endParaRPr lang="en-US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3825" y="1901919"/>
            <a:ext cx="5536557" cy="4735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600" dirty="0" smtClean="0"/>
              <a:t>(</a:t>
            </a:r>
            <a:r>
              <a:rPr lang="fr-BE" sz="2600" dirty="0" err="1" smtClean="0"/>
              <a:t>Syll</a:t>
            </a:r>
            <a:r>
              <a:rPr lang="fr-BE" sz="2600" dirty="0" smtClean="0"/>
              <a:t>., p. 40)</a:t>
            </a:r>
          </a:p>
          <a:p>
            <a:r>
              <a:rPr lang="fr-BE" sz="2600" b="1" dirty="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Vocabulaire</a:t>
            </a:r>
          </a:p>
          <a:p>
            <a:pPr lvl="1"/>
            <a:r>
              <a:rPr lang="fr-BE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 que c’est, des « potes » ?</a:t>
            </a:r>
          </a:p>
          <a:p>
            <a:pPr lvl="1"/>
            <a:r>
              <a:rPr lang="fr-BE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synonyme de « couter » dans le texte</a:t>
            </a:r>
          </a:p>
          <a:p>
            <a:pPr lvl="1"/>
            <a:r>
              <a:rPr lang="fr-BE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synonyme de « ruelle » dans le texte</a:t>
            </a:r>
          </a:p>
          <a:p>
            <a:r>
              <a:rPr lang="fr-BE" sz="2600" b="1" dirty="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Grammaire</a:t>
            </a:r>
          </a:p>
          <a:p>
            <a:pPr lvl="1"/>
            <a:r>
              <a:rPr lang="fr-BE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LE LUI payer</a:t>
            </a:r>
          </a:p>
          <a:p>
            <a:pPr lvl="1"/>
            <a:r>
              <a:rPr lang="fr-BE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ami QUI L’héberge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848" y="4387739"/>
            <a:ext cx="1853733" cy="192897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701" y="2261427"/>
            <a:ext cx="2245505" cy="181658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207" y="4269512"/>
            <a:ext cx="2085975" cy="18478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5641" y="2182319"/>
            <a:ext cx="1898266" cy="208719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255" y="4532091"/>
            <a:ext cx="2122280" cy="164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9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588579" y="882869"/>
            <a:ext cx="50344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Dans une petite rue de Louvain-la Neuve, Elena et </a:t>
            </a:r>
            <a:r>
              <a:rPr lang="fr-BE" sz="2000" dirty="0" err="1"/>
              <a:t>Ihsane</a:t>
            </a:r>
            <a:r>
              <a:rPr lang="fr-BE" sz="2000" dirty="0"/>
              <a:t> </a:t>
            </a:r>
            <a:r>
              <a:rPr lang="fr-BE" sz="2000" u="sng" dirty="0"/>
              <a:t>reviennent</a:t>
            </a:r>
            <a:r>
              <a:rPr lang="fr-BE" sz="2000" dirty="0"/>
              <a:t> du supermarché. […] Toutes deux </a:t>
            </a:r>
            <a:r>
              <a:rPr lang="fr-BE" sz="2000" u="sng" dirty="0"/>
              <a:t>logent</a:t>
            </a:r>
            <a:r>
              <a:rPr lang="fr-BE" sz="2000" dirty="0"/>
              <a:t> dans un kot. Elles précisent toutefois d’emblée que la chose est possible parce qu’elles </a:t>
            </a:r>
            <a:r>
              <a:rPr lang="fr-BE" sz="2000" u="sng" dirty="0"/>
              <a:t>bénéficient</a:t>
            </a:r>
            <a:r>
              <a:rPr lang="fr-BE" sz="2000" dirty="0"/>
              <a:t> d’aides. « </a:t>
            </a:r>
            <a:r>
              <a:rPr lang="fr-BE" sz="2000" i="1" dirty="0"/>
              <a:t>Je suis en première année de psychologie, </a:t>
            </a:r>
            <a:r>
              <a:rPr lang="fr-BE" sz="2000" dirty="0"/>
              <a:t>explique </a:t>
            </a:r>
            <a:r>
              <a:rPr lang="fr-BE" sz="2000" b="1" dirty="0"/>
              <a:t>Elena</a:t>
            </a:r>
            <a:r>
              <a:rPr lang="fr-BE" sz="2000" dirty="0"/>
              <a:t>. </a:t>
            </a:r>
            <a:r>
              <a:rPr lang="fr-BE" sz="2000" i="1" dirty="0"/>
              <a:t>Je bénéficie d’un logement UCL qui </a:t>
            </a:r>
            <a:r>
              <a:rPr lang="fr-BE" sz="2000" i="1" u="sng" dirty="0"/>
              <a:t>revient</a:t>
            </a:r>
            <a:r>
              <a:rPr lang="fr-BE" sz="2000" i="1" dirty="0"/>
              <a:t> à 290 </a:t>
            </a:r>
            <a:r>
              <a:rPr lang="fr-BE" sz="2000" i="1"/>
              <a:t>euros </a:t>
            </a:r>
            <a:r>
              <a:rPr lang="fr-BE" sz="2000" i="1" smtClean="0"/>
              <a:t>par </a:t>
            </a:r>
            <a:r>
              <a:rPr lang="fr-BE" sz="2000" i="1" dirty="0"/>
              <a:t>mois. Ça n’est pas très cher mais la chambre est minuscule et nous sommes sept à nous partager les pièces communes. C’est parfois délicat. </a:t>
            </a:r>
            <a:endParaRPr lang="fr-BE" sz="2000" i="1" dirty="0" smtClean="0"/>
          </a:p>
          <a:p>
            <a:r>
              <a:rPr lang="fr-BE" sz="2000" b="1" i="1" dirty="0" err="1" smtClean="0"/>
              <a:t>Louanne</a:t>
            </a:r>
            <a:r>
              <a:rPr lang="fr-BE" sz="2000" i="1" dirty="0" smtClean="0"/>
              <a:t> : J’ai </a:t>
            </a:r>
            <a:r>
              <a:rPr lang="fr-BE" sz="2000" i="1" dirty="0"/>
              <a:t>fait le calcul et il est plus économique pour moi d’effectuer les navettes en train ou en voiture que de louer un kot. Quand je </a:t>
            </a:r>
            <a:r>
              <a:rPr lang="fr-BE" sz="2000" i="1" u="sng" dirty="0"/>
              <a:t>dois</a:t>
            </a:r>
            <a:r>
              <a:rPr lang="fr-BE" sz="2000" i="1" dirty="0"/>
              <a:t> rester ici, mon ami m’</a:t>
            </a:r>
            <a:r>
              <a:rPr lang="fr-BE" sz="2000" i="1" u="sng" dirty="0"/>
              <a:t>accueille</a:t>
            </a:r>
            <a:r>
              <a:rPr lang="fr-BE" sz="2000" i="1" dirty="0"/>
              <a:t>. C’est sûr qu’avoir un logement sur place m’aurait plu mais ça n’est pas possible pour mes parents. Et les loyers sont excessifs. </a:t>
            </a:r>
            <a:endParaRPr lang="fr-BE" sz="2000" dirty="0"/>
          </a:p>
        </p:txBody>
      </p:sp>
      <p:sp>
        <p:nvSpPr>
          <p:cNvPr id="6" name="ZoneTexte 5"/>
          <p:cNvSpPr txBox="1"/>
          <p:nvPr/>
        </p:nvSpPr>
        <p:spPr>
          <a:xfrm>
            <a:off x="6011917" y="851338"/>
            <a:ext cx="56125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i="1" dirty="0" smtClean="0"/>
              <a:t>Elena :</a:t>
            </a:r>
            <a:r>
              <a:rPr lang="fr-BE" sz="2000" i="1" dirty="0" smtClean="0"/>
              <a:t> J’aurais </a:t>
            </a:r>
            <a:r>
              <a:rPr lang="fr-BE" sz="2000" i="1" dirty="0"/>
              <a:t>bien sûr pu trouver mieux, notamment dans le privé, mais c’est beaucoup plus cher. J’ai une amie qui a un studio à 550 euros par mois, mais ses parents n’ont pas de difficultés pour le lui payer. </a:t>
            </a:r>
            <a:r>
              <a:rPr lang="fr-BE" sz="2000" dirty="0"/>
              <a:t>[ …] </a:t>
            </a:r>
          </a:p>
          <a:p>
            <a:r>
              <a:rPr lang="fr-BE" sz="2000" dirty="0"/>
              <a:t>Un peu</a:t>
            </a:r>
            <a:r>
              <a:rPr lang="fr-BE" sz="2000" i="1" dirty="0"/>
              <a:t> </a:t>
            </a:r>
            <a:r>
              <a:rPr lang="fr-BE" sz="2000" dirty="0"/>
              <a:t>plus loin, </a:t>
            </a:r>
            <a:r>
              <a:rPr lang="fr-BE" sz="2000" b="1" dirty="0"/>
              <a:t>Arnaud</a:t>
            </a:r>
            <a:r>
              <a:rPr lang="fr-BE" sz="2000" dirty="0"/>
              <a:t> remonte une ruelle pour rejoindre le logement d’un ami qui l’héberge momentanément. « </a:t>
            </a:r>
            <a:r>
              <a:rPr lang="fr-BE" sz="2000" i="1" dirty="0"/>
              <a:t>Je suis en master en finances,</a:t>
            </a:r>
            <a:r>
              <a:rPr lang="fr-BE" sz="2000" dirty="0"/>
              <a:t> commente l’étudiant.</a:t>
            </a:r>
            <a:r>
              <a:rPr lang="fr-BE" sz="2000" i="1" dirty="0"/>
              <a:t> Je </a:t>
            </a:r>
            <a:r>
              <a:rPr lang="fr-BE" sz="2000" i="1" u="sng" dirty="0"/>
              <a:t>viens</a:t>
            </a:r>
            <a:r>
              <a:rPr lang="fr-BE" sz="2000" i="1" dirty="0"/>
              <a:t> de Mons. Je </a:t>
            </a:r>
            <a:r>
              <a:rPr lang="fr-BE" sz="2000" i="1" u="sng" dirty="0"/>
              <a:t>suis</a:t>
            </a:r>
            <a:r>
              <a:rPr lang="fr-BE" sz="2000" i="1" dirty="0"/>
              <a:t> les cours du tronc commun à Mons et mes options ici à </a:t>
            </a:r>
            <a:r>
              <a:rPr lang="fr-BE" sz="2000" i="1" dirty="0" smtClean="0"/>
              <a:t>Louvain. J’ai </a:t>
            </a:r>
            <a:r>
              <a:rPr lang="fr-BE" sz="2000" i="1" dirty="0"/>
              <a:t>des potes qui </a:t>
            </a:r>
            <a:r>
              <a:rPr lang="fr-BE" sz="2000" i="1" u="sng" dirty="0"/>
              <a:t>se retrouvent</a:t>
            </a:r>
            <a:r>
              <a:rPr lang="fr-BE" sz="2000" i="1" dirty="0"/>
              <a:t> à douze dans une maison avec une seule douche et quatre taques pour cuisiner. […] </a:t>
            </a:r>
            <a:endParaRPr lang="fr-BE" sz="2000" i="1" dirty="0" smtClean="0"/>
          </a:p>
          <a:p>
            <a:r>
              <a:rPr lang="fr-BE" sz="2000" i="1" dirty="0" smtClean="0"/>
              <a:t>J’ai </a:t>
            </a:r>
            <a:r>
              <a:rPr lang="fr-BE" sz="2000" i="1" dirty="0"/>
              <a:t>un kot dans le privé, </a:t>
            </a:r>
            <a:r>
              <a:rPr lang="fr-BE" sz="2000" dirty="0"/>
              <a:t>commente </a:t>
            </a:r>
            <a:r>
              <a:rPr lang="fr-BE" sz="2000" b="1" dirty="0"/>
              <a:t>Samuel,</a:t>
            </a:r>
            <a:r>
              <a:rPr lang="fr-BE" sz="2000" dirty="0"/>
              <a:t> étudiant français en kiné</a:t>
            </a:r>
            <a:r>
              <a:rPr lang="fr-BE" sz="2000" i="1" dirty="0"/>
              <a:t>. Le loyer est de 700 euros par mois, mais ma mère voulait que je sois bien installé. De plus, elle </a:t>
            </a:r>
            <a:r>
              <a:rPr lang="fr-BE" sz="2000" i="1" u="sng" dirty="0"/>
              <a:t>reçoit</a:t>
            </a:r>
            <a:r>
              <a:rPr lang="fr-BE" sz="2000" i="1" dirty="0"/>
              <a:t> une aide de la Région dont je suis originaire. »</a:t>
            </a:r>
            <a:endParaRPr lang="fr-BE" sz="2000" dirty="0"/>
          </a:p>
        </p:txBody>
      </p:sp>
    </p:spTree>
    <p:extLst>
      <p:ext uri="{BB962C8B-B14F-4D97-AF65-F5344CB8AC3E}">
        <p14:creationId xmlns:p14="http://schemas.microsoft.com/office/powerpoint/2010/main" val="372576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Correction du tableau p. 40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/>
          </p:nvPr>
        </p:nvGraphicFramePr>
        <p:xfrm>
          <a:off x="462336" y="2332236"/>
          <a:ext cx="11148472" cy="382125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91936">
                  <a:extLst>
                    <a:ext uri="{9D8B030D-6E8A-4147-A177-3AD203B41FA5}">
                      <a16:colId xmlns:a16="http://schemas.microsoft.com/office/drawing/2014/main" val="847559371"/>
                    </a:ext>
                  </a:extLst>
                </a:gridCol>
                <a:gridCol w="1591936">
                  <a:extLst>
                    <a:ext uri="{9D8B030D-6E8A-4147-A177-3AD203B41FA5}">
                      <a16:colId xmlns:a16="http://schemas.microsoft.com/office/drawing/2014/main" val="1370229228"/>
                    </a:ext>
                  </a:extLst>
                </a:gridCol>
                <a:gridCol w="1591936">
                  <a:extLst>
                    <a:ext uri="{9D8B030D-6E8A-4147-A177-3AD203B41FA5}">
                      <a16:colId xmlns:a16="http://schemas.microsoft.com/office/drawing/2014/main" val="543587595"/>
                    </a:ext>
                  </a:extLst>
                </a:gridCol>
                <a:gridCol w="1593166">
                  <a:extLst>
                    <a:ext uri="{9D8B030D-6E8A-4147-A177-3AD203B41FA5}">
                      <a16:colId xmlns:a16="http://schemas.microsoft.com/office/drawing/2014/main" val="1454980720"/>
                    </a:ext>
                  </a:extLst>
                </a:gridCol>
                <a:gridCol w="1593166">
                  <a:extLst>
                    <a:ext uri="{9D8B030D-6E8A-4147-A177-3AD203B41FA5}">
                      <a16:colId xmlns:a16="http://schemas.microsoft.com/office/drawing/2014/main" val="3975739214"/>
                    </a:ext>
                  </a:extLst>
                </a:gridCol>
                <a:gridCol w="1593166">
                  <a:extLst>
                    <a:ext uri="{9D8B030D-6E8A-4147-A177-3AD203B41FA5}">
                      <a16:colId xmlns:a16="http://schemas.microsoft.com/office/drawing/2014/main" val="1335654605"/>
                    </a:ext>
                  </a:extLst>
                </a:gridCol>
                <a:gridCol w="1593166">
                  <a:extLst>
                    <a:ext uri="{9D8B030D-6E8A-4147-A177-3AD203B41FA5}">
                      <a16:colId xmlns:a16="http://schemas.microsoft.com/office/drawing/2014/main" val="647463361"/>
                    </a:ext>
                  </a:extLst>
                </a:gridCol>
              </a:tblGrid>
              <a:tr h="8486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fr-B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Prix du loyer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Logement </a:t>
                      </a:r>
                      <a:r>
                        <a:rPr lang="fr-BE" sz="1800" dirty="0" err="1">
                          <a:effectLst/>
                        </a:rPr>
                        <a:t>UCLouvain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Logement privé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Nombre de colocataires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Equipement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Espace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234342"/>
                  </a:ext>
                </a:extLst>
              </a:tr>
              <a:tr h="4191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Elena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290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oui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7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Chambre minuscule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0134060"/>
                  </a:ext>
                </a:extLst>
              </a:tr>
              <a:tr h="4191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L’amie d’Elena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550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oui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405051"/>
                  </a:ext>
                </a:extLst>
              </a:tr>
              <a:tr h="4191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des potes d’Arnaud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12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1 douche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4 taques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855855"/>
                  </a:ext>
                </a:extLst>
              </a:tr>
              <a:tr h="10634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Samuel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700, mais aide financière de sa Région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oui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787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23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Vocabulaire – identifier les verbes soulignés du texte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522118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BE" sz="2400" b="1" dirty="0" smtClean="0"/>
              <a:t>Verbes soulignés – Quel est l’infinitif ?</a:t>
            </a:r>
          </a:p>
          <a:p>
            <a:pPr marL="0" indent="0">
              <a:buNone/>
            </a:pPr>
            <a:r>
              <a:rPr lang="fr-BE" sz="2200" dirty="0"/>
              <a:t>r</a:t>
            </a:r>
            <a:r>
              <a:rPr lang="fr-BE" sz="2200" dirty="0" smtClean="0"/>
              <a:t>eviennent   - REVENIR</a:t>
            </a:r>
          </a:p>
          <a:p>
            <a:pPr marL="0" indent="0">
              <a:buNone/>
            </a:pPr>
            <a:r>
              <a:rPr lang="fr-BE" sz="2200" dirty="0"/>
              <a:t>l</a:t>
            </a:r>
            <a:r>
              <a:rPr lang="fr-BE" sz="2200" dirty="0" smtClean="0"/>
              <a:t>ogent  - LOGER</a:t>
            </a:r>
          </a:p>
          <a:p>
            <a:pPr marL="0" indent="0">
              <a:buNone/>
            </a:pPr>
            <a:r>
              <a:rPr lang="fr-BE" sz="2200" dirty="0" smtClean="0"/>
              <a:t>Bénéficient - BÉNÉFICIER</a:t>
            </a:r>
          </a:p>
          <a:p>
            <a:pPr marL="0" indent="0">
              <a:buNone/>
            </a:pPr>
            <a:r>
              <a:rPr lang="fr-BE" sz="2200" dirty="0" smtClean="0"/>
              <a:t>revient - REVENIR</a:t>
            </a:r>
          </a:p>
          <a:p>
            <a:pPr marL="0" indent="0">
              <a:buNone/>
            </a:pPr>
            <a:r>
              <a:rPr lang="fr-BE" sz="2200" dirty="0" smtClean="0"/>
              <a:t>dois - DEVOIR </a:t>
            </a:r>
          </a:p>
          <a:p>
            <a:pPr marL="0" indent="0">
              <a:buNone/>
            </a:pPr>
            <a:r>
              <a:rPr lang="fr-BE" sz="2200" dirty="0" smtClean="0"/>
              <a:t>accueille - ACCUEILLIR</a:t>
            </a:r>
          </a:p>
          <a:p>
            <a:pPr marL="0" indent="0">
              <a:buNone/>
            </a:pPr>
            <a:r>
              <a:rPr lang="fr-BE" sz="2200" dirty="0" smtClean="0"/>
              <a:t>viens -  VENIR</a:t>
            </a:r>
          </a:p>
          <a:p>
            <a:pPr marL="0" indent="0">
              <a:buNone/>
            </a:pPr>
            <a:r>
              <a:rPr lang="fr-BE" sz="2200" dirty="0" smtClean="0"/>
              <a:t>suis - SUIVRE</a:t>
            </a:r>
          </a:p>
          <a:p>
            <a:pPr marL="0" indent="0">
              <a:buNone/>
            </a:pPr>
            <a:r>
              <a:rPr lang="fr-BE" sz="2200" dirty="0" smtClean="0"/>
              <a:t>se retrouvent – SE RETROUVER</a:t>
            </a:r>
          </a:p>
          <a:p>
            <a:pPr marL="0" indent="0">
              <a:buNone/>
            </a:pPr>
            <a:r>
              <a:rPr lang="fr-BE" sz="2200" dirty="0"/>
              <a:t>r</a:t>
            </a:r>
            <a:r>
              <a:rPr lang="fr-BE" sz="2200" dirty="0" smtClean="0"/>
              <a:t>eçoit - RECEVOIR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6188416" y="2228003"/>
            <a:ext cx="5577485" cy="4522118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BE" sz="2400" b="1" dirty="0" smtClean="0"/>
              <a:t>Ils fonctionnent </a:t>
            </a:r>
          </a:p>
          <a:p>
            <a:pPr marL="0" indent="0">
              <a:buNone/>
            </a:pPr>
            <a:r>
              <a:rPr lang="fr-BE" sz="2400" b="1" dirty="0" smtClean="0"/>
              <a:t>avec </a:t>
            </a:r>
            <a:r>
              <a:rPr lang="fr-BE" sz="2400" b="1" dirty="0" smtClean="0"/>
              <a:t>quelle préposition ?</a:t>
            </a:r>
          </a:p>
          <a:p>
            <a:pPr lvl="2"/>
            <a:r>
              <a:rPr lang="fr-BE" sz="2400" dirty="0" smtClean="0"/>
              <a:t>À</a:t>
            </a:r>
          </a:p>
          <a:p>
            <a:pPr lvl="2"/>
            <a:r>
              <a:rPr lang="fr-BE" sz="2400" dirty="0" smtClean="0"/>
              <a:t>DE / DU</a:t>
            </a:r>
          </a:p>
          <a:p>
            <a:pPr lvl="2"/>
            <a:r>
              <a:rPr lang="fr-BE" sz="2400" dirty="0" smtClean="0"/>
              <a:t>DANS</a:t>
            </a:r>
          </a:p>
          <a:p>
            <a:pPr lvl="2"/>
            <a:r>
              <a:rPr lang="fr-BE" sz="2400" dirty="0" smtClean="0"/>
              <a:t>aucune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424742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 présent – Les règles orthographiques</a:t>
            </a:r>
            <a:endParaRPr lang="fr-BE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/>
          </p:nvPr>
        </p:nvGraphicFramePr>
        <p:xfrm>
          <a:off x="772160" y="2560319"/>
          <a:ext cx="8971280" cy="318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7531">
                  <a:extLst>
                    <a:ext uri="{9D8B030D-6E8A-4147-A177-3AD203B41FA5}">
                      <a16:colId xmlns:a16="http://schemas.microsoft.com/office/drawing/2014/main" val="66209980"/>
                    </a:ext>
                  </a:extLst>
                </a:gridCol>
                <a:gridCol w="8133749">
                  <a:extLst>
                    <a:ext uri="{9D8B030D-6E8A-4147-A177-3AD203B41FA5}">
                      <a16:colId xmlns:a16="http://schemas.microsoft.com/office/drawing/2014/main" val="777446692"/>
                    </a:ext>
                  </a:extLst>
                </a:gridCol>
              </a:tblGrid>
              <a:tr h="553057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-CER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fr-BE" sz="1800">
                          <a:effectLst/>
                        </a:rPr>
                        <a:t> </a:t>
                      </a:r>
                      <a:endParaRPr lang="fr-B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8664294"/>
                  </a:ext>
                </a:extLst>
              </a:tr>
              <a:tr h="553057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-GER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fr-BE" sz="1800">
                          <a:effectLst/>
                        </a:rPr>
                        <a:t> </a:t>
                      </a:r>
                      <a:endParaRPr lang="fr-B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6383581"/>
                  </a:ext>
                </a:extLst>
              </a:tr>
              <a:tr h="69132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E. ER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 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793943"/>
                  </a:ext>
                </a:extLst>
              </a:tr>
              <a:tr h="69132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>
                          <a:effectLst/>
                        </a:rPr>
                        <a:t>É.  ER</a:t>
                      </a:r>
                      <a:endParaRPr lang="fr-B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 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8683870"/>
                  </a:ext>
                </a:extLst>
              </a:tr>
              <a:tr h="69132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>
                          <a:effectLst/>
                        </a:rPr>
                        <a:t>- YER</a:t>
                      </a:r>
                      <a:endParaRPr lang="fr-B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fr-BE" sz="1800" dirty="0">
                          <a:effectLst/>
                        </a:rPr>
                        <a:t> </a:t>
                      </a:r>
                      <a:endParaRPr lang="fr-B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9237195"/>
                  </a:ext>
                </a:extLst>
              </a:tr>
            </a:tbl>
          </a:graphicData>
        </a:graphic>
      </p:graphicFrame>
      <p:sp>
        <p:nvSpPr>
          <p:cNvPr id="5" name="Bulle ronde 4"/>
          <p:cNvSpPr/>
          <p:nvPr/>
        </p:nvSpPr>
        <p:spPr>
          <a:xfrm>
            <a:off x="9181430" y="1981199"/>
            <a:ext cx="2704699" cy="1674795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Syllabus p. 49</a:t>
            </a:r>
          </a:p>
          <a:p>
            <a:pPr algn="ctr"/>
            <a:r>
              <a:rPr lang="fr-BE" dirty="0" smtClean="0"/>
              <a:t>GPF pp. 76-77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32237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867345"/>
            <a:ext cx="7764700" cy="5703823"/>
          </a:xfrm>
          <a:prstGeom prst="rect">
            <a:avLst/>
          </a:prstGeom>
        </p:spPr>
      </p:pic>
      <p:sp>
        <p:nvSpPr>
          <p:cNvPr id="3" name="Bulle ronde 2"/>
          <p:cNvSpPr/>
          <p:nvPr/>
        </p:nvSpPr>
        <p:spPr>
          <a:xfrm>
            <a:off x="9018870" y="1029903"/>
            <a:ext cx="2704699" cy="1674795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Syllabus p. 43</a:t>
            </a:r>
          </a:p>
          <a:p>
            <a:pPr algn="ctr"/>
            <a:r>
              <a:rPr lang="fr-BE" dirty="0" smtClean="0"/>
              <a:t>GPF pp. 108-109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65868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33186" y="634588"/>
            <a:ext cx="10815864" cy="830997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Pas de cours les mercredi 19 et 26 février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half" idx="2"/>
          </p:nvPr>
        </p:nvSpPr>
        <p:spPr>
          <a:xfrm>
            <a:off x="482705" y="2682212"/>
            <a:ext cx="4993535" cy="2934999"/>
          </a:xfrm>
        </p:spPr>
        <p:txBody>
          <a:bodyPr>
            <a:normAutofit/>
          </a:bodyPr>
          <a:lstStyle/>
          <a:p>
            <a:endParaRPr lang="fr-BE" dirty="0" smtClean="0"/>
          </a:p>
          <a:p>
            <a:endParaRPr lang="en-US" dirty="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BE" sz="2400" dirty="0"/>
              <a:t>Vendredi 21 février : cours à 10 h 45 avec Françoise Masuy (labo 32 puis ESOP 13)</a:t>
            </a:r>
          </a:p>
          <a:p>
            <a:endParaRPr lang="fr-BE" sz="3200" dirty="0">
              <a:solidFill>
                <a:srgbClr val="FF0000"/>
              </a:solidFill>
            </a:endParaRPr>
          </a:p>
          <a:p>
            <a:r>
              <a:rPr lang="fr-BE" sz="2400" dirty="0">
                <a:solidFill>
                  <a:srgbClr val="FF0000"/>
                </a:solidFill>
              </a:rPr>
              <a:t>Cours le mardi 25 février de 18 h 15 à 20 h 15 à ESOP </a:t>
            </a:r>
            <a:r>
              <a:rPr lang="fr-BE" sz="2400" dirty="0" smtClean="0">
                <a:solidFill>
                  <a:srgbClr val="FF0000"/>
                </a:solidFill>
              </a:rPr>
              <a:t>13</a:t>
            </a:r>
            <a:endParaRPr lang="fr-BE" sz="2400" dirty="0">
              <a:solidFill>
                <a:srgbClr val="FF000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31" y="2307361"/>
            <a:ext cx="4089367" cy="378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9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ulle ronde 3"/>
          <p:cNvSpPr/>
          <p:nvPr/>
        </p:nvSpPr>
        <p:spPr>
          <a:xfrm>
            <a:off x="902787" y="956621"/>
            <a:ext cx="4352703" cy="231832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" name="ZoneTexte 2"/>
          <p:cNvSpPr txBox="1"/>
          <p:nvPr/>
        </p:nvSpPr>
        <p:spPr>
          <a:xfrm>
            <a:off x="1225797" y="1489429"/>
            <a:ext cx="42584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 smtClean="0">
                <a:solidFill>
                  <a:schemeClr val="bg1"/>
                </a:solidFill>
              </a:rPr>
              <a:t>Du français, encore un peu plus ???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253198" y="3668734"/>
            <a:ext cx="3799055" cy="29537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txBody>
          <a:bodyPr>
            <a:normAutofit fontScale="2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fr-BE" sz="7000" b="1" smtClean="0"/>
              <a:t>Students help students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fr-BE" sz="7000" smtClean="0">
                <a:solidFill>
                  <a:srgbClr val="FF0000"/>
                </a:solidFill>
                <a:latin typeface="Arial" charset="0"/>
              </a:rPr>
              <a:t>Wednesday, 1-2 PM (ESOP 22) </a:t>
            </a:r>
            <a:r>
              <a:rPr lang="fr-BE" sz="7000" smtClean="0">
                <a:latin typeface="Arial" charset="0"/>
              </a:rPr>
              <a:t> </a:t>
            </a:r>
            <a:br>
              <a:rPr lang="fr-BE" sz="7000" smtClean="0">
                <a:latin typeface="Arial" charset="0"/>
              </a:rPr>
            </a:br>
            <a:r>
              <a:rPr lang="fr-BE" sz="7000" b="1" smtClean="0">
                <a:latin typeface="Arial" charset="0"/>
              </a:rPr>
              <a:t>Group mentoring A1-A2 </a:t>
            </a:r>
            <a:r>
              <a:rPr lang="fr-BE" sz="7000" smtClean="0">
                <a:latin typeface="Arial" charset="0"/>
              </a:rPr>
              <a:t/>
            </a:r>
            <a:br>
              <a:rPr lang="fr-BE" sz="7000" smtClean="0">
                <a:latin typeface="Arial" charset="0"/>
              </a:rPr>
            </a:br>
            <a:r>
              <a:rPr lang="fr-BE" sz="7000" i="1" smtClean="0">
                <a:latin typeface="Arial" charset="0"/>
              </a:rPr>
              <a:t>organised by ESN</a:t>
            </a:r>
          </a:p>
          <a:p>
            <a:pPr marL="342900" lvl="1" indent="-342900">
              <a:lnSpc>
                <a:spcPct val="170000"/>
              </a:lnSpc>
              <a:spcBef>
                <a:spcPts val="0"/>
              </a:spcBef>
              <a:defRPr/>
            </a:pPr>
            <a:r>
              <a:rPr lang="fr-BE" sz="7000" smtClean="0">
                <a:solidFill>
                  <a:srgbClr val="FF0000"/>
                </a:solidFill>
                <a:latin typeface="Arial" charset="0"/>
              </a:rPr>
              <a:t>Tuesday, 1-2 PM (Espace L) </a:t>
            </a:r>
            <a:r>
              <a:rPr lang="fr-BE" sz="7000" smtClean="0">
                <a:latin typeface="Arial" charset="0"/>
              </a:rPr>
              <a:t>: </a:t>
            </a:r>
            <a:r>
              <a:rPr lang="fr-BE" sz="7000" b="1" smtClean="0">
                <a:latin typeface="Arial" charset="0"/>
              </a:rPr>
              <a:t>Conversation group </a:t>
            </a:r>
            <a:r>
              <a:rPr lang="fr-BE" sz="7000" smtClean="0">
                <a:latin typeface="Arial" charset="0"/>
              </a:rPr>
              <a:t/>
            </a:r>
            <a:br>
              <a:rPr lang="fr-BE" sz="7000" smtClean="0">
                <a:latin typeface="Arial" charset="0"/>
              </a:rPr>
            </a:br>
            <a:r>
              <a:rPr lang="fr-BE" sz="7000" i="1" smtClean="0">
                <a:latin typeface="Arial" charset="0"/>
              </a:rPr>
              <a:t>organized by Kot Ardoise</a:t>
            </a:r>
          </a:p>
          <a:p>
            <a:endParaRPr lang="fr-BE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fr-BE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10" y="3668734"/>
            <a:ext cx="1954251" cy="305533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818" y="956621"/>
            <a:ext cx="5538383" cy="516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7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BE" sz="2800" dirty="0" smtClean="0"/>
              <a:t>Etudier les verbes à l’indicatif présent</a:t>
            </a:r>
          </a:p>
          <a:p>
            <a:r>
              <a:rPr lang="fr-BE" sz="2800" dirty="0" smtClean="0"/>
              <a:t>pp</a:t>
            </a:r>
            <a:r>
              <a:rPr lang="fr-BE" sz="2800" dirty="0"/>
              <a:t>. 74-76 + 108-120 + 122-123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BE" sz="2800" dirty="0"/>
              <a:t>Syllabus </a:t>
            </a:r>
            <a:r>
              <a:rPr lang="fr-BE" sz="2800" dirty="0" smtClean="0"/>
              <a:t>p.33-35 </a:t>
            </a:r>
            <a:r>
              <a:rPr lang="fr-BE" sz="2800" dirty="0"/>
              <a:t>: compréhension écrite. Répondre aux questions.</a:t>
            </a:r>
          </a:p>
          <a:p>
            <a:endParaRPr lang="fr-BE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rgbClr val="002060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le prochain cours </a:t>
            </a:r>
            <a:endParaRPr lang="fr-BE" dirty="0">
              <a:solidFill>
                <a:schemeClr val="bg1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88126" y="1606671"/>
            <a:ext cx="676894" cy="10020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5274672" y="1526831"/>
            <a:ext cx="876746" cy="108187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025" y="1507520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81195" y="3065658"/>
            <a:ext cx="22919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>
                <a:solidFill>
                  <a:srgbClr val="FF0000"/>
                </a:solidFill>
              </a:rPr>
              <a:t>Détails syllabus </a:t>
            </a:r>
            <a:r>
              <a:rPr lang="fr-BE" sz="2400" dirty="0" smtClean="0">
                <a:solidFill>
                  <a:srgbClr val="FF0000"/>
                </a:solidFill>
              </a:rPr>
              <a:t>p.38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Faire des groupes de 4</a:t>
            </a:r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/>
              <a:t>Réaliser l’audio-guide en groupe pour le </a:t>
            </a:r>
            <a:r>
              <a:rPr lang="fr-BE" sz="2400" dirty="0" smtClean="0">
                <a:solidFill>
                  <a:srgbClr val="FF0000"/>
                </a:solidFill>
              </a:rPr>
              <a:t>mardi 25 février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371466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Merci et bonne </a:t>
            </a:r>
            <a:r>
              <a:rPr lang="fr-BE" dirty="0" smtClean="0"/>
              <a:t>soirée!</a:t>
            </a:r>
            <a:endParaRPr lang="fr-BE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581191" y="3773639"/>
            <a:ext cx="10993546" cy="590321"/>
          </a:xfrm>
        </p:spPr>
        <p:txBody>
          <a:bodyPr>
            <a:normAutofit/>
          </a:bodyPr>
          <a:lstStyle/>
          <a:p>
            <a:pPr algn="ctr"/>
            <a:r>
              <a:rPr lang="fr-BE" sz="2800" dirty="0" smtClean="0">
                <a:solidFill>
                  <a:schemeClr val="bg1"/>
                </a:solidFill>
              </a:rPr>
              <a:t>Contact : </a:t>
            </a:r>
            <a:r>
              <a:rPr lang="fr-BE" sz="2800" cap="none" dirty="0" smtClean="0">
                <a:solidFill>
                  <a:schemeClr val="bg1"/>
                </a:solidFill>
              </a:rPr>
              <a:t>genevieve.briet@uclouvain.be</a:t>
            </a:r>
            <a:endParaRPr lang="fr-BE" sz="2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14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1138</TotalTime>
  <Words>1142</Words>
  <Application>Microsoft Office PowerPoint</Application>
  <PresentationFormat>Grand écran</PresentationFormat>
  <Paragraphs>180</Paragraphs>
  <Slides>20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Arial</vt:lpstr>
      <vt:lpstr>Bahnschrift Light</vt:lpstr>
      <vt:lpstr>Calibri</vt:lpstr>
      <vt:lpstr>Corbel</vt:lpstr>
      <vt:lpstr>Gill Sans MT</vt:lpstr>
      <vt:lpstr>Times New Roman</vt:lpstr>
      <vt:lpstr>Wingdings 2</vt:lpstr>
      <vt:lpstr>Dividende</vt:lpstr>
      <vt:lpstr>Comprendre la Belgique LFRAN1301 – B1</vt:lpstr>
      <vt:lpstr>Avant de commencer…</vt:lpstr>
      <vt:lpstr>Faire connaissance : je me présente…. (révision)</vt:lpstr>
      <vt:lpstr>Rappel de ce qu’il fallait faire pour aujourd’hui</vt:lpstr>
      <vt:lpstr>Vous souvenez-vous de la signification de ces expressions ?</vt:lpstr>
      <vt:lpstr>Structurer le vocabulaire p.28</vt:lpstr>
      <vt:lpstr>La vie étudiante Habiter dans un kot ou non ?</vt:lpstr>
      <vt:lpstr>Présentation PowerPoint</vt:lpstr>
      <vt:lpstr>Présentation PowerPoint</vt:lpstr>
      <vt:lpstr>Présentation PowerPoint</vt:lpstr>
      <vt:lpstr>Lire un reportage : « Ce n’était pas possible pour mes parents »</vt:lpstr>
      <vt:lpstr>Présentation PowerPoint</vt:lpstr>
      <vt:lpstr>Correction du tableau p. 40</vt:lpstr>
      <vt:lpstr>Vocabulaire – identifier les verbes soulignés du texte</vt:lpstr>
      <vt:lpstr>Le présent – Les règles orthographiques</vt:lpstr>
      <vt:lpstr>Présentation PowerPoint</vt:lpstr>
      <vt:lpstr>Pas de cours les mercredi 19 et 26 février</vt:lpstr>
      <vt:lpstr>Présentation PowerPoint</vt:lpstr>
      <vt:lpstr>Tâches pour le prochain cours </vt:lpstr>
      <vt:lpstr>Merci et bonne soirée!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vie à LLN…</dc:title>
  <dc:creator>renardch@oasis.uclouvain.be</dc:creator>
  <cp:lastModifiedBy>Geneviève Briet</cp:lastModifiedBy>
  <cp:revision>98</cp:revision>
  <cp:lastPrinted>2020-02-12T16:30:50Z</cp:lastPrinted>
  <dcterms:created xsi:type="dcterms:W3CDTF">2017-09-24T08:32:52Z</dcterms:created>
  <dcterms:modified xsi:type="dcterms:W3CDTF">2020-02-12T16:34:57Z</dcterms:modified>
</cp:coreProperties>
</file>