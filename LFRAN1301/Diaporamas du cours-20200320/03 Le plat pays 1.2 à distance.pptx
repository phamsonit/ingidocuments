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76" r:id="rId2"/>
    <p:sldId id="280" r:id="rId3"/>
    <p:sldId id="302" r:id="rId4"/>
    <p:sldId id="303" r:id="rId5"/>
    <p:sldId id="304" r:id="rId6"/>
    <p:sldId id="305" r:id="rId7"/>
    <p:sldId id="295" r:id="rId8"/>
    <p:sldId id="298" r:id="rId9"/>
    <p:sldId id="299" r:id="rId10"/>
    <p:sldId id="296" r:id="rId11"/>
    <p:sldId id="297" r:id="rId12"/>
    <p:sldId id="267" r:id="rId13"/>
    <p:sldId id="307" r:id="rId14"/>
    <p:sldId id="288" r:id="rId15"/>
    <p:sldId id="268" r:id="rId16"/>
    <p:sldId id="284" r:id="rId17"/>
    <p:sldId id="306" r:id="rId18"/>
    <p:sldId id="279" r:id="rId19"/>
    <p:sldId id="287" r:id="rId20"/>
    <p:sldId id="281" r:id="rId21"/>
    <p:sldId id="291" r:id="rId22"/>
    <p:sldId id="278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9A6DB-499F-4B67-9D52-4C43E4F08F7B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A2E6D-67A3-4501-B9DE-BB522B8BB0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1848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noProof="0" smtClean="0"/>
              <a:t>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72841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5’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D4C3BC-A7B4-4F32-9F5C-A7FA87BBF523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55446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4E1A-0464-4D51-B906-9340FCC42815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98240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20 minutes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A2E6D-67A3-4501-B9DE-BB522B8BB0B1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27571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20’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D4C3BC-A7B4-4F32-9F5C-A7FA87BBF523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61951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4E1A-0464-4D51-B906-9340FCC42815}" type="slidenum">
              <a:rPr lang="fr-BE" smtClean="0"/>
              <a:t>21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5833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33927F-8EE8-4333-8816-7C41B1071991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48189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9458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4273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92712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9125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3822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429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2299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9416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746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8074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9425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exte Images_Importa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’image 16">
            <a:extLst>
              <a:ext uri="{FF2B5EF4-FFF2-40B4-BE49-F238E27FC236}">
                <a16:creationId xmlns:a16="http://schemas.microsoft.com/office/drawing/2014/main" id="{D935D313-376E-4CA0-9732-D0CACCC07F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64300" y="0"/>
            <a:ext cx="5727700" cy="6858000"/>
          </a:xfrm>
          <a:custGeom>
            <a:avLst/>
            <a:gdLst>
              <a:gd name="connsiteX0" fmla="*/ 1708150 w 5727700"/>
              <a:gd name="connsiteY0" fmla="*/ 0 h 6858000"/>
              <a:gd name="connsiteX1" fmla="*/ 5727700 w 5727700"/>
              <a:gd name="connsiteY1" fmla="*/ 0 h 6858000"/>
              <a:gd name="connsiteX2" fmla="*/ 5727700 w 5727700"/>
              <a:gd name="connsiteY2" fmla="*/ 6858000 h 6858000"/>
              <a:gd name="connsiteX3" fmla="*/ 0 w 5727700"/>
              <a:gd name="connsiteY3" fmla="*/ 6858000 h 6858000"/>
              <a:gd name="connsiteX4" fmla="*/ 0 w 5727700"/>
              <a:gd name="connsiteY4" fmla="*/ 6832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7700" h="6858000">
                <a:moveTo>
                  <a:pt x="1708150" y="0"/>
                </a:moveTo>
                <a:lnTo>
                  <a:pt x="5727700" y="0"/>
                </a:lnTo>
                <a:lnTo>
                  <a:pt x="5727700" y="6858000"/>
                </a:lnTo>
                <a:lnTo>
                  <a:pt x="0" y="6858000"/>
                </a:lnTo>
                <a:lnTo>
                  <a:pt x="0" y="6832600"/>
                </a:lnTo>
                <a:close/>
              </a:path>
            </a:pathLst>
          </a:custGeom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 rtl="0"/>
            <a:r>
              <a:rPr lang="fr-FR" noProof="0"/>
              <a:t>Insérer une image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3A2DEF1-03FF-475D-994A-6FC6FB1414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8087304" cy="6858000"/>
          </a:xfrm>
          <a:custGeom>
            <a:avLst/>
            <a:gdLst>
              <a:gd name="connsiteX0" fmla="*/ 0 w 8087304"/>
              <a:gd name="connsiteY0" fmla="*/ 0 h 6858000"/>
              <a:gd name="connsiteX1" fmla="*/ 8087304 w 8087304"/>
              <a:gd name="connsiteY1" fmla="*/ 0 h 6858000"/>
              <a:gd name="connsiteX2" fmla="*/ 8087304 w 8087304"/>
              <a:gd name="connsiteY2" fmla="*/ 7620 h 6858000"/>
              <a:gd name="connsiteX3" fmla="*/ 6368365 w 8087304"/>
              <a:gd name="connsiteY3" fmla="*/ 6858000 h 6858000"/>
              <a:gd name="connsiteX4" fmla="*/ 0 w 808730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7304" h="6858000">
                <a:moveTo>
                  <a:pt x="0" y="0"/>
                </a:moveTo>
                <a:lnTo>
                  <a:pt x="8087304" y="0"/>
                </a:lnTo>
                <a:lnTo>
                  <a:pt x="8087304" y="7620"/>
                </a:lnTo>
                <a:lnTo>
                  <a:pt x="636836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 anchor="ctr" anchorCtr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noProof="0"/>
              <a:t>Insérer une image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586" y="5047107"/>
            <a:ext cx="5005614" cy="1005840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586" y="4081468"/>
            <a:ext cx="5005614" cy="822960"/>
          </a:xfrm>
        </p:spPr>
        <p:txBody>
          <a:bodyPr vert="horz" wrap="square" lIns="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sz="2400" dirty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marL="0"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20" name="Espace réservé du numéro de diapositive 7">
            <a:extLst>
              <a:ext uri="{FF2B5EF4-FFF2-40B4-BE49-F238E27FC236}">
                <a16:creationId xmlns:a16="http://schemas.microsoft.com/office/drawing/2014/main" id="{1CEA3362-50AD-4D98-92C4-DA1D8C857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85024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 Content_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36125" y="0"/>
            <a:ext cx="5355875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Insérer une image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6558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68915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06451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7" name="Espace réservé du contenu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45309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8" name="Espace réservé du numéro de diapositive 7">
            <a:extLst>
              <a:ext uri="{FF2B5EF4-FFF2-40B4-BE49-F238E27FC236}">
                <a16:creationId xmlns:a16="http://schemas.microsoft.com/office/drawing/2014/main" id="{8728750D-82C7-4A8D-A7C7-554934667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0564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19-03-20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89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8IjWHBGzsu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yricfind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oodleucl.uclouvain.be/course/view.php?id=20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://www.vivreici.be/commune/4820/les-gens-d-ici/detail_cote-belge-un-veritable-patrimoine?videoId=110474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fi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7bRh-cWKH58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oodleucl.uclouvain.be/course/view.php?id=20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se02AUNP_o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’image 4" descr="fille avec un casque, un sac à dos, et une pile de reliure/livres">
            <a:extLst>
              <a:ext uri="{FF2B5EF4-FFF2-40B4-BE49-F238E27FC236}">
                <a16:creationId xmlns:a16="http://schemas.microsoft.com/office/drawing/2014/main" id="{68B6FFC1-6A21-4DAC-82BC-F2966925C16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087304" cy="6858000"/>
          </a:xfrm>
        </p:spPr>
      </p:pic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33" name="Titre 32">
            <a:extLst>
              <a:ext uri="{FF2B5EF4-FFF2-40B4-BE49-F238E27FC236}">
                <a16:creationId xmlns:a16="http://schemas.microsoft.com/office/drawing/2014/main" id="{18CDD97B-6E25-4FB4-B239-493E54AA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5122000"/>
            <a:ext cx="5005614" cy="822960"/>
          </a:xfrm>
          <a:solidFill>
            <a:srgbClr val="C00000"/>
          </a:solidFill>
        </p:spPr>
        <p:txBody>
          <a:bodyPr rtlCol="0"/>
          <a:lstStyle/>
          <a:p>
            <a:pPr rtl="0"/>
            <a:r>
              <a:rPr lang="fr-FR" dirty="0" smtClean="0">
                <a:solidFill>
                  <a:schemeClr val="bg1"/>
                </a:solidFill>
              </a:rPr>
              <a:t>Comprendre la Belgique</a:t>
            </a:r>
            <a:br>
              <a:rPr lang="fr-FR" dirty="0" smtClean="0">
                <a:solidFill>
                  <a:schemeClr val="bg1"/>
                </a:solidFill>
              </a:rPr>
            </a:br>
            <a:r>
              <a:rPr lang="fr-FR" dirty="0" smtClean="0">
                <a:solidFill>
                  <a:schemeClr val="bg1"/>
                </a:solidFill>
              </a:rPr>
              <a:t>LFRAN1301 – B1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C2827A65-383D-4D68-9F51-F76C2370BF65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</a:t>
            </a:fld>
            <a:endParaRPr lang="fr-FR" sz="1200">
              <a:solidFill>
                <a:schemeClr val="bg1"/>
              </a:solidFill>
            </a:endParaRPr>
          </a:p>
        </p:txBody>
      </p:sp>
      <p:pic>
        <p:nvPicPr>
          <p:cNvPr id="6" name="Espace réservé pour une image  5"/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2" r="22182"/>
          <a:stretch>
            <a:fillRect/>
          </a:stretch>
        </p:blipFill>
        <p:spPr/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722" y="6056675"/>
            <a:ext cx="3371850" cy="78105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9438" y="6056675"/>
            <a:ext cx="803564" cy="77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7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Chanson de </a:t>
            </a:r>
            <a:r>
              <a:rPr lang="fr-BE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Zaz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/>
              </a:rPr>
              <a:t>On </a:t>
            </a:r>
            <a:r>
              <a:rPr lang="fr-B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/>
              </a:rPr>
              <a:t>ira </a:t>
            </a:r>
            <a:r>
              <a:rPr lang="fr-B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fr-BE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</a:t>
            </a:r>
            <a:r>
              <a:rPr lang="fr-BE" cap="non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youtu.be/8IjWHBGzsu4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34110" y="1828800"/>
            <a:ext cx="11305308" cy="4765964"/>
          </a:xfrm>
        </p:spPr>
        <p:txBody>
          <a:bodyPr numCol="3">
            <a:noAutofit/>
          </a:bodyPr>
          <a:lstStyle/>
          <a:p>
            <a:pPr marL="0" indent="0">
              <a:buNone/>
            </a:pPr>
            <a:r>
              <a:rPr lang="fr-FR" sz="1400" dirty="0"/>
              <a:t>On </a:t>
            </a:r>
            <a:r>
              <a:rPr lang="fr-FR" sz="1400" dirty="0">
                <a:solidFill>
                  <a:srgbClr val="FF0000"/>
                </a:solidFill>
              </a:rPr>
              <a:t>ira</a:t>
            </a:r>
            <a:r>
              <a:rPr lang="fr-FR" sz="1400" dirty="0"/>
              <a:t> écouter Harlem au coin de Manhattan</a:t>
            </a:r>
            <a:br>
              <a:rPr lang="fr-FR" sz="1400" dirty="0"/>
            </a:br>
            <a:r>
              <a:rPr lang="fr-FR" sz="1400" dirty="0"/>
              <a:t>On </a:t>
            </a:r>
            <a:r>
              <a:rPr lang="fr-FR" sz="1400" dirty="0">
                <a:solidFill>
                  <a:srgbClr val="FF0000"/>
                </a:solidFill>
              </a:rPr>
              <a:t>ira</a:t>
            </a:r>
            <a:r>
              <a:rPr lang="fr-FR" sz="1400" dirty="0"/>
              <a:t> rougir le thé dans les souks à Amman</a:t>
            </a:r>
            <a:br>
              <a:rPr lang="fr-FR" sz="1400" dirty="0"/>
            </a:br>
            <a:r>
              <a:rPr lang="fr-FR" sz="1400" dirty="0"/>
              <a:t>On </a:t>
            </a:r>
            <a:r>
              <a:rPr lang="fr-FR" sz="1400" dirty="0">
                <a:solidFill>
                  <a:srgbClr val="FF0000"/>
                </a:solidFill>
              </a:rPr>
              <a:t>ira</a:t>
            </a:r>
            <a:r>
              <a:rPr lang="fr-FR" sz="1400" dirty="0"/>
              <a:t> nager dans le lit du fleuve Sénégal</a:t>
            </a:r>
            <a:br>
              <a:rPr lang="fr-FR" sz="1400" dirty="0"/>
            </a:br>
            <a:r>
              <a:rPr lang="fr-FR" sz="1400" dirty="0"/>
              <a:t>Et on </a:t>
            </a:r>
            <a:r>
              <a:rPr lang="fr-FR" sz="1400" dirty="0">
                <a:solidFill>
                  <a:srgbClr val="FF0000"/>
                </a:solidFill>
              </a:rPr>
              <a:t>verra</a:t>
            </a:r>
            <a:r>
              <a:rPr lang="fr-FR" sz="1400" dirty="0"/>
              <a:t> brûler Bombay sous un feu de Bengale</a:t>
            </a:r>
          </a:p>
          <a:p>
            <a:pPr marL="0" indent="0">
              <a:buNone/>
            </a:pPr>
            <a:r>
              <a:rPr lang="fr-FR" sz="1400" dirty="0"/>
              <a:t>On </a:t>
            </a:r>
            <a:r>
              <a:rPr lang="fr-FR" sz="1400" dirty="0">
                <a:solidFill>
                  <a:srgbClr val="FF0000"/>
                </a:solidFill>
              </a:rPr>
              <a:t>ira</a:t>
            </a:r>
            <a:r>
              <a:rPr lang="fr-FR" sz="1400" dirty="0"/>
              <a:t> gratter le ciel en dessous de Kyoto</a:t>
            </a:r>
            <a:br>
              <a:rPr lang="fr-FR" sz="1400" dirty="0"/>
            </a:br>
            <a:r>
              <a:rPr lang="fr-FR" sz="1400" dirty="0"/>
              <a:t>On </a:t>
            </a:r>
            <a:r>
              <a:rPr lang="fr-FR" sz="1400" dirty="0">
                <a:solidFill>
                  <a:srgbClr val="FF0000"/>
                </a:solidFill>
              </a:rPr>
              <a:t>ira</a:t>
            </a:r>
            <a:r>
              <a:rPr lang="fr-FR" sz="1400" dirty="0"/>
              <a:t> sentir Rio battre au cœur de Janeiro</a:t>
            </a:r>
            <a:br>
              <a:rPr lang="fr-FR" sz="1400" dirty="0"/>
            </a:br>
            <a:r>
              <a:rPr lang="fr-FR" sz="1400" dirty="0"/>
              <a:t>On </a:t>
            </a:r>
            <a:r>
              <a:rPr lang="fr-FR" sz="1400" dirty="0">
                <a:solidFill>
                  <a:srgbClr val="FF0000"/>
                </a:solidFill>
              </a:rPr>
              <a:t>lèvera</a:t>
            </a:r>
            <a:r>
              <a:rPr lang="fr-FR" sz="1400" dirty="0"/>
              <a:t> nos yeux sur le plafond de la chapelle Sixtine</a:t>
            </a:r>
            <a:br>
              <a:rPr lang="fr-FR" sz="1400" dirty="0"/>
            </a:br>
            <a:r>
              <a:rPr lang="fr-FR" sz="1400" dirty="0"/>
              <a:t>Et on </a:t>
            </a:r>
            <a:r>
              <a:rPr lang="fr-FR" sz="1400" dirty="0">
                <a:solidFill>
                  <a:srgbClr val="FF0000"/>
                </a:solidFill>
              </a:rPr>
              <a:t>lèvera</a:t>
            </a:r>
            <a:r>
              <a:rPr lang="fr-FR" sz="1400" dirty="0"/>
              <a:t> nos verres dans le café Pouchkine</a:t>
            </a:r>
          </a:p>
          <a:p>
            <a:pPr marL="0" indent="0">
              <a:buNone/>
            </a:pPr>
            <a:r>
              <a:rPr lang="fr-FR" sz="1400" i="1" dirty="0"/>
              <a:t>Oh qu'elle est belle notre chance</a:t>
            </a:r>
            <a:br>
              <a:rPr lang="fr-FR" sz="1400" i="1" dirty="0"/>
            </a:br>
            <a:r>
              <a:rPr lang="fr-FR" sz="1400" i="1" dirty="0"/>
              <a:t>Aux milles couleurs de l'être humain</a:t>
            </a:r>
            <a:br>
              <a:rPr lang="fr-FR" sz="1400" i="1" dirty="0"/>
            </a:br>
            <a:r>
              <a:rPr lang="fr-FR" sz="1400" i="1" dirty="0"/>
              <a:t>Mélangées de nos différences</a:t>
            </a:r>
            <a:br>
              <a:rPr lang="fr-FR" sz="1400" i="1" dirty="0"/>
            </a:br>
            <a:r>
              <a:rPr lang="fr-FR" sz="1400" i="1" dirty="0"/>
              <a:t>A la croisée des destins</a:t>
            </a:r>
          </a:p>
          <a:p>
            <a:pPr marL="0" indent="0">
              <a:buNone/>
            </a:pPr>
            <a:r>
              <a:rPr lang="fr-FR" sz="1400" i="1" dirty="0"/>
              <a:t>Vous êtes les étoiles nous somme l'univers</a:t>
            </a:r>
            <a:br>
              <a:rPr lang="fr-FR" sz="1400" i="1" dirty="0"/>
            </a:br>
            <a:r>
              <a:rPr lang="fr-FR" sz="1400" i="1" dirty="0"/>
              <a:t>Vous êtes un grain de sable nous sommes le désert</a:t>
            </a:r>
            <a:br>
              <a:rPr lang="fr-FR" sz="1400" i="1" dirty="0"/>
            </a:br>
            <a:r>
              <a:rPr lang="fr-FR" sz="1400" i="1" dirty="0"/>
              <a:t>Vous êtes mille pages et moi je suis la plume</a:t>
            </a:r>
            <a:br>
              <a:rPr lang="fr-FR" sz="1400" i="1" dirty="0"/>
            </a:br>
            <a:r>
              <a:rPr lang="fr-FR" sz="1400" i="1" dirty="0"/>
              <a:t>Oh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endParaRPr lang="fr-FR" sz="1400" i="1" dirty="0"/>
          </a:p>
          <a:p>
            <a:pPr marL="0" indent="0">
              <a:buNone/>
            </a:pPr>
            <a:r>
              <a:rPr lang="fr-FR" sz="1400" i="1" dirty="0"/>
              <a:t>Vous êtes l'horizon et nous sommes la mer</a:t>
            </a:r>
            <a:br>
              <a:rPr lang="fr-FR" sz="1400" i="1" dirty="0"/>
            </a:br>
            <a:r>
              <a:rPr lang="fr-FR" sz="1400" i="1" dirty="0"/>
              <a:t>Vous êtes les saisons et nous sommes la terre</a:t>
            </a:r>
            <a:br>
              <a:rPr lang="fr-FR" sz="1400" i="1" dirty="0"/>
            </a:br>
            <a:r>
              <a:rPr lang="fr-FR" sz="1400" i="1" dirty="0"/>
              <a:t>Vous êtes le rivage et moi je suis l'écume</a:t>
            </a:r>
            <a:br>
              <a:rPr lang="fr-FR" sz="1400" i="1" dirty="0"/>
            </a:br>
            <a:r>
              <a:rPr lang="fr-FR" sz="1400" i="1" dirty="0"/>
              <a:t>Oh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endParaRPr lang="fr-FR" sz="1400" i="1" dirty="0"/>
          </a:p>
          <a:p>
            <a:pPr marL="0" indent="0">
              <a:buNone/>
            </a:pPr>
            <a:r>
              <a:rPr lang="fr-FR" sz="1400" dirty="0"/>
              <a:t>On </a:t>
            </a:r>
            <a:r>
              <a:rPr lang="fr-FR" sz="1400" dirty="0">
                <a:solidFill>
                  <a:srgbClr val="FF0000"/>
                </a:solidFill>
              </a:rPr>
              <a:t>dira</a:t>
            </a:r>
            <a:r>
              <a:rPr lang="fr-FR" sz="1400" dirty="0"/>
              <a:t> que le poètes n'ont pas de drapeaux</a:t>
            </a:r>
            <a:br>
              <a:rPr lang="fr-FR" sz="1400" dirty="0"/>
            </a:br>
            <a:r>
              <a:rPr lang="fr-FR" sz="1400" dirty="0"/>
              <a:t>On </a:t>
            </a:r>
            <a:r>
              <a:rPr lang="fr-FR" sz="1400" dirty="0">
                <a:solidFill>
                  <a:srgbClr val="FF0000"/>
                </a:solidFill>
              </a:rPr>
              <a:t>fera</a:t>
            </a:r>
            <a:r>
              <a:rPr lang="fr-FR" sz="1400" dirty="0"/>
              <a:t> des jours de fête quand on a de héros</a:t>
            </a:r>
            <a:br>
              <a:rPr lang="fr-FR" sz="1400" dirty="0"/>
            </a:br>
            <a:r>
              <a:rPr lang="fr-FR" sz="1400" dirty="0"/>
              <a:t>On </a:t>
            </a:r>
            <a:r>
              <a:rPr lang="fr-FR" sz="1400" dirty="0">
                <a:solidFill>
                  <a:srgbClr val="FF0000"/>
                </a:solidFill>
              </a:rPr>
              <a:t>saura</a:t>
            </a:r>
            <a:r>
              <a:rPr lang="fr-FR" sz="1400" dirty="0"/>
              <a:t> que les enfants sont les gardiens de l'âme</a:t>
            </a:r>
            <a:br>
              <a:rPr lang="fr-FR" sz="1400" dirty="0"/>
            </a:br>
            <a:r>
              <a:rPr lang="fr-FR" sz="1400" dirty="0"/>
              <a:t>Et qu'il y a des reines autant qu'il y a de femmes</a:t>
            </a:r>
          </a:p>
          <a:p>
            <a:pPr marL="0" indent="0">
              <a:buNone/>
            </a:pPr>
            <a:r>
              <a:rPr lang="fr-FR" sz="1400" dirty="0"/>
              <a:t>On </a:t>
            </a:r>
            <a:r>
              <a:rPr lang="fr-FR" sz="1400" dirty="0">
                <a:solidFill>
                  <a:srgbClr val="FF0000"/>
                </a:solidFill>
              </a:rPr>
              <a:t>dira</a:t>
            </a:r>
            <a:r>
              <a:rPr lang="fr-FR" sz="1400" dirty="0"/>
              <a:t> que les rencontres font les plus beaux voyages</a:t>
            </a:r>
            <a:br>
              <a:rPr lang="fr-FR" sz="1400" dirty="0"/>
            </a:br>
            <a:r>
              <a:rPr lang="fr-FR" sz="1400" dirty="0"/>
              <a:t>On </a:t>
            </a:r>
            <a:r>
              <a:rPr lang="fr-FR" sz="1400" dirty="0">
                <a:solidFill>
                  <a:srgbClr val="FF0000"/>
                </a:solidFill>
              </a:rPr>
              <a:t>verra</a:t>
            </a:r>
            <a:r>
              <a:rPr lang="fr-FR" sz="1400" dirty="0"/>
              <a:t> qu'on ne mérite que ce qui se partage</a:t>
            </a:r>
            <a:br>
              <a:rPr lang="fr-FR" sz="1400" dirty="0"/>
            </a:br>
            <a:r>
              <a:rPr lang="fr-FR" sz="1400" dirty="0"/>
              <a:t>On </a:t>
            </a:r>
            <a:r>
              <a:rPr lang="fr-FR" sz="1400" dirty="0">
                <a:solidFill>
                  <a:srgbClr val="FF0000"/>
                </a:solidFill>
              </a:rPr>
              <a:t>entendra</a:t>
            </a:r>
            <a:r>
              <a:rPr lang="fr-FR" sz="1400" dirty="0"/>
              <a:t> chanter des musiques d'ailleurs</a:t>
            </a:r>
            <a:br>
              <a:rPr lang="fr-FR" sz="1400" dirty="0"/>
            </a:br>
            <a:r>
              <a:rPr lang="fr-FR" sz="1400" dirty="0"/>
              <a:t>Et l'on </a:t>
            </a:r>
            <a:r>
              <a:rPr lang="fr-FR" sz="1400" dirty="0">
                <a:solidFill>
                  <a:srgbClr val="FF0000"/>
                </a:solidFill>
              </a:rPr>
              <a:t>saura</a:t>
            </a:r>
            <a:r>
              <a:rPr lang="fr-FR" sz="1400" dirty="0"/>
              <a:t> donner ce que l'on a de meilleur</a:t>
            </a:r>
          </a:p>
          <a:p>
            <a:pPr marL="0" indent="0">
              <a:buNone/>
            </a:pPr>
            <a:r>
              <a:rPr lang="fr-FR" sz="1400" i="1" dirty="0"/>
              <a:t>Oh qu'elle est belle notre chance</a:t>
            </a:r>
            <a:br>
              <a:rPr lang="fr-FR" sz="1400" i="1" dirty="0"/>
            </a:br>
            <a:r>
              <a:rPr lang="fr-FR" sz="1400" i="1" dirty="0"/>
              <a:t>Aux milles couleurs de l'être humain</a:t>
            </a:r>
            <a:br>
              <a:rPr lang="fr-FR" sz="1400" i="1" dirty="0"/>
            </a:br>
            <a:r>
              <a:rPr lang="fr-FR" sz="1400" i="1" dirty="0"/>
              <a:t>Mélangées de nos différences</a:t>
            </a:r>
            <a:br>
              <a:rPr lang="fr-FR" sz="1400" i="1" dirty="0"/>
            </a:br>
            <a:r>
              <a:rPr lang="fr-FR" sz="1400" i="1" dirty="0"/>
              <a:t>A la croisée des destins</a:t>
            </a:r>
          </a:p>
          <a:p>
            <a:pPr marL="0" indent="0">
              <a:buNone/>
            </a:pPr>
            <a:r>
              <a:rPr lang="fr-FR" sz="1400" i="1" dirty="0"/>
              <a:t>Vous êtes les étoiles nous somme l'univers</a:t>
            </a:r>
            <a:br>
              <a:rPr lang="fr-FR" sz="1400" i="1" dirty="0"/>
            </a:br>
            <a:r>
              <a:rPr lang="fr-FR" sz="1400" i="1" dirty="0"/>
              <a:t>Vous êtes un grain de sable nous sommes le désert</a:t>
            </a:r>
            <a:br>
              <a:rPr lang="fr-FR" sz="1400" i="1" dirty="0"/>
            </a:br>
            <a:r>
              <a:rPr lang="fr-FR" sz="1400" i="1" dirty="0"/>
              <a:t>Vous êtes mille pages et moi je suis la plume</a:t>
            </a:r>
            <a:br>
              <a:rPr lang="fr-FR" sz="1400" i="1" dirty="0"/>
            </a:br>
            <a:r>
              <a:rPr lang="fr-FR" sz="1400" i="1" dirty="0"/>
              <a:t>Oh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endParaRPr lang="fr-FR" sz="1400" i="1" dirty="0"/>
          </a:p>
          <a:p>
            <a:pPr marL="0" indent="0">
              <a:buNone/>
            </a:pPr>
            <a:r>
              <a:rPr lang="fr-FR" sz="1400" i="1" dirty="0"/>
              <a:t>Vous êtes l'horizon et nous sommes la mer</a:t>
            </a:r>
            <a:br>
              <a:rPr lang="fr-FR" sz="1400" i="1" dirty="0"/>
            </a:br>
            <a:r>
              <a:rPr lang="fr-FR" sz="1400" i="1" dirty="0"/>
              <a:t>Vous êtes les saisons et nous sommes la terre</a:t>
            </a:r>
            <a:br>
              <a:rPr lang="fr-FR" sz="1400" i="1" dirty="0"/>
            </a:br>
            <a:r>
              <a:rPr lang="fr-FR" sz="1400" i="1" dirty="0"/>
              <a:t>Vous êtes le rivage et moi je suis l'écume</a:t>
            </a:r>
            <a:br>
              <a:rPr lang="fr-FR" sz="1400" i="1" dirty="0"/>
            </a:br>
            <a:r>
              <a:rPr lang="fr-FR" sz="1400" i="1" dirty="0"/>
              <a:t>Oh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endParaRPr lang="fr-FR" sz="1400" i="1" dirty="0"/>
          </a:p>
          <a:p>
            <a:pPr marL="0" indent="0">
              <a:buNone/>
            </a:pPr>
            <a:r>
              <a:rPr lang="fr-FR" sz="1400" i="1" dirty="0"/>
              <a:t>Vous êtes les étoiles nous somme l'univers</a:t>
            </a:r>
            <a:br>
              <a:rPr lang="fr-FR" sz="1400" i="1" dirty="0"/>
            </a:br>
            <a:r>
              <a:rPr lang="fr-FR" sz="1400" i="1" dirty="0"/>
              <a:t>Vous êtes un grain de sable nous sommes le désert</a:t>
            </a:r>
            <a:br>
              <a:rPr lang="fr-FR" sz="1400" i="1" dirty="0"/>
            </a:br>
            <a:r>
              <a:rPr lang="fr-FR" sz="1400" i="1" dirty="0"/>
              <a:t>Vous êtes mille pages et moi je suis la plume</a:t>
            </a:r>
            <a:br>
              <a:rPr lang="fr-FR" sz="1400" i="1" dirty="0"/>
            </a:br>
            <a:r>
              <a:rPr lang="fr-FR" sz="1400" i="1" dirty="0"/>
              <a:t>Oh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endParaRPr lang="fr-FR" sz="1400" i="1" dirty="0"/>
          </a:p>
          <a:p>
            <a:pPr marL="0" indent="0">
              <a:buNone/>
            </a:pPr>
            <a:r>
              <a:rPr lang="fr-FR" sz="1400" i="1" dirty="0"/>
              <a:t>Vous êtes l'horizon et nous sommes la mer</a:t>
            </a:r>
            <a:br>
              <a:rPr lang="fr-FR" sz="1400" i="1" dirty="0"/>
            </a:br>
            <a:r>
              <a:rPr lang="fr-FR" sz="1400" i="1" dirty="0"/>
              <a:t>Vous êtes les saisons et nous sommes la terre</a:t>
            </a:r>
            <a:br>
              <a:rPr lang="fr-FR" sz="1400" i="1" dirty="0"/>
            </a:br>
            <a:r>
              <a:rPr lang="fr-FR" sz="1400" i="1" dirty="0"/>
              <a:t>Vous êtes le rivage et moi je suis l'écume</a:t>
            </a:r>
            <a:br>
              <a:rPr lang="fr-FR" sz="1400" i="1" dirty="0"/>
            </a:br>
            <a:r>
              <a:rPr lang="fr-FR" sz="1400" i="1" dirty="0"/>
              <a:t>Oh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r>
              <a:rPr lang="fr-FR" sz="1400" i="1" dirty="0"/>
              <a:t> </a:t>
            </a:r>
            <a:r>
              <a:rPr lang="fr-FR" sz="1400" i="1" dirty="0" err="1"/>
              <a:t>oh</a:t>
            </a:r>
            <a:endParaRPr lang="fr-FR" sz="1400" i="1" dirty="0"/>
          </a:p>
          <a:p>
            <a:r>
              <a:rPr lang="fr-FR" sz="1400" dirty="0"/>
              <a:t>Source : </a:t>
            </a:r>
            <a:r>
              <a:rPr lang="fr-FR" sz="1400" dirty="0" err="1">
                <a:hlinkClick r:id="rId4"/>
              </a:rPr>
              <a:t>LyricFind</a:t>
            </a:r>
            <a:endParaRPr lang="fr-FR" sz="1400" dirty="0"/>
          </a:p>
          <a:p>
            <a:endParaRPr lang="fr-BE" sz="1400" dirty="0"/>
          </a:p>
        </p:txBody>
      </p:sp>
    </p:spTree>
    <p:extLst>
      <p:ext uri="{BB962C8B-B14F-4D97-AF65-F5344CB8AC3E}">
        <p14:creationId xmlns:p14="http://schemas.microsoft.com/office/powerpoint/2010/main" val="131922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4386558" y="2717803"/>
            <a:ext cx="3159648" cy="3368675"/>
          </a:xfrm>
        </p:spPr>
        <p:txBody>
          <a:bodyPr/>
          <a:lstStyle/>
          <a:p>
            <a:r>
              <a:rPr lang="fr-BE" sz="2400" dirty="0" smtClean="0"/>
              <a:t>Chapitre 43 : l’imparfait p. 208 n°1 et 3, 209 n°2, p. 212 n°2, 213 n°2, 4</a:t>
            </a:r>
          </a:p>
          <a:p>
            <a:r>
              <a:rPr lang="fr-BE" sz="2400" dirty="0" smtClean="0">
                <a:solidFill>
                  <a:srgbClr val="00B0F0"/>
                </a:solidFill>
                <a:hlinkClick r:id="rId3"/>
              </a:rPr>
              <a:t>Grammaire</a:t>
            </a:r>
            <a:r>
              <a:rPr lang="fr-BE" sz="2400" dirty="0" smtClean="0">
                <a:solidFill>
                  <a:srgbClr val="00B0F0"/>
                </a:solidFill>
              </a:rPr>
              <a:t> </a:t>
            </a:r>
            <a:r>
              <a:rPr lang="fr-BE" sz="2400" dirty="0" smtClean="0"/>
              <a:t>sur Moodle : </a:t>
            </a:r>
          </a:p>
          <a:p>
            <a:r>
              <a:rPr lang="fr-BE" sz="2400" dirty="0" smtClean="0"/>
              <a:t>+ 5 % de la note finale</a:t>
            </a:r>
          </a:p>
          <a:p>
            <a:r>
              <a:rPr lang="fr-BE" sz="2400" dirty="0" smtClean="0"/>
              <a:t>À faire jusqu’au jour du test obligatoire</a:t>
            </a:r>
            <a:endParaRPr lang="fr-BE" sz="2400" dirty="0"/>
          </a:p>
          <a:p>
            <a:endParaRPr lang="fr-BE" sz="280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772828" y="2760546"/>
            <a:ext cx="3103146" cy="3368675"/>
          </a:xfrm>
        </p:spPr>
        <p:txBody>
          <a:bodyPr/>
          <a:lstStyle/>
          <a:p>
            <a:r>
              <a:rPr lang="fr-BE" sz="2400" dirty="0"/>
              <a:t>Regarder la </a:t>
            </a:r>
            <a:r>
              <a:rPr lang="fr-BE" sz="2400" dirty="0" smtClean="0"/>
              <a:t>vidéo, compléter </a:t>
            </a:r>
            <a:r>
              <a:rPr lang="fr-BE" sz="2400" dirty="0"/>
              <a:t>la p. 101 et le début de la page 102</a:t>
            </a:r>
          </a:p>
          <a:p>
            <a:r>
              <a:rPr lang="fr-BE" sz="1800" u="sng" dirty="0">
                <a:hlinkClick r:id="rId4"/>
              </a:rPr>
              <a:t>http://www.vivreici.be/commune/4820/les-gens-d-ici/detail_cote-belge-un-veritable-patrimoine?videoId=110474</a:t>
            </a:r>
            <a:r>
              <a:rPr lang="fr-BE" sz="2400" dirty="0"/>
              <a:t>, </a:t>
            </a:r>
            <a:r>
              <a:rPr lang="fr-BE" sz="2400" dirty="0" smtClean="0"/>
              <a:t>Vidéo </a:t>
            </a:r>
            <a:r>
              <a:rPr lang="fr-BE" sz="2400" dirty="0"/>
              <a:t>également disponible sur Moodle </a:t>
            </a:r>
            <a:r>
              <a:rPr lang="fr-BE" sz="2400" dirty="0" smtClean="0"/>
              <a:t>(Unité </a:t>
            </a:r>
            <a:r>
              <a:rPr lang="fr-BE" sz="2400" dirty="0"/>
              <a:t>3). </a:t>
            </a:r>
          </a:p>
          <a:p>
            <a:endParaRPr lang="fr-BE" sz="2400" b="1" dirty="0"/>
          </a:p>
          <a:p>
            <a:endParaRPr lang="fr-BE" dirty="0" smtClean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626818" y="545562"/>
            <a:ext cx="10690365" cy="828000"/>
          </a:xfrm>
          <a:solidFill>
            <a:srgbClr val="002060"/>
          </a:solidFill>
        </p:spPr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Tâches pour le prochain cours </a:t>
            </a:r>
            <a:endParaRPr lang="fr-BE" sz="2800" b="1" dirty="0">
              <a:solidFill>
                <a:srgbClr val="FFFF00"/>
              </a:solidFill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13"/>
          </p:nvPr>
        </p:nvPicPr>
        <p:blipFill>
          <a:blip r:embed="rId5"/>
          <a:stretch>
            <a:fillRect/>
          </a:stretch>
        </p:blipFill>
        <p:spPr>
          <a:xfrm>
            <a:off x="1388126" y="1606671"/>
            <a:ext cx="676894" cy="100203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Espace réservé du contenu 8"/>
          <p:cNvPicPr>
            <a:picLocks noGrp="1" noChangeAspect="1"/>
          </p:cNvPicPr>
          <p:nvPr>
            <p:ph sz="quarter" idx="14"/>
          </p:nvPr>
        </p:nvPicPr>
        <p:blipFill>
          <a:blip r:embed="rId6"/>
          <a:stretch>
            <a:fillRect/>
          </a:stretch>
        </p:blipFill>
        <p:spPr>
          <a:xfrm>
            <a:off x="4514051" y="1678674"/>
            <a:ext cx="876746" cy="108187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1029" y="1635931"/>
            <a:ext cx="1209675" cy="10763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40109" y="3065658"/>
            <a:ext cx="35027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BE" sz="2400" dirty="0" smtClean="0">
              <a:solidFill>
                <a:srgbClr val="FF0000"/>
              </a:solidFill>
            </a:endParaRPr>
          </a:p>
          <a:p>
            <a:r>
              <a:rPr lang="fr-BE" sz="2400" dirty="0" smtClean="0">
                <a:solidFill>
                  <a:srgbClr val="FF0000"/>
                </a:solidFill>
              </a:rPr>
              <a:t>Défi #4 pour le 25/03 Moodle Unité 2</a:t>
            </a:r>
          </a:p>
          <a:p>
            <a:r>
              <a:rPr lang="fr-BE" sz="2400" dirty="0" smtClean="0">
                <a:solidFill>
                  <a:srgbClr val="FF0000"/>
                </a:solidFill>
              </a:rPr>
              <a:t>A déposer sur Moodle</a:t>
            </a:r>
            <a:endParaRPr lang="fr-BE" sz="2400" dirty="0">
              <a:solidFill>
                <a:srgbClr val="FF0000"/>
              </a:solidFill>
            </a:endParaRPr>
          </a:p>
          <a:p>
            <a:endParaRPr lang="fr-BE" sz="2400" dirty="0">
              <a:solidFill>
                <a:srgbClr val="FF0000"/>
              </a:solidFill>
            </a:endParaRPr>
          </a:p>
          <a:p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292898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Correction de l’exercice (syllabus p. 101)</a:t>
            </a:r>
            <a:endParaRPr lang="fr-BE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52" y="2180496"/>
            <a:ext cx="11212009" cy="385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69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Correction de l’exercice (syllabus p. 101)</a:t>
            </a:r>
            <a:endParaRPr lang="fr-BE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815" y="1842708"/>
            <a:ext cx="7966841" cy="48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93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Correction de l’exercice (syllabus p. 101)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872318"/>
            <a:ext cx="10307525" cy="465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52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9901" y="764492"/>
            <a:ext cx="11029616" cy="988332"/>
          </a:xfrm>
        </p:spPr>
        <p:txBody>
          <a:bodyPr/>
          <a:lstStyle/>
          <a:p>
            <a:r>
              <a:rPr lang="fr-BE" dirty="0" smtClean="0"/>
              <a:t>l’imparfait : </a:t>
            </a:r>
            <a:r>
              <a:rPr lang="fr-BE" dirty="0" smtClean="0"/>
              <a:t> p</a:t>
            </a:r>
            <a:r>
              <a:rPr lang="fr-BE" dirty="0" smtClean="0"/>
              <a:t>. 92</a:t>
            </a:r>
            <a:endParaRPr lang="en-US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897" y="2604135"/>
            <a:ext cx="96012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2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7115" y="857896"/>
            <a:ext cx="11591925" cy="631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Distinguez </a:t>
            </a:r>
            <a:r>
              <a:rPr lang="fr-FR" b="1" i="1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 situations (S) </a:t>
            </a: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fr-FR" b="1" i="1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événements (E) </a:t>
            </a: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puis </a:t>
            </a:r>
            <a:r>
              <a:rPr lang="fr-FR" b="1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mettez les phrases </a:t>
            </a: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 </a:t>
            </a:r>
            <a:r>
              <a:rPr lang="fr-FR" b="1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passé. Rédigez-les dans votre cahier d’exercice.  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  <a:spcAft>
                <a:spcPts val="750"/>
              </a:spcAft>
            </a:pP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S= le contexte qui explique la situation, </a:t>
            </a:r>
            <a:r>
              <a:rPr lang="fr-FR" b="1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l’arrière-plan</a:t>
            </a: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la description</a:t>
            </a:r>
          </a:p>
          <a:p>
            <a:pPr>
              <a:lnSpc>
                <a:spcPts val="1500"/>
              </a:lnSpc>
              <a:spcAft>
                <a:spcPts val="750"/>
              </a:spcAft>
            </a:pP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1.</a:t>
            </a:r>
            <a:r>
              <a:rPr lang="fr-FR" sz="800" dirty="0">
                <a:solidFill>
                  <a:srgbClr val="333333"/>
                </a:solidFill>
                <a:latin typeface="Times New Roman" panose="02020603050405020304" pitchFamily="18" charset="0"/>
                <a:ea typeface="Helvetica" panose="020B0604020202020204" pitchFamily="34" charset="0"/>
                <a:cs typeface="Times New Roman" panose="02020603050405020304" pitchFamily="18" charset="0"/>
              </a:rPr>
              <a:t>   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est minuit (S). Pierre travaille (S). Le téléphone sonne (E). Il  va répondre (E). C’est une erreur (S).</a:t>
            </a: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ts val="1500"/>
              </a:lnSpc>
              <a:spcAft>
                <a:spcPts val="0"/>
              </a:spcAft>
            </a:pPr>
            <a:r>
              <a:rPr lang="fr-FR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Il </a:t>
            </a:r>
            <a:r>
              <a:rPr lang="fr-FR" b="1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………..  </a:t>
            </a:r>
            <a:r>
              <a:rPr lang="fr-FR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minuit</a:t>
            </a:r>
            <a:r>
              <a:rPr lang="fr-FR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Pierre </a:t>
            </a:r>
            <a:r>
              <a:rPr lang="fr-FR" b="1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…………</a:t>
            </a:r>
            <a:r>
              <a:rPr lang="fr-FR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téléphone </a:t>
            </a:r>
            <a:r>
              <a:rPr lang="fr-FR" b="1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  <a:r>
              <a:rPr lang="fr-FR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fr-FR" b="1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…………</a:t>
            </a:r>
            <a:r>
              <a:rPr lang="fr-FR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répondre</a:t>
            </a:r>
            <a:r>
              <a:rPr lang="fr-FR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C</a:t>
            </a:r>
            <a:r>
              <a:rPr lang="fr-FR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fr-FR" b="1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……….. </a:t>
            </a:r>
            <a:r>
              <a:rPr lang="fr-FR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erreur.</a:t>
            </a:r>
          </a:p>
          <a:p>
            <a:pPr marL="457200">
              <a:lnSpc>
                <a:spcPts val="1500"/>
              </a:lnSpc>
              <a:spcAft>
                <a:spcPts val="0"/>
              </a:spcAft>
            </a:pP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2.</a:t>
            </a:r>
            <a:r>
              <a:rPr lang="fr-FR" sz="800" dirty="0">
                <a:solidFill>
                  <a:srgbClr val="333333"/>
                </a:solidFill>
                <a:latin typeface="Times New Roman" panose="02020603050405020304" pitchFamily="18" charset="0"/>
                <a:ea typeface="Helvetica" panose="020B0604020202020204" pitchFamily="34" charset="0"/>
                <a:cs typeface="Times New Roman" panose="02020603050405020304" pitchFamily="18" charset="0"/>
              </a:rPr>
              <a:t>   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est 6 heures (…). Le réveil sonne (…). Marc dort (…). Il ne l’entend pas (…).</a:t>
            </a: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FR" dirty="0">
              <a:solidFill>
                <a:srgbClr val="333333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lnSpc>
                <a:spcPts val="1500"/>
              </a:lnSpc>
              <a:spcAft>
                <a:spcPts val="0"/>
              </a:spcAft>
              <a:buAutoNum type="arabicPeriod" startAt="3"/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Madame Dubois est pressée (…). Elle marche vite (…). Elle glisse(…). Elle tombe (…). Elle se casse la </a:t>
            </a:r>
          </a:p>
          <a:p>
            <a:pPr marL="571500" indent="-342900">
              <a:lnSpc>
                <a:spcPts val="1500"/>
              </a:lnSpc>
              <a:spcAft>
                <a:spcPts val="0"/>
              </a:spcAft>
              <a:buAutoNum type="arabicPeriod" startAt="3"/>
              <a:tabLst>
                <a:tab pos="457200" algn="l"/>
              </a:tabLst>
            </a:pPr>
            <a:endParaRPr lang="fr-FR" dirty="0">
              <a:solidFill>
                <a:srgbClr val="333333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 jambe (…).</a:t>
            </a:r>
          </a:p>
          <a:p>
            <a:pPr marL="457200">
              <a:lnSpc>
                <a:spcPts val="1500"/>
              </a:lnSpc>
              <a:spcAft>
                <a:spcPts val="1000"/>
              </a:spcAft>
            </a:pP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4.</a:t>
            </a:r>
            <a:r>
              <a:rPr lang="fr-FR" sz="800" dirty="0">
                <a:solidFill>
                  <a:srgbClr val="333333"/>
                </a:solidFill>
                <a:latin typeface="Times New Roman" panose="02020603050405020304" pitchFamily="18" charset="0"/>
                <a:ea typeface="Helvetica" panose="020B0604020202020204" pitchFamily="34" charset="0"/>
                <a:cs typeface="Times New Roman" panose="02020603050405020304" pitchFamily="18" charset="0"/>
              </a:rPr>
              <a:t>   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1990, M. Smith arrive en France. Il ne connait personne. Un mois plus tard, il rencontre ses premiers amis.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5.</a:t>
            </a:r>
            <a:r>
              <a:rPr lang="fr-FR" sz="800" dirty="0">
                <a:solidFill>
                  <a:srgbClr val="333333"/>
                </a:solidFill>
                <a:latin typeface="Times New Roman" panose="02020603050405020304" pitchFamily="18" charset="0"/>
                <a:ea typeface="Helvetica" panose="020B0604020202020204" pitchFamily="34" charset="0"/>
                <a:cs typeface="Times New Roman" panose="02020603050405020304" pitchFamily="18" charset="0"/>
              </a:rPr>
              <a:t>   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Julie se lève, il y a de la glace sur les vitres. Elle sort regarder le thermomètre. Il fait -13C°</a:t>
            </a: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6.</a:t>
            </a:r>
            <a:r>
              <a:rPr lang="fr-FR" sz="800" dirty="0">
                <a:solidFill>
                  <a:srgbClr val="333333"/>
                </a:solidFill>
                <a:latin typeface="Times New Roman" panose="02020603050405020304" pitchFamily="18" charset="0"/>
                <a:ea typeface="Helvetica" panose="020B0604020202020204" pitchFamily="34" charset="0"/>
                <a:cs typeface="Times New Roman" panose="02020603050405020304" pitchFamily="18" charset="0"/>
              </a:rPr>
              <a:t>   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  y a deux personnes dans l’ascenseur. L’ascenseur tombe en panne. La sonnerie ne marche pas. </a:t>
            </a: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FR" dirty="0">
              <a:solidFill>
                <a:srgbClr val="333333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	  Elles passent </a:t>
            </a:r>
            <a:r>
              <a:rPr lang="fr-FR" u="sng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nuit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dedans.</a:t>
            </a: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7.</a:t>
            </a:r>
            <a:r>
              <a:rPr lang="fr-FR" sz="800" dirty="0">
                <a:solidFill>
                  <a:srgbClr val="333333"/>
                </a:solidFill>
                <a:latin typeface="Times New Roman" panose="02020603050405020304" pitchFamily="18" charset="0"/>
                <a:ea typeface="Helvetica" panose="020B0604020202020204" pitchFamily="34" charset="0"/>
                <a:cs typeface="Times New Roman" panose="02020603050405020304" pitchFamily="18" charset="0"/>
              </a:rPr>
              <a:t>   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  marche derrière quelqu’un. Je l’appelle. Il se retourne. Je ne le connais pas.</a:t>
            </a:r>
          </a:p>
          <a:p>
            <a:pPr marL="457200" indent="-228600">
              <a:lnSpc>
                <a:spcPts val="1500"/>
              </a:lnSpc>
              <a:spcAft>
                <a:spcPts val="1000"/>
              </a:spcAft>
              <a:tabLst>
                <a:tab pos="457200" algn="l"/>
              </a:tabLst>
            </a:pPr>
            <a:endParaRPr lang="fr-FR" sz="2000" dirty="0">
              <a:solidFill>
                <a:srgbClr val="333333"/>
              </a:solidFill>
              <a:effectLst/>
              <a:latin typeface="Helvetica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2000" dirty="0">
                <a:solidFill>
                  <a:srgbClr val="333333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B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13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739" y="712083"/>
            <a:ext cx="11591925" cy="657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Distinguez </a:t>
            </a:r>
            <a:r>
              <a:rPr lang="fr-FR" b="1" i="1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 situations (S) </a:t>
            </a: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fr-FR" b="1" i="1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événements (E) </a:t>
            </a: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puis racontez au passé  </a:t>
            </a:r>
            <a:r>
              <a:rPr lang="fr-FR" b="1" i="1" dirty="0" smtClean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CORRIGÉ</a:t>
            </a:r>
            <a:endParaRPr lang="fr-BE" sz="2000" dirty="0" smtClean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  <a:spcAft>
                <a:spcPts val="750"/>
              </a:spcAft>
            </a:pPr>
            <a:r>
              <a:rPr lang="fr-FR" b="1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le contexte qui explique la situation, </a:t>
            </a:r>
            <a:r>
              <a:rPr lang="fr-FR" b="1" i="1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l’arrière-plan</a:t>
            </a: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la description</a:t>
            </a:r>
          </a:p>
          <a:p>
            <a:pPr>
              <a:lnSpc>
                <a:spcPts val="1500"/>
              </a:lnSpc>
              <a:spcAft>
                <a:spcPts val="750"/>
              </a:spcAft>
            </a:pP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1.</a:t>
            </a:r>
            <a:r>
              <a:rPr lang="fr-FR" sz="800" dirty="0">
                <a:solidFill>
                  <a:srgbClr val="333333"/>
                </a:solidFill>
                <a:latin typeface="Times New Roman" panose="02020603050405020304" pitchFamily="18" charset="0"/>
                <a:ea typeface="Helvetica" panose="020B0604020202020204" pitchFamily="34" charset="0"/>
                <a:cs typeface="Times New Roman" panose="02020603050405020304" pitchFamily="18" charset="0"/>
              </a:rPr>
              <a:t>   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est minuit (S). Pierre travaille (S). Le téléphone sonne (E) . Il  va répondre (E). C’est une erreur (S).</a:t>
            </a: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ts val="1500"/>
              </a:lnSpc>
              <a:spcAft>
                <a:spcPts val="0"/>
              </a:spcAft>
            </a:pPr>
            <a:r>
              <a:rPr lang="fr-FR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Il </a:t>
            </a:r>
            <a:r>
              <a:rPr lang="fr-FR" b="1" i="1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était</a:t>
            </a:r>
            <a:r>
              <a:rPr lang="fr-FR" i="1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minuit. Pierre </a:t>
            </a:r>
            <a:r>
              <a:rPr lang="fr-FR" b="1" i="1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travaillait</a:t>
            </a:r>
            <a:r>
              <a:rPr lang="fr-FR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Le téléphone </a:t>
            </a: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sonné</a:t>
            </a:r>
            <a:r>
              <a:rPr lang="fr-FR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Il </a:t>
            </a: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 allé</a:t>
            </a:r>
            <a:r>
              <a:rPr lang="fr-FR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répondre. C’</a:t>
            </a:r>
            <a:r>
              <a:rPr lang="fr-FR" b="1" i="1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était</a:t>
            </a:r>
            <a:r>
              <a:rPr lang="fr-FR" b="1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i="1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erreur.</a:t>
            </a:r>
          </a:p>
          <a:p>
            <a:pPr marL="457200">
              <a:lnSpc>
                <a:spcPts val="1500"/>
              </a:lnSpc>
              <a:spcAft>
                <a:spcPts val="0"/>
              </a:spcAft>
            </a:pP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2.</a:t>
            </a:r>
            <a:r>
              <a:rPr lang="fr-FR" sz="800" dirty="0">
                <a:solidFill>
                  <a:srgbClr val="333333"/>
                </a:solidFill>
                <a:latin typeface="Times New Roman" panose="02020603050405020304" pitchFamily="18" charset="0"/>
                <a:ea typeface="Helvetica" panose="020B0604020202020204" pitchFamily="34" charset="0"/>
                <a:cs typeface="Times New Roman" panose="02020603050405020304" pitchFamily="18" charset="0"/>
              </a:rPr>
              <a:t>   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fr-FR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était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 heures (S). Le réveil </a:t>
            </a:r>
            <a:r>
              <a:rPr lang="fr-FR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sonné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(E). Marc </a:t>
            </a:r>
            <a:r>
              <a:rPr lang="fr-FR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dormait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(S) . Il ne </a:t>
            </a:r>
            <a:r>
              <a:rPr lang="fr-FR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l’a pas entendu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(E).</a:t>
            </a: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FR" dirty="0">
              <a:solidFill>
                <a:srgbClr val="00B050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lnSpc>
                <a:spcPts val="1500"/>
              </a:lnSpc>
              <a:spcAft>
                <a:spcPts val="0"/>
              </a:spcAft>
              <a:buAutoNum type="arabicPeriod" startAt="3"/>
              <a:tabLst>
                <a:tab pos="457200" algn="l"/>
              </a:tabLst>
            </a:pPr>
            <a:r>
              <a:rPr lang="fr-FR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Madame Dubois était pressée (S). Elle marchait vite (S). Elle a glissé (E). Elle est tombée (E). Elle s’est    </a:t>
            </a:r>
          </a:p>
          <a:p>
            <a:pPr marL="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FR" dirty="0">
              <a:solidFill>
                <a:srgbClr val="00B050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cassé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jambe (E).</a:t>
            </a:r>
          </a:p>
          <a:p>
            <a:pPr marL="457200">
              <a:lnSpc>
                <a:spcPts val="1500"/>
              </a:lnSpc>
              <a:spcAft>
                <a:spcPts val="1000"/>
              </a:spcAft>
            </a:pP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4.</a:t>
            </a:r>
            <a:r>
              <a:rPr lang="fr-FR" sz="800" dirty="0">
                <a:solidFill>
                  <a:srgbClr val="333333"/>
                </a:solidFill>
                <a:latin typeface="Times New Roman" panose="02020603050405020304" pitchFamily="18" charset="0"/>
                <a:ea typeface="Helvetica" panose="020B0604020202020204" pitchFamily="34" charset="0"/>
                <a:cs typeface="Times New Roman" panose="02020603050405020304" pitchFamily="18" charset="0"/>
              </a:rPr>
              <a:t>   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1990, M. Smith </a:t>
            </a:r>
            <a:r>
              <a:rPr lang="fr-FR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 arrivé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France (E ). Il ne </a:t>
            </a:r>
            <a:r>
              <a:rPr lang="fr-FR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connaissai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personne (S). Un mois plus tard, il </a:t>
            </a:r>
            <a:r>
              <a:rPr lang="fr-FR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fr-FR" dirty="0" smtClean="0">
              <a:solidFill>
                <a:srgbClr val="00B050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FR" dirty="0">
              <a:solidFill>
                <a:srgbClr val="00B050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 smtClean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rencontré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ses premiers amis (E) .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5.</a:t>
            </a:r>
            <a:r>
              <a:rPr lang="fr-FR" sz="800" dirty="0">
                <a:solidFill>
                  <a:srgbClr val="333333"/>
                </a:solidFill>
                <a:latin typeface="Times New Roman" panose="02020603050405020304" pitchFamily="18" charset="0"/>
                <a:ea typeface="Helvetica" panose="020B0604020202020204" pitchFamily="34" charset="0"/>
                <a:cs typeface="Times New Roman" panose="02020603050405020304" pitchFamily="18" charset="0"/>
              </a:rPr>
              <a:t>   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Julie </a:t>
            </a:r>
            <a:r>
              <a:rPr lang="fr-FR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s’est levée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(E) , il y </a:t>
            </a:r>
            <a:r>
              <a:rPr lang="fr-FR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avait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la glace sur les vitres (S). Elle </a:t>
            </a:r>
            <a:r>
              <a:rPr lang="fr-FR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 sortie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regarder le thermomètre (E) . </a:t>
            </a:r>
            <a:endParaRPr lang="fr-FR" dirty="0" smtClean="0">
              <a:solidFill>
                <a:srgbClr val="333333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FR" dirty="0">
              <a:solidFill>
                <a:srgbClr val="333333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fr-FR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faisait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-13C° (S)</a:t>
            </a: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6.</a:t>
            </a:r>
            <a:r>
              <a:rPr lang="fr-FR" sz="800" dirty="0">
                <a:solidFill>
                  <a:srgbClr val="333333"/>
                </a:solidFill>
                <a:latin typeface="Times New Roman" panose="02020603050405020304" pitchFamily="18" charset="0"/>
                <a:ea typeface="Helvetica" panose="020B0604020202020204" pitchFamily="34" charset="0"/>
                <a:cs typeface="Times New Roman" panose="02020603050405020304" pitchFamily="18" charset="0"/>
              </a:rPr>
              <a:t>   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  y </a:t>
            </a:r>
            <a:r>
              <a:rPr lang="fr-FR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avait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deux personnes dans l’ascenseur (S). L’ascenseur </a:t>
            </a:r>
            <a:r>
              <a:rPr lang="fr-FR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 tombé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panne (E) . La sonnerie ne </a:t>
            </a:r>
            <a:endParaRPr lang="fr-FR" dirty="0" smtClean="0">
              <a:solidFill>
                <a:srgbClr val="333333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FR" dirty="0">
              <a:solidFill>
                <a:srgbClr val="333333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fr-FR" dirty="0" smtClean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marchait</a:t>
            </a:r>
            <a:r>
              <a:rPr lang="fr-FR" dirty="0" smtClean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 (S). Elles </a:t>
            </a:r>
            <a:r>
              <a:rPr lang="fr-FR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ont passé </a:t>
            </a:r>
            <a:r>
              <a:rPr lang="fr-FR" u="sng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nuit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dedans (E) .</a:t>
            </a:r>
          </a:p>
          <a:p>
            <a:pPr marL="457200" indent="-228600">
              <a:lnSpc>
                <a:spcPts val="1500"/>
              </a:lnSpc>
              <a:spcAft>
                <a:spcPts val="0"/>
              </a:spcAft>
              <a:tabLst>
                <a:tab pos="457200" algn="l"/>
              </a:tabLst>
            </a:pP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7.</a:t>
            </a:r>
            <a:r>
              <a:rPr lang="fr-FR" sz="800" dirty="0">
                <a:solidFill>
                  <a:srgbClr val="333333"/>
                </a:solidFill>
                <a:latin typeface="Times New Roman" panose="02020603050405020304" pitchFamily="18" charset="0"/>
                <a:ea typeface="Helvetica" panose="020B0604020202020204" pitchFamily="34" charset="0"/>
                <a:cs typeface="Times New Roman" panose="02020603050405020304" pitchFamily="18" charset="0"/>
              </a:rPr>
              <a:t>   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  </a:t>
            </a:r>
            <a:r>
              <a:rPr lang="fr-FR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marchais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derrière quelqu’un (S). Je </a:t>
            </a:r>
            <a:r>
              <a:rPr lang="fr-FR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l’ai appelé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(E) . Il </a:t>
            </a:r>
            <a:r>
              <a:rPr lang="fr-FR" dirty="0">
                <a:solidFill>
                  <a:srgbClr val="00B05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s’est retourné 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(E) . Je ne le </a:t>
            </a:r>
            <a:r>
              <a:rPr lang="fr-FR" dirty="0">
                <a:solidFill>
                  <a:srgbClr val="FF0000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connaissais</a:t>
            </a:r>
            <a:r>
              <a:rPr lang="fr-FR" dirty="0">
                <a:solidFill>
                  <a:srgbClr val="333333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pas (S).</a:t>
            </a:r>
          </a:p>
          <a:p>
            <a:pPr marL="457200" indent="-228600">
              <a:lnSpc>
                <a:spcPts val="1500"/>
              </a:lnSpc>
              <a:spcAft>
                <a:spcPts val="1000"/>
              </a:spcAft>
              <a:tabLst>
                <a:tab pos="457200" algn="l"/>
              </a:tabLst>
            </a:pPr>
            <a:endParaRPr lang="fr-FR" sz="2000" dirty="0">
              <a:solidFill>
                <a:srgbClr val="333333"/>
              </a:solidFill>
              <a:effectLst/>
              <a:latin typeface="Helvetica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228600">
              <a:lnSpc>
                <a:spcPts val="15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fr-FR" sz="2000" dirty="0">
                <a:solidFill>
                  <a:srgbClr val="333333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B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63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0892" y="759872"/>
            <a:ext cx="6464552" cy="6331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07000"/>
              </a:lnSpc>
              <a:spcAft>
                <a:spcPts val="800"/>
              </a:spcAft>
              <a:buSzPts val="1600"/>
              <a:buFont typeface="Arial" panose="020B0604020202020204" pitchFamily="34" charset="0"/>
              <a:buChar char="•"/>
            </a:pPr>
            <a:r>
              <a:rPr lang="fr-BE" sz="28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</a:t>
            </a:r>
            <a:r>
              <a:rPr lang="fr-BE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décrire </a:t>
            </a:r>
            <a:r>
              <a:rPr lang="fr-BE" sz="2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 actions habituelles</a:t>
            </a:r>
            <a:r>
              <a:rPr lang="fr-BE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du passé. 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BE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 j</a:t>
            </a:r>
            <a:r>
              <a:rPr lang="fr-BE" sz="2800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fr-BE" sz="2800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étais </a:t>
            </a:r>
            <a:r>
              <a:rPr lang="fr-BE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petit, je </a:t>
            </a:r>
            <a:r>
              <a:rPr lang="fr-BE" sz="2800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jouais</a:t>
            </a:r>
            <a:r>
              <a:rPr lang="fr-BE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avec mes </a:t>
            </a:r>
            <a:r>
              <a:rPr lang="fr-BE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soeurs</a:t>
            </a:r>
            <a:r>
              <a:rPr lang="fr-BE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Mon père nous </a:t>
            </a:r>
            <a:r>
              <a:rPr lang="fr-BE" sz="2800" i="1" dirty="0" smtClean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emmenait</a:t>
            </a:r>
            <a:r>
              <a:rPr lang="fr-BE" sz="2800" i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BE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la plage pendant l’été. 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SzPts val="1600"/>
              <a:buFont typeface="Arial" panose="020B0604020202020204" pitchFamily="34" charset="0"/>
              <a:buChar char="•"/>
            </a:pPr>
            <a:r>
              <a:rPr lang="fr-BE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</a:t>
            </a:r>
            <a:r>
              <a:rPr lang="fr-BE" sz="2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décrire</a:t>
            </a:r>
            <a:r>
              <a:rPr lang="fr-BE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BE" sz="2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décor </a:t>
            </a:r>
            <a:r>
              <a:rPr lang="fr-BE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d’une action, pour </a:t>
            </a:r>
            <a:r>
              <a:rPr lang="fr-BE" sz="2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expliquer une situation</a:t>
            </a:r>
            <a:r>
              <a:rPr lang="fr-BE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faire des commentaires, des explications, etc. 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BE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 </a:t>
            </a:r>
            <a:r>
              <a:rPr lang="fr-BE" sz="2800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était</a:t>
            </a:r>
            <a:r>
              <a:rPr lang="fr-BE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trois heures, il n’y </a:t>
            </a:r>
            <a:r>
              <a:rPr lang="fr-BE" sz="2800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avait</a:t>
            </a:r>
            <a:r>
              <a:rPr lang="fr-BE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personne dans la rue, la pluie </a:t>
            </a:r>
            <a:r>
              <a:rPr lang="fr-BE" sz="2800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tombait</a:t>
            </a:r>
            <a:r>
              <a:rPr lang="fr-BE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je </a:t>
            </a:r>
            <a:r>
              <a:rPr lang="fr-BE" sz="2800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marchais</a:t>
            </a:r>
            <a:r>
              <a:rPr lang="fr-BE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silence. Autrefois à Paris, il y </a:t>
            </a:r>
            <a:r>
              <a:rPr lang="fr-BE" sz="2800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avait</a:t>
            </a:r>
            <a:r>
              <a:rPr lang="fr-BE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plein de commerçants dans la rue.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fr-BE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BE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61257" y="1914038"/>
            <a:ext cx="40320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3600" b="1" dirty="0" smtClean="0"/>
              <a:t>L’imparfait</a:t>
            </a:r>
          </a:p>
          <a:p>
            <a:endParaRPr lang="fr-BE" sz="3600" b="1" dirty="0"/>
          </a:p>
          <a:p>
            <a:r>
              <a:rPr lang="fr-BE" sz="2800" b="1" dirty="0">
                <a:solidFill>
                  <a:srgbClr val="0070C0"/>
                </a:solidFill>
              </a:rPr>
              <a:t>Quand </a:t>
            </a:r>
            <a:r>
              <a:rPr lang="fr-BE" sz="2800" b="1" dirty="0" smtClean="0">
                <a:solidFill>
                  <a:srgbClr val="0070C0"/>
                </a:solidFill>
              </a:rPr>
              <a:t>l’emploie-t-on ?</a:t>
            </a:r>
            <a:endParaRPr lang="fr-BE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58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0892" y="759873"/>
            <a:ext cx="6096000" cy="546765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>
              <a:lnSpc>
                <a:spcPct val="107000"/>
              </a:lnSpc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fr-BE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</a:t>
            </a:r>
            <a:r>
              <a:rPr lang="fr-BE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exprimer</a:t>
            </a:r>
            <a:r>
              <a:rPr lang="fr-BE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BE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l’hypothèse</a:t>
            </a:r>
            <a:r>
              <a:rPr lang="fr-BE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avec la conjonction </a:t>
            </a:r>
            <a:r>
              <a:rPr lang="fr-BE" sz="2400" b="1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fr-BE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lorsque la phrase principale est au conditionnel présent. </a:t>
            </a:r>
            <a:endParaRPr lang="fr-BE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0"/>
              </a:spcAft>
              <a:buSzPts val="1600"/>
            </a:pPr>
            <a:r>
              <a:rPr lang="fr-BE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 j</a:t>
            </a:r>
            <a:r>
              <a:rPr lang="fr-BE" sz="2400" i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fr-BE" sz="2400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étais</a:t>
            </a:r>
            <a:r>
              <a:rPr lang="fr-BE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riche, je </a:t>
            </a:r>
            <a:r>
              <a:rPr lang="fr-BE" sz="2400" i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passerais mes vacances dans les Caraïbes.  </a:t>
            </a:r>
            <a:endParaRPr lang="fr-B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18770">
              <a:lnSpc>
                <a:spcPct val="107000"/>
              </a:lnSpc>
              <a:spcAft>
                <a:spcPts val="0"/>
              </a:spcAft>
            </a:pPr>
            <a:r>
              <a:rPr lang="fr-BE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B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SzPts val="1600"/>
              <a:buFont typeface="Arial" panose="020B0604020202020204" pitchFamily="34" charset="0"/>
              <a:buChar char="•"/>
            </a:pPr>
            <a:r>
              <a:rPr lang="fr-BE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</a:t>
            </a:r>
            <a:r>
              <a:rPr lang="fr-BE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respecter la concordance des </a:t>
            </a:r>
            <a:r>
              <a:rPr lang="fr-BE" sz="2400" b="1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temps du passé</a:t>
            </a:r>
            <a:r>
              <a:rPr lang="fr-BE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BE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après les verbes comme «  je ne savais pas que…. », « je pensais que…. », « on m’a dit que »…  </a:t>
            </a:r>
            <a:r>
              <a:rPr lang="fr-BE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B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600"/>
            </a:pPr>
            <a:r>
              <a:rPr lang="fr-BE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 ne </a:t>
            </a:r>
            <a:r>
              <a:rPr lang="fr-BE" sz="2400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savais</a:t>
            </a:r>
            <a:r>
              <a:rPr lang="fr-BE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pas qu’il </a:t>
            </a:r>
            <a:r>
              <a:rPr lang="fr-BE" sz="2400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était</a:t>
            </a:r>
            <a:r>
              <a:rPr lang="fr-BE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BE" sz="2400" i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médecin;  </a:t>
            </a:r>
            <a:r>
              <a:rPr lang="fr-BE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m’a dit que tu </a:t>
            </a:r>
            <a:r>
              <a:rPr lang="fr-BE" sz="2400" i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voulais</a:t>
            </a:r>
            <a:r>
              <a:rPr lang="fr-BE" sz="2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déménager.</a:t>
            </a:r>
            <a:endParaRPr lang="fr-BE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fr-BE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BE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61257" y="1914038"/>
            <a:ext cx="40320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3600" b="1" dirty="0" smtClean="0"/>
              <a:t>L’imparfait</a:t>
            </a:r>
          </a:p>
          <a:p>
            <a:endParaRPr lang="fr-BE" sz="3600" b="1" dirty="0"/>
          </a:p>
          <a:p>
            <a:r>
              <a:rPr lang="fr-BE" sz="2800" b="1" dirty="0">
                <a:solidFill>
                  <a:srgbClr val="0070C0"/>
                </a:solidFill>
              </a:rPr>
              <a:t>Quand </a:t>
            </a:r>
            <a:r>
              <a:rPr lang="fr-BE" sz="2800" b="1" dirty="0" smtClean="0">
                <a:solidFill>
                  <a:srgbClr val="0070C0"/>
                </a:solidFill>
              </a:rPr>
              <a:t>l’emploie-t-on ?</a:t>
            </a:r>
            <a:endParaRPr lang="fr-BE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25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Unité 3 – le plat pays en balades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BE" sz="1800" b="1" dirty="0" smtClean="0"/>
              <a:t>Cours 2 </a:t>
            </a:r>
            <a:r>
              <a:rPr lang="fr-BE" sz="1800" b="1" dirty="0" smtClean="0"/>
              <a:t>– Un </a:t>
            </a:r>
            <a:r>
              <a:rPr lang="fr-BE" sz="1800" b="1" dirty="0" smtClean="0"/>
              <a:t>jour </a:t>
            </a:r>
            <a:r>
              <a:rPr lang="fr-BE" sz="1800" b="1" dirty="0"/>
              <a:t>J’irai à </a:t>
            </a:r>
            <a:r>
              <a:rPr lang="fr-BE" sz="1800" b="1" dirty="0" smtClean="0"/>
              <a:t>Gand</a:t>
            </a:r>
            <a:endParaRPr lang="fr-BE" sz="1800" b="1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238" y="3449893"/>
            <a:ext cx="8242322" cy="261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1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En petits groupes : conversation</a:t>
            </a:r>
            <a:endParaRPr lang="fr-BE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 smtClean="0"/>
              <a:t>Parler - Vocabulaire – vidéo (syllabus, Moodle) – Grammaire (Syllabus, GPF) – Parler (syllabus)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81370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65" y="273269"/>
            <a:ext cx="8092966" cy="64007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/>
          <p:cNvSpPr txBox="1"/>
          <p:nvPr/>
        </p:nvSpPr>
        <p:spPr>
          <a:xfrm>
            <a:off x="8839200" y="657512"/>
            <a:ext cx="270115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 smtClean="0"/>
              <a:t>Donnez des instructions au </a:t>
            </a:r>
            <a:r>
              <a:rPr lang="fr-BE" sz="2400" dirty="0" smtClean="0">
                <a:solidFill>
                  <a:srgbClr val="FF0000"/>
                </a:solidFill>
              </a:rPr>
              <a:t>futur simple + 2 repères p. 100</a:t>
            </a:r>
          </a:p>
          <a:p>
            <a:r>
              <a:rPr lang="fr-BE" sz="2400" dirty="0" smtClean="0"/>
              <a:t>Comment aller du Novotel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2400" dirty="0" smtClean="0"/>
              <a:t>Au château des comtes de Flandre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2400" dirty="0" smtClean="0"/>
              <a:t>À la cathédrale Saint-Bavon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2400" dirty="0" smtClean="0"/>
              <a:t>Au château </a:t>
            </a:r>
            <a:r>
              <a:rPr lang="fr-BE" sz="2400" dirty="0" err="1" smtClean="0"/>
              <a:t>Geraard</a:t>
            </a:r>
            <a:r>
              <a:rPr lang="fr-BE" sz="2400" dirty="0" smtClean="0"/>
              <a:t> de </a:t>
            </a:r>
            <a:r>
              <a:rPr lang="fr-BE" sz="2400" dirty="0" err="1" smtClean="0"/>
              <a:t>Duivel</a:t>
            </a:r>
            <a:endParaRPr lang="fr-BE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2400" dirty="0" smtClean="0"/>
              <a:t>Au Pont Saint-Michel</a:t>
            </a:r>
            <a:endParaRPr lang="fr-BE" sz="2400" dirty="0"/>
          </a:p>
        </p:txBody>
      </p:sp>
      <p:sp>
        <p:nvSpPr>
          <p:cNvPr id="4" name="Bulle ronde 3"/>
          <p:cNvSpPr/>
          <p:nvPr/>
        </p:nvSpPr>
        <p:spPr>
          <a:xfrm>
            <a:off x="10668000" y="0"/>
            <a:ext cx="1334814" cy="987973"/>
          </a:xfrm>
          <a:prstGeom prst="wedgeEllipseCallou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TEAMS en sous-sous-groupe</a:t>
            </a:r>
          </a:p>
          <a:p>
            <a:pPr algn="ctr"/>
            <a:r>
              <a:rPr lang="fr-BE" dirty="0" smtClean="0"/>
              <a:t>Appeler le professeur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95527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Vocabulaire – chaine de mots – groupe de 3 étudiants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23273" y="2228003"/>
            <a:ext cx="5680310" cy="4163561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sz="2000" b="1" dirty="0" smtClean="0"/>
              <a:t>1</a:t>
            </a:r>
            <a:r>
              <a:rPr lang="fr-BE" sz="2000" b="1" baseline="30000" dirty="0" smtClean="0"/>
              <a:t>re</a:t>
            </a:r>
            <a:r>
              <a:rPr lang="fr-BE" sz="2000" b="1" dirty="0" smtClean="0"/>
              <a:t> partie : une chaine d’actions, le plus rapidement possible</a:t>
            </a:r>
          </a:p>
          <a:p>
            <a:r>
              <a:rPr lang="fr-BE" dirty="0" smtClean="0"/>
              <a:t>Chacun à votre tour vous dites un verbe (conjugué au présent) d’une activité qui se fait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à la plage (2 tours = 6 actions)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en </a:t>
            </a:r>
            <a:r>
              <a:rPr lang="fr-BE" smtClean="0"/>
              <a:t>ville (2 </a:t>
            </a:r>
            <a:r>
              <a:rPr lang="fr-BE" dirty="0" smtClean="0"/>
              <a:t>tours </a:t>
            </a:r>
            <a:r>
              <a:rPr lang="fr-BE" smtClean="0"/>
              <a:t>= 6 </a:t>
            </a:r>
            <a:r>
              <a:rPr lang="fr-BE" dirty="0" smtClean="0"/>
              <a:t>actions)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à la campagne (2 tours = 6 actions)</a:t>
            </a:r>
          </a:p>
          <a:p>
            <a:pPr marL="0" indent="0">
              <a:buNone/>
            </a:pPr>
            <a:r>
              <a:rPr lang="fr-BE" dirty="0"/>
              <a:t>L’étudiant 1 dit « À la plage, je </a:t>
            </a:r>
            <a:r>
              <a:rPr lang="fr-BE" dirty="0" smtClean="0">
                <a:solidFill>
                  <a:srgbClr val="FF0000"/>
                </a:solidFill>
              </a:rPr>
              <a:t>construis des châteaux de sable</a:t>
            </a:r>
            <a:r>
              <a:rPr lang="fr-BE" dirty="0" smtClean="0">
                <a:solidFill>
                  <a:schemeClr val="bg2">
                    <a:lumMod val="50000"/>
                  </a:schemeClr>
                </a:solidFill>
              </a:rPr>
              <a:t>»</a:t>
            </a:r>
            <a:endParaRPr lang="fr-BE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fr-BE" dirty="0"/>
              <a:t>L’étudiant 2 dit «  À la </a:t>
            </a:r>
            <a:r>
              <a:rPr lang="fr-BE" dirty="0">
                <a:solidFill>
                  <a:schemeClr val="bg2">
                    <a:lumMod val="50000"/>
                  </a:schemeClr>
                </a:solidFill>
              </a:rPr>
              <a:t>plage, je construis des châteaux de </a:t>
            </a:r>
            <a:r>
              <a:rPr lang="fr-BE" dirty="0" smtClean="0">
                <a:solidFill>
                  <a:schemeClr val="bg2">
                    <a:lumMod val="50000"/>
                  </a:schemeClr>
                </a:solidFill>
              </a:rPr>
              <a:t>sable </a:t>
            </a:r>
            <a:r>
              <a:rPr lang="fr-BE" dirty="0" smtClean="0">
                <a:solidFill>
                  <a:srgbClr val="C00000"/>
                </a:solidFill>
              </a:rPr>
              <a:t>et</a:t>
            </a:r>
            <a:r>
              <a:rPr lang="fr-BE" dirty="0" smtClean="0"/>
              <a:t> </a:t>
            </a:r>
            <a:r>
              <a:rPr lang="fr-BE" dirty="0" smtClean="0">
                <a:solidFill>
                  <a:srgbClr val="FF0000"/>
                </a:solidFill>
              </a:rPr>
              <a:t>je lis.</a:t>
            </a:r>
            <a:r>
              <a:rPr lang="fr-BE" dirty="0"/>
              <a:t> »</a:t>
            </a:r>
          </a:p>
          <a:p>
            <a:pPr marL="0" indent="0">
              <a:buNone/>
            </a:pPr>
            <a:r>
              <a:rPr lang="fr-BE" dirty="0"/>
              <a:t>L’étudiant </a:t>
            </a:r>
            <a:r>
              <a:rPr lang="fr-BE" dirty="0" smtClean="0"/>
              <a:t>3 </a:t>
            </a:r>
            <a:r>
              <a:rPr lang="fr-BE" dirty="0"/>
              <a:t>dit «  À la plage, je </a:t>
            </a:r>
            <a:r>
              <a:rPr lang="fr-BE" dirty="0">
                <a:solidFill>
                  <a:schemeClr val="bg2">
                    <a:lumMod val="50000"/>
                  </a:schemeClr>
                </a:solidFill>
              </a:rPr>
              <a:t>construis des châteaux de </a:t>
            </a:r>
            <a:r>
              <a:rPr lang="fr-BE" dirty="0" smtClean="0">
                <a:solidFill>
                  <a:schemeClr val="bg2">
                    <a:lumMod val="50000"/>
                  </a:schemeClr>
                </a:solidFill>
              </a:rPr>
              <a:t>sable, je lis</a:t>
            </a:r>
            <a:r>
              <a:rPr lang="fr-BE" dirty="0">
                <a:solidFill>
                  <a:srgbClr val="FF0000"/>
                </a:solidFill>
              </a:rPr>
              <a:t> </a:t>
            </a:r>
            <a:r>
              <a:rPr lang="fr-BE" dirty="0" smtClean="0">
                <a:solidFill>
                  <a:srgbClr val="FF0000"/>
                </a:solidFill>
              </a:rPr>
              <a:t>et je  me repose</a:t>
            </a:r>
            <a:r>
              <a:rPr lang="fr-BE" dirty="0" smtClean="0"/>
              <a:t>»</a:t>
            </a:r>
            <a:endParaRPr lang="fr-BE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>
          <a:xfrm>
            <a:off x="6188416" y="2228003"/>
            <a:ext cx="5698783" cy="4163561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sz="2100" b="1" dirty="0" smtClean="0"/>
              <a:t>2</a:t>
            </a:r>
            <a:r>
              <a:rPr lang="fr-BE" sz="2100" b="1" baseline="30000" dirty="0" smtClean="0"/>
              <a:t>e</a:t>
            </a:r>
            <a:r>
              <a:rPr lang="fr-BE" sz="2100" b="1" dirty="0" smtClean="0"/>
              <a:t> partie :  une chaine de mots, le plus rapidement possible. Vous choisissez le lieu : plage, ville ou campagne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/>
              <a:t>J</a:t>
            </a:r>
            <a:r>
              <a:rPr lang="fr-BE" dirty="0" smtClean="0"/>
              <a:t>e vois… (2 tours = 6 choses)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Je sens… ( 1 tour = 3 odeurs)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Je sens sur ma peau… (1 tour = 3 sensations)</a:t>
            </a:r>
          </a:p>
          <a:p>
            <a:pPr marL="342900" indent="-342900">
              <a:buFont typeface="+mj-lt"/>
              <a:buAutoNum type="arabicPeriod"/>
            </a:pPr>
            <a:r>
              <a:rPr lang="fr-BE" dirty="0" smtClean="0"/>
              <a:t>J’entends… (2 tours = 6 bruits)</a:t>
            </a:r>
          </a:p>
          <a:p>
            <a:pPr marL="0" indent="0">
              <a:buNone/>
            </a:pPr>
            <a:r>
              <a:rPr lang="fr-BE" dirty="0" smtClean="0"/>
              <a:t>Exemple : votre groupe a choisi la plage.</a:t>
            </a:r>
          </a:p>
          <a:p>
            <a:pPr marL="0" indent="0">
              <a:buNone/>
            </a:pPr>
            <a:r>
              <a:rPr lang="fr-BE" dirty="0"/>
              <a:t>L</a:t>
            </a:r>
            <a:r>
              <a:rPr lang="fr-BE" dirty="0" smtClean="0"/>
              <a:t>’étudiant 1 dit « À la plage, je vois </a:t>
            </a:r>
            <a:r>
              <a:rPr lang="fr-BE" dirty="0" smtClean="0">
                <a:solidFill>
                  <a:srgbClr val="FF0000"/>
                </a:solidFill>
              </a:rPr>
              <a:t>la mer.</a:t>
            </a:r>
            <a:r>
              <a:rPr lang="fr-BE" dirty="0" smtClean="0"/>
              <a:t> »</a:t>
            </a:r>
            <a:endParaRPr lang="fr-BE" dirty="0"/>
          </a:p>
          <a:p>
            <a:pPr marL="0" indent="0">
              <a:buNone/>
            </a:pPr>
            <a:r>
              <a:rPr lang="fr-BE" dirty="0"/>
              <a:t>L</a:t>
            </a:r>
            <a:r>
              <a:rPr lang="fr-BE" dirty="0" smtClean="0"/>
              <a:t>’étudiant 2 dit «  À la plage, je vois la mer </a:t>
            </a:r>
            <a:r>
              <a:rPr lang="fr-BE" dirty="0" smtClean="0">
                <a:solidFill>
                  <a:srgbClr val="C00000"/>
                </a:solidFill>
              </a:rPr>
              <a:t>et</a:t>
            </a:r>
            <a:r>
              <a:rPr lang="fr-BE" dirty="0" smtClean="0"/>
              <a:t> </a:t>
            </a:r>
            <a:r>
              <a:rPr lang="fr-BE" dirty="0" smtClean="0">
                <a:solidFill>
                  <a:srgbClr val="FF0000"/>
                </a:solidFill>
              </a:rPr>
              <a:t>la digue.</a:t>
            </a:r>
            <a:r>
              <a:rPr lang="fr-BE" dirty="0" smtClean="0"/>
              <a:t> »</a:t>
            </a:r>
          </a:p>
          <a:p>
            <a:pPr marL="0" indent="0">
              <a:buNone/>
            </a:pPr>
            <a:r>
              <a:rPr lang="fr-BE" dirty="0" smtClean="0"/>
              <a:t>L’étudiant 3 dit «  À la plage, je vois la mer, la digue et </a:t>
            </a:r>
            <a:r>
              <a:rPr lang="fr-BE" dirty="0" smtClean="0">
                <a:solidFill>
                  <a:srgbClr val="FF0000"/>
                </a:solidFill>
              </a:rPr>
              <a:t>les nuages</a:t>
            </a:r>
            <a:r>
              <a:rPr lang="fr-BE" dirty="0" smtClean="0"/>
              <a:t>. »</a:t>
            </a:r>
          </a:p>
        </p:txBody>
      </p:sp>
      <p:sp>
        <p:nvSpPr>
          <p:cNvPr id="3" name="Bulle ronde 2"/>
          <p:cNvSpPr/>
          <p:nvPr/>
        </p:nvSpPr>
        <p:spPr>
          <a:xfrm>
            <a:off x="1145628" y="0"/>
            <a:ext cx="1723697" cy="1117145"/>
          </a:xfrm>
          <a:prstGeom prst="wedgeEllipseCallou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TEAMS en sous-groupe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9436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Ecouter : </a:t>
            </a:r>
            <a:r>
              <a:rPr lang="fr-BE" dirty="0" err="1" smtClean="0"/>
              <a:t>GanD</a:t>
            </a:r>
            <a:r>
              <a:rPr lang="fr-BE" dirty="0" smtClean="0"/>
              <a:t> </a:t>
            </a:r>
            <a:r>
              <a:rPr lang="fr-BE" dirty="0" smtClean="0"/>
              <a:t>(syllabus p.112) :  Vidéo sur Moodle/Unité 3</a:t>
            </a:r>
            <a:endParaRPr lang="fr-BE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3" y="2431229"/>
            <a:ext cx="5492349" cy="3429821"/>
          </a:xfrm>
        </p:spPr>
      </p:pic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BE" sz="2400" dirty="0" smtClean="0"/>
              <a:t>Visionner deux fois, sélectionner les bonnes réponses.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400" dirty="0" smtClean="0"/>
              <a:t>Choisir 7 nouveaux mots /expressions pour décrire, à conserver dans votre panier de mots.</a:t>
            </a:r>
          </a:p>
          <a:p>
            <a:pPr marL="342900" indent="-342900">
              <a:buFont typeface="+mj-lt"/>
              <a:buAutoNum type="arabicPeriod"/>
            </a:pPr>
            <a:endParaRPr lang="fr-BE" sz="2400" dirty="0" smtClean="0"/>
          </a:p>
        </p:txBody>
      </p:sp>
      <p:pic>
        <p:nvPicPr>
          <p:cNvPr id="5" name="Image 4"/>
          <p:cNvPicPr/>
          <p:nvPr/>
        </p:nvPicPr>
        <p:blipFill>
          <a:blip r:embed="rId3"/>
          <a:stretch>
            <a:fillRect/>
          </a:stretch>
        </p:blipFill>
        <p:spPr>
          <a:xfrm>
            <a:off x="7976596" y="4950372"/>
            <a:ext cx="1283018" cy="91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057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1243012"/>
            <a:ext cx="8467725" cy="4371975"/>
          </a:xfrm>
          <a:prstGeom prst="rect">
            <a:avLst/>
          </a:prstGeom>
        </p:spPr>
      </p:pic>
      <p:sp>
        <p:nvSpPr>
          <p:cNvPr id="3" name="Bulle ronde 2"/>
          <p:cNvSpPr/>
          <p:nvPr/>
        </p:nvSpPr>
        <p:spPr>
          <a:xfrm>
            <a:off x="8828690" y="367862"/>
            <a:ext cx="2606565" cy="1723697"/>
          </a:xfrm>
          <a:prstGeom prst="wedgeEllipseCallou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TEAMS en sous-groupe pour comparer vos réponses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07773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futur simple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(Syllabus p.102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+ 105)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581192" y="2180496"/>
            <a:ext cx="4393931" cy="3678303"/>
          </a:xfrm>
          <a:ln>
            <a:solidFill>
              <a:schemeClr val="accent1"/>
            </a:solidFill>
          </a:ln>
        </p:spPr>
        <p:txBody>
          <a:bodyPr/>
          <a:lstStyle/>
          <a:p>
            <a:endParaRPr lang="fr-BE" dirty="0" smtClean="0"/>
          </a:p>
          <a:p>
            <a:pPr marL="0" indent="0">
              <a:buNone/>
            </a:pPr>
            <a:r>
              <a:rPr lang="fr-BE" dirty="0" smtClean="0"/>
              <a:t>	</a:t>
            </a:r>
          </a:p>
          <a:p>
            <a:pPr marL="0" indent="0">
              <a:buNone/>
            </a:pPr>
            <a:endParaRPr lang="fr-BE" dirty="0" smtClean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 smtClean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 smtClean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 smtClean="0"/>
              <a:t>pages </a:t>
            </a:r>
            <a:r>
              <a:rPr lang="fr-BE" dirty="0" smtClean="0"/>
              <a:t>225 n°1 et 2</a:t>
            </a:r>
            <a:endParaRPr lang="fr-BE" dirty="0" smtClean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594" y="1963993"/>
            <a:ext cx="6471929" cy="469796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2180496"/>
            <a:ext cx="2295525" cy="3238500"/>
          </a:xfrm>
          <a:prstGeom prst="rect">
            <a:avLst/>
          </a:prstGeom>
        </p:spPr>
      </p:pic>
      <p:sp>
        <p:nvSpPr>
          <p:cNvPr id="8" name="Bulle ronde 7"/>
          <p:cNvSpPr/>
          <p:nvPr/>
        </p:nvSpPr>
        <p:spPr>
          <a:xfrm>
            <a:off x="7614709" y="435272"/>
            <a:ext cx="1723697" cy="1117145"/>
          </a:xfrm>
          <a:prstGeom prst="wedgeEllipseCallou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TEAMS en sous-groupe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9414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Décrire (p. 105</a:t>
            </a:r>
            <a:r>
              <a:rPr lang="fr-BE" dirty="0" smtClean="0"/>
              <a:t>) : corrigé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1192" y="1975946"/>
            <a:ext cx="11242946" cy="4351282"/>
          </a:xfrm>
        </p:spPr>
        <p:txBody>
          <a:bodyPr>
            <a:normAutofit/>
          </a:bodyPr>
          <a:lstStyle/>
          <a:p>
            <a:r>
              <a:rPr lang="fr-FR" sz="2000" b="1" dirty="0"/>
              <a:t>Malines</a:t>
            </a:r>
            <a:r>
              <a:rPr lang="fr-FR" sz="2000" dirty="0"/>
              <a:t> : Le charme de cette petite ville typique au passé bourguignon </a:t>
            </a:r>
            <a:r>
              <a:rPr lang="fr-FR" sz="2000" dirty="0" smtClean="0"/>
              <a:t>_</a:t>
            </a:r>
            <a:r>
              <a:rPr lang="fr-FR" sz="2000" dirty="0" smtClean="0">
                <a:solidFill>
                  <a:srgbClr val="FF0000"/>
                </a:solidFill>
              </a:rPr>
              <a:t>opérera_</a:t>
            </a:r>
            <a:r>
              <a:rPr lang="fr-FR" sz="2000" dirty="0" smtClean="0"/>
              <a:t>__ </a:t>
            </a:r>
            <a:r>
              <a:rPr lang="fr-FR" sz="2000" dirty="0"/>
              <a:t>(opérer, attention à l’accent) d’emblée. Vous </a:t>
            </a:r>
            <a:r>
              <a:rPr lang="fr-FR" sz="2000" dirty="0" smtClean="0"/>
              <a:t>_</a:t>
            </a:r>
            <a:r>
              <a:rPr lang="fr-FR" sz="2000" dirty="0" smtClean="0">
                <a:solidFill>
                  <a:srgbClr val="FF0000"/>
                </a:solidFill>
              </a:rPr>
              <a:t>pourrez</a:t>
            </a:r>
            <a:r>
              <a:rPr lang="fr-FR" sz="2000" dirty="0" smtClean="0"/>
              <a:t>__ </a:t>
            </a:r>
            <a:r>
              <a:rPr lang="fr-FR" sz="2000" dirty="0"/>
              <a:t>(pouvoir, attention au double « r ») la visiter suivant un guide imprimé ou une appli. Vous </a:t>
            </a:r>
            <a:r>
              <a:rPr lang="fr-FR" sz="2000" dirty="0" smtClean="0">
                <a:solidFill>
                  <a:srgbClr val="FF0000"/>
                </a:solidFill>
              </a:rPr>
              <a:t>opterez</a:t>
            </a:r>
            <a:r>
              <a:rPr lang="fr-FR" sz="2000" dirty="0" smtClean="0"/>
              <a:t>___ </a:t>
            </a:r>
            <a:r>
              <a:rPr lang="fr-FR" sz="2000" dirty="0"/>
              <a:t>(opter) pour une croisière sur la Dyle sans vous priver d’une promenade au fil de l’eau par un chemin en bois. Les connaisseurs </a:t>
            </a:r>
            <a:r>
              <a:rPr lang="fr-FR" sz="2000" dirty="0" smtClean="0"/>
              <a:t>_</a:t>
            </a:r>
            <a:r>
              <a:rPr lang="fr-FR" sz="2000" dirty="0" smtClean="0">
                <a:solidFill>
                  <a:srgbClr val="FF0000"/>
                </a:solidFill>
              </a:rPr>
              <a:t>s’arrêteront_</a:t>
            </a:r>
            <a:r>
              <a:rPr lang="fr-FR" sz="2000" dirty="0" smtClean="0"/>
              <a:t>_(</a:t>
            </a:r>
            <a:r>
              <a:rPr lang="fr-FR" sz="2000" dirty="0"/>
              <a:t>s’arrêter, attention au pronom) pour une visite de la Brasserie Het </a:t>
            </a:r>
            <a:r>
              <a:rPr lang="fr-FR" sz="2000" dirty="0" err="1"/>
              <a:t>Anker</a:t>
            </a:r>
            <a:r>
              <a:rPr lang="fr-FR" sz="2000" dirty="0"/>
              <a:t> (qui distille aussi du whisky !). Pour une plongée hors du temps, le Musée de l’Horlogerie </a:t>
            </a:r>
            <a:r>
              <a:rPr lang="fr-FR" sz="2000" dirty="0" smtClean="0">
                <a:solidFill>
                  <a:srgbClr val="FF0000"/>
                </a:solidFill>
              </a:rPr>
              <a:t>sera</a:t>
            </a:r>
            <a:r>
              <a:rPr lang="fr-FR" sz="2000" dirty="0" smtClean="0"/>
              <a:t>___(</a:t>
            </a:r>
            <a:r>
              <a:rPr lang="fr-FR" sz="2000" dirty="0"/>
              <a:t>être) tout indiqué et </a:t>
            </a:r>
            <a:r>
              <a:rPr lang="fr-FR" sz="2000" dirty="0" smtClean="0"/>
              <a:t>__</a:t>
            </a:r>
            <a:r>
              <a:rPr lang="fr-FR" sz="2000" dirty="0" smtClean="0">
                <a:solidFill>
                  <a:srgbClr val="FF0000"/>
                </a:solidFill>
              </a:rPr>
              <a:t>surprendra</a:t>
            </a:r>
            <a:r>
              <a:rPr lang="fr-FR" sz="2000" dirty="0" smtClean="0"/>
              <a:t>___(</a:t>
            </a:r>
            <a:r>
              <a:rPr lang="fr-FR" sz="2000" dirty="0"/>
              <a:t>surprendre) autant qu’il </a:t>
            </a:r>
            <a:r>
              <a:rPr lang="fr-FR" sz="2000" dirty="0" smtClean="0"/>
              <a:t>_</a:t>
            </a:r>
            <a:r>
              <a:rPr lang="fr-FR" sz="2000" dirty="0" smtClean="0">
                <a:solidFill>
                  <a:srgbClr val="FF0000"/>
                </a:solidFill>
              </a:rPr>
              <a:t>séduira</a:t>
            </a:r>
            <a:r>
              <a:rPr lang="fr-FR" sz="2000" dirty="0" smtClean="0"/>
              <a:t>__ </a:t>
            </a:r>
            <a:r>
              <a:rPr lang="fr-FR" sz="2000" dirty="0"/>
              <a:t>(séduire). À 20 min de Bruxelles, 1h 12 de Liège, 1h 30 de Namur, 1h 13 de Charleroi.</a:t>
            </a:r>
            <a:endParaRPr lang="fr-BE" sz="2000" dirty="0"/>
          </a:p>
          <a:p>
            <a:r>
              <a:rPr lang="fr-FR" sz="2000" b="1" dirty="0"/>
              <a:t>Anvers</a:t>
            </a:r>
            <a:r>
              <a:rPr lang="fr-FR" sz="2000" dirty="0"/>
              <a:t> : Vous </a:t>
            </a:r>
            <a:r>
              <a:rPr lang="fr-FR" sz="2000" dirty="0" smtClean="0"/>
              <a:t>_</a:t>
            </a:r>
            <a:r>
              <a:rPr lang="fr-FR" sz="2000" dirty="0" smtClean="0">
                <a:solidFill>
                  <a:srgbClr val="FF0000"/>
                </a:solidFill>
              </a:rPr>
              <a:t>flânerez</a:t>
            </a:r>
            <a:r>
              <a:rPr lang="fr-FR" sz="2000" dirty="0" smtClean="0"/>
              <a:t>__(</a:t>
            </a:r>
            <a:r>
              <a:rPr lang="fr-FR" sz="2000" dirty="0"/>
              <a:t>flâner) dans le centre et sur le Meir et vers la Grand Place, vous </a:t>
            </a:r>
            <a:r>
              <a:rPr lang="fr-FR" sz="2000" dirty="0" smtClean="0">
                <a:solidFill>
                  <a:srgbClr val="FF0000"/>
                </a:solidFill>
              </a:rPr>
              <a:t>découvrirez</a:t>
            </a:r>
            <a:r>
              <a:rPr lang="fr-FR" sz="2000" dirty="0" smtClean="0"/>
              <a:t>__(</a:t>
            </a:r>
            <a:r>
              <a:rPr lang="fr-FR" sz="2000" dirty="0"/>
              <a:t>découvrir) la Cathédrale, </a:t>
            </a:r>
            <a:r>
              <a:rPr lang="fr-FR" sz="2000" dirty="0" smtClean="0"/>
              <a:t>_</a:t>
            </a:r>
            <a:r>
              <a:rPr lang="fr-FR" sz="2000" dirty="0" smtClean="0">
                <a:solidFill>
                  <a:srgbClr val="FF0000"/>
                </a:solidFill>
              </a:rPr>
              <a:t>vous visiterez</a:t>
            </a:r>
            <a:r>
              <a:rPr lang="fr-FR" sz="2000" dirty="0" smtClean="0"/>
              <a:t>_____ </a:t>
            </a:r>
            <a:r>
              <a:rPr lang="fr-FR" sz="2000" dirty="0"/>
              <a:t>(visiter) la maison Rubens et </a:t>
            </a:r>
            <a:r>
              <a:rPr lang="fr-FR" sz="2000" dirty="0" smtClean="0">
                <a:solidFill>
                  <a:srgbClr val="FF0000"/>
                </a:solidFill>
              </a:rPr>
              <a:t>vous vous émouvrez</a:t>
            </a:r>
            <a:r>
              <a:rPr lang="fr-FR" sz="2000" dirty="0" smtClean="0"/>
              <a:t>_ </a:t>
            </a:r>
            <a:r>
              <a:rPr lang="fr-FR" sz="2000" dirty="0"/>
              <a:t>(s’émouvoir, attention très difficile) devant son atelier, vous </a:t>
            </a:r>
            <a:r>
              <a:rPr lang="fr-FR" sz="2000" dirty="0" smtClean="0">
                <a:solidFill>
                  <a:srgbClr val="FF0000"/>
                </a:solidFill>
              </a:rPr>
              <a:t>vous aérerez</a:t>
            </a:r>
            <a:r>
              <a:rPr lang="fr-FR" sz="2000" dirty="0" smtClean="0"/>
              <a:t>_ </a:t>
            </a:r>
            <a:r>
              <a:rPr lang="fr-FR" sz="2000" dirty="0"/>
              <a:t>(s’aérer) dans les immenses parcs du centre-ville comme le </a:t>
            </a:r>
            <a:r>
              <a:rPr lang="fr-FR" sz="2000" dirty="0" err="1"/>
              <a:t>Rivierenhof</a:t>
            </a:r>
            <a:r>
              <a:rPr lang="fr-FR" sz="2000" dirty="0"/>
              <a:t>… Une balade en calèche vous </a:t>
            </a:r>
            <a:r>
              <a:rPr lang="fr-FR" sz="2000" dirty="0" smtClean="0"/>
              <a:t>_</a:t>
            </a:r>
            <a:r>
              <a:rPr lang="fr-FR" sz="2000" dirty="0" smtClean="0">
                <a:solidFill>
                  <a:srgbClr val="FF0000"/>
                </a:solidFill>
              </a:rPr>
              <a:t>permettra</a:t>
            </a:r>
            <a:r>
              <a:rPr lang="fr-FR" sz="2000" dirty="0" smtClean="0"/>
              <a:t>___ </a:t>
            </a:r>
            <a:r>
              <a:rPr lang="fr-FR" sz="2000" dirty="0"/>
              <a:t>(permettre, attention au sujet) de vous imprégner de cette ville qui se redécouvre à chaque fois. À 40 min de Bruxelles, 1h 40 de Liège, 1h 45 de Namur, 1h 30 de Charleroi</a:t>
            </a:r>
            <a:r>
              <a:rPr lang="fr-FR" sz="2000" dirty="0" smtClean="0"/>
              <a:t>.</a:t>
            </a:r>
            <a:endParaRPr lang="fr-BE" sz="2000" dirty="0"/>
          </a:p>
        </p:txBody>
      </p:sp>
    </p:spTree>
    <p:extLst>
      <p:ext uri="{BB962C8B-B14F-4D97-AF65-F5344CB8AC3E}">
        <p14:creationId xmlns:p14="http://schemas.microsoft.com/office/powerpoint/2010/main" val="3248801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Chez la cartomancienne – par groupe de 2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193" y="2597458"/>
            <a:ext cx="3585604" cy="2685742"/>
          </a:xfrm>
          <a:prstGeom prst="rect">
            <a:avLst/>
          </a:prstGeom>
        </p:spPr>
      </p:pic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>
          <a:xfrm>
            <a:off x="4821382" y="2237239"/>
            <a:ext cx="6789427" cy="3633047"/>
          </a:xfrm>
        </p:spPr>
        <p:txBody>
          <a:bodyPr/>
          <a:lstStyle/>
          <a:p>
            <a:r>
              <a:rPr lang="fr-BE" dirty="0" smtClean="0"/>
              <a:t>Syllabus p. 103</a:t>
            </a:r>
          </a:p>
          <a:p>
            <a:pPr marL="0" indent="0">
              <a:buNone/>
            </a:pPr>
            <a:r>
              <a:rPr lang="fr-BE" dirty="0" smtClean="0"/>
              <a:t>1. Regarder la vidéo : </a:t>
            </a:r>
            <a:r>
              <a:rPr lang="fr-BE" dirty="0"/>
              <a:t>Sketch </a:t>
            </a:r>
            <a:r>
              <a:rPr lang="fr-BE" i="1" dirty="0"/>
              <a:t>La voyante</a:t>
            </a:r>
            <a:r>
              <a:rPr lang="fr-BE" dirty="0"/>
              <a:t> d’Omar et Fred.</a:t>
            </a:r>
          </a:p>
          <a:p>
            <a:r>
              <a:rPr lang="fr-BE" dirty="0"/>
              <a:t>Source : [time 00 :00 à 00 :34]</a:t>
            </a:r>
          </a:p>
          <a:p>
            <a:pPr marL="0" indent="0">
              <a:buNone/>
            </a:pPr>
            <a:r>
              <a:rPr lang="fr-BE" u="sng" dirty="0">
                <a:hlinkClick r:id="rId4"/>
              </a:rPr>
              <a:t>https://www.youtube.com/watch?v=7bRh-cWKH58</a:t>
            </a:r>
            <a:endParaRPr lang="fr-BE" dirty="0"/>
          </a:p>
          <a:p>
            <a:endParaRPr lang="fr-BE" dirty="0" smtClean="0"/>
          </a:p>
          <a:p>
            <a:pPr marL="0" indent="0">
              <a:buNone/>
            </a:pPr>
            <a:r>
              <a:rPr lang="fr-BE" dirty="0" smtClean="0"/>
              <a:t>2. Lisez </a:t>
            </a:r>
            <a:r>
              <a:rPr lang="fr-BE" dirty="0" smtClean="0"/>
              <a:t>la situation et imaginez le dialogue entre la cartomancienne et son/ sa </a:t>
            </a:r>
            <a:r>
              <a:rPr lang="fr-BE" dirty="0" err="1" smtClean="0"/>
              <a:t>client.e</a:t>
            </a:r>
            <a:r>
              <a:rPr lang="fr-BE" dirty="0" smtClean="0"/>
              <a:t>.</a:t>
            </a:r>
          </a:p>
          <a:p>
            <a:pPr marL="0" indent="0">
              <a:buNone/>
            </a:pPr>
            <a:r>
              <a:rPr lang="fr-BE" dirty="0" smtClean="0"/>
              <a:t>3. Jouez </a:t>
            </a:r>
            <a:r>
              <a:rPr lang="fr-BE" dirty="0" smtClean="0"/>
              <a:t>votre </a:t>
            </a:r>
            <a:r>
              <a:rPr lang="fr-BE" dirty="0" smtClean="0"/>
              <a:t>dialogue et demandez au professeur de vous écouter.</a:t>
            </a:r>
            <a:endParaRPr lang="fr-BE" dirty="0" smtClean="0"/>
          </a:p>
          <a:p>
            <a:endParaRPr lang="fr-BE" dirty="0"/>
          </a:p>
        </p:txBody>
      </p:sp>
      <p:sp>
        <p:nvSpPr>
          <p:cNvPr id="6" name="Bulle ronde 5"/>
          <p:cNvSpPr/>
          <p:nvPr/>
        </p:nvSpPr>
        <p:spPr>
          <a:xfrm>
            <a:off x="8965325" y="665251"/>
            <a:ext cx="2645484" cy="1932207"/>
          </a:xfrm>
          <a:prstGeom prst="wedgeEllipseCallou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TEAMS en sous-sous-groupe</a:t>
            </a:r>
          </a:p>
          <a:p>
            <a:pPr algn="ctr"/>
            <a:r>
              <a:rPr lang="fr-BE" dirty="0" smtClean="0"/>
              <a:t>Appeler le professeur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2892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4386558" y="2717803"/>
            <a:ext cx="3159648" cy="3368675"/>
          </a:xfrm>
        </p:spPr>
        <p:txBody>
          <a:bodyPr/>
          <a:lstStyle/>
          <a:p>
            <a:r>
              <a:rPr lang="fr-BE" sz="2400" dirty="0" smtClean="0"/>
              <a:t>Chapitre </a:t>
            </a:r>
            <a:r>
              <a:rPr lang="fr-BE" sz="2400" dirty="0" smtClean="0"/>
              <a:t>47 : le futur simple</a:t>
            </a:r>
          </a:p>
          <a:p>
            <a:r>
              <a:rPr lang="fr-BE" sz="2400" dirty="0" smtClean="0">
                <a:solidFill>
                  <a:srgbClr val="00B0F0"/>
                </a:solidFill>
                <a:hlinkClick r:id="rId3"/>
              </a:rPr>
              <a:t>Grammaire</a:t>
            </a:r>
            <a:r>
              <a:rPr lang="fr-BE" sz="2400" dirty="0" smtClean="0">
                <a:solidFill>
                  <a:srgbClr val="00B0F0"/>
                </a:solidFill>
              </a:rPr>
              <a:t> </a:t>
            </a:r>
            <a:r>
              <a:rPr lang="fr-BE" sz="2400" dirty="0" smtClean="0"/>
              <a:t>sur Moodle : </a:t>
            </a:r>
          </a:p>
          <a:p>
            <a:r>
              <a:rPr lang="fr-BE" sz="2400" dirty="0" smtClean="0"/>
              <a:t>+ 5 % de la note finale</a:t>
            </a:r>
          </a:p>
          <a:p>
            <a:r>
              <a:rPr lang="fr-BE" sz="2400" dirty="0" smtClean="0"/>
              <a:t>À faire jusqu’au jour du test obligatoire</a:t>
            </a:r>
            <a:endParaRPr lang="fr-BE" sz="2400" dirty="0"/>
          </a:p>
          <a:p>
            <a:endParaRPr lang="fr-BE" sz="280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772828" y="2760546"/>
            <a:ext cx="3103146" cy="3368675"/>
          </a:xfrm>
        </p:spPr>
        <p:txBody>
          <a:bodyPr/>
          <a:lstStyle/>
          <a:p>
            <a:r>
              <a:rPr lang="fr-BE" sz="2400" dirty="0" smtClean="0">
                <a:solidFill>
                  <a:schemeClr val="accent1"/>
                </a:solidFill>
              </a:rPr>
              <a:t>Regarder</a:t>
            </a:r>
            <a:r>
              <a:rPr lang="fr-BE" sz="2400" dirty="0" smtClean="0"/>
              <a:t> la vidéo (Moodle vidéos de l’Unité 3) et répondre aux questions pp. 108-109.</a:t>
            </a:r>
          </a:p>
          <a:p>
            <a:r>
              <a:rPr lang="fr-BE" sz="2400" dirty="0" smtClean="0">
                <a:solidFill>
                  <a:schemeClr val="accent1"/>
                </a:solidFill>
              </a:rPr>
              <a:t>Lire</a:t>
            </a:r>
            <a:r>
              <a:rPr lang="fr-BE" sz="2400" dirty="0" smtClean="0"/>
              <a:t> p. 109, répondre aux questions p. 111</a:t>
            </a:r>
          </a:p>
          <a:p>
            <a:endParaRPr lang="fr-BE" sz="2400" dirty="0"/>
          </a:p>
          <a:p>
            <a:endParaRPr lang="fr-BE" dirty="0" smtClean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626818" y="545562"/>
            <a:ext cx="10690365" cy="828000"/>
          </a:xfrm>
          <a:solidFill>
            <a:schemeClr val="accent1"/>
          </a:solidFill>
        </p:spPr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Tâches pour </a:t>
            </a:r>
            <a:r>
              <a:rPr lang="fr-BE" dirty="0" smtClean="0">
                <a:solidFill>
                  <a:schemeClr val="bg1"/>
                </a:solidFill>
              </a:rPr>
              <a:t>le cours prochain </a:t>
            </a:r>
            <a:endParaRPr lang="fr-BE" sz="2800" b="1" dirty="0">
              <a:solidFill>
                <a:srgbClr val="FFFF00"/>
              </a:solidFill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13"/>
          </p:nvPr>
        </p:nvPicPr>
        <p:blipFill>
          <a:blip r:embed="rId4"/>
          <a:stretch>
            <a:fillRect/>
          </a:stretch>
        </p:blipFill>
        <p:spPr>
          <a:xfrm>
            <a:off x="1388126" y="1418150"/>
            <a:ext cx="874196" cy="129410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Espace réservé du contenu 8"/>
          <p:cNvPicPr>
            <a:picLocks noGrp="1" noChangeAspect="1"/>
          </p:cNvPicPr>
          <p:nvPr>
            <p:ph sz="quarter" idx="14"/>
          </p:nvPr>
        </p:nvPicPr>
        <p:blipFill>
          <a:blip r:embed="rId5"/>
          <a:stretch>
            <a:fillRect/>
          </a:stretch>
        </p:blipFill>
        <p:spPr>
          <a:xfrm>
            <a:off x="4743910" y="1434596"/>
            <a:ext cx="1035412" cy="127766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1029" y="1635931"/>
            <a:ext cx="1209675" cy="10763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40109" y="3065658"/>
            <a:ext cx="35027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sz="2400" dirty="0" smtClean="0">
                <a:solidFill>
                  <a:srgbClr val="FF0000"/>
                </a:solidFill>
              </a:rPr>
              <a:t>Défi </a:t>
            </a:r>
            <a:r>
              <a:rPr lang="fr-BE" sz="2400" dirty="0" smtClean="0">
                <a:solidFill>
                  <a:srgbClr val="FF0000"/>
                </a:solidFill>
              </a:rPr>
              <a:t>#</a:t>
            </a:r>
            <a:r>
              <a:rPr lang="fr-BE" sz="2400" dirty="0" smtClean="0">
                <a:solidFill>
                  <a:srgbClr val="FF0000"/>
                </a:solidFill>
              </a:rPr>
              <a:t>4 à déposer sur Moodle dans la section du groupe</a:t>
            </a:r>
            <a:endParaRPr lang="fr-BE" sz="2400" dirty="0">
              <a:solidFill>
                <a:srgbClr val="FF0000"/>
              </a:solidFill>
            </a:endParaRPr>
          </a:p>
          <a:p>
            <a:endParaRPr lang="fr-BE" sz="2400" dirty="0"/>
          </a:p>
        </p:txBody>
      </p:sp>
      <p:pic>
        <p:nvPicPr>
          <p:cNvPr id="10" name="Espace réservé du contenu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828" y="5602279"/>
            <a:ext cx="2417360" cy="120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8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BE" dirty="0" smtClean="0"/>
              <a:t>Bravo pour votre participation</a:t>
            </a:r>
            <a:br>
              <a:rPr lang="fr-BE" dirty="0" smtClean="0"/>
            </a:br>
            <a:r>
              <a:rPr lang="fr-BE" dirty="0" smtClean="0"/>
              <a:t>bonne fin de semaine</a:t>
            </a:r>
            <a:endParaRPr lang="fr-BE" dirty="0"/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>
          <a:xfrm>
            <a:off x="581191" y="3773639"/>
            <a:ext cx="10993546" cy="590321"/>
          </a:xfrm>
        </p:spPr>
        <p:txBody>
          <a:bodyPr>
            <a:normAutofit/>
          </a:bodyPr>
          <a:lstStyle/>
          <a:p>
            <a:pPr algn="ctr"/>
            <a:r>
              <a:rPr lang="fr-BE" sz="2800" dirty="0" smtClean="0">
                <a:solidFill>
                  <a:schemeClr val="bg1"/>
                </a:solidFill>
              </a:rPr>
              <a:t>La chanson du jour :  </a:t>
            </a:r>
            <a:r>
              <a:rPr lang="fr-BE" sz="2800" dirty="0" smtClean="0">
                <a:solidFill>
                  <a:schemeClr val="bg1"/>
                </a:solidFill>
                <a:hlinkClick r:id="rId3"/>
              </a:rPr>
              <a:t>voyage en Italie</a:t>
            </a:r>
            <a:r>
              <a:rPr lang="fr-BE" sz="2800" dirty="0" smtClean="0">
                <a:solidFill>
                  <a:schemeClr val="bg1"/>
                </a:solidFill>
              </a:rPr>
              <a:t> (</a:t>
            </a:r>
            <a:r>
              <a:rPr lang="fr-BE" sz="2800" dirty="0" err="1" smtClean="0">
                <a:solidFill>
                  <a:schemeClr val="bg1"/>
                </a:solidFill>
              </a:rPr>
              <a:t>LiliCUB</a:t>
            </a:r>
            <a:r>
              <a:rPr lang="fr-BE" sz="2800" dirty="0">
                <a:solidFill>
                  <a:schemeClr val="bg1"/>
                </a:solidFill>
              </a:rPr>
              <a:t>)</a:t>
            </a:r>
            <a:endParaRPr lang="fr-BE" sz="2800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60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e">
  <a:themeElements>
    <a:clrScheme name="Bleu 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2227</Words>
  <Application>Microsoft Office PowerPoint</Application>
  <PresentationFormat>Grand écran</PresentationFormat>
  <Paragraphs>178</Paragraphs>
  <Slides>22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Corbel</vt:lpstr>
      <vt:lpstr>Gill Sans MT</vt:lpstr>
      <vt:lpstr>Helvetica</vt:lpstr>
      <vt:lpstr>Times New Roman</vt:lpstr>
      <vt:lpstr>Wingdings 2</vt:lpstr>
      <vt:lpstr>Dividende</vt:lpstr>
      <vt:lpstr>Comprendre la Belgique LFRAN1301 – B1</vt:lpstr>
      <vt:lpstr>Chanson de Zaz – On ira [https://youtu.be/8IjWHBGzsu4]</vt:lpstr>
      <vt:lpstr>Tâches pour le prochain cours </vt:lpstr>
      <vt:lpstr>Correction de l’exercice (syllabus p. 101)</vt:lpstr>
      <vt:lpstr>Correction de l’exercice (syllabus p. 101)</vt:lpstr>
      <vt:lpstr>Correction de l’exercice (syllabus p. 101)</vt:lpstr>
      <vt:lpstr>l’imparfait :  p. 92</vt:lpstr>
      <vt:lpstr>Présentation PowerPoint</vt:lpstr>
      <vt:lpstr>Présentation PowerPoint</vt:lpstr>
      <vt:lpstr>Présentation PowerPoint</vt:lpstr>
      <vt:lpstr>Présentation PowerPoint</vt:lpstr>
      <vt:lpstr>Unité 3 – le plat pays en balades</vt:lpstr>
      <vt:lpstr>En petits groupes : conversation</vt:lpstr>
      <vt:lpstr>Présentation PowerPoint</vt:lpstr>
      <vt:lpstr>Vocabulaire – chaine de mots – groupe de 3 étudiants</vt:lpstr>
      <vt:lpstr>Ecouter : GanD (syllabus p.112) :  Vidéo sur Moodle/Unité 3</vt:lpstr>
      <vt:lpstr>Présentation PowerPoint</vt:lpstr>
      <vt:lpstr>Le futur simple (Syllabus p.102 + 105)</vt:lpstr>
      <vt:lpstr>Décrire (p. 105) : corrigé</vt:lpstr>
      <vt:lpstr>Chez la cartomancienne – par groupe de 2</vt:lpstr>
      <vt:lpstr>Tâches pour le cours prochain </vt:lpstr>
      <vt:lpstr>Bravo pour votre participation bonne fin de semaine</vt:lpstr>
    </vt:vector>
  </TitlesOfParts>
  <Company>Université Catholique de Louvain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Nancy Verhulst</dc:creator>
  <cp:lastModifiedBy>Geneviève Briet</cp:lastModifiedBy>
  <cp:revision>26</cp:revision>
  <dcterms:created xsi:type="dcterms:W3CDTF">2019-11-11T07:43:45Z</dcterms:created>
  <dcterms:modified xsi:type="dcterms:W3CDTF">2020-03-19T17:01:39Z</dcterms:modified>
</cp:coreProperties>
</file>